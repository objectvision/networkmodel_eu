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6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05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2B63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λ-sweep over an LP relaxation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frontiers, integrality gaps, and what the Netherlands sweep tells 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lambda_sweep.jl  ·  NetworkModel_EU / ServiceAccess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LAMBDA_SWEEP.JL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 and what the sweep computes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91440" cy="2286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1737360"/>
            <a:ext cx="1188720" cy="274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pharmacy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→ nearest existing pharmacy.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total travel cost, mean travel time, and the count of grid cells with at least one pharmacy (target_cells).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91440" cy="2286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241280" y="1737360"/>
            <a:ext cx="1188720" cy="2743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412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7190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 — fix #facilities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travel time at sum_y = today's cell 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Σᵢ popᵢ·c(tᵢⱼ)·xᵢⱼ + λ·Σⱼ yⱼ   (p7)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over λ pins the count at today's, within max(1, 0.2%) (#52).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relaxation of the UFLP, strong linking xᵢⱼ ≤ yⱼ; at fixed p a p-median (pMP).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4114800"/>
            <a:ext cx="91440" cy="2286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0" y="4297680"/>
            <a:ext cx="1188720" cy="2743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279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 — fix travel cost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#facilities at travel = today's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objective, different λ target.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over λ pins travel at today's, within 0.2%; fewer pharmacies for the same access.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394960" cy="228600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91440" cy="2286000"/>
          </a:xfrm>
          <a:prstGeom prst="rect">
            <a:avLst/>
          </a:prstGeom>
          <a:solidFill>
            <a:srgbClr val="F2B63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241280" y="4297680"/>
            <a:ext cx="1188720" cy="274320"/>
          </a:xfrm>
          <a:prstGeom prst="rect">
            <a:avLst/>
          </a:prstGeom>
          <a:solidFill>
            <a:srgbClr val="F2B63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2412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sweep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279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— reduce both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92240" y="4709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full Pareto frontier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50749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1-2-5 grid per decade, w ∈ {1e-4 … 5}, extended upward until S1 brackets; then bisection to S1 and S2.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sum_y, the travel bounds and the rounded n_open at each λ.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SWEEP TRACES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Pareto frontier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competing objectives — proximity vs efficiency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total person-c(t), weighted by population.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count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sum_y, the LP-relaxed number of opened pharmacies.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sweep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λ gives one Pareto point (sum_y, travel_c).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λ → many cheap facilities, low travel.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λ → few expensive facilities, high travel.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and S2 are two points on the same curve; the diagonal crossing between them is Lewis's cross-lambda (p72).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sweep traces the curve between and beyond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120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(schematic)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2811780"/>
            <a:ext cx="438912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49440" y="3657600"/>
            <a:ext cx="438912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949440" y="4503420"/>
            <a:ext cx="438912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949440" y="5349240"/>
            <a:ext cx="43891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949440" y="1965960"/>
            <a:ext cx="0" cy="338328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949440" y="1965960"/>
            <a:ext cx="109728" cy="41045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059168" y="2376410"/>
            <a:ext cx="109728" cy="33664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68896" y="2713057"/>
            <a:ext cx="109728" cy="28110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78624" y="2994164"/>
            <a:ext cx="109728" cy="23826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88352" y="3232428"/>
            <a:ext cx="109728" cy="20452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98080" y="3436951"/>
            <a:ext cx="109728" cy="17747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07808" y="3614426"/>
            <a:ext cx="109728" cy="15545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17536" y="3769885"/>
            <a:ext cx="109728" cy="13730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827264" y="3907186"/>
            <a:ext cx="109728" cy="12214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36992" y="4029335"/>
            <a:ext cx="109728" cy="10937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46720" y="4138709"/>
            <a:ext cx="109728" cy="9850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56448" y="4237212"/>
            <a:ext cx="109728" cy="891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66176" y="4326388"/>
            <a:ext cx="109728" cy="811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375904" y="4407502"/>
            <a:ext cx="109728" cy="7409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485632" y="4481601"/>
            <a:ext cx="109728" cy="6795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595360" y="4549556"/>
            <a:ext cx="109728" cy="6254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705088" y="4612101"/>
            <a:ext cx="109728" cy="5775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814816" y="4669857"/>
            <a:ext cx="109728" cy="5349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924544" y="4723355"/>
            <a:ext cx="109728" cy="4969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034272" y="4773048"/>
            <a:ext cx="109728" cy="462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144000" y="4819329"/>
            <a:ext cx="109728" cy="4320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253728" y="4862536"/>
            <a:ext cx="109728" cy="4043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363456" y="4902967"/>
            <a:ext cx="109728" cy="379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473184" y="4940881"/>
            <a:ext cx="109728" cy="3562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582912" y="4976506"/>
            <a:ext cx="109728" cy="3353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692640" y="5010042"/>
            <a:ext cx="109728" cy="3162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802368" y="5041669"/>
            <a:ext cx="109728" cy="298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912096" y="5071545"/>
            <a:ext cx="109728" cy="2826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021824" y="5099811"/>
            <a:ext cx="109728" cy="2678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131552" y="5126594"/>
            <a:ext cx="109728" cy="2541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0241280" y="5152008"/>
            <a:ext cx="109728" cy="2414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351008" y="5176156"/>
            <a:ext cx="109728" cy="2297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460736" y="5199129"/>
            <a:ext cx="109728" cy="2188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570464" y="5221011"/>
            <a:ext cx="109728" cy="2086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680192" y="5241878"/>
            <a:ext cx="109728" cy="1992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0789920" y="5261799"/>
            <a:ext cx="109728" cy="1903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0899648" y="5280838"/>
            <a:ext cx="109728" cy="1821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1009376" y="5299051"/>
            <a:ext cx="109728" cy="174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1119104" y="5316490"/>
            <a:ext cx="109728" cy="1671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1228832" y="5333205"/>
            <a:ext cx="109728" cy="1603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645541" y="3665694"/>
            <a:ext cx="0" cy="15697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642459" y="3665694"/>
            <a:ext cx="300308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532731" y="3555966"/>
            <a:ext cx="219456" cy="219456"/>
          </a:xfrm>
          <a:prstGeom prst="ellipse">
            <a:avLst/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185259" y="32084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535813" y="5125666"/>
            <a:ext cx="219456" cy="219456"/>
          </a:xfrm>
          <a:prstGeom prst="ellipse">
            <a:avLst/>
          </a:prstGeom>
          <a:solidFill>
            <a:srgbClr val="065A82"/>
          </a:solidFill>
          <a:ln w="9525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0188341" y="47781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535813" y="3555966"/>
            <a:ext cx="219456" cy="219456"/>
          </a:xfrm>
          <a:prstGeom prst="ellipse">
            <a:avLst/>
          </a:prstGeom>
          <a:solidFill>
            <a:srgbClr val="F2B632"/>
          </a:solidFill>
          <a:ln w="9525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188341" y="32084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49440" y="5486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fewer facilities     sum_y     more facilities →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 rot="16200000">
            <a:off x="644652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179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strong-linking LP, sum_y is a continuous lower bound on integer facility count.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FRACTIONAL SUM_Y IS INFORMATIVE, NOT NOISE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Integrality gap: LP can strictly beat 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75488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1717060" y="2560320"/>
            <a:ext cx="1346180" cy="2331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17060" y="4892040"/>
            <a:ext cx="2692359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flipH="1" flipV="1">
            <a:off x="3063240" y="2560320"/>
            <a:ext cx="1346180" cy="2331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80360" y="2377440"/>
            <a:ext cx="365760" cy="365760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34180" y="4709160"/>
            <a:ext cx="365760" cy="365760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341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26540" y="4709160"/>
            <a:ext cx="365760" cy="365760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265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07270" y="3543300"/>
            <a:ext cx="365760" cy="365760"/>
          </a:xfrm>
          <a:prstGeom prst="rect">
            <a:avLst/>
          </a:prstGeom>
          <a:solidFill>
            <a:srgbClr val="F2B632"/>
          </a:solidFill>
          <a:ln w="6350">
            <a:solidFill>
              <a:srgbClr val="8A651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0727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53450" y="3543300"/>
            <a:ext cx="365760" cy="365760"/>
          </a:xfrm>
          <a:prstGeom prst="rect">
            <a:avLst/>
          </a:prstGeom>
          <a:solidFill>
            <a:srgbClr val="F2B632"/>
          </a:solidFill>
          <a:ln w="6350">
            <a:solidFill>
              <a:srgbClr val="8A651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5345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4709160"/>
            <a:ext cx="365760" cy="365760"/>
          </a:xfrm>
          <a:prstGeom prst="rect">
            <a:avLst/>
          </a:prstGeom>
          <a:solidFill>
            <a:srgbClr val="F2B632"/>
          </a:solidFill>
          <a:ln w="6350">
            <a:solidFill>
              <a:srgbClr val="8A651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8036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0422" y="4553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26602" y="4553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87845" y="41993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60935" y="30335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10035" y="419938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36945" y="30335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clients · 3 candidate pharmacies · weight = 1 each · λ =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integer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0" y="196596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one pharmacy:  </a:t>
            </a: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+ 1 + 3 + λ = 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two:  </a:t>
            </a: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+ 1 + 1 + 2λ = 7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IP optimum = 7   (1 or 2 facilities)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3246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LP fractional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52160" y="36576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</a:t>
            </a:r>
            <a:r>
              <a:rPr lang="en-US" sz="14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(½, ½, ½)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each client routes ½ + ½ to its two near pharmacies (cost 1 each).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= 3, facility = 3 · ½ · 2 = 3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LP optimum = </a:t>
            </a:r>
            <a:r>
              <a:rPr lang="en-US" sz="1800" b="1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(sum_y = 1.5, strictly &lt; IP = 7)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52160" y="5212080"/>
            <a:ext cx="5760720" cy="10515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350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sum_y is not a solver artefact. The LP frontier is a true lower bound; geographies that resist clean integer covering show the gap.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..._WITH_TRAVEL_TOPP.LOG + 1:4 CANDIDATE-SET OVERLAY (WARM-START SIMPLEX)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Netherlands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36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4402183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2455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395804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4831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3513909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04181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3069771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6004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00200" y="262563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1590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00200" y="2181497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71769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1943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16183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3686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7926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45429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9669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7171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1411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08914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3154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90657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4897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40739" y="1873689"/>
            <a:ext cx="286566" cy="4845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27305" y="2358237"/>
            <a:ext cx="1213472" cy="91700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40777" y="3275243"/>
            <a:ext cx="1879029" cy="66226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58443" y="179139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5009" y="2275941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58481" y="319294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37510" y="385521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40739" y="2466221"/>
            <a:ext cx="286566" cy="220643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327305" y="2686865"/>
            <a:ext cx="1213472" cy="62987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540777" y="3316739"/>
            <a:ext cx="1879029" cy="618643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2985875" y="2411357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2441" y="2632001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85913" y="3261875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64942" y="3880518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07542" y="2414056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27582" y="241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44702" y="2551216"/>
            <a:ext cx="96075" cy="7580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421905" y="3190436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5369" y="31904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 flipH="1" flipV="1">
            <a:off x="3040739" y="2466221"/>
            <a:ext cx="1403964" cy="84995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2921867" y="2347349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73811" y="2347349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68680" y="5897880"/>
            <a:ext cx="274320" cy="0"/>
          </a:xfrm>
          <a:prstGeom prst="line">
            <a:avLst/>
          </a:prstGeom>
          <a:noFill/>
          <a:ln w="25400">
            <a:solidFill>
              <a:srgbClr val="7E22C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" y="5833872"/>
            <a:ext cx="128016" cy="128016"/>
          </a:xfrm>
          <a:prstGeom prst="ellipse">
            <a:avLst/>
          </a:prstGeom>
          <a:solidFill>
            <a:srgbClr val="7E22CE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34440" y="5788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 candidate set — travel_relax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46120" y="5897880"/>
            <a:ext cx="274320" cy="0"/>
          </a:xfrm>
          <a:prstGeom prst="line">
            <a:avLst/>
          </a:prstGeom>
          <a:noFill/>
          <a:ln w="25400">
            <a:solidFill>
              <a:srgbClr val="7E22CE"/>
            </a:solidFill>
            <a:prstDash val="dot"/>
          </a:ln>
        </p:spPr>
      </p:sp>
      <p:sp>
        <p:nvSpPr>
          <p:cNvPr id="75" name="Shape 73"/>
          <p:cNvSpPr/>
          <p:nvPr/>
        </p:nvSpPr>
        <p:spPr>
          <a:xfrm>
            <a:off x="3337560" y="5833872"/>
            <a:ext cx="128016" cy="128016"/>
          </a:xfrm>
          <a:prstGeom prst="ellipse">
            <a:avLst/>
          </a:prstGeom>
          <a:solidFill>
            <a:srgbClr val="7E22CE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11880" y="5788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 candidate set — travel_relax_topp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623560" y="5897880"/>
            <a:ext cx="274320" cy="0"/>
          </a:xfrm>
          <a:prstGeom prst="line">
            <a:avLst/>
          </a:prstGeom>
          <a:noFill/>
          <a:ln w="25400">
            <a:solidFill>
              <a:srgbClr val="7E22CE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5715000" y="5833872"/>
            <a:ext cx="128016" cy="128016"/>
          </a:xfrm>
          <a:prstGeom prst="ellipse">
            <a:avLst/>
          </a:prstGeom>
          <a:solidFill>
            <a:srgbClr val="7E22CE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89320" y="5788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 candidate set — travel_c_ph2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2" name="Text 80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1,613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  (1,992 raw)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3.44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8 rows  (LP2 infeasible from w ≥ 0.05).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48640" y="6080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shows sum_x up to ≈ 2× baseline (the policy-relevant range; we don't expect to realistically increase facility count much above today's network).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 overlay uses the same baseline pharmacies and population, only the candidate set is 1/4 the size (7,449 vs 29,793). The sweep went infeasible past w = 0.01, so the violet curve doesn't enter the visible range.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825B26-4E0C-84C7-DBD5-CEE4003A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6123"/>
            <a:ext cx="11277600" cy="490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80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FR1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Île-de-France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91804" y="2655939"/>
            <a:ext cx="961793" cy="104312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3598" y="3699064"/>
            <a:ext cx="965949" cy="51470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9547" y="4213770"/>
            <a:ext cx="1440180" cy="35111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09508" y="257364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71302" y="3616768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7251" y="4131474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7431" y="448258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4863" y="4509563"/>
            <a:ext cx="109728" cy="109728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1804" y="2766005"/>
            <a:ext cx="961793" cy="96065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53598" y="3726659"/>
            <a:ext cx="965949" cy="48913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519547" y="4215790"/>
            <a:ext cx="1440180" cy="348637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536940" y="2711141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8734" y="3671795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4683" y="4160926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4863" y="450956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40098" y="3159949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0138" y="315994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 flipH="1">
            <a:off x="4553598" y="3297109"/>
            <a:ext cx="23660" cy="42955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434726" y="3607787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190" y="3607787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 flipH="1">
            <a:off x="4553598" y="3297109"/>
            <a:ext cx="23660" cy="42955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434726" y="3607787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86670" y="3607787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2" name="Text 60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1,447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9.97 × 10⁶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8 rows  (LP2 infeasible from w ≥ 0.05).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1,447 cells / 9.97 × 10⁶ travel / 1.03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(4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FRB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Centre-Val de Loire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5856" y="2225336"/>
            <a:ext cx="380537" cy="57128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6392" y="2796625"/>
            <a:ext cx="689846" cy="49221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86239" y="3288840"/>
            <a:ext cx="1385289" cy="49249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33560" y="2143040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4096" y="2714329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03943" y="3206544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89231" y="369903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5856" y="2803642"/>
            <a:ext cx="380537" cy="18396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396392" y="2987603"/>
            <a:ext cx="689846" cy="32712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086239" y="3314727"/>
            <a:ext cx="1385289" cy="465488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960992" y="2748778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41528" y="293273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31375" y="325986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16663" y="3725351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5412" y="2774750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05452" y="277475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 flipH="1">
            <a:off x="4086239" y="2911910"/>
            <a:ext cx="36334" cy="402817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67367" y="3195855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0831" y="3195855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 flipH="1">
            <a:off x="3396392" y="2911910"/>
            <a:ext cx="726180" cy="75693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3277520" y="2868731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29464" y="2868731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5" name="Text 63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9.33 × 10⁶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613 cells / 9.33 × 10⁶ travel / 4.13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 in the log (4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FRC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Bourgogne-Franche-Comté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3388" y="2568052"/>
            <a:ext cx="403950" cy="44676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07338" y="3014812"/>
            <a:ext cx="809463" cy="42107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6801" y="3435888"/>
            <a:ext cx="1549551" cy="41040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21092" y="2485756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5042" y="2932516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34505" y="3353592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4056" y="3763994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03388" y="3022021"/>
            <a:ext cx="403950" cy="139413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807338" y="3161433"/>
            <a:ext cx="809463" cy="31448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616801" y="3475918"/>
            <a:ext cx="1549551" cy="362905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348524" y="2967157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52474" y="310656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1937" y="3421054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11488" y="378395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8040" y="2906426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8080" y="290642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5200" y="3043586"/>
            <a:ext cx="41601" cy="43233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497929" y="3357046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1393" y="335704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3403388" y="3022021"/>
            <a:ext cx="1171813" cy="21565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3284516" y="2903149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6460" y="2903149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5" name="Text 63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723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4.56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723 cells / 1.16 × 10⁷ travel / 4.56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 in the log (4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FRD  ·  IN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Normandie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95322" y="2359010"/>
            <a:ext cx="842999" cy="58470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8321" y="2943717"/>
            <a:ext cx="1444377" cy="51429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13026" y="2276714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6025" y="2861421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00403" y="337571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5322" y="2548906"/>
            <a:ext cx="842999" cy="51358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638321" y="3062488"/>
            <a:ext cx="1444377" cy="378353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740458" y="2494042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83457" y="3007624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27835" y="3385976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56989" y="2183653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7029" y="218365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4.21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679 cells / 1.22 × 10⁷ travel / 4.21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(3 inside the 2× baseline range shown here).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FRE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Hauts-de-France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5673" y="2151423"/>
            <a:ext cx="700874" cy="73274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86547" y="2884170"/>
            <a:ext cx="1160106" cy="61908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03377" y="206912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4251" y="2801874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4357" y="342095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5673" y="2537502"/>
            <a:ext cx="700874" cy="442253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086547" y="2979755"/>
            <a:ext cx="1160106" cy="535927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330809" y="2482638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31683" y="2924891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91789" y="3460818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3497" y="2466454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3537" y="246645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4086547" y="2603614"/>
            <a:ext cx="254109" cy="376141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967675" y="2860883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139" y="2860883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 flipH="1" flipV="1">
            <a:off x="3385673" y="2537502"/>
            <a:ext cx="954983" cy="6611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266801" y="2418630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18745" y="241863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1,332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1,332 cells / 1.44 × 10⁷ travel / 2.88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(3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FRF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 Est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381000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00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277368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639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9588" y="2274526"/>
            <a:ext cx="469556" cy="5762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89144" y="2850766"/>
            <a:ext cx="880921" cy="51346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0065" y="3364233"/>
            <a:ext cx="1621511" cy="47399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7292" y="2192230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6848" y="2768470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7769" y="328193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9280" y="375593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9588" y="2648663"/>
            <a:ext cx="469556" cy="35810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689144" y="3006763"/>
            <a:ext cx="880921" cy="392665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0065" y="3399428"/>
            <a:ext cx="1621511" cy="431079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164724" y="259379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34280" y="295189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5201" y="3344564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36712" y="377564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4223" y="2765395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4263" y="276539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1383" y="2902555"/>
            <a:ext cx="88682" cy="49687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451193" y="3280556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4657" y="32805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 flipH="1">
            <a:off x="3689144" y="2902555"/>
            <a:ext cx="792239" cy="10420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570272" y="2887891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2216" y="2887891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1" name="Text 59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1,167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1,167 cells / 1.88 × 10⁷ travel / 3.77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 in the log (4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FRG  ·  IN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Pays de la Loire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89325" y="2679647"/>
            <a:ext cx="833247" cy="57538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22572" y="3255029"/>
            <a:ext cx="1347175" cy="47944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07029" y="2597351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40276" y="317273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87451" y="3652178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9325" y="2863472"/>
            <a:ext cx="833247" cy="422939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322572" y="3286410"/>
            <a:ext cx="1347175" cy="43821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434461" y="2808608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67708" y="3231546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14883" y="3669760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80053" y="2573732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0093" y="25737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848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3.97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0.01).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848 cells / 1.37 × 10⁷ travel / 3.97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(3 inside the 2× baseline range shown here).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FRH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Bretagne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31975" y="2763233"/>
            <a:ext cx="780783" cy="55464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12759" y="3317879"/>
            <a:ext cx="1253111" cy="43248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49679" y="268093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0463" y="323558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83574" y="3668069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1975" y="2878893"/>
            <a:ext cx="780783" cy="461087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012759" y="3339980"/>
            <a:ext cx="1253111" cy="399815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177111" y="282402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57895" y="3285116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1006" y="3684931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10317" y="2762199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0357" y="276219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flipH="1">
            <a:off x="4012759" y="2899359"/>
            <a:ext cx="34719" cy="4406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893887" y="3221108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77351" y="32211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 flipH="1" flipV="1">
            <a:off x="3231975" y="2878893"/>
            <a:ext cx="815502" cy="20466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113103" y="2760021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65047" y="2760021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1" name="Text 59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4.23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793 cells / 1.25 × 10⁷ travel / 4.23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(3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FRI  ·  IN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Nouvelle-Aquitaine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381000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00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277368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639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4325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749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863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05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2935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359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42797" y="2918143"/>
            <a:ext cx="1178396" cy="55285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1193" y="3470995"/>
            <a:ext cx="2569811" cy="54882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0501" y="2835847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38897" y="3388699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08708" y="3937526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42797" y="3003468"/>
            <a:ext cx="1178396" cy="471624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121193" y="3475092"/>
            <a:ext cx="2569811" cy="531275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887933" y="2948604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66329" y="3420228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6140" y="395150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05688" y="2276894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25728" y="227689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1,583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4.30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6 rows  (LP2 infeasible from w ≥ 0.01).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1,583 cells / 2.35 × 10⁷ travel / 4.30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sweep rows in the log (3 inside the 2× baseline range shown here).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FRJ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Occitanie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74358" y="2249736"/>
            <a:ext cx="794671" cy="65885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9028" y="2908586"/>
            <a:ext cx="1465877" cy="62292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92062" y="2167440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86732" y="2826290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2609" y="344921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74358" y="2419101"/>
            <a:ext cx="794671" cy="518368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369028" y="2937469"/>
            <a:ext cx="1465877" cy="591856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519494" y="2364237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14164" y="2882605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80041" y="3474461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92778" y="2341668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2818" y="234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4369028" y="2478828"/>
            <a:ext cx="160909" cy="458641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250156" y="2818597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3620" y="2818597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 flipH="1" flipV="1">
            <a:off x="3574358" y="2419101"/>
            <a:ext cx="955580" cy="59727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455486" y="2300229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07430" y="2300229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1,424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6 rows  (LP2 infeasible from w ≥ 0.01).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1,424 cells / 1.90 × 10⁷ travel / 3.63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(3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FRK  ·  IN 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Auvergne-Rhône-Alpes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06908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59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29184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82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51460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04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4325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749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63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05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2935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359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39145" y="2794131"/>
            <a:ext cx="732162" cy="517885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71307" y="3312017"/>
            <a:ext cx="1355446" cy="48068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6849" y="2711835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89011" y="3229721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44457" y="3710408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39145" y="2964237"/>
            <a:ext cx="732162" cy="382866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171307" y="3347103"/>
            <a:ext cx="1355446" cy="442736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384281" y="290937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6443" y="329223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71889" y="3734975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59993" y="2771176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0033" y="2771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1,683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3.46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7 rows  (LP2 infeasible from w ≥ 0.02).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1,683 cells / 2.49 × 10⁷ travel / 3.46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(3 inside the 2× baseline range shown here).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FRL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Provence-Alpes-Côte d'Azur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77010" y="2733567"/>
            <a:ext cx="794560" cy="7069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1570" y="3440510"/>
            <a:ext cx="1135265" cy="51153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06835" y="3952044"/>
            <a:ext cx="2238040" cy="446741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4714" y="2651271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89274" y="3358214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24539" y="3869748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2578" y="4316488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90010" y="4342675"/>
            <a:ext cx="109728" cy="109728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7010" y="2731267"/>
            <a:ext cx="794560" cy="70438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871570" y="3435648"/>
            <a:ext cx="1135265" cy="51323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006835" y="3948880"/>
            <a:ext cx="2238040" cy="44866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022146" y="267640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16706" y="3380784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51971" y="3894016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90010" y="4342675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83766" y="2930562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03806" y="293056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 flipH="1">
            <a:off x="3871570" y="3067722"/>
            <a:ext cx="249357" cy="367926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52698" y="3316776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36162" y="3316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 flipH="1" flipV="1">
            <a:off x="3077010" y="2731267"/>
            <a:ext cx="1043917" cy="336455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2958138" y="2612395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10082" y="2612395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6" name="Text 64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1,021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8 rows  (LP2 infeasible from w ≥ 0.05).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1,021 cells / 1.14 × 10⁷ travel / 2.51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sweep rows in the log (4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FRM  · 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Corse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224528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3602736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980944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71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359152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494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7223" y="2247491"/>
            <a:ext cx="581113" cy="769586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8336" y="3017076"/>
            <a:ext cx="910400" cy="51924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18735" y="3536319"/>
            <a:ext cx="1285978" cy="36453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44927" y="2165195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6040" y="2934780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36439" y="3454023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2417" y="3818562"/>
            <a:ext cx="164592" cy="164592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49849" y="3845994"/>
            <a:ext cx="109728" cy="109728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7223" y="2285891"/>
            <a:ext cx="581113" cy="79805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508336" y="3083943"/>
            <a:ext cx="910400" cy="461595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418735" y="3545537"/>
            <a:ext cx="1285978" cy="355321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872359" y="2231027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3472" y="3029079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63871" y="3490673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49849" y="3845994"/>
            <a:ext cx="109728" cy="109728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47947" y="2779295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7987" y="277929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85107" y="2916455"/>
            <a:ext cx="133628" cy="62908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299863" y="3426665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83327" y="3426665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 flipH="1">
            <a:off x="3508336" y="2916455"/>
            <a:ext cx="776771" cy="167487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3389464" y="2965071"/>
            <a:ext cx="237744" cy="23774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41408" y="2965071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6" name="Text 64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1.55 × 10⁶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9 rows  (LP2 infeasible from w ≥ 0.1).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87 cells / 1.55 × 10⁶ travel / 4.59 min mean.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sweep rows in the log (4 inside the 2× baseline range shown here).  S1/S2 from scenario summary.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LAMBDA_SWEEP_ITALY_SIMPLEX.LOG (WARM-START SIMPLEX)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Italy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36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406908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59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329184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82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51460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04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3464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0491" y="2356488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0531" y="2356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12,789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 × 10⁸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all rows.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12,789 cells, 1.51 × 10⁸ total travel, 3.10 min mean. 3 sweep rows completed (w = 0.0001, 0.0002, 0.0005) but all at sum_x = 94k–105k (~7–8× baseline) — far outside this 2×-baseline view. The sweep needs to reach w ≥ 0.05 to enter the policy-relevant range.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LAMBDA_SWEEP_SWEDEN_SIMPLEX.LOG (WARM-START SIMPLEX)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Sweden — sweep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 — total travel cost vs. sum_x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36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406908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59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329184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82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51460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04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737360"/>
            <a:ext cx="6172200" cy="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27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02973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7213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05745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9985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8518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2758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11291" y="1737360"/>
            <a:ext cx="0" cy="3108960"/>
          </a:xfrm>
          <a:prstGeom prst="line">
            <a:avLst/>
          </a:prstGeom>
          <a:noFill/>
          <a:ln w="635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5531" y="48920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4846320"/>
            <a:ext cx="61722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1737360"/>
            <a:ext cx="0" cy="310896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51663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sum_x  (LP-relaxed facility count)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 rot="16200000">
            <a:off x="411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 (person · c(t))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7418" y="2549942"/>
            <a:ext cx="27432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7458" y="254994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564184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5577840"/>
            <a:ext cx="128016" cy="128016"/>
          </a:xfrm>
          <a:prstGeom prst="ellipse">
            <a:avLst/>
          </a:prstGeom>
          <a:solidFill>
            <a:srgbClr val="065A8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  (LP1)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5641848"/>
            <a:ext cx="274320" cy="0"/>
          </a:xfrm>
          <a:prstGeom prst="line">
            <a:avLst/>
          </a:prstGeom>
          <a:noFill/>
          <a:ln w="25400">
            <a:solidFill>
              <a:srgbClr val="F2B6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5577840"/>
            <a:ext cx="128016" cy="128016"/>
          </a:xfrm>
          <a:prstGeom prst="ellipse">
            <a:avLst/>
          </a:prstGeom>
          <a:solidFill>
            <a:srgbClr val="F2B632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 (LP2)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5641848"/>
            <a:ext cx="274320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715000" y="5577840"/>
            <a:ext cx="128016" cy="128016"/>
          </a:xfrm>
          <a:prstGeom prst="ellipse">
            <a:avLst/>
          </a:prstGeom>
          <a:solidFill>
            <a:srgbClr val="E07B00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travel_c_ph2  (nearest)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46720" y="5577840"/>
            <a:ext cx="137160" cy="137160"/>
          </a:xfrm>
          <a:prstGeom prst="rect">
            <a:avLst/>
          </a:prstGeom>
          <a:solidFill>
            <a:srgbClr val="B91C1C"/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38160" y="1463040"/>
            <a:ext cx="3520440" cy="4023360"/>
          </a:xfrm>
          <a:prstGeom prst="rect">
            <a:avLst/>
          </a:prstGeom>
          <a:solidFill>
            <a:srgbClr val="E8EEF3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1463040"/>
            <a:ext cx="73152" cy="4023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16002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6760" y="19659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1,078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with a pharmacy</a:t>
            </a: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6.07 min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 mean travel time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6.95 × 10⁷</a:t>
            </a:r>
            <a:endParaRPr lang="en-US" sz="2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cost (person · c(t))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83667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Sweep status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66760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sweep rows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travel_relax_topp valid for all rows.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1,078 cells, 6.95 × 10⁷ total travel, 6.07 min mean — the highest mean travel time of the four countries, consistent with the sparse rural geography. 4 sweep rows completed (w = 0.0001 to 0.001) but all at sum_x ≥ 22,690 — over 20× baseline, far outside this 2×-baseline view. The sweep needs to reach w ≥ 0.05 to enter the policy-relevant range.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3279</Words>
  <Application>Microsoft Office PowerPoint</Application>
  <PresentationFormat>Widescreen</PresentationFormat>
  <Paragraphs>599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lambda_sweep.jl — UFLP-LP for pharmacy locations</dc:title>
  <dc:subject>PptxGenJS Presentation</dc:subject>
  <dc:creator>Servaas Storm / Object Vision</dc:creator>
  <cp:lastModifiedBy>Maarten Hilferink</cp:lastModifiedBy>
  <cp:revision>2</cp:revision>
  <dcterms:created xsi:type="dcterms:W3CDTF">2026-06-01T08:24:25Z</dcterms:created>
  <dcterms:modified xsi:type="dcterms:W3CDTF">2026-06-02T17:45:50Z</dcterms:modified>
</cp:coreProperties>
</file>