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76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..._WITH_TRAVEL_TOPP.LOG + 1:4 CANDIDATE-SET OVERLAY (WARM-START SIMPLEX)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73659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4402183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2455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3958046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84831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3513909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404181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3069771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960043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600200" y="2625634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251590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600200" y="2181497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2071769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481943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16183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63686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97926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45429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79669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127171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1411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08914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43154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890657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24897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40739" y="1873689"/>
            <a:ext cx="286566" cy="48454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27305" y="2358237"/>
            <a:ext cx="1213472" cy="91700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40777" y="3275243"/>
            <a:ext cx="1879029" cy="662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58443" y="1791393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45009" y="2275941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58481" y="3192947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37510" y="3855213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40739" y="2466221"/>
            <a:ext cx="286566" cy="220643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327305" y="2686865"/>
            <a:ext cx="1213472" cy="629874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540777" y="3316739"/>
            <a:ext cx="1879029" cy="618643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2985875" y="2411357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72441" y="2632001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85913" y="3261875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364942" y="3880518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07542" y="2414056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27582" y="24140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444702" y="2551216"/>
            <a:ext cx="96075" cy="758092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4421905" y="3190436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05369" y="319043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 flipH="1" flipV="1">
            <a:off x="3040739" y="2466221"/>
            <a:ext cx="1403964" cy="84995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2921867" y="2347349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73811" y="2347349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68680" y="5897880"/>
            <a:ext cx="274320" cy="0"/>
          </a:xfrm>
          <a:prstGeom prst="line">
            <a:avLst/>
          </a:prstGeom>
          <a:noFill/>
          <a:ln w="25400">
            <a:solidFill>
              <a:srgbClr val="7E22C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60120" y="5833872"/>
            <a:ext cx="128016" cy="128016"/>
          </a:xfrm>
          <a:prstGeom prst="ellipse">
            <a:avLst/>
          </a:prstGeom>
          <a:solidFill>
            <a:srgbClr val="7E22CE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234440" y="57881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 candidate set — travel_relax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3246120" y="5897880"/>
            <a:ext cx="274320" cy="0"/>
          </a:xfrm>
          <a:prstGeom prst="line">
            <a:avLst/>
          </a:prstGeom>
          <a:noFill/>
          <a:ln w="25400">
            <a:solidFill>
              <a:srgbClr val="7E22CE"/>
            </a:solidFill>
            <a:prstDash val="dot"/>
          </a:ln>
        </p:spPr>
      </p:sp>
      <p:sp>
        <p:nvSpPr>
          <p:cNvPr id="75" name="Shape 73"/>
          <p:cNvSpPr/>
          <p:nvPr/>
        </p:nvSpPr>
        <p:spPr>
          <a:xfrm>
            <a:off x="3337560" y="5833872"/>
            <a:ext cx="128016" cy="128016"/>
          </a:xfrm>
          <a:prstGeom prst="ellipse">
            <a:avLst/>
          </a:prstGeom>
          <a:solidFill>
            <a:srgbClr val="7E22CE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11880" y="57881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 candidate set — travel_relax_topp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623560" y="5897880"/>
            <a:ext cx="274320" cy="0"/>
          </a:xfrm>
          <a:prstGeom prst="line">
            <a:avLst/>
          </a:prstGeom>
          <a:noFill/>
          <a:ln w="25400">
            <a:solidFill>
              <a:srgbClr val="7E22CE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5715000" y="5833872"/>
            <a:ext cx="128016" cy="128016"/>
          </a:xfrm>
          <a:prstGeom prst="ellipse">
            <a:avLst/>
          </a:prstGeom>
          <a:solidFill>
            <a:srgbClr val="7E22CE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89320" y="57881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 candidate set — travel_c_ph2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2" name="Text 80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  (1,992 raw)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3.44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5.17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84" name="Text 82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8 rows  (LP2 infeasible from w ≥ 0.05).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548640" y="6080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shows sum_x up to ≈ 2× baseline (the policy-relevant range; we don't expect to realistically increase facility count much above today's network).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 overlay uses the same baseline pharmacies and population, only the candidate set is 1/4 the size (7,449 vs 29,793). The sweep went infeasible past w = 0.01, so the violet curve doesn't enter the visible range.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6801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FR1  · 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224528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148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3602736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9300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2980944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871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359152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494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150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91804" y="2655939"/>
            <a:ext cx="961793" cy="104312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53598" y="3699064"/>
            <a:ext cx="965949" cy="51470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19547" y="4213770"/>
            <a:ext cx="1440180" cy="3511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09508" y="2573643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71302" y="3616768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37251" y="4131474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77431" y="4482587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04863" y="4509563"/>
            <a:ext cx="109728" cy="109728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91804" y="2766005"/>
            <a:ext cx="961793" cy="960654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553598" y="3726659"/>
            <a:ext cx="965949" cy="489131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5519547" y="4215790"/>
            <a:ext cx="1440180" cy="348637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536940" y="2711141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98734" y="3671795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64683" y="4160926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04863" y="4509563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440098" y="3159949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60138" y="3159949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 flipH="1">
            <a:off x="4553598" y="3297109"/>
            <a:ext cx="23660" cy="42955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434726" y="3607787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190" y="3607787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 flipH="1">
            <a:off x="4553598" y="3297109"/>
            <a:ext cx="23660" cy="42955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434726" y="3607787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86670" y="3607787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9.97 × 10⁶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8 rows  (LP2 infeasible from w ≥ 0.05).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1,447 cells / 9.97 × 10⁶ travel / 1.03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 in the log (4 inside the 2× baseline range shown here).  S1/S2 from scenario summary.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FRB  · 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224528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148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3602736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9300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2980944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871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359152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494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83464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332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0352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3796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015856" y="2225336"/>
            <a:ext cx="380537" cy="57128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96392" y="2796625"/>
            <a:ext cx="689846" cy="4922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86239" y="3288840"/>
            <a:ext cx="1385289" cy="49249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33560" y="2143040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14096" y="2714329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03943" y="3206544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89231" y="3699033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15856" y="2803642"/>
            <a:ext cx="380537" cy="183961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396392" y="2987603"/>
            <a:ext cx="689846" cy="327124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086239" y="3314727"/>
            <a:ext cx="1385289" cy="465488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2960992" y="2748778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1528" y="2932739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31375" y="3259863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16663" y="3725351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85412" y="2774750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05452" y="277475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 flipH="1">
            <a:off x="4086239" y="2911910"/>
            <a:ext cx="36334" cy="402817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967367" y="3195855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50831" y="3195855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 flipH="1">
            <a:off x="3396392" y="2911910"/>
            <a:ext cx="726180" cy="75693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3277520" y="2868731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829464" y="2868731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5" name="Text 63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4.13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9.33 × 10⁶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67" name="Text 65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7 rows  (LP2 infeasible from w ≥ 0.02).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613 cells / 9.33 × 10⁶ travel / 4.13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sweep rows in the log (4 inside the 2× baseline range shown here).  S1/S2 from scenario summary.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FRC  · 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224528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148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3602736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9300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2980944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871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359152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494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83464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332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0352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3796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03388" y="2568052"/>
            <a:ext cx="403950" cy="44676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07338" y="3014812"/>
            <a:ext cx="809463" cy="4210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16801" y="3435888"/>
            <a:ext cx="1549551" cy="41040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21092" y="2485756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5042" y="2932516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34505" y="3353592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84056" y="3763994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03388" y="3022021"/>
            <a:ext cx="403950" cy="139413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807338" y="3161433"/>
            <a:ext cx="809463" cy="314484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616801" y="3475918"/>
            <a:ext cx="1549551" cy="362905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3348524" y="2967157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52474" y="3106569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61937" y="3421054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11488" y="3783959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38040" y="2906426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8080" y="290642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75200" y="3043586"/>
            <a:ext cx="41601" cy="432332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497929" y="3357046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81393" y="335704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 flipH="1" flipV="1">
            <a:off x="3403388" y="3022021"/>
            <a:ext cx="1171813" cy="21565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3284516" y="2903149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836460" y="2903149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5" name="Text 63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4.56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1.16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67" name="Text 65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7 rows  (LP2 infeasible from w ≥ 0.02).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723 cells / 1.16 × 10⁷ travel / 4.56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sweep rows in the log (4 inside the 2× baseline range shown here).  S1/S2 from scenario summary.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FRD  ·  IN PROGRESS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224528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148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3602736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9300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2980944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871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359152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494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83464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332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0352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3796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95322" y="2359010"/>
            <a:ext cx="842999" cy="5847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38321" y="2943717"/>
            <a:ext cx="1444377" cy="5142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13026" y="2276714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6025" y="2861421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00403" y="3375713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95322" y="2548906"/>
            <a:ext cx="842999" cy="513581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638321" y="3062488"/>
            <a:ext cx="1444377" cy="378353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740458" y="2494042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83457" y="3007624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27835" y="3385976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256989" y="2183653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7029" y="2183653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5" name="Text 53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4.21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7 rows  (LP2 infeasible from w ≥ 0.02).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679 cells / 1.22 × 10⁷ travel / 4.21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 in the log (3 inside the 2× baseline range shown here).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FRE  · 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224528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148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3602736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9300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2980944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871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359152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494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150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85673" y="2151423"/>
            <a:ext cx="700874" cy="7327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86547" y="2884170"/>
            <a:ext cx="1160106" cy="6190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03377" y="2069127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4251" y="2801874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64357" y="3420957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5673" y="2537502"/>
            <a:ext cx="700874" cy="442253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086547" y="2979755"/>
            <a:ext cx="1160106" cy="535927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330809" y="2482638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31683" y="2924891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91789" y="3460818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03497" y="2466454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3537" y="246645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 flipH="1">
            <a:off x="4086547" y="2603614"/>
            <a:ext cx="254109" cy="376141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967675" y="2860883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251139" y="2860883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 flipH="1" flipV="1">
            <a:off x="3385673" y="2537502"/>
            <a:ext cx="954983" cy="66112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3266801" y="2418630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18745" y="241863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7" name="Text 55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2.88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59" name="Text 57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7 rows  (LP2 infeasible from w ≥ 0.02).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1,332 cells / 1.44 × 10⁷ travel / 2.88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 in the log (3 inside the 2× baseline range shown here).  S1/S2 from scenario summary.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FRF  · 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381000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7002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277368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639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3464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06908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30352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3796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19588" y="2274526"/>
            <a:ext cx="469556" cy="5762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89144" y="2850766"/>
            <a:ext cx="880921" cy="5134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0065" y="3364233"/>
            <a:ext cx="1621511" cy="47399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37292" y="2192230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06848" y="2768470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87769" y="3281937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09280" y="3755933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19588" y="2648663"/>
            <a:ext cx="469556" cy="35810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689144" y="3006763"/>
            <a:ext cx="880921" cy="392665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570065" y="3399428"/>
            <a:ext cx="1621511" cy="431079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164724" y="2593799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34280" y="2951899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15201" y="3344564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36712" y="3775643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44223" y="2765395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4263" y="276539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481383" y="2902555"/>
            <a:ext cx="88682" cy="496872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451193" y="3280556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34657" y="328055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 flipH="1">
            <a:off x="3689144" y="2902555"/>
            <a:ext cx="792239" cy="104208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570272" y="2887891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22216" y="2887891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1" name="Text 59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3.77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1.88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63" name="Text 61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7 rows  (LP2 infeasible from w ≥ 0.02).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1,167 cells / 1.88 × 10⁷ travel / 3.77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sweep rows in the log (4 inside the 2× baseline range shown here).  S1/S2 from scenario summary.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FRG  ·  IN PROGRESS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224528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148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3602736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9300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2980944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871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359152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494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83464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332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0352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3796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89325" y="2679647"/>
            <a:ext cx="833247" cy="57538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22572" y="3255029"/>
            <a:ext cx="1347175" cy="47944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07029" y="2597351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40276" y="3172733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87451" y="3652178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89325" y="2863472"/>
            <a:ext cx="833247" cy="422939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322572" y="3286410"/>
            <a:ext cx="1347175" cy="438214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434461" y="2808608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67708" y="3231546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614883" y="3669760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80053" y="2573732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00093" y="25737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5" name="Text 53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3.97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1.37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7 rows  (LP2 infeasible from w ≥ 0.01).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848 cells / 1.37 × 10⁷ travel / 3.97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 in the log (3 inside the 2× baseline range shown here).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FRH  · 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224528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148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3602736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9300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2980944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871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359152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494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83464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332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0352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3796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31975" y="2763233"/>
            <a:ext cx="780783" cy="55464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12759" y="3317879"/>
            <a:ext cx="1253111" cy="43248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9679" y="2680937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30463" y="3235583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83574" y="3668069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1975" y="2878893"/>
            <a:ext cx="780783" cy="461087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012759" y="3339980"/>
            <a:ext cx="1253111" cy="399815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177111" y="2824029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957895" y="3285116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11006" y="3684931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910317" y="2762199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30357" y="2762199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 flipH="1">
            <a:off x="4012759" y="2899359"/>
            <a:ext cx="34719" cy="44062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3893887" y="3221108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77351" y="32211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 flipH="1" flipV="1">
            <a:off x="3231975" y="2878893"/>
            <a:ext cx="815502" cy="20466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113103" y="2760021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65047" y="2760021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1" name="Text 59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4.23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63" name="Text 61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7 rows  (LP2 infeasible from w ≥ 0.02).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793 cells / 1.25 × 10⁷ travel / 4.23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 in the log (3 inside the 2× baseline range shown here).  S1/S2 from scenario summary.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FRI  ·  IN PROGRESS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381000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7002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277368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639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14325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7749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863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205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2935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6359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942797" y="2918143"/>
            <a:ext cx="1178396" cy="55285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21193" y="3470995"/>
            <a:ext cx="2569811" cy="5488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501" y="2835847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38897" y="3388699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08708" y="3937526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42797" y="3003468"/>
            <a:ext cx="1178396" cy="471624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121193" y="3475092"/>
            <a:ext cx="2569811" cy="531275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3887933" y="2948604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66329" y="3420228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36140" y="3951503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905688" y="2276894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25728" y="22768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9" name="Text 47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4.30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2.35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6 rows  (LP2 infeasible from w ≥ 0.01).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1,583 cells / 2.35 × 10⁷ travel / 4.30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sweep rows in the log (3 inside the 2× baseline range shown here).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FRJ  · 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224528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148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3602736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9300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2980944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871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359152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494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150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74358" y="2249736"/>
            <a:ext cx="794671" cy="6588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69028" y="2908586"/>
            <a:ext cx="1465877" cy="6229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92062" y="2167440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86732" y="2826290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52609" y="3449213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74358" y="2419101"/>
            <a:ext cx="794671" cy="518368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369028" y="2937469"/>
            <a:ext cx="1465877" cy="591856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519494" y="2364237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14164" y="2882605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80041" y="3474461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2778" y="2341668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12818" y="23416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 flipH="1">
            <a:off x="4369028" y="2478828"/>
            <a:ext cx="160909" cy="458641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250156" y="2818597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3620" y="2818597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 flipH="1" flipV="1">
            <a:off x="3574358" y="2419101"/>
            <a:ext cx="955580" cy="59727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3455486" y="2300229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07430" y="2300229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7" name="Text 55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3.63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1.90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59" name="Text 57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6 rows  (LP2 infeasible from w ≥ 0.01).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1,424 cells / 1.90 × 10⁷ travel / 3.63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 in the log (3 inside the 2× baseline range shown here).  S1/S2 from scenario summary.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FRK  ·  IN PROGRESS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06908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9593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329184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18211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251460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4048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14325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7749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863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05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2935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6359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39145" y="2794131"/>
            <a:ext cx="732162" cy="51788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71307" y="3312017"/>
            <a:ext cx="1355446" cy="48068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56849" y="2711835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89011" y="3229721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44457" y="3710408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39145" y="2964237"/>
            <a:ext cx="732162" cy="382866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171307" y="3347103"/>
            <a:ext cx="1355446" cy="442736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384281" y="2909373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6443" y="3292239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71889" y="3734975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59993" y="2771176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0033" y="27711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1" name="Text 49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3.46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7 rows  (LP2 infeasible from w ≥ 0.02).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1,683 cells / 2.49 × 10⁷ travel / 3.46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 in the log (3 inside the 2× baseline range shown here).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FRL  · 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224528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148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3602736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9300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2980944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871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359152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494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83464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332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0352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3796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077010" y="2733567"/>
            <a:ext cx="794560" cy="70694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1570" y="3440510"/>
            <a:ext cx="1135265" cy="51153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06835" y="3952044"/>
            <a:ext cx="2238040" cy="44674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94714" y="2651271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89274" y="3358214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24539" y="3869748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62578" y="4316488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90010" y="4342675"/>
            <a:ext cx="109728" cy="109728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77010" y="2731267"/>
            <a:ext cx="794560" cy="704381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871570" y="3435648"/>
            <a:ext cx="1135265" cy="513231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5006835" y="3948880"/>
            <a:ext cx="2238040" cy="44866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3022146" y="2676403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16706" y="3380784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51971" y="3894016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90010" y="4342675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83766" y="2930562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03806" y="293056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 flipH="1">
            <a:off x="3871570" y="3067722"/>
            <a:ext cx="249357" cy="367926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3752698" y="3316776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036162" y="33167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 flipH="1" flipV="1">
            <a:off x="3077010" y="2731267"/>
            <a:ext cx="1043917" cy="336455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2958138" y="2612395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10082" y="2612395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2.51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8 rows  (LP2 infeasible from w ≥ 0.05).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1,021 cells / 1.14 × 10⁷ travel / 2.51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sweep rows in the log (4 inside the 2× baseline range shown here).  S1/S2 from scenario summary.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· FRM  · 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224528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148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3602736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9300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1000k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2980944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871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1500k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359152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24942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2000k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2500k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83464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332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0352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3796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927223" y="2247491"/>
            <a:ext cx="581113" cy="76958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08336" y="3017076"/>
            <a:ext cx="910400" cy="51924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18735" y="3536319"/>
            <a:ext cx="1285978" cy="36453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44927" y="2165195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26040" y="2934780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36439" y="3454023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22417" y="3818562"/>
            <a:ext cx="164592" cy="164592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49849" y="3845994"/>
            <a:ext cx="109728" cy="109728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27223" y="2285891"/>
            <a:ext cx="581113" cy="798051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508336" y="3083943"/>
            <a:ext cx="910400" cy="461595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418735" y="3545537"/>
            <a:ext cx="1285978" cy="355321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872359" y="2231027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53472" y="3029079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63871" y="3490673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49849" y="3845994"/>
            <a:ext cx="109728" cy="109728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147947" y="2779295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67987" y="277929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285107" y="2916455"/>
            <a:ext cx="133628" cy="629082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4299863" y="3426665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83327" y="3426665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 flipH="1">
            <a:off x="3508336" y="2916455"/>
            <a:ext cx="776771" cy="167487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3389464" y="2965071"/>
            <a:ext cx="237744" cy="237744"/>
          </a:xfrm>
          <a:prstGeom prst="ellipse">
            <a:avLst/>
          </a:prstGeom>
          <a:solidFill>
            <a:srgbClr val="2129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941408" y="2965071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4.59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1.55 × 10⁶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9 rows  (LP2 infeasible from w ≥ 0.1).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87 cells / 1.55 × 10⁶ travel / 4.59 min mean.  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sweep rows in the log (4 inside the 2× baseline range shown here).  S1/S2 from scenario summary.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LAMBDA_SWEEP_ITALY_SIMPLEX.LOG (WARM-START SIMPLEX)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Italy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73659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406908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9593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329184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18211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51460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4048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83464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5k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332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0352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3796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772400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25k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20491" y="2356488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40531" y="23564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5" name="Text 43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12,789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3.10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1.51 × 10⁸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all rows.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12,789 cells, 1.51 × 10⁸ total travel, 3.10 min mean. 3 sweep rows completed (w = 0.0001, 0.0002, 0.0005) but all at sum_x = 94k–105k (~7–8× baseline) — far outside this 2×-baseline view. The sweep needs to reach w ≥ 0.05 to enter the policy-relevant range.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LAMBDA_SWEEP_SWEDEN_SIMPLEX.LOG (WARM-START SIMPLEX)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Sweden — sweep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7043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— total travel cost vs. sum_x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73659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00200" y="406908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9593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329184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18211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00200" y="251460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4048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00200" y="1737360"/>
            <a:ext cx="617220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627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02973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37213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05745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39985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808518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42758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211291" y="1737360"/>
            <a:ext cx="0" cy="310896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45531" y="48920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600200" y="4846320"/>
            <a:ext cx="617220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1737360"/>
            <a:ext cx="0" cy="310896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00200" y="516636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sum_x  (LP-relaxed facility count)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 rot="16200000">
            <a:off x="411480" y="3154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 (person · c(t))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87418" y="2549942"/>
            <a:ext cx="274320" cy="274320"/>
          </a:xfrm>
          <a:prstGeom prst="rect">
            <a:avLst/>
          </a:prstGeom>
          <a:solidFill>
            <a:srgbClr val="B91C1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7458" y="254994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68680" y="5641848"/>
            <a:ext cx="27432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0120" y="5577840"/>
            <a:ext cx="128016" cy="128016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3444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  (LP1)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46120" y="5641848"/>
            <a:ext cx="274320" cy="0"/>
          </a:xfrm>
          <a:prstGeom prst="line">
            <a:avLst/>
          </a:prstGeom>
          <a:noFill/>
          <a:ln w="25400">
            <a:solidFill>
              <a:srgbClr val="F2B6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37560" y="5577840"/>
            <a:ext cx="128016" cy="128016"/>
          </a:xfrm>
          <a:prstGeom prst="ellipse">
            <a:avLst/>
          </a:prstGeom>
          <a:solidFill>
            <a:srgbClr val="F2B63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1188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 (LP2)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23560" y="5641848"/>
            <a:ext cx="274320" cy="0"/>
          </a:xfrm>
          <a:prstGeom prst="line">
            <a:avLst/>
          </a:prstGeom>
          <a:noFill/>
          <a:ln w="25400">
            <a:solidFill>
              <a:srgbClr val="E07B0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715000" y="5577840"/>
            <a:ext cx="128016" cy="128016"/>
          </a:xfrm>
          <a:prstGeom prst="ellipse">
            <a:avLst/>
          </a:prstGeom>
          <a:solidFill>
            <a:srgbClr val="E07B00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8932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travel_c_ph2  (nearest)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046720" y="5577840"/>
            <a:ext cx="137160" cy="137160"/>
          </a:xfrm>
          <a:prstGeom prst="rect">
            <a:avLst/>
          </a:prstGeom>
          <a:solidFill>
            <a:srgbClr val="B91C1C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6676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138160" y="1463040"/>
            <a:ext cx="3520440" cy="402336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8160" y="1463040"/>
            <a:ext cx="73152" cy="4023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3" name="Text 41"/>
          <p:cNvSpPr/>
          <p:nvPr/>
        </p:nvSpPr>
        <p:spPr>
          <a:xfrm>
            <a:off x="836676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366760" y="196596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1,078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with a pharmacy</a:t>
            </a:r>
            <a:endParaRPr lang="en-US" sz="2000" dirty="0"/>
          </a:p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6.07 min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mean travel time</a:t>
            </a:r>
            <a:endParaRPr lang="en-US" sz="20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6.95 × 10⁷</a:t>
            </a:r>
            <a:endParaRPr lang="en-US" sz="2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travel cost (person · c(t))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8366760" y="4389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 status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366760" y="47091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sweep rows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travel_relax_topp valid for all rows.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1,078 cells, 6.95 × 10⁷ total travel, 6.07 min mean — the highest mean travel time of the four countries, consistent with the sparse rural geography. 4 sweep rows completed (w = 0.0001 to 0.001) but all at sum_x ≥ 22,690 — over 20× baseline, far outside this 2×-baseline view. The sweep needs to reach w ≥ 0.05 to enter the policy-relevant range.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3279</Words>
  <Application>Microsoft Office PowerPoint</Application>
  <PresentationFormat>Widescreen</PresentationFormat>
  <Paragraphs>599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2</cp:revision>
  <dcterms:created xsi:type="dcterms:W3CDTF">2026-06-01T08:24:25Z</dcterms:created>
  <dcterms:modified xsi:type="dcterms:W3CDTF">2026-06-02T17:45:50Z</dcterms:modified>
</cp:coreProperties>
</file>