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6"/>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320"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1" r:id="rId66"/>
    <p:sldId id="322" r:id="rId67"/>
    <p:sldId id="323" r:id="rId68"/>
    <p:sldId id="324" r:id="rId69"/>
    <p:sldId id="325" r:id="rId70"/>
    <p:sldId id="326" r:id="rId71"/>
    <p:sldId id="327" r:id="rId72"/>
    <p:sldId id="328" r:id="rId73"/>
    <p:sldId id="329" r:id="rId74"/>
    <p:sldId id="330" r:id="rId7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292002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5098019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9778158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6598542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40099316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1610308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484571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9304624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802361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5523049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187138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8147640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3472897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070802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927417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7752490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41117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5666752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1700063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0263511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6326799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2473149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888727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978024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5792938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2277610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6670793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1755886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89711607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0962767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3210419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2424525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510836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322696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5297245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8860343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1750363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5560920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27713195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4546136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29724657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9379484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426121802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38789154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28538322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60950979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4955930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3652111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7026336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283449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207426255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972509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13771586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65141220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4053998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417062284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3579107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2390414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18623514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28990077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22023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what exists today, by how much it could improve at equal cost or equal accessibility, and which of 42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40791517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Cost and accessibility trade off continuously under exogenous demand — there is no trilemma to resolve.</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(p16–61).</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(p64).</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(p63).</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for equity, or keep soft coverage.</a:t>
            </a:r>
            <a:endParaRPr lang="en-US" sz="1000" dirty="0"/>
          </a:p>
        </p:txBody>
      </p:sp>
    </p:spTree>
    <p:extLst>
      <p:ext uri="{BB962C8B-B14F-4D97-AF65-F5344CB8AC3E}">
        <p14:creationId xmlns:p14="http://schemas.microsoft.com/office/powerpoint/2010/main" val="3062181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7936543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689384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6778252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8486548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only 0.012% of residents: 34 of 41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1711933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3224440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choice set  </a:t>
            </a:r>
            <a:r>
              <a:rPr lang="en-US" sz="2200" dirty="0">
                <a:solidFill>
                  <a:srgbClr val="1C3D5A"/>
                </a:solidFill>
                <a:latin typeface="Georgia" pitchFamily="34" charset="0"/>
                <a:ea typeface="Georgia" pitchFamily="34" charset="-122"/>
                <a:cs typeface="Georgia" pitchFamily="34" charset="-120"/>
              </a:rPr>
              <a:t>— where the 5-nearest rule binds, and why widening it comes before RSSV</a:t>
            </a:r>
            <a:endParaRPr lang="en-US" sz="22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SE2 at S2 (309 of 452 open): 1,730 cells / 449,261 residents — 10.2%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ITF at S2 (519 of 1,253 open): 9.0% of residents are already stranded and a further 23.9% are one closure away — a third of the population pins the solution.</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Even at S1 — same count as today, only relocated — ITF strands 1.84%: relocation moved facilities out of clients’ fixed radii.</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B9791C"/>
                </a:solidFill>
                <a:latin typeface="Calibri" pitchFamily="34" charset="0"/>
                <a:ea typeface="Calibri" pitchFamily="34" charset="-122"/>
                <a:cs typeface="Calibri" pitchFamily="34" charset="-120"/>
              </a:rPr>
              <a:t>Also found: </a:t>
            </a:r>
            <a:r>
              <a:rPr lang="en-US" sz="880" dirty="0">
                <a:solidFill>
                  <a:srgbClr val="12233A"/>
                </a:solidFill>
                <a:latin typeface="Calibri" pitchFamily="34" charset="0"/>
                <a:ea typeface="Calibri" pitchFamily="34" charset="-122"/>
                <a:cs typeface="Calibri" pitchFamily="34" charset="-120"/>
              </a:rPr>
              <a:t>S1 and S2 are read off the nearest swept λ grid point. In 5 of 42 areas (FRC, FRH, FRJ, FRK, SE2) both scenarios snap to the SAME point — SE2’s S1 bracket (0.2, 0.5) and S2 bracket (0.5, 1.0) both resolve to w = 0.5, so its delivered S1 has 309 open, not the baseline 452. The interpolated tables on p60–61 are unaffected; the exported S1/S2 location files and the exact-MIP step are where this needs a refinement step rather than a snap.</a:t>
            </a:r>
            <a:endParaRPr lang="en-US" sz="880" dirty="0"/>
          </a:p>
        </p:txBody>
      </p:sp>
    </p:spTree>
    <p:extLst>
      <p:ext uri="{BB962C8B-B14F-4D97-AF65-F5344CB8AC3E}">
        <p14:creationId xmlns:p14="http://schemas.microsoft.com/office/powerpoint/2010/main" val="597500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868680"/>
          </a:xfrm>
          <a:prstGeom prst="roundRect">
            <a:avLst>
              <a:gd name="adj" fmla="val 5263"/>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4846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which is the refinement step S1/S2 still lack (p9).</a:t>
            </a:r>
            <a:endParaRPr lang="en-US" sz="930" dirty="0"/>
          </a:p>
        </p:txBody>
      </p:sp>
    </p:spTree>
    <p:extLst>
      <p:ext uri="{BB962C8B-B14F-4D97-AF65-F5344CB8AC3E}">
        <p14:creationId xmlns:p14="http://schemas.microsoft.com/office/powerpoint/2010/main" val="3965737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3280797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22415819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80405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4691809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745926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403615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110939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58476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37771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407044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909613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465407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251733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668018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341707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050838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006070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957891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31142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13503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556426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881211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806223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148317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967661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633249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25103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293340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50846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626745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007716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66626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096166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629788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922185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390481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373733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082204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867305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398641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424321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587850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894350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194412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715688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43,357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28,609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15,808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433,828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44,416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0.00282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26,673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10,933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191,428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231048980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30480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country</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today #</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travel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cost · Δ mean t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Netherlands</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−443 · −27.4%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−551 · −34.1%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24,532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34,329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Luxembourg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−427 k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 · −29.9%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15,945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25,641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Estonia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 M min · −22.6%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 · −32.3%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 −41.4%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11,388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19,421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Latvia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−29.1%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 · −36.8%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8,822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Slovenia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 · −26.7%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 · −32.4%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17,680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25,450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Lithuania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 M min · −23.5%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−268 · −46.0%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10,987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19,834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128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Ireland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 M min · −16.9%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 · −27.2%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 · −34.5%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21,020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Norway</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 M min · −25.3%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−326 · −43.2%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−18.0% · −1.8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−359 · −47.6%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23,174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49,999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324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Denmark</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 M min · −14.8%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−28.6%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 · −35.6%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37,082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55,960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448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Austria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−20.4%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−373 · −33.0%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−497 · −44.0%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18,361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31,027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Portugal</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 M min · −21.6%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−527 · −28.0%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−623 · −33.1%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10,473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17,033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Czechia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−19.8%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−487 · −30.0%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−587 · −36.1%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22,885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Belgium</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 M min · −14.9%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−520 · −17.6%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−0.3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−552 · −18.7%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5,666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7,340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 M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−1,883 · −26.8%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 · −0.6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−2,207 · −31.4%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10,254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7020903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−237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11,918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−12.8%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−18.0%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13,075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−175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9,048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−204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−309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14,257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 M min · −13.0%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−17.0%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−219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11,153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−162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−212 · −26.7%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13,828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 M min · −8.7%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−296 · −18.7%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−447 · −28.2%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8,368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−265 · −18.6%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−377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13,202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 M min · −14.3%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−300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13,737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−240 · −23.4%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−286 · −27.9%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−313 k min · −18.4%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−10.9%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10,336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M min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−1,101 · −38.1%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 · −1.0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−1,196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20,047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1,253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−40.7 M min · −45.8%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−732 · −58.5%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−783 · −62.5%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101,789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−15.0 M min · −49.1%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−474 · −53.2%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−26.1% · −2.4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−545 · −61.2%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18,626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56,207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−13.6 M min · −28.0%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−825 · −39.7%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−12.3%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−945 · −45.4%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12,529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23,350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−15.3 M min · −31.3%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−13.8% · −1.2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−774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M min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−186 · −48.0%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27,492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44,267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−6.0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−167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33,567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57,265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M min · −15.0%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30,810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−5.0 M min · −20.3%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−419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−462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−288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−404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9,925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−247 · −24.2%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−282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−8.6%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−363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16,347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M min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16,582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9613949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6903489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The REGIO review (Moreno Monroy, Brons, Nöbauer) is worked in where it asked for answers and listed below where it asked for work. Status confirmed 4 Sep 2026: nothing is mid-flight, so the list is what is done and what remains, in priority order.</a:t>
            </a:r>
            <a:endParaRPr lang="en-US" sz="95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S1 (same #, ↓travel) · S2 (same travel, ↓#) · S3 full frontier — S1/S2 interpolated onto the frontier, stated in NATIVE units first, € second (p60–61)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Candidates = ≥50-pop cells ∪ pharmacy cells · clients = FULL population · adapted logit (25/10)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bracketing S1 and S2 for both functions (p59)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Improvement rectangle (raw + relative), diagonal crossing + λ, point-cloud with projections; ranked lists by policy typology, free of coverage artefacts (ITF #1 on an UNCHANGED value)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 review worked in: choice set (p9), λ-tangency (p10), logistic parametrised (p64), bounds on TOTAL cost only (p12), €100,000 a placeholder everywhere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subsampling keeps EVERY baseline location, so the frontier still dominates the baseline</a:t>
            </a:r>
            <a:endParaRPr lang="en-US" sz="90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(p60–61) are the first steps; the € labels stay placeholders until a is calibrated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(SE2: 10.2% of residents one closure from stranding,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 needs the wider radius first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 also replaces the nearest-grid-point snap that makes S1 = S2 in 5 areas (FRC/FRH/FRJ/FRK/SE2,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(p64)</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(p64)?  ·  territorial coverage constraints for equity, or keep soft coverage?</a:t>
            </a:r>
            <a:endParaRPr lang="en-US" sz="1000" dirty="0"/>
          </a:p>
        </p:txBody>
      </p:sp>
    </p:spTree>
    <p:extLst>
      <p:ext uri="{BB962C8B-B14F-4D97-AF65-F5344CB8AC3E}">
        <p14:creationId xmlns:p14="http://schemas.microsoft.com/office/powerpoint/2010/main" val="20731515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35460970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C67BE45-30AC-EA92-F073-74946927D0E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41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AB672FB-C513-50C5-2813-85175E4770B4}"/>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0E229C39-4BD4-FCF9-6C85-A2472F2B0529}"/>
              </a:ext>
            </a:extLst>
          </p:cNvPr>
          <p:cNvSpPr txBox="1"/>
          <p:nvPr/>
        </p:nvSpPr>
        <p:spPr>
          <a:xfrm>
            <a:off x="381000" y="5884607"/>
            <a:ext cx="11430000" cy="507831"/>
          </a:xfrm>
          <a:prstGeom prst="rect">
            <a:avLst/>
          </a:prstGeom>
          <a:noFill/>
        </p:spPr>
        <p:txBody>
          <a:bodyPr vert="horz" rtlCol="0">
            <a:spAutoFit/>
          </a:bodyPr>
          <a:lstStyle/>
          <a:p>
            <a:r>
              <a:rPr lang="en-US" sz="90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each labelled with the quantity that defines it - S1 with its facility count (today's) and the facility cost lambda x N at that lambda, S2 with its travel cost (today's) - so S1 reads the same count under LINEAR and LOGISTIC. The count axis is logarithmic and shared by both panels: same height = same count.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32338310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0A92A86-3264-7E57-6D56-247C85092E5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3B932EF-7169-7216-D872-197900BA6F5A}"/>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533297F3-3FF1-5AE8-EFC3-17A2E1E16F47}"/>
              </a:ext>
            </a:extLst>
          </p:cNvPr>
          <p:cNvSpPr txBox="1"/>
          <p:nvPr/>
        </p:nvSpPr>
        <p:spPr>
          <a:xfrm>
            <a:off x="381000" y="5884607"/>
            <a:ext cx="11430000" cy="369332"/>
          </a:xfrm>
          <a:prstGeom prst="rect">
            <a:avLst/>
          </a:prstGeom>
          <a:noFill/>
        </p:spPr>
        <p:txBody>
          <a:bodyPr vert="horz" rtlCol="0">
            <a:spAutoFit/>
          </a:bodyPr>
          <a:lstStyle/>
          <a:p>
            <a:r>
              <a:rPr lang="en-US" sz="90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155230930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ABFF3AA-4E6C-8098-98F8-C7EFEDA0D90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477A796-A5F4-0D1B-2C08-B867671927AC}"/>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16280895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60700D5-FF64-84AC-C39E-282CE109876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CB91DDB-70AA-D988-3D38-D147DE2BDEBF}"/>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6276541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330A91-386D-41CD-3A76-CC8A0515DD8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4F6D074-3150-ECE6-90ED-467CF2EB9780}"/>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2ECE088B-41F2-93F1-AA9A-1A4DF7A99D83}"/>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11519327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4E0F09-69D1-1152-1463-45BA28E2276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B23CCC4-55C0-64E6-D69A-4D7A222CC221}"/>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A6AF863E-F21D-BBEC-63F9-9A0561DE6E68}"/>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371434376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A0AF618-F475-14EE-07DB-A228C945656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850F2C6-3215-77F3-B28C-AA023919C250}"/>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9039685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EA41E8-DD37-EE2C-FF9B-2B120E277D4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D0AFEC8-9C50-A100-0AFF-E0DFCEFADEB7}"/>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17335630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015DE7-CF89-EE2C-9290-79DC6A8361A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506FB1D-A75F-4B98-E23B-2D3C2ACB187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60235637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9E263CD-8066-D2D9-22CB-E110CE0A2C9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C0D78FB-2B9E-5B5D-2515-A88EFC7B5716}"/>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2446584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17215</Words>
  <Application>Microsoft Office PowerPoint</Application>
  <PresentationFormat>Widescreen</PresentationFormat>
  <Paragraphs>3662</Paragraphs>
  <Slides>74</Slides>
  <Notes>63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74</vt:i4>
      </vt:variant>
    </vt:vector>
  </HeadingPairs>
  <TitlesOfParts>
    <vt:vector size="79"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7</cp:revision>
  <dcterms:created xsi:type="dcterms:W3CDTF">2026-06-01T08:24:25Z</dcterms:created>
  <dcterms:modified xsi:type="dcterms:W3CDTF">2026-09-10T15:26:50Z</dcterms:modified>
</cp:coreProperties>
</file>