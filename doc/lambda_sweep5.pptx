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1"/>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8" r:id="rId53"/>
    <p:sldId id="309" r:id="rId54"/>
    <p:sldId id="310" r:id="rId55"/>
    <p:sldId id="311" r:id="rId56"/>
    <p:sldId id="312" r:id="rId57"/>
    <p:sldId id="313" r:id="rId58"/>
    <p:sldId id="314" r:id="rId59"/>
    <p:sldId id="315" r:id="rId60"/>
    <p:sldId id="316" r:id="rId61"/>
    <p:sldId id="317" r:id="rId62"/>
    <p:sldId id="318" r:id="rId63"/>
    <p:sldId id="319" r:id="rId64"/>
    <p:sldId id="320" r:id="rId65"/>
    <p:sldId id="321" r:id="rId66"/>
    <p:sldId id="322" r:id="rId67"/>
    <p:sldId id="323" r:id="rId68"/>
    <p:sldId id="324" r:id="rId69"/>
    <p:sldId id="325" r:id="rId70"/>
    <p:sldId id="326" r:id="rId71"/>
    <p:sldId id="327" r:id="rId72"/>
    <p:sldId id="328" r:id="rId73"/>
    <p:sldId id="329" r:id="rId74"/>
    <p:sldId id="330" r:id="rId75"/>
    <p:sldId id="331" r:id="rId76"/>
    <p:sldId id="332" r:id="rId77"/>
    <p:sldId id="333" r:id="rId78"/>
    <p:sldId id="334" r:id="rId79"/>
    <p:sldId id="335" r:id="rId8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6179909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7416095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4838418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0230082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6838567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7652801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9308552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3400184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6530673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1252564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4003247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981035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2577556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4211451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0281701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7010481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4552749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7111218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6794077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2037892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0108637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6001833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1484725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7022179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6761538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400074421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3334205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5207287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269698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70725200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79290163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5751747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25036035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514284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0285474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78294598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7270552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9282551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9650338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337407489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37843764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8866772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8808419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62508251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7938626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34237248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0783583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13830843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92266281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25312112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90174873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112341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313314183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68421751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49642946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50773788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56681903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04223697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6705715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423969007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35557922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30772065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226911063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29800045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936886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proximity vs efficiency: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6006703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proximity vs efficiency — Lewis's trilemma (travel, operating cost, demand density) with the population distribution taken as given, as his p5 does.</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 A terminology bridge to Lewis's benchmarking deck and Rosa Figueiredo's La Poste deck closes the deck (p67).</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(≥1 pharmacy per zone — Rosa's CpMP with territorial coverage) for equity, or keep soft coverage.</a:t>
            </a:r>
            <a:endParaRPr lang="en-US" sz="1000" dirty="0"/>
          </a:p>
        </p:txBody>
      </p:sp>
    </p:spTree>
    <p:extLst>
      <p:ext uri="{BB962C8B-B14F-4D97-AF65-F5344CB8AC3E}">
        <p14:creationId xmlns:p14="http://schemas.microsoft.com/office/powerpoint/2010/main" val="39169646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9177219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0843365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6728565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266238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712464"/>
            <a:ext cx="4937760" cy="859536"/>
          </a:xfrm>
          <a:prstGeom prst="roundRect">
            <a:avLst>
              <a:gd name="adj" fmla="val 5319"/>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749040"/>
            <a:ext cx="4718304" cy="804672"/>
          </a:xfrm>
          <a:prstGeom prst="rect">
            <a:avLst/>
          </a:prstGeom>
          <a:noFill/>
          <a:ln/>
        </p:spPr>
        <p:txBody>
          <a:bodyPr wrap="square" rtlCol="0" anchor="t"/>
          <a:lstStyle/>
          <a:p>
            <a:pPr marL="0" indent="0">
              <a:lnSpc>
                <a:spcPct val="96000"/>
              </a:lnSpc>
              <a:buNone/>
            </a:pPr>
            <a:r>
              <a:rPr lang="en-US" sz="760" b="1" dirty="0">
                <a:solidFill>
                  <a:srgbClr val="B9791C"/>
                </a:solidFill>
                <a:latin typeface="Calibri" pitchFamily="34" charset="0"/>
                <a:ea typeface="Calibri" pitchFamily="34" charset="-122"/>
                <a:cs typeface="Calibri" pitchFamily="34" charset="-120"/>
              </a:rPr>
              <a:t>⚠ For review:  </a:t>
            </a:r>
            <a:r>
              <a:rPr lang="en-US" sz="76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0.012% of residents: 36 of 43 areas have none, the largest remainder is SE2 (165 cells, 14,210 residents, 0.32%) — genuinely remote cells, not a coverage artefact. Feedback welcome.</a:t>
            </a:r>
            <a:endParaRPr lang="en-US" sz="760" dirty="0"/>
          </a:p>
        </p:txBody>
      </p:sp>
      <p:sp>
        <p:nvSpPr>
          <p:cNvPr id="17" name="Shape 15"/>
          <p:cNvSpPr/>
          <p:nvPr/>
        </p:nvSpPr>
        <p:spPr>
          <a:xfrm>
            <a:off x="457200" y="4617720"/>
            <a:ext cx="11274552" cy="1783080"/>
          </a:xfrm>
          <a:prstGeom prst="roundRect">
            <a:avLst>
              <a:gd name="adj" fmla="val 3077"/>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36592"/>
            <a:ext cx="10835640" cy="1627632"/>
          </a:xfrm>
          <a:prstGeom prst="rect">
            <a:avLst/>
          </a:prstGeom>
          <a:noFill/>
          <a:ln/>
        </p:spPr>
        <p:txBody>
          <a:bodyPr wrap="square" rtlCol="0" anchor="t"/>
          <a:lstStyle/>
          <a:p>
            <a:pPr marL="0" indent="0">
              <a:buNone/>
            </a:pPr>
            <a:r>
              <a:rPr lang="en-US" sz="930" b="1" dirty="0">
                <a:solidFill>
                  <a:srgbClr val="12233A"/>
                </a:solidFill>
                <a:latin typeface="Calibri" pitchFamily="34" charset="0"/>
                <a:ea typeface="Calibri" pitchFamily="34" charset="-122"/>
                <a:cs typeface="Calibri" pitchFamily="34" charset="-120"/>
              </a:rPr>
              <a:t>Why the relaxation, and what it buys.  </a:t>
            </a:r>
            <a:r>
              <a:rPr lang="en-US" sz="930" dirty="0">
                <a:solidFill>
                  <a:srgbClr val="5B6B7B"/>
                </a:solidFill>
                <a:latin typeface="Calibri" pitchFamily="34" charset="0"/>
                <a:ea typeface="Calibri" pitchFamily="34" charset="-122"/>
                <a:cs typeface="Calibri" pitchFamily="34" charset="-120"/>
              </a:rPr>
              <a:t>With yⱼ ∈ {0,1} this is the (NP-hard) uncapacitated facility-location problem (UFLP), in its strong disaggregated formulation — one xᵢⱼ ≤ yⱼ per OD pair, i.e. the full set of the “disaggregated cuts” that Rosa's La Poste deck (p11) adds only for each customer's closest facility — whose LP relaxation is known to be nearly integral, which the sweeps confirm (frac_y stays small). The LP optimum is a certified </a:t>
            </a:r>
            <a:r>
              <a:rPr lang="en-US" sz="930" b="1" dirty="0">
                <a:solidFill>
                  <a:srgbClr val="5B6B7B"/>
                </a:solidFill>
                <a:latin typeface="Calibri" pitchFamily="34" charset="0"/>
                <a:ea typeface="Calibri" pitchFamily="34" charset="-122"/>
                <a:cs typeface="Calibri" pitchFamily="34" charset="-120"/>
              </a:rPr>
              <a:t>lower bound</a:t>
            </a:r>
            <a:r>
              <a:rPr lang="en-US" sz="93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930" b="1" dirty="0">
                <a:solidFill>
                  <a:srgbClr val="0B6E99"/>
                </a:solidFill>
                <a:latin typeface="Calibri" pitchFamily="34" charset="0"/>
                <a:ea typeface="Calibri" pitchFamily="34" charset="-122"/>
                <a:cs typeface="Calibri" pitchFamily="34" charset="-120"/>
              </a:rPr>
              <a:t>upper bound</a:t>
            </a:r>
            <a:r>
              <a:rPr lang="en-US" sz="93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930" dirty="0"/>
          </a:p>
          <a:p>
            <a:pPr marL="0" indent="0">
              <a:buNone/>
            </a:pPr>
            <a:r>
              <a:rPr lang="en-US" sz="930" b="1" dirty="0">
                <a:solidFill>
                  <a:srgbClr val="12233A"/>
                </a:solidFill>
                <a:latin typeface="Calibri" pitchFamily="34" charset="0"/>
                <a:ea typeface="Calibri" pitchFamily="34" charset="-122"/>
                <a:cs typeface="Calibri" pitchFamily="34" charset="-120"/>
              </a:rPr>
              <a:t>Relation to the p-median problem.  </a:t>
            </a:r>
            <a:r>
              <a:rPr lang="en-US" sz="93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(pMP: Hakimi 1964;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 In the family tree of Rosa's deck (her p7): capacities Rⱼ on Σᵢ popᵢ·xᵢⱼ make it the CpMP; a coverage radius in place of c(t) makes it the MCLP — the saturating logistic c(t) is the smooth counterpart of that coverage objective (p66).</a:t>
            </a:r>
            <a:endParaRPr lang="en-US" sz="93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4742739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1908175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(Albuquerque, Figueiredo &amp; Genre-Grandpierre 2026, arXiv 2607.22666 — Rosa's p12)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(sample → solve → vote → filter) → exact MIP on the reduced set → post-optimisation, as in her flow.</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3629200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1188720"/>
          </a:xfrm>
          <a:prstGeom prst="roundRect">
            <a:avLst>
              <a:gd name="adj" fmla="val 3846"/>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80467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 a p-median instance (p7). S1/S2 are now pinned by bisection over λ to within one facility / 0.2% travel (#52, p9); the exact fixed-count solve stays on the roadmap for the integrality gap (p65).</a:t>
            </a:r>
            <a:endParaRPr lang="en-US" sz="930" dirty="0"/>
          </a:p>
        </p:txBody>
      </p:sp>
    </p:spTree>
    <p:extLst>
      <p:ext uri="{BB962C8B-B14F-4D97-AF65-F5344CB8AC3E}">
        <p14:creationId xmlns:p14="http://schemas.microsoft.com/office/powerpoint/2010/main" val="1237111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a:off x="548640" y="1554480"/>
            <a:ext cx="91440" cy="2286000"/>
          </a:xfrm>
          <a:prstGeom prst="rect">
            <a:avLst/>
          </a:prstGeom>
          <a:solidFill>
            <a:srgbClr val="1C7293"/>
          </a:solidFill>
          <a:ln/>
        </p:spPr>
        <p:txBody>
          <a:bodyPr/>
          <a:lstStyle/>
          <a:p>
            <a:endParaRPr/>
          </a:p>
        </p:txBody>
      </p:sp>
      <p:sp>
        <p:nvSpPr>
          <p:cNvPr id="6" name="Shape 4"/>
          <p:cNvSpPr/>
          <p:nvPr/>
        </p:nvSpPr>
        <p:spPr>
          <a:xfrm>
            <a:off x="4572000" y="1737360"/>
            <a:ext cx="1188720" cy="274320"/>
          </a:xfrm>
          <a:prstGeom prst="rect">
            <a:avLst/>
          </a:prstGeom>
          <a:solidFill>
            <a:srgbClr val="1C7293"/>
          </a:solidFill>
          <a:ln/>
        </p:spPr>
        <p:txBody>
          <a:bodyPr/>
          <a:lstStyle/>
          <a:p>
            <a:endParaRPr/>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a:p>
        </p:txBody>
      </p:sp>
      <p:sp>
        <p:nvSpPr>
          <p:cNvPr id="12" name="Shape 10"/>
          <p:cNvSpPr/>
          <p:nvPr/>
        </p:nvSpPr>
        <p:spPr>
          <a:xfrm>
            <a:off x="6217920" y="1554480"/>
            <a:ext cx="91440" cy="2286000"/>
          </a:xfrm>
          <a:prstGeom prst="rect">
            <a:avLst/>
          </a:prstGeom>
          <a:solidFill>
            <a:srgbClr val="065A82"/>
          </a:solidFill>
          <a:ln/>
        </p:spPr>
        <p:txBody>
          <a:bodyPr/>
          <a:lstStyle/>
          <a:p>
            <a:endParaRPr/>
          </a:p>
        </p:txBody>
      </p:sp>
      <p:sp>
        <p:nvSpPr>
          <p:cNvPr id="13" name="Shape 11"/>
          <p:cNvSpPr/>
          <p:nvPr/>
        </p:nvSpPr>
        <p:spPr>
          <a:xfrm>
            <a:off x="10241280" y="1737360"/>
            <a:ext cx="1188720" cy="274320"/>
          </a:xfrm>
          <a:prstGeom prst="rect">
            <a:avLst/>
          </a:prstGeom>
          <a:solidFill>
            <a:srgbClr val="065A82"/>
          </a:solidFill>
          <a:ln/>
        </p:spPr>
        <p:txBody>
          <a:bodyPr/>
          <a:lstStyle/>
          <a:p>
            <a:endParaRPr/>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sum_y = today's cell count</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Σᵢ popᵢ·c(tᵢⱼ)·xᵢⱼ + λ·Σⱼ yⱼ   (p7)</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the count at today's, within max(1, 0.2%) (#52).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 relaxation of the UFLP, strong linking xᵢⱼ ≤ yⱼ; at fixed p a p-median (pMP).</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a:p>
        </p:txBody>
      </p:sp>
      <p:sp>
        <p:nvSpPr>
          <p:cNvPr id="19" name="Shape 17"/>
          <p:cNvSpPr/>
          <p:nvPr/>
        </p:nvSpPr>
        <p:spPr>
          <a:xfrm>
            <a:off x="548640" y="4114800"/>
            <a:ext cx="91440" cy="2286000"/>
          </a:xfrm>
          <a:prstGeom prst="rect">
            <a:avLst/>
          </a:prstGeom>
          <a:solidFill>
            <a:srgbClr val="065A82"/>
          </a:solidFill>
          <a:ln/>
        </p:spPr>
        <p:txBody>
          <a:bodyPr/>
          <a:lstStyle/>
          <a:p>
            <a:endParaRPr/>
          </a:p>
        </p:txBody>
      </p:sp>
      <p:sp>
        <p:nvSpPr>
          <p:cNvPr id="20" name="Shape 18"/>
          <p:cNvSpPr/>
          <p:nvPr/>
        </p:nvSpPr>
        <p:spPr>
          <a:xfrm>
            <a:off x="4572000" y="4297680"/>
            <a:ext cx="1188720" cy="274320"/>
          </a:xfrm>
          <a:prstGeom prst="rect">
            <a:avLst/>
          </a:prstGeom>
          <a:solidFill>
            <a:srgbClr val="065A82"/>
          </a:solidFill>
          <a:ln/>
        </p:spPr>
        <p:txBody>
          <a:bodyPr/>
          <a:lstStyle/>
          <a:p>
            <a:endParaRPr/>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travel = today's</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Bisection over λ pins travel at today's, within 0.2%;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a:p>
        </p:txBody>
      </p:sp>
      <p:sp>
        <p:nvSpPr>
          <p:cNvPr id="26" name="Shape 24"/>
          <p:cNvSpPr/>
          <p:nvPr/>
        </p:nvSpPr>
        <p:spPr>
          <a:xfrm>
            <a:off x="6217920" y="4114800"/>
            <a:ext cx="91440" cy="2286000"/>
          </a:xfrm>
          <a:prstGeom prst="rect">
            <a:avLst/>
          </a:prstGeom>
          <a:solidFill>
            <a:srgbClr val="F2B632"/>
          </a:solidFill>
          <a:ln/>
        </p:spPr>
        <p:txBody>
          <a:bodyPr/>
          <a:lstStyle/>
          <a:p>
            <a:endParaRPr/>
          </a:p>
        </p:txBody>
      </p:sp>
      <p:sp>
        <p:nvSpPr>
          <p:cNvPr id="27" name="Shape 25"/>
          <p:cNvSpPr/>
          <p:nvPr/>
        </p:nvSpPr>
        <p:spPr>
          <a:xfrm>
            <a:off x="10241280" y="4297680"/>
            <a:ext cx="1188720" cy="274320"/>
          </a:xfrm>
          <a:prstGeom prst="rect">
            <a:avLst/>
          </a:prstGeom>
          <a:solidFill>
            <a:srgbClr val="F2B632"/>
          </a:solidFill>
          <a:ln/>
        </p:spPr>
        <p:txBody>
          <a:bodyPr/>
          <a:lstStyle/>
          <a:p>
            <a:endParaRPr/>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1-2-5 grid per decade, w ∈ {1e-4 … 5}, extended upward until S1 brackets; then bisection to S1 and S2.</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sum_y, the travel bounds and the rounded n_open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15257182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 — proximity vs efficiency</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sum_y,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(sum_y,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points on the same curve; the diagonal crossing between them is Lewis's cross-lambda (p72).</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sum_y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sum_y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SUM_Y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y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(sum_y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sum_y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7584890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445564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travel time to the nearest open pharmacy: today, S1, S2</a:t>
            </a:r>
            <a:endParaRPr lang="en-US" sz="2200" dirty="0"/>
          </a:p>
        </p:txBody>
      </p:sp>
      <p:sp>
        <p:nvSpPr>
          <p:cNvPr id="4" name="Text 2"/>
          <p:cNvSpPr/>
          <p:nvPr/>
        </p:nvSpPr>
        <p:spPr>
          <a:xfrm>
            <a:off x="411480" y="960120"/>
            <a:ext cx="11338560" cy="457200"/>
          </a:xfrm>
          <a:prstGeom prst="rect">
            <a:avLst/>
          </a:prstGeom>
          <a:noFill/>
          <a:ln/>
        </p:spPr>
        <p:txBody>
          <a:bodyPr wrap="square" rtlCol="0" anchor="t"/>
          <a:lstStyle/>
          <a:p>
            <a:pPr marL="0" indent="0">
              <a:buNone/>
            </a:pPr>
            <a:r>
              <a:rPr lang="en-US" sz="950" b="1" dirty="0">
                <a:solidFill>
                  <a:srgbClr val="1C3D5A"/>
                </a:solidFill>
                <a:latin typeface="Calibri" pitchFamily="34" charset="0"/>
                <a:ea typeface="Calibri" pitchFamily="34" charset="-122"/>
                <a:cs typeface="Calibri" pitchFamily="34" charset="-120"/>
              </a:rPr>
              <a:t>LINEAR cost, pinned scenarios (#52).  </a:t>
            </a:r>
            <a:r>
              <a:rPr lang="en-US" sz="950" dirty="0">
                <a:solidFill>
                  <a:srgbClr val="5B6B7B"/>
                </a:solidFill>
                <a:latin typeface="Calibri" pitchFamily="34" charset="0"/>
                <a:ea typeface="Calibri" pitchFamily="34" charset="-122"/>
                <a:cs typeface="Calibri" pitchFamily="34" charset="-120"/>
              </a:rPr>
              <a:t>Each 1-km client cell coloured by its road travel time to the nearest OPEN pharmacy, in the classes of the model's own classification (0–2 … 30–60, &gt; 60 min). S1 keeps today's count (1,618 open) and moves pharmacies where they cut travel most; S2 keeps today's travel with 1,174 open. A cell with no open pharmacy among its five nearest candidates is stranded (marked) and priced at BIG in the sweep.</a:t>
            </a:r>
            <a:endParaRPr lang="en-US" sz="950" dirty="0"/>
          </a:p>
        </p:txBody>
      </p:sp>
      <p:pic>
        <p:nvPicPr>
          <p:cNvPr id="5" name="Image 0" descr="E:\prj\JRC\NetworkModel_EU\doc\charts\maps_Netherlands_LINEAR.png"/>
          <p:cNvPicPr>
            <a:picLocks noChangeAspect="1"/>
          </p:cNvPicPr>
          <p:nvPr/>
        </p:nvPicPr>
        <p:blipFill>
          <a:blip r:embed="rId3"/>
          <a:stretch>
            <a:fillRect/>
          </a:stretch>
        </p:blipFill>
        <p:spPr>
          <a:xfrm>
            <a:off x="411480" y="1463040"/>
            <a:ext cx="11338560" cy="4572000"/>
          </a:xfrm>
          <a:prstGeom prst="rect">
            <a:avLst/>
          </a:prstGeom>
        </p:spPr>
      </p:pic>
      <p:sp>
        <p:nvSpPr>
          <p:cNvPr id="6" name="Text 3"/>
          <p:cNvSpPr/>
          <p:nvPr/>
        </p:nvSpPr>
        <p:spPr>
          <a:xfrm>
            <a:off x="411480" y="6172200"/>
            <a:ext cx="1133856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Means are population-weighted, a stranded cell at the 120-min cutoff. From the arrows the sweep writes for the baseline and the pinned S1/S2 (lambda_sweep/LINEAR/{baseline,S1,S2}/traveltime.arrow); doc/nl_maps.jl → doc/nl_maps.py.</a:t>
            </a:r>
            <a:endParaRPr lang="en-US" sz="850" dirty="0"/>
          </a:p>
        </p:txBody>
      </p:sp>
    </p:spTree>
    <p:extLst>
      <p:ext uri="{BB962C8B-B14F-4D97-AF65-F5344CB8AC3E}">
        <p14:creationId xmlns:p14="http://schemas.microsoft.com/office/powerpoint/2010/main" val="7100522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63042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44953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065446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098025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45639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733227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50259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82161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627085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722778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500221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092586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499169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81049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537042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446061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060261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176733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898809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356815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392806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543221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0370800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497766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53840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397646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70972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766415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7268510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111621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870153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526473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369000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462418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2895162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603842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017319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976565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379934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1691244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843534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5819717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5467544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51,637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35,813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32,993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469,380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51,372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19,457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204,373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(237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386364054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268941">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19,772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−23.7 M min · −17.8%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−1,883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−2,208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10,254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15,809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5442903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13,176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14,798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12,369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−27.7%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−319 k min · −18.8%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−14.6% · +6.4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−183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54,063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15,502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340113229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49258850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77824"/>
            <a:ext cx="11430000" cy="402336"/>
          </a:xfrm>
          <a:prstGeom prst="rect">
            <a:avLst/>
          </a:prstGeom>
          <a:noFill/>
          <a:ln/>
        </p:spPr>
        <p:txBody>
          <a:bodyPr wrap="square" rtlCol="0" anchor="t"/>
          <a:lstStyle/>
          <a:p>
            <a:pPr marL="0" indent="0">
              <a:buNone/>
            </a:pPr>
            <a:r>
              <a:rPr lang="en-US" sz="860" b="1" dirty="0">
                <a:solidFill>
                  <a:srgbClr val="12233A"/>
                </a:solidFill>
                <a:latin typeface="Calibri" pitchFamily="34" charset="0"/>
                <a:ea typeface="Calibri" pitchFamily="34" charset="-122"/>
                <a:cs typeface="Calibri" pitchFamily="34" charset="-120"/>
              </a:rPr>
              <a:t>The λ-sweep is the working general method. </a:t>
            </a:r>
            <a:r>
              <a:rPr lang="en-US" sz="860" dirty="0">
                <a:solidFill>
                  <a:srgbClr val="5B6B7B"/>
                </a:solidFill>
                <a:latin typeface="Calibri" pitchFamily="34" charset="0"/>
                <a:ea typeface="Calibri" pitchFamily="34" charset="-122"/>
                <a:cs typeface="Calibri" pitchFamily="34" charset="-120"/>
              </a:rPr>
              <a:t>Landbody-complete networks and NUTS region exclusion make these figures NOT comparable with earlier decks. The REGIO review (Moreno Monroy, Brons, Nöbauer) is worked in where it asked for answers and listed below where it asked for work. Status confirmed 4 Sep 2026, in priority order; items marked ▸ came from the seminar decks of Lewis and Rosa (16 Sep 2026) as proposals, not results.</a:t>
            </a:r>
            <a:endParaRPr lang="en-US" sz="86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Candidates = ≥50-pop cells ∪ pharmacy cells, the FULL set in every area (the stride subsample of the July FRI/PL8 sweeps is retired, #54) · clients = FULL population · adapted logit (25/10) · soft coverage (Σx ≤ 1, unserved at BIG on BOTH sides): every area brackets S1 &amp; S2</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Improvement rectangle (raw + relative), diagonal crossing + λ — Lewis's “cross-lambda” (his p21) —, point-cloud with projections; ranked lists by policy typology — on the OECD data the sparse Nordic and Baltic areas lead (SE1, Norway, Lithuania, SE2, Estonia); the Italian lead of earlier decks was missing data</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86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RSSV random-sampling spatial-voting matheuristic (Albuquerque, Figueiredo &amp; Genre-Grandpierre 2026, arXiv 2607.22666; Rosa's p12) — the principled way to make the largest LPs tractable (country-level Poland) now that the stride subsample is retired; needs the wider radius first</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Territorial coverage constraints (≥1 pharmacy per NUTS unit; multi-scale nested — Rosa's CpMP with territorial coverage, her p8–9) as a STRUCTURED equity lever alongside the soft-coverage BIG penalty. Her PACA case prices the levels: +0.9% travel at the canton level, +111% at the commune level, +51% nested (her p19; RIC = travel above the p-median optimum at equal p)</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Capacity / max-catchment cap constraint (Rosa's CpMP; her lifted p-cover and location-bound cuts, p11, solve it exactly; her capacities are synthetic — Voronoi cells → demand bins → sampled, her p21)</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Counterfactuals anchored at today's network, as the La Poste curves (Rosa's p17–18): closure-only and addition-only frontiers next to the tabula-rasa one, a relocation budget, and the share of today's sites an optimum keeps (her “Actual %”). Lewis's two questions (his p4: subsidy to bring everybody nearby; extra travel if small facilities go) read off these. Closure-only = the sweep on the Existing OD; addition-only = today's cells fixed open. Still listed: −10% pop · replace a known X%</a:t>
            </a:r>
            <a:endParaRPr lang="en-US" sz="800" dirty="0"/>
          </a:p>
          <a:p>
            <a:pPr marL="152400" indent="-152400">
              <a:lnSpc>
                <a:spcPct val="98000"/>
              </a:lnSpc>
              <a:spcAft>
                <a:spcPts val="400"/>
              </a:spcAft>
              <a:buSzPct val="100000"/>
              <a:buChar char="•"/>
            </a:pPr>
            <a:r>
              <a:rPr lang="en-US" sz="800" dirty="0">
                <a:solidFill>
                  <a:srgbClr val="12233A"/>
                </a:solidFill>
                <a:latin typeface="Calibri" pitchFamily="34" charset="0"/>
                <a:ea typeface="Calibri" pitchFamily="34" charset="-122"/>
                <a:cs typeface="Calibri" pitchFamily="34" charset="-120"/>
              </a:rPr>
              <a:t>▸ Lewis's next steps (his p25): the S1/S2 gains by degree of urbanisation (his p6/p8; the DEGURBA 2021 grid is already in Locations.dms), a policy-vs-geography split of today's travel on the frontier (common-λ frontier · today's count · gap to the frontier), and cross-lambda against distance-to-frontier by OECD archetype — post-processing on existing sweep output, no new solves</a:t>
            </a:r>
            <a:endParaRPr lang="en-US" sz="8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(≥1 per zone; Rosa's p19 prices the levels) for equity, or keep soft coverage?</a:t>
            </a:r>
            <a:endParaRPr lang="en-US" sz="1000" dirty="0"/>
          </a:p>
        </p:txBody>
      </p:sp>
    </p:spTree>
    <p:extLst>
      <p:ext uri="{BB962C8B-B14F-4D97-AF65-F5344CB8AC3E}">
        <p14:creationId xmlns:p14="http://schemas.microsoft.com/office/powerpoint/2010/main" val="14905220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443984"/>
            <a:ext cx="4206240" cy="914400"/>
          </a:xfrm>
          <a:prstGeom prst="rect">
            <a:avLst/>
          </a:prstGeom>
          <a:noFill/>
          <a:ln/>
        </p:spPr>
        <p:txBody>
          <a:bodyPr wrap="square" rtlCol="0" anchor="t"/>
          <a:lstStyle/>
          <a:p>
            <a:pPr marL="0" indent="0">
              <a:buNone/>
            </a:pPr>
            <a:r>
              <a:rPr lang="en-US" sz="880" i="1" dirty="0">
                <a:solidFill>
                  <a:srgbClr val="12233A"/>
                </a:solidFill>
                <a:latin typeface="Calibri" pitchFamily="34" charset="0"/>
                <a:ea typeface="Calibri" pitchFamily="34" charset="-122"/>
                <a:cs typeface="Calibri" pitchFamily="34" charset="-120"/>
              </a:rPr>
              <a:t>Both cross at ≈15 min (0.27). </a:t>
            </a:r>
            <a:r>
              <a:rPr lang="en-US" sz="88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his benchmarking deck (p14) reads it as: short-trip differences matter little, 10–60 min is critical, beyond 60 min equally disliked. Applied in the recalculation (settings.jl defaults; previous variant via LOGISTIC_MIDPOINT=30 LOGISTIC_SCALE=15).</a:t>
            </a:r>
            <a:endParaRPr lang="en-US" sz="880" dirty="0"/>
          </a:p>
        </p:txBody>
      </p:sp>
      <p:sp>
        <p:nvSpPr>
          <p:cNvPr id="9" name="Shape 5"/>
          <p:cNvSpPr/>
          <p:nvPr/>
        </p:nvSpPr>
        <p:spPr>
          <a:xfrm>
            <a:off x="365760" y="5394960"/>
            <a:ext cx="11475720" cy="1024128"/>
          </a:xfrm>
          <a:prstGeom prst="roundRect">
            <a:avLst>
              <a:gd name="adj" fmla="val 4464"/>
            </a:avLst>
          </a:prstGeom>
          <a:solidFill>
            <a:srgbClr val="F0F6F2"/>
          </a:solidFill>
          <a:ln w="12700">
            <a:solidFill>
              <a:srgbClr val="1E7A52"/>
            </a:solidFill>
            <a:prstDash val="solid"/>
          </a:ln>
        </p:spPr>
      </p:sp>
      <p:sp>
        <p:nvSpPr>
          <p:cNvPr id="10" name="Text 6"/>
          <p:cNvSpPr/>
          <p:nvPr/>
        </p:nvSpPr>
        <p:spPr>
          <a:xfrm>
            <a:off x="548640" y="5440680"/>
            <a:ext cx="11155680" cy="950976"/>
          </a:xfrm>
          <a:prstGeom prst="rect">
            <a:avLst/>
          </a:prstGeom>
          <a:noFill/>
          <a:ln/>
        </p:spPr>
        <p:txBody>
          <a:bodyPr wrap="square" rtlCol="0" anchor="t"/>
          <a:lstStyle/>
          <a:p>
            <a:pPr marL="0" indent="0">
              <a:lnSpc>
                <a:spcPct val="98000"/>
              </a:lnSpc>
              <a:buNone/>
            </a:pPr>
            <a:r>
              <a:rPr lang="en-US" sz="840" b="1" dirty="0">
                <a:solidFill>
                  <a:srgbClr val="1E7A52"/>
                </a:solidFill>
                <a:latin typeface="Calibri" pitchFamily="34" charset="0"/>
                <a:ea typeface="Calibri" pitchFamily="34" charset="-122"/>
                <a:cs typeface="Calibri" pitchFamily="34" charset="-120"/>
              </a:rPr>
              <a:t>Answers to the review.  </a:t>
            </a:r>
            <a:r>
              <a:rPr lang="en-US" sz="84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4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40" b="1" dirty="0">
                <a:solidFill>
                  <a:srgbClr val="12233A"/>
                </a:solidFill>
                <a:latin typeface="Calibri" pitchFamily="34" charset="0"/>
                <a:ea typeface="Calibri" pitchFamily="34" charset="-122"/>
                <a:cs typeface="Calibri" pitchFamily="34" charset="-120"/>
              </a:rPr>
              <a:t>The degeneracy: </a:t>
            </a:r>
            <a:r>
              <a:rPr lang="en-US" sz="84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40" b="1" dirty="0">
                <a:solidFill>
                  <a:srgbClr val="B9791C"/>
                </a:solidFill>
                <a:latin typeface="Calibri" pitchFamily="34" charset="0"/>
                <a:ea typeface="Calibri" pitchFamily="34" charset="-122"/>
                <a:cs typeface="Calibri" pitchFamily="34" charset="-120"/>
              </a:rPr>
              <a:t>Open (BN, 23 Jul): </a:t>
            </a:r>
            <a:r>
              <a:rPr lang="en-US" sz="84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  </a:t>
            </a:r>
            <a:r>
              <a:rPr lang="en-US" sz="840" b="1" dirty="0">
                <a:solidFill>
                  <a:srgbClr val="12233A"/>
                </a:solidFill>
                <a:latin typeface="Calibri" pitchFamily="34" charset="0"/>
                <a:ea typeface="Calibri" pitchFamily="34" charset="-122"/>
                <a:cs typeface="Calibri" pitchFamily="34" charset="-120"/>
              </a:rPr>
              <a:t>In Rosa's terms: </a:t>
            </a:r>
            <a:r>
              <a:rPr lang="en-US" sz="840" dirty="0">
                <a:solidFill>
                  <a:srgbClr val="5B6B7B"/>
                </a:solidFill>
                <a:latin typeface="Calibri" pitchFamily="34" charset="0"/>
                <a:ea typeface="Calibri" pitchFamily="34" charset="-122"/>
                <a:cs typeface="Calibri" pitchFamily="34" charset="-120"/>
              </a:rPr>
              <a:t>LINEAR c(t) = t is the p-median (pMP) objective; the saturating logistic is a smooth counterpart of maximal covering (MCLP) with a ~25-min radius, so linear-vs-logistic is the soft version of her pMP-vs-MCLP-5km comparison (her p16).</a:t>
            </a:r>
            <a:endParaRPr lang="en-US" sz="84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28937441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TERMINOLOGY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Terminology bridge  </a:t>
            </a:r>
            <a:r>
              <a:rPr lang="en-US" sz="2000" dirty="0">
                <a:solidFill>
                  <a:srgbClr val="1C3D5A"/>
                </a:solidFill>
                <a:latin typeface="Georgia" pitchFamily="34" charset="0"/>
                <a:ea typeface="Georgia" pitchFamily="34" charset="-122"/>
                <a:cs typeface="Georgia" pitchFamily="34" charset="-120"/>
              </a:rPr>
              <a:t>— this deck · Lewis's benchmarking deck · Rosa's La Poste deck</a:t>
            </a:r>
            <a:endParaRPr lang="en-US" sz="2000" dirty="0"/>
          </a:p>
        </p:txBody>
      </p:sp>
      <p:sp>
        <p:nvSpPr>
          <p:cNvPr id="4" name="Text 2"/>
          <p:cNvSpPr/>
          <p:nvPr/>
        </p:nvSpPr>
        <p:spPr>
          <a:xfrm>
            <a:off x="411480" y="914400"/>
            <a:ext cx="11430000" cy="29260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Same objects, three vocabularies. Where a name differs, this deck now carries the other deck's term next to its own; where a concept exists in one deck only, the cell says so. Page numbers are each deck's own.</a:t>
            </a:r>
            <a:endParaRPr lang="en-US" sz="1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61872"/>
          <a:ext cx="1138428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274320">
                <a:tc>
                  <a:txBody>
                    <a:bodyPr/>
                    <a:lstStyle/>
                    <a:p>
                      <a:pPr marL="0" indent="0" algn="l">
                        <a:buNone/>
                      </a:pP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this deck</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Lewis — Benchmarking access to pharmacies</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Rosa — Balancing equity and efficiency (La Poste, PACA)</a:t>
                      </a:r>
                      <a:endParaRPr lang="en-US" sz="86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 baseline (current); catchments by road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situation (p15,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Current; “Actual %” = share of today's sites an optimum keeps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the trade-off</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#locations vs travel cost — the Pareto frontier (p13)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proximity vs efficiency; the trilemma collapses once the population distribution is given (p3–5,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efficiency vs equity: pMP vs MCLP; objective value against p (p16–17)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λ</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price per location, w · €100,000 placeholder; the slope of the tangent (p7, p10)</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lambda = preference for efficiency over proximity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not swept — p is fixed per instance; λ is the multiplier of Σⱼ yⱼ = p (p7 here)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fixed-count problem</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p-median at Σⱼ yⱼ = p (p7); S1 is one instance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 fix the number of facilities (p16)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(Hakimi 1964); with capacities Rⱼ the CpMP (p5,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coverage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soft coverage: an unserved client is priced at BIG; the logistic c(t) saturates (p7, p66)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logistic: beyond 60 min equally disliked (p14)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MCLP within radius r (5 km); territorial coverage ≥1 / ≤1 per zone, multi-scale nested (p8–9)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gap to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S1 Δ travel and S2 Δ # in native units; the improvement rectangle (p62–63, p76–79)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between cross-lambda and the current situation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RIC = (Sol_X − Sol_pMP) / Sol_pMP × 100 at equal p (p16); knee points (p17)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position on the frontier</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λ at the balanced-improvement crossing (p72–73); against today's density (p74–75)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cross-lambda — a revealed network preference, by OECD archetype (p21–24)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knee point of the objective-vs-p curve (p17, p23)</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lower bound</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relaxation of the UFLP, strong disaggregated formulation (p7)</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“LP … a plausible lower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pMP + disaggregated cuts for the closest facility, lifted p-cover, location upper bound (p11)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integer solution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multistart: top-p, CELF greedy, weighted draws, swap polish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“multipart heuristic … upper band” (p26)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post-optimisation after the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9"/>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scale</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full candidate set; radius = 5 nearest existing pharmacies (p9)</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small countries and NUTS1 regions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RSSV: random sampling → sub-problems → spatial voting → filtering → final solve (p12)</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from today's network</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roadmap item (p65)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subsidy to bring everybody nearby; extra travel if small facilities go (p4)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optimal removal / optimal addition from the current network; relocations allowed (p17–18)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1"/>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distribution</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stranded count; catchment percentiles (p3–6)</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distance to the nearest pharmacy by degree of urbanisation (p6, p8)</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Gini, % within 5 km, max / avg distance, communes served (p16, p24)</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lgn="l">
                        <a:buNone/>
                      </a:pPr>
                      <a:r>
                        <a:rPr lang="en-US" sz="800" b="1" dirty="0">
                          <a:solidFill>
                            <a:srgbClr val="1C3D5A"/>
                          </a:solidFill>
                          <a:latin typeface="Calibri" pitchFamily="34" charset="0"/>
                          <a:ea typeface="Calibri" pitchFamily="34" charset="-122"/>
                          <a:cs typeface="Calibri" pitchFamily="34" charset="-120"/>
                        </a:rPr>
                        <a:t>capacity</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catchment-cap ladder, explored and dropped (p15)</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800" dirty="0">
                          <a:solidFill>
                            <a:srgbClr val="12233A"/>
                          </a:solidFill>
                          <a:latin typeface="Calibri" pitchFamily="34" charset="0"/>
                          <a:ea typeface="Calibri" pitchFamily="34" charset="-122"/>
                          <a:cs typeface="Calibri" pitchFamily="34" charset="-120"/>
                        </a:rPr>
                        <a:t>CpMP with synthetic capacities: Voronoi cells → demand bins → sampled (p21)</a:t>
                      </a:r>
                      <a:endParaRPr lang="en-US" sz="800" dirty="0">
                        <a:latin typeface="Calibri" charset="0"/>
                        <a:ea typeface="Calibri" charset="0"/>
                        <a:cs typeface="Calibri" charset="0"/>
                      </a:endParaRPr>
                    </a:p>
                  </a:txBody>
                  <a:tcPr marL="50800" marR="381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3"/>
                  </a:ext>
                </a:extLst>
              </a:tr>
            </a:tbl>
          </a:graphicData>
        </a:graphic>
      </p:graphicFrame>
      <p:sp>
        <p:nvSpPr>
          <p:cNvPr id="6" name="Text 3"/>
          <p:cNvSpPr/>
          <p:nvPr/>
        </p:nvSpPr>
        <p:spPr>
          <a:xfrm>
            <a:off x="411480" y="6016752"/>
            <a:ext cx="11384280" cy="731520"/>
          </a:xfrm>
          <a:prstGeom prst="rect">
            <a:avLst/>
          </a:prstGeom>
          <a:noFill/>
          <a:ln/>
        </p:spPr>
        <p:txBody>
          <a:bodyPr wrap="square" rtlCol="0" anchor="t"/>
          <a:lstStyle/>
          <a:p>
            <a:pPr marL="0" indent="0">
              <a:buNone/>
            </a:pPr>
            <a:r>
              <a:rPr lang="en-US" sz="840" b="1" i="1" dirty="0">
                <a:solidFill>
                  <a:srgbClr val="12233A"/>
                </a:solidFill>
                <a:latin typeface="Calibri" pitchFamily="34" charset="0"/>
                <a:ea typeface="Calibri" pitchFamily="34" charset="-122"/>
                <a:cs typeface="Calibri" pitchFamily="34" charset="-120"/>
              </a:rPr>
              <a:t>Sources.  </a:t>
            </a:r>
            <a:r>
              <a:rPr lang="en-US" sz="840" i="1" dirty="0">
                <a:solidFill>
                  <a:srgbClr val="5B6B7B"/>
                </a:solidFill>
                <a:latin typeface="Calibri" pitchFamily="34" charset="0"/>
                <a:ea typeface="Calibri" pitchFamily="34" charset="-122"/>
                <a:cs typeface="Calibri" pitchFamily="34" charset="-120"/>
              </a:rPr>
              <a:t>Lewis Dijkstra, Chris Jacobs-Crisioni, Maarten Hilferink &amp; Jip Claassens, “Benchmarking access to pharmacies” (JRC draft, 15 Sep 2026; its p15, p16 and p27 share this deck's p13, p11 and p10). Rosa Figueiredo, Felipe Albuquerque &amp; Cyrille Genre-Grandpierre, “Balancing equity and efficiency — the case of La Poste in France”, OECD/EC knowledge-sharing seminar, Ispra, 18 Sep 2026; the method is arXiv 2607.22666.  </a:t>
            </a:r>
            <a:r>
              <a:rPr lang="en-US" sz="840" b="1" i="1" dirty="0">
                <a:solidFill>
                  <a:srgbClr val="B9791C"/>
                </a:solidFill>
                <a:latin typeface="Calibri" pitchFamily="34" charset="0"/>
                <a:ea typeface="Calibri" pitchFamily="34" charset="-122"/>
                <a:cs typeface="Calibri" pitchFamily="34" charset="-120"/>
              </a:rPr>
              <a:t>Caution on cross-lambda: </a:t>
            </a:r>
            <a:r>
              <a:rPr lang="en-US" sz="840" i="1" dirty="0">
                <a:solidFill>
                  <a:srgbClr val="5B6B7B"/>
                </a:solidFill>
                <a:latin typeface="Calibri" pitchFamily="34" charset="0"/>
                <a:ea typeface="Calibri" pitchFamily="34" charset="-122"/>
                <a:cs typeface="Calibri" pitchFamily="34" charset="-120"/>
              </a:rPr>
              <a:t>for one and the same geography it is lower the more pharmacies there are today, so across areas it moves with residents per pharmacy (p3) as well as with policy — read it next to that table.</a:t>
            </a:r>
            <a:endParaRPr lang="en-US" sz="840" dirty="0"/>
          </a:p>
        </p:txBody>
      </p:sp>
    </p:spTree>
    <p:extLst>
      <p:ext uri="{BB962C8B-B14F-4D97-AF65-F5344CB8AC3E}">
        <p14:creationId xmlns:p14="http://schemas.microsoft.com/office/powerpoint/2010/main" val="33842849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E8FC1B-235E-1E86-CFE4-A6A6F5CFF25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272CE3E-378F-FA0F-2F1A-414A752F398D}"/>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F63B2F23-E912-1F66-8D3A-1E67FA333320}"/>
              </a:ext>
            </a:extLst>
          </p:cNvPr>
          <p:cNvSpPr txBox="1"/>
          <p:nvPr/>
        </p:nvSpPr>
        <p:spPr>
          <a:xfrm>
            <a:off x="381000" y="5884607"/>
            <a:ext cx="11430000" cy="484748"/>
          </a:xfrm>
          <a:prstGeom prst="rect">
            <a:avLst/>
          </a:prstGeom>
          <a:noFill/>
        </p:spPr>
        <p:txBody>
          <a:bodyPr vert="horz" rtlCol="0">
            <a:spAutoFit/>
          </a:bodyPr>
          <a:lstStyle/>
          <a:p>
            <a:r>
              <a:rPr lang="en-US" sz="85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5008364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0CDFA5-398E-A1BB-079D-83EE0130262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9FBB94A-DDBD-80E1-B8C6-03A15DFFF909}"/>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A500689D-4297-246F-CB1A-EF749D32BA38}"/>
              </a:ext>
            </a:extLst>
          </p:cNvPr>
          <p:cNvSpPr txBox="1"/>
          <p:nvPr/>
        </p:nvSpPr>
        <p:spPr>
          <a:xfrm>
            <a:off x="381000" y="5884607"/>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4827564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374684E-1A22-A01A-3D4D-2CE2926A5AD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0747BBA-E455-126B-2E5D-27D272B52B3A}"/>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41265685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E4B8AA4-3E02-F293-451C-1291CE505F6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2DD0950-F891-2ADE-EA69-512B205E57B2}"/>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5456507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C049F86-CAE2-207E-6751-B3A98573642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F63065C-5065-7D1D-46F9-C11149287E6F}"/>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3E5A2941-18DB-A855-0BAE-B4927E5A8150}"/>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2399857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A946D8-A098-738F-EB74-7032C9DA6E7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53F9357-359C-44F0-0161-A047B9E6200A}"/>
              </a:ext>
            </a:extLst>
          </p:cNvPr>
          <p:cNvPicPr>
            <a:picLocks/>
          </p:cNvPicPr>
          <p:nvPr/>
        </p:nvPicPr>
        <p:blipFill>
          <a:blip r:embed="rId2"/>
          <a:stretch>
            <a:fillRect/>
          </a:stretch>
        </p:blipFill>
        <p:spPr>
          <a:xfrm>
            <a:off x="3690017" y="1111250"/>
            <a:ext cx="4811966" cy="5270500"/>
          </a:xfrm>
          <a:prstGeom prst="rect">
            <a:avLst/>
          </a:prstGeom>
        </p:spPr>
      </p:pic>
      <p:sp>
        <p:nvSpPr>
          <p:cNvPr id="5" name="TextBox 4">
            <a:extLst>
              <a:ext uri="{FF2B5EF4-FFF2-40B4-BE49-F238E27FC236}">
                <a16:creationId xmlns:a16="http://schemas.microsoft.com/office/drawing/2014/main" id="{9CA591C7-B689-8627-B0A0-98DEE995C5F5}"/>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Cross-lambda (Lewis's p21) = the lambda at the balanced-improvement crossing, read there as a revealed network preference. For one geography it falls as today's pharmacy count rises, so across areas it moves with residents per pharmacy (p3) as well as with policy. EUR only via the placeholder EUR 100,000 per location (REGIO review, Brons/BN): the ranking does not depend on it.</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28269347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4DC081-33F9-C313-9E84-7E6E646A266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B73F05C-F513-B764-C54B-2DF12C1B8E03}"/>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755F930E-3503-4BCD-EB29-15A09B5F2107}"/>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33472566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CE7A450-E40F-7CEF-2E42-EF3D6E385CE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Cross-lambda against residents per location, by OECD archetype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5A4901A-D1E0-0638-88DB-6A993F85EDFB}"/>
              </a:ext>
            </a:extLst>
          </p:cNvPr>
          <p:cNvPicPr>
            <a:picLocks/>
          </p:cNvPicPr>
          <p:nvPr/>
        </p:nvPicPr>
        <p:blipFill>
          <a:blip r:embed="rId2"/>
          <a:stretch>
            <a:fillRect/>
          </a:stretch>
        </p:blipFill>
        <p:spPr>
          <a:xfrm>
            <a:off x="2270671" y="1111250"/>
            <a:ext cx="7650658" cy="5270500"/>
          </a:xfrm>
          <a:prstGeom prst="rect">
            <a:avLst/>
          </a:prstGeom>
        </p:spPr>
      </p:pic>
      <p:sp>
        <p:nvSpPr>
          <p:cNvPr id="5" name="TextBox 4">
            <a:extLst>
              <a:ext uri="{FF2B5EF4-FFF2-40B4-BE49-F238E27FC236}">
                <a16:creationId xmlns:a16="http://schemas.microsoft.com/office/drawing/2014/main" id="{1D5E1AE3-AA4C-6016-29DE-9A2AABA9079D}"/>
              </a:ext>
            </a:extLst>
          </p:cNvPr>
          <p:cNvSpPr txBox="1"/>
          <p:nvPr/>
        </p:nvSpPr>
        <p:spPr>
          <a:xfrm>
            <a:off x="381000" y="6451600"/>
            <a:ext cx="11430000" cy="353943"/>
          </a:xfrm>
          <a:prstGeom prst="rect">
            <a:avLst/>
          </a:prstGeom>
          <a:noFill/>
        </p:spPr>
        <p:txBody>
          <a:bodyPr vert="horz" rtlCol="0">
            <a:spAutoFit/>
          </a:bodyPr>
          <a:lstStyle/>
          <a:p>
            <a:r>
              <a:rPr lang="en-US" sz="850" i="1">
                <a:solidFill>
                  <a:srgbClr val="5B6B7B"/>
                </a:solidFill>
                <a:latin typeface="Calibri" panose="020F0502020204030204" pitchFamily="34" charset="0"/>
              </a:rPr>
              <a:t>x = residents per 1 km2 pharmacy location today (the count the frontier uses), y = cross-lambda, both on log scales. The dotted line is the log-log least-squares fit over all areas - the part of cross-lambda that today's density predicts; the distance to it is what is left for geography and policy. Archetype colours as on the map of Lewis's benchmarking deck (p22-23). Residuals per area: doc\cross_lambda_residuals_&lt;FN&gt;.csv (doc\cross_lambda_scatter.py).</a:t>
            </a:r>
            <a:endParaRPr lang="en-GB" sz="850" i="1">
              <a:solidFill>
                <a:srgbClr val="5B6B7B"/>
              </a:solidFill>
              <a:latin typeface="Calibri" panose="020F0502020204030204" pitchFamily="34" charset="0"/>
            </a:endParaRPr>
          </a:p>
        </p:txBody>
      </p:sp>
    </p:spTree>
    <p:extLst>
      <p:ext uri="{BB962C8B-B14F-4D97-AF65-F5344CB8AC3E}">
        <p14:creationId xmlns:p14="http://schemas.microsoft.com/office/powerpoint/2010/main" val="174544947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D3EF57-D2F8-1769-9B04-A217FFFD111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7D2FC24-8FD0-9E01-6E75-BA0E3B8CE1C1}"/>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6002146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AF197-377E-F76C-74E7-CD7305D54A9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11E45F8-AC1C-3F58-C2DA-06CF6D17176A}"/>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4995244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469556-7E7B-5B6D-5210-B221532803A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611A68A-B2D0-B4EF-87ED-707BED08F56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18887089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239631-A860-EDC3-36BF-BE6325AAD524}"/>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BA38352-66C9-68B9-BBF8-FA506884F19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9232774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19801</Words>
  <Application>Microsoft Office PowerPoint</Application>
  <PresentationFormat>Widescreen</PresentationFormat>
  <Paragraphs>3883</Paragraphs>
  <Slides>79</Slides>
  <Notes>67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79</vt:i4>
      </vt:variant>
    </vt:vector>
  </HeadingPairs>
  <TitlesOfParts>
    <vt:vector size="8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2026-09-16T11:36:06Z</dcterms:modified>
</cp:coreProperties>
</file>