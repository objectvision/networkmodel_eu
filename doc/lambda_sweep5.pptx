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2"/>
  </p:notesMasterIdLst>
  <p:sldIdLst>
    <p:sldId id="256" r:id="rId2"/>
    <p:sldId id="260" r:id="rId3"/>
    <p:sldId id="257" r:id="rId4"/>
    <p:sldId id="258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305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40918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6522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4643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5462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3843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7498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6579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7741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7656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281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4618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9581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5610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94937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4510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65863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2610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02940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11176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6799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3397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78822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7154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165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2174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278602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97722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01536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9636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13923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57784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41705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07807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00961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28544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3178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17127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63695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96800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84471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9684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24483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18710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23271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8204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9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Proposed agenda  </a:t>
            </a:r>
            <a:r>
              <a:rPr lang="en-US" sz="24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assessing the current pharmacy distribution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4128" y="143560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method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4128" y="172821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over the road-network OD; how to read the #facilities ↔ travel-cost frontier.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4942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57200" y="22494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4128" y="2221992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distribution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24128" y="2514600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metrics per country &amp; key NUTS1 — residents per pharmacy and catchment-size distributions, by road.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03580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24128" y="3008376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results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24128" y="3300984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(same #, less travel) and S2 (same travel, fewer pharmacies) per country and NUTS1 — what the frontiers show so far.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7200" y="38221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24128" y="379476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function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24128" y="4087368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vs linear, and the adapted logit with kinks at ~5 &amp; ~45 min (following page).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460857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" y="46085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24128" y="4581144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/ threshold ladder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24128" y="4873752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shortcut to the λ-sweep — but catchments vary so widely that realistic min/max bounds are hard to set. Pursue or drop?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39496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57200" y="53949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24128" y="536752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issues &amp; roadmap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24128" y="566013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consistency (FRM / ITG / SE2; clients with no reachable pharmacy); priorities and next steps.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11480" y="6364224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sought: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shape (logistic vs linear / adapted logit)  ·  whether the cap–threshold ladder is worth pursuing  ·  how to communicate λ.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976988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591155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0419349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33,771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22,601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2259519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11,481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8047814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PRELIMINARY · CATCHMENT-CAP LADDER (NO COST FUNCTION)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— five rungs, capping catchments instead of a cost function  </a:t>
            </a:r>
            <a:r>
              <a:rPr lang="en-US" sz="19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S1 fix #, ↓travel · S2 ↓#, hold travel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21792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1792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multiple per cell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B2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+13.3%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21792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1,593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1.9% stranded · cap 35,000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61688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26280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B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one per cell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26280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7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-6.5%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4526280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1,613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0.8% stranded · cap 35,000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66176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430768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C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30768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fixed · model the rest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430768" y="219456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21792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all facilities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1792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61688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526280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B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26280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outside urban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26280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19288" y="3794760"/>
            <a:ext cx="3703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today's count, minimises travel under a max catchment cap.  </a:t>
            </a: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minimises the count under a min (viability) + max catchment, holding travel ≈ today.  Cost-function rung (S1-D / S2-C) = the λ-sweep that follows.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1480" y="614476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b="1" i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INDICATIVE ONLY. </a:t>
            </a: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ladder run incomplete; S1 (fixed-count) figures are sensitive to LP-relaxation rounding and can shift on re-run (robust multistart rounding still to be ported) — read the direction, not the exact %. LINEAR travel cost; max cap = NL observed cell-catchment max (~35k). 'stranded' = demand the cap can't serve within reach,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7353417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cells · 3.44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59.8M · LOG 2.6M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748939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7158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LUXEMBOURG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Luxembourg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cells · 3.73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2.3M · LOG 94k</a:t>
            </a:r>
            <a:endParaRPr lang="en-US" sz="1000" dirty="0"/>
          </a:p>
        </p:txBody>
      </p:sp>
      <p:pic>
        <p:nvPicPr>
          <p:cNvPr id="5" name="Image 0" descr="E:\prj\JRC\NetworkModel_EU\doc\charts\Luxembou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uxembou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2661189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ESTONIA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Estonia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 cells · 3.75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4.6M · LOG 191k</a:t>
            </a:r>
            <a:endParaRPr lang="en-US" sz="1000" dirty="0"/>
          </a:p>
        </p:txBody>
      </p:sp>
      <p:pic>
        <p:nvPicPr>
          <p:cNvPr id="5" name="Image 0" descr="E:\prj\JRC\NetworkModel_EU\doc\charts\Esto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Esto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045156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LATVIA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Latvia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496 cells · 3.17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5.6M · LOG 259k</a:t>
            </a:r>
            <a:endParaRPr lang="en-US" sz="1000" dirty="0"/>
          </a:p>
        </p:txBody>
      </p:sp>
      <p:pic>
        <p:nvPicPr>
          <p:cNvPr id="5" name="Image 0" descr="E:\prj\JRC\NetworkModel_EU\doc\charts\Latv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atv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042321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SLOVENIA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Slovenia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306 cells · 5.45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11.2M · LOG 346k</a:t>
            </a:r>
            <a:endParaRPr lang="en-US" sz="1000" dirty="0"/>
          </a:p>
        </p:txBody>
      </p:sp>
      <p:pic>
        <p:nvPicPr>
          <p:cNvPr id="5" name="Image 0" descr="E:\prj\JRC\NetworkModel_EU\doc\charts\Slove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love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66345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LITHUANIA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Lithuania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582 cells · 3.83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413k</a:t>
            </a:r>
            <a:endParaRPr lang="en-US" sz="1000" dirty="0"/>
          </a:p>
        </p:txBody>
      </p:sp>
      <p:pic>
        <p:nvPicPr>
          <p:cNvPr id="5" name="Image 0" descr="E:\prj\JRC\NetworkModel_EU\doc\charts\Lithua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ithua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5705404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IRELAND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Ireland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861 cells · 4.43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21.4M · LOG 763k</a:t>
            </a:r>
            <a:endParaRPr lang="en-US" sz="1000" dirty="0"/>
          </a:p>
        </p:txBody>
      </p:sp>
      <p:pic>
        <p:nvPicPr>
          <p:cNvPr id="5" name="Image 0" descr="E:\prj\JRC\NetworkModel_EU\doc\charts\Irelan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relan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5621130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NORWAY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Norway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746 cells · 7.31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35.6M · LOG 932k</a:t>
            </a:r>
            <a:endParaRPr lang="en-US" sz="1000" dirty="0"/>
          </a:p>
        </p:txBody>
      </p:sp>
      <p:pic>
        <p:nvPicPr>
          <p:cNvPr id="5" name="Image 0" descr="E:\prj\JRC\NetworkModel_EU\doc\charts\Norway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orway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1258557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DENMARK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Denmark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444 cells · 6.64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33.9M · LOG 919k</a:t>
            </a:r>
            <a:endParaRPr lang="en-US" sz="1000" dirty="0"/>
          </a:p>
        </p:txBody>
      </p:sp>
      <p:pic>
        <p:nvPicPr>
          <p:cNvPr id="5" name="Image 0" descr="E:\prj\JRC\NetworkModel_EU\doc\charts\Denma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Denma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6842745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AUSTRIA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Austria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1,129 cells · 4.67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41.0M · LOG 1.4M</a:t>
            </a:r>
            <a:endParaRPr lang="en-US" sz="1000" dirty="0"/>
          </a:p>
        </p:txBody>
      </p:sp>
      <p:pic>
        <p:nvPicPr>
          <p:cNvPr id="5" name="Image 0" descr="E:\prj\JRC\NetworkModel_EU\doc\charts\Austr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Austr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9040232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PORTUGAL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Portugal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1,880 cells · 3.17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30.6M · LOG 1.4M</a:t>
            </a:r>
            <a:endParaRPr lang="en-US" sz="1000" dirty="0"/>
          </a:p>
        </p:txBody>
      </p:sp>
      <p:pic>
        <p:nvPicPr>
          <p:cNvPr id="5" name="Image 0" descr="E:\prj\JRC\NetworkModel_EU\doc\charts\Portuga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ortuga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298319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CZECHIA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Czechia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1,622 cells · 4.15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43.1M · LOG 1.6M</a:t>
            </a:r>
            <a:endParaRPr lang="en-US" sz="1000" dirty="0"/>
          </a:p>
        </p:txBody>
      </p:sp>
      <p:pic>
        <p:nvPicPr>
          <p:cNvPr id="5" name="Image 0" descr="E:\prj\JRC\NetworkModel_EU\doc\charts\Czech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Czech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4713049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BELGIUM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Belgium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2,957 cells · 1.85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21.2M · LOG 1.5M</a:t>
            </a:r>
            <a:endParaRPr lang="en-US" sz="1000" dirty="0"/>
          </a:p>
        </p:txBody>
      </p:sp>
      <p:pic>
        <p:nvPicPr>
          <p:cNvPr id="5" name="Image 0" descr="E:\prj\JRC\NetworkModel_EU\doc\charts\Belgiu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Belgiu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1004654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1,447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12.6M · LOG 1.6M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1960598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4.13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384k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7793864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429k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8627961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500k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6136773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1,332 cells · 2.88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17.1M · LOG 852k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175959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3.77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20.7M · LOG 832k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6968741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3.97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15.0M · LOG 578k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2203901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13.9M · LOG 508k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2347650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1,583 cells · 4.30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24.9M · LOG 906k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695920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3.63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21.0M · LOG 870k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5247226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1,683 cells · 3.46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1.2M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6526538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1,021 cells · 2.51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12.5M · LOG 702k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0266691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4.59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1.5M · LOG 51k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6347313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3,652 cells · 2.55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40.1M · LOG 2.2M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48100814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2,841 cells · 3.19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42.0M · LOG 1.9M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5240650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1,181 cells · 2.73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14.6M · LOG 766k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4182907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2,722 cells · 3.58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40.7M · LOG 1.7M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05054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2,242 cells · 3.47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40.0M · LOG 1.7M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165483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 cells · 5.01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19.9M · LOG 659k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3056010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cells · 6.70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28.0M · LOG 765k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4460370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8.14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323k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7967584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SCENARIO 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Interpolated λ for S1 and S2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country, by travel-cost function</a:t>
            </a:r>
            <a:endParaRPr lang="en-US" sz="2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36192"/>
          <a:ext cx="10698480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(log)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(log)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26,025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30,414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24,547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19,169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12,492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17,288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24,938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21,419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21,206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23,614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41,362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32,229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21,674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6309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(facility fixed-cost weight). </a:t>
            </a:r>
            <a:r>
              <a:rPr lang="en-US" sz="9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= λ at which the open-facility count equals the baseline #cells; S2 = λ at which the multistart travel cost equals the baseline — each log-interpolated between adjacent sweep points, per travel-cost function (lin / log). “—” = the baseline target lies outside the swept λ range (S1/S2 not yet bracketed — see roadmap).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67102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SCENARIO λ · NUTS-1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Interpolated λ for S1 and S2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FR / IT / SE NUTS-1 regions</a:t>
            </a:r>
            <a:endParaRPr lang="en-US" sz="22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36192"/>
          <a:ext cx="10698480" cy="91440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NUTS-1 region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(log)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(log)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 · Île-de-France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 · Centre-Val de Loire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13,304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 · Bourgogne-Franche-Comté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 · Normandie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 · Hauts-de-France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 · Grand 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 · Pays de la Loire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 · Bretagne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 · Nouvelle-Aquitaine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 · Occitanie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 · Auvergne-Rhône-Alpes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 · Provence-Alpes-Côte d'Azur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 · Corse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 · Nord-Ovest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16,323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 · Sud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23,588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 · Isole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 · Nord-Est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8,680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16,242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 · Centro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20,556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 · Östra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45,144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 · Södra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42,758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 · Norra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6309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(facility fixed-cost weight). </a:t>
            </a:r>
            <a:r>
              <a:rPr lang="en-US" sz="9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= λ at which the open-facility count equals the baseline #cells; S2 = λ at which the multistart travel cost equals the baseline — each log-interpolated between adjacent sweep points, per travel-cost function (lin / log). “—” = the baseline target lies outside the swept λ range (S1/S2 not yet bracketed — see roadmap).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5817917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(685)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(636)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(636)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(1843)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(1740)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 (1781)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 (1684)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+55% (2758)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 (1517)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 (2437)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(1230)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 (753)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+21% (1238)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 (1113)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 (1113)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(223)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(179)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 (610)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 (1179)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(62)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(395)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(189)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(722)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(656)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(746)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(873)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(659)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graphicFrame>
        <p:nvGraphicFramePr>
          <p:cNvPr id="8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 (391)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(161)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(377)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(372)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(174)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(1233)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(1210)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(576)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(455)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(550)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(263)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(776)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(306)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(500)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(94)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(107)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(242)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(1187)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(503)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 (2517)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(45)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02561784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against Lewis's &amp; Bernhard's framing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implemented · in progress · remaining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11480" y="886968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λ-sweep is the working general method. </a:t>
            </a:r>
            <a:r>
              <a:rPr lang="en-US" sz="9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A→D ladder would cap catchments + set a min threshold to sidestep it — but the descriptives show catchments vary so widely (p10–p90 several-fold; many pharmacies at zero) that realistic bounds are hard to set, and the ladder may not actually simplify the problem.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→ Pareto curve of #facilities vs travel cost (Option 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of Lewis's 22-May descriptive indicators, per country (deck pages 5–8)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Catchments now by ROAD-network travel time (not Euclidean); #empty + smallest non-zero catchment reported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Cap-ladder rungs prototyped (cost-function-free, exploratory): S1-A/B · S2-A/B — run for NL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17 countries + per-NUTS-1 (FR/IT/SE); inhabited-cell candidates, pharmacies merged per cell (1 992→1 617 NL)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24528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07408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Sweeping the 13 newly-available countries (small→large) — networks + OD now prepped per country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per-NUTS-1 λ-sweeps for the large countries (FR / IT / PL)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and fix sweeps for FRM, ITG, SE2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and apply adapted logit function (see next page)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baseline_metrics: it drops un-reachable clients (ITG ≈14% of pop) while the sweep prices them at c(t_max) — make consistent before any distance-to-Pareto metric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2-D status-quo→frontier distance metric (coverage-honest; stranded priced at c(t_max))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(not committed): max-cap + min-threshold rungs — but the descriptives suggest realistic bounds are hard to set, so this may not pay off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Calculating Poland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Calculating better estimations for S1 and S2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083296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47888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66176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Urban/non-urban flag → model only non-urban, hold urban fixed (options B/C)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⊂ settlements, then restrict locations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Retune logistic to Lewis's ~5 &amp; ~45-min kinks; add flat-then-linear; sweep sensitivity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real pharmacy a,b (schools: 99 699 + 3 277.5x); ?fixed cost vs &lt;6-y care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(person-minutes / value-per-user)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Cost-function-free S3: balance #/capita vs mean travel, widen beyond the A–B segment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Pareto frontier per country (combine the regional sweeps)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· replace a known X% · choose which X to close (hard)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Pharmacist-based cap (Ana); caps/thresholds pooled across countries, reported per-country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Border-cases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 catchment &amp; travel costs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5943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cap/threshold ladder worth pursuing given how widely catchments vary?  ·  logistic vs linear travel cost (the equity-weighting choice)?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2127091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TRAVEL-COST FUNCTION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c(t)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current vs a Lewis-tuned alternative</a:t>
            </a:r>
            <a:endParaRPr lang="en-US" sz="2200" dirty="0"/>
          </a:p>
        </p:txBody>
      </p:sp>
      <p:pic>
        <p:nvPicPr>
          <p:cNvPr id="4" name="Image 0" descr="E:\prj\JRC\NetworkModel_EU\doc\charts\logistic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17320"/>
            <a:ext cx="7132320" cy="3849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46304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30 · scale 15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80960" y="17556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25 · scale 10</a:t>
            </a:r>
            <a:endParaRPr lang="en-US" sz="12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212848"/>
          <a:ext cx="4160520" cy="914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(min)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80960" y="42976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cross at ≈15 min (0.27).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alternative is lower below ~10 min (ignores minor relocations) and saturates by ~45 min (caps remote weight) — closer to Lewis's 22-May ask. Not yet swept; see roadmap.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11480" y="6446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is applied to travel time in minutes (raw OD seconds ÷ 60); LINEAR uses c(t)=t. settings.jl:82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40919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9297</Words>
  <Application>Microsoft Office PowerPoint</Application>
  <PresentationFormat>Widescreen</PresentationFormat>
  <Paragraphs>2933</Paragraphs>
  <Slides>50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4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2026-06-25T10:11:48Z</dcterms:modified>
</cp:coreProperties>
</file>