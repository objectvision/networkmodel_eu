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8"/>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32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3" r:id="rId68"/>
    <p:sldId id="324" r:id="rId69"/>
    <p:sldId id="325" r:id="rId70"/>
    <p:sldId id="326" r:id="rId71"/>
    <p:sldId id="327" r:id="rId72"/>
    <p:sldId id="328" r:id="rId73"/>
    <p:sldId id="329" r:id="rId74"/>
    <p:sldId id="330" r:id="rId75"/>
    <p:sldId id="331" r:id="rId76"/>
    <p:sldId id="332" r:id="rId7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30862084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5042542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6547264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777574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960966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500141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4627709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5148849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1840137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8045417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9961103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3129373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9198003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2325636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358758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397416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3918906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2652447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9398104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847683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8503862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5748166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231392535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0041660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5178010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28235157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21583066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23831037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1523448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4431357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87191558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9896179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32624444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99610582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37949106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47977811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5706364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263640413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28889466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390611077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3714299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219234401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273342125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295898211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29749895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53695657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382190446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22168970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30125173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382884278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9344415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72880149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99538784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344907363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276206157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60084932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69295542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20617152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262506644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366491105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59567073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2378795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845616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90.png"/></Relationships>
</file>

<file path=ppt/slides/_rels/slide6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92.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what exists today, by how much it could improve at equal cost or equal accessibility, and which of 44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32096516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Cost and accessibility trade off continuously under exogenous demand — there is no trilemma to resolve.</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(p16–63).</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(p66).</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explored on the Netherlands — catchments vary so widely that realistic min/max bounds cannot be set. Dropped; p15 kept as the record.</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what remains, in priority order, and what was dropped (p65).</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territorial coverage constraints for equity, or keep soft coverage.</a:t>
            </a:r>
            <a:endParaRPr lang="en-US" sz="1000" dirty="0"/>
          </a:p>
        </p:txBody>
      </p:sp>
    </p:spTree>
    <p:extLst>
      <p:ext uri="{BB962C8B-B14F-4D97-AF65-F5344CB8AC3E}">
        <p14:creationId xmlns:p14="http://schemas.microsoft.com/office/powerpoint/2010/main" val="14518900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1455816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40541577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37744">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5"/>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Finland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36,164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7"/>
                  </a:ext>
                </a:extLst>
              </a:tr>
              <a:tr h="237744">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Hungary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9"/>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0"/>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1"/>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2"/>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3"/>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4"/>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5"/>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7"/>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8"/>
                  </a:ext>
                </a:extLst>
              </a:tr>
              <a:tr h="237744">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9"/>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6483668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3,245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31,263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20,143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33,618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28427324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only 0.012% of residents: 36 of 43 areas have none at all, the largest remainder is SE2 with 165 cells / 14,210 residents (0.32%), and these are genuinely remote cells rather than a coverage artefact.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4966346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 (on the ESPON list; 2.0 min and 1,682 on the OECD list, next box)</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and Italy not with the previous one either.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lists all shift. And since 7 Sep the Italian pharmacies are the OECD-geolocated Ministry of Health list — 20,635 instead of the ESPON shapefile's 12,991 (ITF 1,951 → 4,955): the “improvement potential” the earlier decks ranked ITF and ITG first on was mostly pharmacies missing from the DATA. Hungary (3,094, OECD-geocoded) and Finland (797) are new areas: 44 swept, 43 disjoint in the aggregate.</a:t>
            </a:r>
            <a:endParaRPr lang="en-US" sz="930" dirty="0"/>
          </a:p>
        </p:txBody>
      </p:sp>
    </p:spTree>
    <p:extLst>
      <p:ext uri="{BB962C8B-B14F-4D97-AF65-F5344CB8AC3E}">
        <p14:creationId xmlns:p14="http://schemas.microsoft.com/office/powerpoint/2010/main" val="3772930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000" b="1" dirty="0">
                <a:solidFill>
                  <a:srgbClr val="12233A"/>
                </a:solidFill>
                <a:latin typeface="Georgia" pitchFamily="34" charset="0"/>
                <a:ea typeface="Georgia" pitchFamily="34" charset="-122"/>
                <a:cs typeface="Georgia" pitchFamily="34" charset="-120"/>
              </a:rPr>
              <a:t>The choice set  </a:t>
            </a:r>
            <a:r>
              <a:rPr lang="en-US" sz="2000" dirty="0">
                <a:solidFill>
                  <a:srgbClr val="1C3D5A"/>
                </a:solidFill>
                <a:latin typeface="Georgia" pitchFamily="34" charset="0"/>
                <a:ea typeface="Georgia" pitchFamily="34" charset="-122"/>
                <a:cs typeface="Georgia" pitchFamily="34" charset="-120"/>
              </a:rPr>
              <a:t>— where the 5-nearest rule binds, and why widening it precedes RSSV</a:t>
            </a:r>
            <a:endParaRPr lang="en-US" sz="20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Norway at S2 (429 of 757 open): 2,642 cells / 949,030 residents — 18.6%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SE1 at S2 (221 of 388): 12.7% one closure away; SE2 at S2 (278 of 452): 12.0%, 529,700 residents. These are the areas the ranked lists now put on top — the sparse Nordic ones — and exactly where the radius binds hardest.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On the OECD Italian data the pressure is gone from ITF (1.8% at S2, 0% stranded; 28.6 candidates per client): its earlier 9% + 24% was the ESPON list missing three pharmacies in five. Measured on the S1/S2 pinned by bisection (#52).</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 exact MIP on the reduced set.</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1E7A52"/>
                </a:solidFill>
                <a:latin typeface="Calibri" pitchFamily="34" charset="0"/>
                <a:ea typeface="Calibri" pitchFamily="34" charset="-122"/>
                <a:cs typeface="Calibri" pitchFamily="34" charset="-120"/>
              </a:rPr>
              <a:t>Fixed (#52): </a:t>
            </a:r>
            <a:r>
              <a:rPr lang="en-US" sz="880" dirty="0">
                <a:solidFill>
                  <a:srgbClr val="12233A"/>
                </a:solidFill>
                <a:latin typeface="Calibri" pitchFamily="34" charset="0"/>
                <a:ea typeface="Calibri" pitchFamily="34" charset="-122"/>
                <a:cs typeface="Calibri" pitchFamily="34" charset="-120"/>
              </a:rPr>
              <a:t>S1 and S2 used to be read off the nearest swept λ grid point — a coarse read anywhere (S1 was more than 10% off today’s count in 22 of 74 sweeps) and in 5 areas the same point for both (SE2’s delivered S1 had 309 open, not 452). Both are now pinned by bisection the moment their bracket closes, to within max(1, 0.2%) of today’s count and 0.2% of today’s travel — in 87 of 88 sweeps; the exception is country-level Poland LINEAR (S1 1.6% off), the largest LP, whose solves near S1 take hours each and whose seven NUTS-1 areas are all pinned. The exported S1/S2 location files (#45) and everything measured on them, this slide included, are on the pinned points.</a:t>
            </a:r>
            <a:endParaRPr lang="en-US" sz="880" dirty="0"/>
          </a:p>
        </p:txBody>
      </p:sp>
    </p:spTree>
    <p:extLst>
      <p:ext uri="{BB962C8B-B14F-4D97-AF65-F5344CB8AC3E}">
        <p14:creationId xmlns:p14="http://schemas.microsoft.com/office/powerpoint/2010/main" val="36186638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868680"/>
          </a:xfrm>
          <a:prstGeom prst="roundRect">
            <a:avLst>
              <a:gd name="adj" fmla="val 5263"/>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4846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which is the refinement step S1/S2 still lack (p9).</a:t>
            </a:r>
            <a:endParaRPr lang="en-US" sz="930" dirty="0"/>
          </a:p>
        </p:txBody>
      </p:sp>
    </p:spTree>
    <p:extLst>
      <p:ext uri="{BB962C8B-B14F-4D97-AF65-F5344CB8AC3E}">
        <p14:creationId xmlns:p14="http://schemas.microsoft.com/office/powerpoint/2010/main" val="38011419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12574656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4105034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788695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16284657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642112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32942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198547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118696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153306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877861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2323323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98555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061486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605114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37779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0.000493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370998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997041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HUNGARY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Hungary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1,864 cells · 3.61 min mean · </a:t>
            </a:r>
            <a:r>
              <a:rPr lang="en-US" sz="1000" dirty="0">
                <a:solidFill>
                  <a:srgbClr val="5B6B7B"/>
                </a:solidFill>
                <a:latin typeface="Calibri" pitchFamily="34" charset="0"/>
                <a:ea typeface="Calibri" pitchFamily="34" charset="-122"/>
                <a:cs typeface="Calibri" pitchFamily="34" charset="-120"/>
              </a:rPr>
              <a:t>travel (stranded at BIG)  LIN 34.9M · LOG 1.1M</a:t>
            </a:r>
            <a:endParaRPr lang="en-US" sz="1000" dirty="0"/>
          </a:p>
        </p:txBody>
      </p:sp>
      <p:pic>
        <p:nvPicPr>
          <p:cNvPr id="5" name="Image 0" descr="E:\prj\JRC\NetworkModel_EU\doc\charts\Hungar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Hungar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9206254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FINLAND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Finland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719 cells · 6.40 min mean · </a:t>
            </a:r>
            <a:r>
              <a:rPr lang="en-US" sz="1000" dirty="0">
                <a:solidFill>
                  <a:srgbClr val="5B6B7B"/>
                </a:solidFill>
                <a:latin typeface="Calibri" pitchFamily="34" charset="0"/>
                <a:ea typeface="Calibri" pitchFamily="34" charset="-122"/>
                <a:cs typeface="Calibri" pitchFamily="34" charset="-120"/>
              </a:rPr>
              <a:t>travel (stranded at BIG)  LIN 35.1M · LOG 815k</a:t>
            </a:r>
            <a:endParaRPr lang="en-US" sz="1000" dirty="0"/>
          </a:p>
        </p:txBody>
      </p:sp>
      <p:pic>
        <p:nvPicPr>
          <p:cNvPr id="5" name="Image 0" descr="E:\prj\JRC\NetworkModel_EU\doc\charts\Fin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in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824105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681933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304714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00423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678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94204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17.4M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0.000859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107823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336092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850 cells · 3.98 min mean · </a:t>
            </a:r>
            <a:r>
              <a:rPr lang="en-US" sz="1000" dirty="0">
                <a:solidFill>
                  <a:srgbClr val="5B6B7B"/>
                </a:solidFill>
                <a:latin typeface="Calibri" pitchFamily="34" charset="0"/>
                <a:ea typeface="Calibri" pitchFamily="34" charset="-122"/>
                <a:cs typeface="Calibri" pitchFamily="34" charset="-120"/>
              </a:rPr>
              <a:t>travel (stranded at BIG)  LIN 15.2M · LOG 440k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299596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792 cells · 4.30 min mean · </a:t>
            </a:r>
            <a:r>
              <a:rPr lang="en-US" sz="1000" dirty="0">
                <a:solidFill>
                  <a:srgbClr val="5B6B7B"/>
                </a:solidFill>
                <a:latin typeface="Calibri" pitchFamily="34" charset="0"/>
                <a:ea typeface="Calibri" pitchFamily="34" charset="-122"/>
                <a:cs typeface="Calibri" pitchFamily="34" charset="-120"/>
              </a:rPr>
              <a:t>travel (stranded at BIG)  LIN 14.4M · LOG 393k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324155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1,583 cells · 4.44 min mean · </a:t>
            </a:r>
            <a:r>
              <a:rPr lang="en-US" sz="1000" dirty="0">
                <a:solidFill>
                  <a:srgbClr val="5B6B7B"/>
                </a:solidFill>
                <a:latin typeface="Calibri" pitchFamily="34" charset="0"/>
                <a:ea typeface="Calibri" pitchFamily="34" charset="-122"/>
                <a:cs typeface="Calibri" pitchFamily="34" charset="-120"/>
              </a:rPr>
              <a:t>travel (stranded at BIG)  LIN 26.8M · LOG 728k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6052791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3.90 min mean · </a:t>
            </a:r>
            <a:r>
              <a:rPr lang="en-US" sz="1000" dirty="0">
                <a:solidFill>
                  <a:srgbClr val="5B6B7B"/>
                </a:solidFill>
                <a:latin typeface="Calibri" pitchFamily="34" charset="0"/>
                <a:ea typeface="Calibri" pitchFamily="34" charset="-122"/>
                <a:cs typeface="Calibri" pitchFamily="34" charset="-120"/>
              </a:rPr>
              <a:t>travel (stranded at BIG)  LIN 23.5M · LOG 694k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526574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0452541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1,024 cells · 2.61 min mean · </a:t>
            </a:r>
            <a:r>
              <a:rPr lang="en-US" sz="1000" dirty="0">
                <a:solidFill>
                  <a:srgbClr val="5B6B7B"/>
                </a:solidFill>
                <a:latin typeface="Calibri" pitchFamily="34" charset="0"/>
                <a:ea typeface="Calibri" pitchFamily="34" charset="-122"/>
                <a:cs typeface="Calibri" pitchFamily="34" charset="-120"/>
              </a:rPr>
              <a:t>travel (stranded at BIG)  LIN 13.1M · LOG 514k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684326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5.12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89185178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3,875 cells · 1.89 min mean · </a:t>
            </a:r>
            <a:r>
              <a:rPr lang="en-US" sz="1000" dirty="0">
                <a:solidFill>
                  <a:srgbClr val="5B6B7B"/>
                </a:solidFill>
                <a:latin typeface="Calibri" pitchFamily="34" charset="0"/>
                <a:ea typeface="Calibri" pitchFamily="34" charset="-122"/>
                <a:cs typeface="Calibri" pitchFamily="34" charset="-120"/>
              </a:rPr>
              <a:t>travel (stranded at BIG)  LIN 29.8M · LOG 1.5M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0.0677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864883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3,187 cells · 2.02 min mean · </a:t>
            </a:r>
            <a:r>
              <a:rPr lang="en-US" sz="1000" dirty="0">
                <a:solidFill>
                  <a:srgbClr val="5B6B7B"/>
                </a:solidFill>
                <a:latin typeface="Calibri" pitchFamily="34" charset="0"/>
                <a:ea typeface="Calibri" pitchFamily="34" charset="-122"/>
                <a:cs typeface="Calibri" pitchFamily="34" charset="-120"/>
              </a:rPr>
              <a:t>travel (stranded at BIG)  LIN 26.8M · LOG 1.3M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022446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1,431 cells · 2.01 min mean · </a:t>
            </a:r>
            <a:r>
              <a:rPr lang="en-US" sz="1000" dirty="0">
                <a:solidFill>
                  <a:srgbClr val="5B6B7B"/>
                </a:solidFill>
                <a:latin typeface="Calibri" pitchFamily="34" charset="0"/>
                <a:ea typeface="Calibri" pitchFamily="34" charset="-122"/>
                <a:cs typeface="Calibri" pitchFamily="34" charset="-120"/>
              </a:rPr>
              <a:t>travel (stranded at BIG)  LIN 12.6M · LOG 595k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0.0814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1074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433775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2,993 cells · 2.78 min mean · </a:t>
            </a:r>
            <a:r>
              <a:rPr lang="en-US" sz="1000" dirty="0">
                <a:solidFill>
                  <a:srgbClr val="5B6B7B"/>
                </a:solidFill>
                <a:latin typeface="Calibri" pitchFamily="34" charset="0"/>
                <a:ea typeface="Calibri" pitchFamily="34" charset="-122"/>
                <a:cs typeface="Calibri" pitchFamily="34" charset="-120"/>
              </a:rPr>
              <a:t>travel (stranded at BIG)  LIN 32.0M · LOG 1.2M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750357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2,709 cells · 2.32 min mean · </a:t>
            </a:r>
            <a:r>
              <a:rPr lang="en-US" sz="1000" dirty="0">
                <a:solidFill>
                  <a:srgbClr val="5B6B7B"/>
                </a:solidFill>
                <a:latin typeface="Calibri" pitchFamily="34" charset="0"/>
                <a:ea typeface="Calibri" pitchFamily="34" charset="-122"/>
                <a:cs typeface="Calibri" pitchFamily="34" charset="-120"/>
              </a:rPr>
              <a:t>travel (stranded at BIG)  LIN 27.1M · LOG 1.1M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0.000723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1545860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387 cells · 5.72 min mean · </a:t>
            </a:r>
            <a:r>
              <a:rPr lang="en-US" sz="1000" dirty="0">
                <a:solidFill>
                  <a:srgbClr val="5B6B7B"/>
                </a:solidFill>
                <a:latin typeface="Calibri" pitchFamily="34" charset="0"/>
                <a:ea typeface="Calibri" pitchFamily="34" charset="-122"/>
                <a:cs typeface="Calibri" pitchFamily="34" charset="-120"/>
              </a:rPr>
              <a:t>travel (stranded at BIG)  LIN 23.3M · LOG 572k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84541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800533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355613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0.000937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5755394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3.57 min mean · </a:t>
            </a:r>
            <a:r>
              <a:rPr lang="en-US" sz="1000" dirty="0">
                <a:solidFill>
                  <a:srgbClr val="5B6B7B"/>
                </a:solidFill>
                <a:latin typeface="Calibri" pitchFamily="34" charset="0"/>
                <a:ea typeface="Calibri" pitchFamily="34" charset="-122"/>
                <a:cs typeface="Calibri" pitchFamily="34" charset="-120"/>
              </a:rPr>
              <a:t>travel (stranded at BIG)  LIN 21.5M · LOG 676k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608011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256926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349710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157656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2553265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5673873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43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51,350 pharmacy cells · </a:t>
            </a:r>
            <a:r>
              <a:rPr lang="en-US" sz="1000" dirty="0">
                <a:solidFill>
                  <a:srgbClr val="5B6B7B"/>
                </a:solidFill>
                <a:latin typeface="Calibri" pitchFamily="34" charset="0"/>
                <a:ea typeface="Calibri" pitchFamily="34" charset="-122"/>
                <a:cs typeface="Calibri" pitchFamily="34" charset="-120"/>
              </a:rPr>
              <a:t>travel  LIN 965M · LOG 30.4M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51,637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0.180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35,813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32,993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469,380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+814%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51,372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0.00212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33,530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19,457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204,373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43 disjoint areas (15 countries + FR/IT/SE/PL NUTS-1; country-level Poland excluded in favour of its 7 NUTS-1): at a common λ the sum of the regional optima IS the combined optimum. Summed at the union of swept w-values inside the range every area covers (237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319300381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268941">
                <a:tc>
                  <a:txBody>
                    <a:bodyPr/>
                    <a:lstStyle/>
                    <a:p>
                      <a:pPr marL="0" indent="0" algn="l">
                        <a:buNone/>
                      </a:pPr>
                      <a:r>
                        <a:rPr lang="en-US" sz="860" b="1" dirty="0">
                          <a:solidFill>
                            <a:srgbClr val="FFFFFF"/>
                          </a:solidFill>
                          <a:latin typeface="Calibri" pitchFamily="34" charset="0"/>
                          <a:ea typeface="Calibri" pitchFamily="34" charset="-122"/>
                          <a:cs typeface="Calibri" pitchFamily="34" charset="-120"/>
                        </a:rPr>
                        <a:t>country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today #</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travel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S1 · Δ cost · Δ mean t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S2 · Δ #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S1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860" b="1" dirty="0">
                          <a:solidFill>
                            <a:srgbClr val="FFFFFF"/>
                          </a:solidFill>
                          <a:latin typeface="Calibri" pitchFamily="34" charset="0"/>
                          <a:ea typeface="Calibri" pitchFamily="34" charset="-122"/>
                          <a:cs typeface="Calibri" pitchFamily="34" charset="-120"/>
                        </a:rPr>
                        <a:t>λ S2 log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Netherlands</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1,615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−12.8 M min · −21.1%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−443 · −27.4%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−551 · −34.1%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24,319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34,297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373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Luxembourg</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−483 k min · −20.1%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 · −29.9%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−8.3%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−35.1%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15,590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Estonia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 M min · −23.1%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−94 · −32.3%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−14.3%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−121 · −41.3%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11,637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19,772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136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Latvia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 M min · −21.4%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−145 · −29.1%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−11.4%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−183 · −36.8%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14,258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Slovenia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 M min · −14.4%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−82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−9.2%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−99 · −32.4%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16,259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25,560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Lithuania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M min · −24.4%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−205 · −35.2%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−15.0%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−269 · −46.2%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19,856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127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Ireland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−4.1 M min · −17.2%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−235 · −27.2%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−9.6%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−297 · −34.5%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14,248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21,034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Norway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755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−10.6 M min · −26.0%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−326 · −43.2%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−19.8% · −2.0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−359 · −47.6%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22,633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49,999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300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841</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Denmark</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466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−5.9 M min · −15.8%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−133 · −28.6%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−11.8%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−166 · −35.7%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35,580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55,947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440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865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Austria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1,129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−373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−13.4% · −1.0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−496 · −43.9%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18,294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31,095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Portugal</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M min · −22.1%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−571 · −30.3%</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−8.4%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−624 · −33.1%</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10,355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195</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Czechia</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1,624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−8.9 M min · −20.0%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−487 · −30.0%</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−9.7%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−588 · −36.2%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14,499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22,819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150</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279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Belgium</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2,958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−3.4 M min · −15.6%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−520 · −17.6%</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−3.0% · −0.3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−553 · −18.7%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5,652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7,353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67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Poland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7,027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−23.7 M min · −17.8%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−1,883 · −26.8%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−7.6% · −0.6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−2,208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10,254</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15,809</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188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Hungary</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1,864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−6.8 M min · −19.5%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−481 · −25.8%</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−8.5% · −0.7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−585 · −31.4%</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11,682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17,208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118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207</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8941">
                <a:tc>
                  <a:txBody>
                    <a:bodyPr/>
                    <a:lstStyle/>
                    <a:p>
                      <a:pPr marL="0" indent="0" algn="l">
                        <a:buNone/>
                      </a:pPr>
                      <a:r>
                        <a:rPr lang="en-US" sz="860" dirty="0">
                          <a:solidFill>
                            <a:srgbClr val="12233A"/>
                          </a:solidFill>
                          <a:latin typeface="Calibri" pitchFamily="34" charset="0"/>
                          <a:ea typeface="Calibri" pitchFamily="34" charset="-122"/>
                          <a:cs typeface="Calibri" pitchFamily="34" charset="-120"/>
                        </a:rPr>
                        <a:t>Finland</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719</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−4.7 M min · −13.5%</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−178 · −24.7%</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−8.0% · −0.8 min</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60" dirty="0">
                          <a:solidFill>
                            <a:srgbClr val="12233A"/>
                          </a:solidFill>
                          <a:latin typeface="Calibri" pitchFamily="34" charset="0"/>
                          <a:ea typeface="Calibri" pitchFamily="34" charset="-122"/>
                          <a:cs typeface="Calibri" pitchFamily="34" charset="-120"/>
                        </a:rPr>
                        <a:t>−188 · −26.2%</a:t>
                      </a:r>
                      <a:endParaRPr lang="en-US" sz="8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21,768</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33,003</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266</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00" dirty="0">
                          <a:solidFill>
                            <a:srgbClr val="5B6B7B"/>
                          </a:solidFill>
                          <a:latin typeface="Calibri" pitchFamily="34" charset="0"/>
                          <a:ea typeface="Calibri" pitchFamily="34" charset="-122"/>
                          <a:cs typeface="Calibri" pitchFamily="34" charset="-120"/>
                        </a:rPr>
                        <a:t>452</a:t>
                      </a:r>
                      <a:endParaRPr lang="en-US" sz="8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420775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 M min · −13.1%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−21.4%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9,764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13,176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 M min · −13.3%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−21.3%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−6.5%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15,160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M min · −14.9%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−5.2%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−307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8,915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−248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−308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10,723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14,798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−173 · −20.4%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−24.1%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10,681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−188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14,377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−428 · −27.0%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8,824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12,369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 M min · −15.2%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−315 · −22.1%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−6.9%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−376 · −26.4%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9,624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13,552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−4.3 M min · −14.6%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−362 · −21.5%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14,033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−238 · −23.2%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−283 · −27.7%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−319 k min · −18.8%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 · −29.6%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 · −0.9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16,454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256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M min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−929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−911 · −23.5%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6,771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M min · −27.8%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−818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−810 · −25.4%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 M min · −29.3%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−359 · −25.1%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−367 · −25.6%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8,157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13,131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−6.4 M min · −20.0%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−711 · −23.8%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−742 · −24.8%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7,491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2,709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 M min · −22.6%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−660 · −24.3%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−670 · −24.7%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7,561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M min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−166 · −43.0%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−14.6% · +6.4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−183 · −47.4%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27,899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54,063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M min · −22.0%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−174 · −38.4%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55,447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390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−15.4%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27,700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52,816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−5.1 M min · −20.7%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−463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15,502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−294 · −24.5%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−366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−7.6%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−217 · −31.6%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10,443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−268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17,909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−169 · −25.0%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−310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−9.1%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−364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16,432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−242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341530146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Hungary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Finland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bl>
          </a:graphicData>
        </a:graphic>
      </p:graphicFrame>
      <p:graphicFrame>
        <p:nvGraphicFramePr>
          <p:cNvPr id="121"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(225)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2"/>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311760358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remaining · not pursued</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The REGIO review (Moreno Monroy, Brons, Nöbauer) is worked in where it asked for answers and listed below where it asked for work. Status confirmed 4 Sep 2026: nothing is mid-flight, so the list is what is done and what remains, in priority order.</a:t>
            </a:r>
            <a:endParaRPr lang="en-US" sz="950" dirty="0"/>
          </a:p>
        </p:txBody>
      </p:sp>
      <p:sp>
        <p:nvSpPr>
          <p:cNvPr id="5" name="Shape 3"/>
          <p:cNvSpPr/>
          <p:nvPr/>
        </p:nvSpPr>
        <p:spPr>
          <a:xfrm>
            <a:off x="365760" y="1298448"/>
            <a:ext cx="5669280" cy="4297680"/>
          </a:xfrm>
          <a:prstGeom prst="roundRect">
            <a:avLst>
              <a:gd name="adj" fmla="val 1064"/>
            </a:avLst>
          </a:prstGeom>
          <a:solidFill>
            <a:srgbClr val="F0F6F2"/>
          </a:solidFill>
          <a:ln w="12700">
            <a:solidFill>
              <a:srgbClr val="1E7A52"/>
            </a:solidFill>
            <a:prstDash val="solid"/>
          </a:ln>
        </p:spPr>
      </p:sp>
      <p:sp>
        <p:nvSpPr>
          <p:cNvPr id="6" name="Text 4"/>
          <p:cNvSpPr/>
          <p:nvPr/>
        </p:nvSpPr>
        <p:spPr>
          <a:xfrm>
            <a:off x="530352" y="1371600"/>
            <a:ext cx="5340096"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OECD-checked pharmacy lists (7 Sep): Italy 20,635 geolocated (was ESPON 12,991; ITF 1,951 → 4,955), Hungary new (3,094), Finland back in (797; the June reader issue is gone on GeoDMS 20.19) — 44 areas swept, Italy's five rebuilt from the network up</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S1/S2 pinned by bisection (#52): within max(1, 0.2%) of today's count / 0.2% of today's travel in 87 of 88 sweeps (country-level Poland LINEAR, the largest LP, keeps its 1.6%-off grid point); the snap that put S1 up to 32% off and S1 = S2 in 5 areas is gone, and the sweep no longer burns hours on time-outs beyond S2</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S1 (same #, ↓travel) · S2 (same travel, ↓#) · S3 full frontier, in NATIVE units first, € second (p62–63)</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Candidates = ≥50-pop cells ∪ pharmacy cells, the FULL set in every area (the stride subsample of the July FRI/PL8 sweeps is retired, #54) · clients = FULL population · adapted logit (25/10) · soft coverage (Σx ≤ 1, unserved at BIG on BOTH sides): every area brackets S1 &amp; S2</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43 disjoint areas (exact by separability), bracketing S1 and S2 for both functions (p61)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Improvement rectangle (raw + relative), diagonal crossing + λ, point-cloud with projections; ranked lists by policy typology — on the OECD data the sparse Nordic and Baltic areas lead (SE1, Norway, Lithuania, SE2, Estonia); the Italian lead of earlier decks was missing data</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REGIO review worked in: choice set (p9), λ-tangency (p10), logistic parametrised (p66), bounds on TOTAL cost only (p12), €100,000 a placeholder everywhere</a:t>
            </a:r>
            <a:endParaRPr lang="en-US" sz="900" dirty="0"/>
          </a:p>
        </p:txBody>
      </p:sp>
      <p:sp>
        <p:nvSpPr>
          <p:cNvPr id="8" name="Shape 6"/>
          <p:cNvSpPr/>
          <p:nvPr/>
        </p:nvSpPr>
        <p:spPr>
          <a:xfrm>
            <a:off x="6172200" y="1298448"/>
            <a:ext cx="5669280" cy="4297680"/>
          </a:xfrm>
          <a:prstGeom prst="roundRect">
            <a:avLst>
              <a:gd name="adj" fmla="val 1064"/>
            </a:avLst>
          </a:prstGeom>
          <a:solidFill>
            <a:srgbClr val="F2F5F8"/>
          </a:solidFill>
          <a:ln w="12700">
            <a:solidFill>
              <a:srgbClr val="5B6B7B"/>
            </a:solidFill>
            <a:prstDash val="solid"/>
          </a:ln>
        </p:spPr>
      </p:sp>
      <p:sp>
        <p:nvSpPr>
          <p:cNvPr id="9" name="Text 7"/>
          <p:cNvSpPr/>
          <p:nvPr/>
        </p:nvSpPr>
        <p:spPr>
          <a:xfrm>
            <a:off x="6336792" y="1371600"/>
            <a:ext cx="5340096"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 — in priority order  (◐ = in progress)</a:t>
            </a:r>
            <a:endParaRPr lang="en-US" sz="1300" dirty="0"/>
          </a:p>
        </p:txBody>
      </p:sp>
      <p:sp>
        <p:nvSpPr>
          <p:cNvPr id="10" name="Text 8"/>
          <p:cNvSpPr/>
          <p:nvPr/>
        </p:nvSpPr>
        <p:spPr>
          <a:xfrm>
            <a:off x="635508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 Communicate λ intuitively (person-minutes per location): the tangency slide (p10) and the native-unit S1/S2 tables (p62–63) are the first steps; the € labels stay placeholders until a is calibrated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(Norway: 18.6% of residents one closure from stranding, SE1 12.7%, SE2 12.0%;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the principled way to make the largest LPs tractable (country-level Poland) now that the stride subsample is retired; needs the wider radius first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at p = baseline — S1 is now pinned to ±1 facility by bisection (#52), so this is about the integrality gap, no longer about the snap</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(p66)</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p:txBody>
      </p:sp>
      <p:sp>
        <p:nvSpPr>
          <p:cNvPr id="11" name="Text 9"/>
          <p:cNvSpPr/>
          <p:nvPr/>
        </p:nvSpPr>
        <p:spPr>
          <a:xfrm>
            <a:off x="411480" y="5669280"/>
            <a:ext cx="11430000" cy="411480"/>
          </a:xfrm>
          <a:prstGeom prst="rect">
            <a:avLst/>
          </a:prstGeom>
          <a:noFill/>
          <a:ln/>
        </p:spPr>
        <p:txBody>
          <a:bodyPr wrap="square" rtlCol="0" anchor="t"/>
          <a:lstStyle/>
          <a:p>
            <a:pPr marL="0" indent="0">
              <a:buNone/>
            </a:pPr>
            <a:r>
              <a:rPr lang="en-US" sz="900" b="1" dirty="0">
                <a:solidFill>
                  <a:srgbClr val="B9791C"/>
                </a:solidFill>
                <a:latin typeface="Calibri" pitchFamily="34" charset="0"/>
                <a:ea typeface="Calibri" pitchFamily="34" charset="-122"/>
                <a:cs typeface="Calibri" pitchFamily="34" charset="-120"/>
              </a:rPr>
              <a:t>Not pursued (decided 4 Sep 2026):  </a:t>
            </a:r>
            <a:r>
              <a:rPr lang="en-US" sz="900" dirty="0">
                <a:solidFill>
                  <a:srgbClr val="5B6B7B"/>
                </a:solidFill>
                <a:latin typeface="Calibri" pitchFamily="34" charset="0"/>
                <a:ea typeface="Calibri" pitchFamily="34" charset="-122"/>
                <a:cs typeface="Calibri" pitchFamily="34" charset="-120"/>
              </a:rPr>
              <a:t>the catchment-cap / min-threshold ladder (explored on the Netherlands; p15 kept as the record) · age-weighted demand · candidate cells plus their neighbours · urban/non-urban split and a settlement candidate set · flat-then-linear cost and logit-parameter sensitivity · pharmacist-based and pooled caps, catchment–travel correlation, border cases.</a:t>
            </a:r>
            <a:endParaRPr lang="en-US" sz="900" dirty="0"/>
          </a:p>
        </p:txBody>
      </p:sp>
      <p:sp>
        <p:nvSpPr>
          <p:cNvPr id="12" name="Text 10"/>
          <p:cNvSpPr/>
          <p:nvPr/>
        </p:nvSpPr>
        <p:spPr>
          <a:xfrm>
            <a:off x="411480" y="6108192"/>
            <a:ext cx="11430000" cy="45720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(p66)?  ·  territorial coverage constraints for equity, or keep soft coverage?</a:t>
            </a:r>
            <a:endParaRPr lang="en-US" sz="1000" dirty="0"/>
          </a:p>
        </p:txBody>
      </p:sp>
    </p:spTree>
    <p:extLst>
      <p:ext uri="{BB962C8B-B14F-4D97-AF65-F5344CB8AC3E}">
        <p14:creationId xmlns:p14="http://schemas.microsoft.com/office/powerpoint/2010/main" val="4880166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Shape 5"/>
          <p:cNvSpPr/>
          <p:nvPr/>
        </p:nvSpPr>
        <p:spPr>
          <a:xfrm>
            <a:off x="365760" y="5413248"/>
            <a:ext cx="11475720" cy="960120"/>
          </a:xfrm>
          <a:prstGeom prst="roundRect">
            <a:avLst>
              <a:gd name="adj" fmla="val 4762"/>
            </a:avLst>
          </a:prstGeom>
          <a:solidFill>
            <a:srgbClr val="F0F6F2"/>
          </a:solidFill>
          <a:ln w="12700">
            <a:solidFill>
              <a:srgbClr val="1E7A52"/>
            </a:solidFill>
            <a:prstDash val="solid"/>
          </a:ln>
        </p:spPr>
      </p:sp>
      <p:sp>
        <p:nvSpPr>
          <p:cNvPr id="10" name="Text 6"/>
          <p:cNvSpPr/>
          <p:nvPr/>
        </p:nvSpPr>
        <p:spPr>
          <a:xfrm>
            <a:off x="548640" y="5468112"/>
            <a:ext cx="11155680" cy="868680"/>
          </a:xfrm>
          <a:prstGeom prst="rect">
            <a:avLst/>
          </a:prstGeom>
          <a:noFill/>
          <a:ln/>
        </p:spPr>
        <p:txBody>
          <a:bodyPr wrap="square" rtlCol="0" anchor="t"/>
          <a:lstStyle/>
          <a:p>
            <a:pPr marL="0" indent="0">
              <a:lnSpc>
                <a:spcPct val="98000"/>
              </a:lnSpc>
              <a:buNone/>
            </a:pPr>
            <a:r>
              <a:rPr lang="en-US" sz="860" b="1" dirty="0">
                <a:solidFill>
                  <a:srgbClr val="1E7A52"/>
                </a:solidFill>
                <a:latin typeface="Calibri" pitchFamily="34" charset="0"/>
                <a:ea typeface="Calibri" pitchFamily="34" charset="-122"/>
                <a:cs typeface="Calibri" pitchFamily="34" charset="-120"/>
              </a:rPr>
              <a:t>Answers to the review.  </a:t>
            </a:r>
            <a:r>
              <a:rPr lang="en-US" sz="86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6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60" b="1" dirty="0">
                <a:solidFill>
                  <a:srgbClr val="12233A"/>
                </a:solidFill>
                <a:latin typeface="Calibri" pitchFamily="34" charset="0"/>
                <a:ea typeface="Calibri" pitchFamily="34" charset="-122"/>
                <a:cs typeface="Calibri" pitchFamily="34" charset="-120"/>
              </a:rPr>
              <a:t>The degeneracy: </a:t>
            </a:r>
            <a:r>
              <a:rPr lang="en-US" sz="86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60" b="1" dirty="0">
                <a:solidFill>
                  <a:srgbClr val="B9791C"/>
                </a:solidFill>
                <a:latin typeface="Calibri" pitchFamily="34" charset="0"/>
                <a:ea typeface="Calibri" pitchFamily="34" charset="-122"/>
                <a:cs typeface="Calibri" pitchFamily="34" charset="-120"/>
              </a:rPr>
              <a:t>Open (BN, 23 Jul): </a:t>
            </a:r>
            <a:r>
              <a:rPr lang="en-US" sz="86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a:t>
            </a:r>
            <a:endParaRPr lang="en-US" sz="86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244757714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14E3C07-B92C-DC13-1892-A3B84B869E4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all 43 areas: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C418471A-78E8-EFD0-0C3C-576B6461DCED}"/>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E69F2E25-9C2F-5AEE-D713-FEE73D560604}"/>
              </a:ext>
            </a:extLst>
          </p:cNvPr>
          <p:cNvSpPr txBox="1"/>
          <p:nvPr/>
        </p:nvSpPr>
        <p:spPr>
          <a:xfrm>
            <a:off x="381000" y="5884607"/>
            <a:ext cx="11430000" cy="507831"/>
          </a:xfrm>
          <a:prstGeom prst="rect">
            <a:avLst/>
          </a:prstGeom>
          <a:noFill/>
        </p:spPr>
        <p:txBody>
          <a:bodyPr vert="horz" rtlCol="0">
            <a:spAutoFit/>
          </a:bodyPr>
          <a:lstStyle/>
          <a:p>
            <a:r>
              <a:rPr lang="en-US" sz="900" i="1">
                <a:solidFill>
                  <a:srgbClr val="5B6B7B"/>
                </a:solidFill>
                <a:latin typeface="Calibri" panose="020F0502020204030204" pitchFamily="34" charset="0"/>
              </a:rPr>
              <a:t>x = lambda, the price per location (log scale). Left axis: LP relaxation (lower bound) and multistart integer solution (upper bound) on travel cost. Right axis: the LP-relaxed count sum_y and the integer count n_open = round(sum_y); they coincide by construction - the certified gap is on TOTAL cost only (p12). Dotted = baseline: S2 is where travel crosses its baseline, S1 where the count does; the guides are interpolated crossings, each labelled with the quantity that defines it - S1 with its facility count (today's) and the facility cost lambda x N at that lambda, S2 with its travel cost (today's) - so S1 reads the same count under LINEAR and LOGISTIC. The count axis is logarithmic and shared by both panels: same height = same count.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36206471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39B763-026C-D780-6127-DCC4905D579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Netherlands: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2EE6442-6BBA-8754-EF42-D03D98F02BB4}"/>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10CE54E7-075D-4F39-34F3-16DE65AFC211}"/>
              </a:ext>
            </a:extLst>
          </p:cNvPr>
          <p:cNvSpPr txBox="1"/>
          <p:nvPr/>
        </p:nvSpPr>
        <p:spPr>
          <a:xfrm>
            <a:off x="381000" y="5884607"/>
            <a:ext cx="11430000" cy="369332"/>
          </a:xfrm>
          <a:prstGeom prst="rect">
            <a:avLst/>
          </a:prstGeom>
          <a:noFill/>
        </p:spPr>
        <p:txBody>
          <a:bodyPr vert="horz" rtlCol="0">
            <a:spAutoFit/>
          </a:bodyPr>
          <a:lstStyle/>
          <a:p>
            <a:r>
              <a:rPr lang="en-US" sz="900" i="1">
                <a:solidFill>
                  <a:srgbClr val="5B6B7B"/>
                </a:solidFill>
                <a:latin typeface="Calibri" panose="020F0502020204030204" pitchFamily="34" charset="0"/>
              </a:rPr>
              <a:t>Same reading as the aggregate. The count falls over two decades of lambda before the travel bounds separate; under LINEAR they open only above ~EUR 50,000 per location, beyond S2, so the S1/S2 figures sit where lower and upper bound agree. S1 is 1,615 facilities under both cost functions by construction; the deck_data scenario rows would have put the guide a whole grid step off (1,334 LINEAR, 1,788 LOGISTIC), which is the S1/S2 snap noted on p9.</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25837487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3542B9-29F7-D2E2-23B3-00795E5B532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F28F6CA-C89F-B8AD-10E4-B942EFE097AD}"/>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413096376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8864725-36A9-CB28-1D38-AAD27253214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A1E6BC3-0D41-E74B-022D-67048780B117}"/>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400343524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5B601-A54E-825E-3EA6-B736BD9B932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9F4AD4AC-968B-9698-FB36-09DA5DA6A9B9}"/>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63722C41-5C28-38AF-85AB-329E425B7567}"/>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257527679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424AAC-E72C-3BDF-9250-95AC909F113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4304FBB9-C8C3-DB8A-F81A-4F59F7454D49}"/>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D367A91E-08F3-B68B-6A47-E08B2DB56169}"/>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223908489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3DD8CFC-B389-14CD-9B07-FC5A84F57387}"/>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FEE9839F-A7E4-7FB6-C5CC-3F18AB9210D4}"/>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28492363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47D595-AFB2-AAE2-AA87-9D941F11117B}"/>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926CC4A1-2671-4DC1-94C5-06CAA5FFAD59}"/>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25175110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E6A1124-88CC-FC2D-B726-6F1D8036A44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1755A7B0-51D0-9A20-F13F-78976CC24C7C}"/>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82227988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A14152F-5DD1-3ED8-8031-9C05952850E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983CCBCB-74CD-17B9-AA2E-94B843C59B9E}"/>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4737078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18019</Words>
  <Application>Microsoft Office PowerPoint</Application>
  <PresentationFormat>Widescreen</PresentationFormat>
  <Paragraphs>3813</Paragraphs>
  <Slides>76</Slides>
  <Notes>65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76</vt:i4>
      </vt:variant>
    </vt:vector>
  </HeadingPairs>
  <TitlesOfParts>
    <vt:vector size="81"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2026-09-15T20:51:22Z</dcterms:modified>
</cp:coreProperties>
</file>