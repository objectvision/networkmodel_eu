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60" r:id="rId3"/>
    <p:sldId id="261" r:id="rId4"/>
    <p:sldId id="257" r:id="rId5"/>
    <p:sldId id="258" r:id="rId6"/>
    <p:sldId id="262" r:id="rId7"/>
    <p:sldId id="259" r:id="rId8"/>
    <p:sldId id="263" r:id="rId9"/>
    <p:sldId id="264" r:id="rId10"/>
    <p:sldId id="265" r:id="rId11"/>
    <p:sldId id="266" r:id="rId12"/>
    <p:sldId id="267" r:id="rId13"/>
    <p:sldId id="268" r:id="rId14"/>
    <p:sldId id="307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  <p:sldId id="300" r:id="rId47"/>
    <p:sldId id="301" r:id="rId48"/>
    <p:sldId id="302" r:id="rId49"/>
    <p:sldId id="303" r:id="rId50"/>
    <p:sldId id="304" r:id="rId51"/>
    <p:sldId id="305" r:id="rId52"/>
    <p:sldId id="306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754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5113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9135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26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1814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0717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541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7136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2413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2995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9945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0500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448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1304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378438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5876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3797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1573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1849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8241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30343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51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84380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97827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5527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38021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7563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90707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31446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57849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792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5046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16765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47990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603052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6873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17910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49147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19709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60120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95806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55801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4994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06584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97891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1315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55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9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1089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6692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Proposed agenda  </a:t>
            </a:r>
            <a:r>
              <a:rPr lang="en-US" sz="24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assessing the current pharmacy distribution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43560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24128" y="172821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over the road-network OD; how to read the #facilities ↔ travel-cost frontier.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942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2494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221992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distribution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24128" y="2514600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metrics per country &amp; key NUTS1 — residents per pharmacy and catchment-size distributions, by road.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358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08376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results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3300984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(same #, less travel) and S2 (same travel, fewer pharmacies) per country and NUTS1 — what the frontiers show so far.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82219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822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79476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function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24128" y="4087368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vs linear, and the adapted logit with kinks at ~5 &amp; ~45 min (following page).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608576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" y="460857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24128" y="4581144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/ threshold ladder</a:t>
            </a:r>
            <a:r>
              <a:rPr lang="en-US" sz="1100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▸ for discussion / decision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24128" y="4873752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shortcut to the λ-sweep — but catchments vary so widely that realistic min/max bounds are hard to set. Pursue or drop?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3949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457200" y="5394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4128" y="5367528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issues &amp;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024128" y="5660136"/>
            <a:ext cx="1069848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consistency (FRM / ITG / SE2; clients with no reachable pharmacy); priorities and next steps.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" y="6364224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sought: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travel-cost shape (logistic vs linear / adapted logit)  ·  whether the cap–threshold ladder is worth pursuing  ·  how to communicate λ.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985786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optimization problem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uncapacitated facility location on the road OD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6035040" cy="3108960"/>
          </a:xfrm>
          <a:prstGeom prst="roundRect">
            <a:avLst>
              <a:gd name="adj" fmla="val 1765"/>
            </a:avLst>
          </a:prstGeom>
          <a:solidFill>
            <a:srgbClr val="12233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31520" y="141732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min</a:t>
            </a:r>
            <a:r>
              <a:rPr lang="en-US" sz="1000" baseline="-40000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x,y</a:t>
            </a:r>
            <a:r>
              <a:rPr lang="en-US" sz="16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Σᵢ Σⱼ  popᵢ · c(tᵢⱼ) · yᵢⱼ   +   λ · Σⱼ xⱼ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5577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8FD4F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s.t.</a:t>
            </a: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Σⱼ yᵢⱼ  =  1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every client fully assigned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yᵢⱼ  ≤  xⱼ</a:t>
            </a:r>
            <a:r>
              <a:rPr lang="en-US" sz="1050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only to open pharmacies</a:t>
            </a:r>
            <a:endParaRPr lang="en-US" sz="15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    xⱼ ∈ {0,1}</a:t>
            </a:r>
            <a:r>
              <a:rPr lang="en-US" sz="1500" dirty="0">
                <a:solidFill>
                  <a:srgbClr val="FFD9A0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  →  relaxed to  0 ≤ xⱼ ≤ 1,   yᵢⱼ ≥ 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342900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populated 1 km² cells (clients)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j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candidate pharmacy cells · </a:t>
            </a:r>
            <a:r>
              <a:rPr lang="en-US" sz="1100" i="1" dirty="0">
                <a:solidFill>
                  <a:srgbClr val="FFFFFF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(i,j)</a:t>
            </a: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where the road network gives tᵢⱼ ≤ t_max — the exported OD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12280" y="128016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— travel cost, t in minutes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12280" y="152704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c(t)=t; LOGISTIC c(t)=1/(1+e^−(t−30)/15). The swept LPs run once per function.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812280" y="2121408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— the price of a pharmacy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812280" y="2368296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a+b·q reduces to λ·#open: the b·q part is constant once every client is assigned, so only the fixed cost a matters.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812280" y="3063240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LP per λ, exact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812280" y="3310128"/>
            <a:ext cx="49377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 + HiGHS dual simplex; the model is built once and re-solved along the w-grid from the previous optimal basis (lp_run.jl solve_at_w!) — millions of yᵢⱼ, minutes per point.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11274552" cy="1508760"/>
          </a:xfrm>
          <a:prstGeom prst="roundRect">
            <a:avLst>
              <a:gd name="adj" fmla="val 3636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85800" y="4773168"/>
            <a:ext cx="10835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relaxation, and what it buys.  </a:t>
            </a: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xⱼ ∈ {0,1} this is the NP-hard uncapacitated facility-location problem. Relaxing x to [0,1] gives an LP we solve exactly: its optimum is a certified </a:t>
            </a:r>
            <a:r>
              <a:rPr lang="en-US" sz="115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bound</a:t>
            </a: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(the grey dashed line on every region page). Rounding the fractional x* back to a real set of pharmacies (next: multistart) gives a feasible configuration — an </a:t>
            </a:r>
            <a:r>
              <a:rPr lang="en-US" sz="115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upper bound</a:t>
            </a:r>
            <a:r>
              <a:rPr lang="en-US" sz="11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The true integer optimum is pinched between the two; on the region pages the gap is +0–18% (LINEAR) and +0–4.7% (LOGISTIC).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Implementation: lp_run.jl (build_lp_warmstart / solve_at_w!) · weights popᵢ = total residents of cell i (CLIENT_WEIGHT=total_pop) · OD from GeoDMS impedance_matrix_od64, t = seconds/60.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737704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FROM FRACTIONS TO PHARMACIES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512064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multistart rounds the LP relaxation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and why it is an upper bound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12801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count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24128" y="1545336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round(Σ xⱼ*) — the integer pharmacy count nearest the LP's fractional total, so every rounded point stays on the same axis as the relaxation.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457200" y="21945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24128" y="2176272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10 candidate sets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2441448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 by x* and the CELF greedy set (so the result can never be worse than either), plus 8 x*-weighted random draws (Efraimidis–Spirakis); must-open pharmacies (x*≈1) are always kept.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090672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57200" y="309067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24128" y="3072384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Polish by swaps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3337560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best-improving open↔closed swaps over the fractional pool (Resende–Werneck fast interchange). Each swap is accepted only if the exact travel delta improves — cost strictly decreases, ≤ 12 rounds per seed.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1C3D5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457200" y="398678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24128" y="3968496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coverage-honestly, keep the best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4233672"/>
            <a:ext cx="59893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client priced at its nearest open pharmacy, c(t); a client left with no open pharmacy in the OD (stranded) is priced at c(t_max) — the worst travel time in the data, so abandoning remote clusters is never free. Lowest total wins.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1298448"/>
            <a:ext cx="4416552" cy="3566160"/>
          </a:xfrm>
          <a:prstGeom prst="roundRect">
            <a:avLst>
              <a:gd name="adj" fmla="val 1538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7498080" y="1408176"/>
            <a:ext cx="4069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an upper bound ✓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498080" y="1719072"/>
            <a:ext cx="406908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rounded set is a feasible point of the original problem: exactly p pharmacies actually open (x integer) and every client explicitly assigned. Feasible ⟹ its objective can only be ≥ the integer optimum, which is ≥ the LP optimum: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 relax  ≤  integer optimum  ≤  multistart</a:t>
            </a: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endParaRPr lang="en-US" sz="1050" dirty="0"/>
          </a:p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whenever stranded = 0 — the common case (see the summary table). With stranding, strict full-coverage is infeasible at that count; the point is then priced conservatively (c is non-decreasing, so c(t_max) ≥ any real within-OD assignment) and the stranded count is reported next to every figure.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143000"/>
          </a:xfrm>
          <a:prstGeom prst="roundRect">
            <a:avLst>
              <a:gd name="adj" fmla="val 4800"/>
            </a:avLst>
          </a:prstGeom>
          <a:solidFill>
            <a:srgbClr val="F2F5F8"/>
          </a:solidFill>
          <a:ln w="12700">
            <a:solidFill>
              <a:srgbClr val="D9E0E7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Text 22"/>
          <p:cNvSpPr/>
          <p:nvPr/>
        </p:nvSpPr>
        <p:spPr>
          <a:xfrm>
            <a:off x="685800" y="5166360"/>
            <a:ext cx="10835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against the implementation (lp_run.jl).  </a:t>
            </a:r>
            <a:r>
              <a:rPr lang="en-US" sz="11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swap profit is the exact per-swap travel change (gain − loss + interaction term — verified case-by-case), so polish is monotone and multistart ≤ min(top-p, greedy) by construction; the final choice re-evaluates every polished set from scratch (travel_of). Deterministic: fixed RNG seed, so decks reproduce. Cost: seconds per point — the LP solve dominates.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6355080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lp_run.jl: multistart_round (seeds), swap_round! (fast interchange), travel_of (coverage-honest metric), assign_nearest (final assignment) · MS_RESTARTS=10, MS_ROUNDS=12, MS_SEED fixed.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09362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1992741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441799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04695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8513277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14924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957992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250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LUXEMBOURG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Luxembourg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 cells · 3.73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2.3M · LOG 94k</a:t>
            </a:r>
            <a:endParaRPr lang="en-US" sz="1000" dirty="0"/>
          </a:p>
        </p:txBody>
      </p:sp>
      <p:pic>
        <p:nvPicPr>
          <p:cNvPr id="5" name="Image 0" descr="E:\prj\JRC\NetworkModel_EU\doc\charts\Luxembou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uxembou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52396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ESTONIA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Estonia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291 cells · 3.75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4.6M · LOG 191k</a:t>
            </a:r>
            <a:endParaRPr lang="en-US" sz="1000" dirty="0"/>
          </a:p>
        </p:txBody>
      </p:sp>
      <p:pic>
        <p:nvPicPr>
          <p:cNvPr id="5" name="Image 0" descr="E:\prj\JRC\NetworkModel_EU\doc\charts\Esto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Esto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139666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LATVIA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Latvia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496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5.6M · LOG 259k</a:t>
            </a:r>
            <a:endParaRPr lang="en-US" sz="1000" dirty="0"/>
          </a:p>
        </p:txBody>
      </p:sp>
      <p:pic>
        <p:nvPicPr>
          <p:cNvPr id="5" name="Image 0" descr="E:\prj\JRC\NetworkModel_EU\doc\charts\Latv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atv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193178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SLOVENIA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Slovenia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306 cells · 5.45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11.2M · LOG 346k</a:t>
            </a:r>
            <a:endParaRPr lang="en-US" sz="1000" dirty="0"/>
          </a:p>
        </p:txBody>
      </p:sp>
      <p:pic>
        <p:nvPicPr>
          <p:cNvPr id="5" name="Image 0" descr="E:\prj\JRC\NetworkModel_EU\doc\charts\Slove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love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45125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LITHUANIA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Lithuania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582 cells · 3.83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413k</a:t>
            </a:r>
            <a:endParaRPr lang="en-US" sz="1000" dirty="0"/>
          </a:p>
        </p:txBody>
      </p:sp>
      <p:pic>
        <p:nvPicPr>
          <p:cNvPr id="5" name="Image 0" descr="E:\prj\JRC\NetworkModel_EU\doc\charts\Lithuan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Lithuan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78724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IRELAND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Ireland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861 cells · 4.43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21.4M · LOG 763k</a:t>
            </a:r>
            <a:endParaRPr lang="en-US" sz="1000" dirty="0"/>
          </a:p>
        </p:txBody>
      </p:sp>
      <p:pic>
        <p:nvPicPr>
          <p:cNvPr id="5" name="Image 0" descr="E:\prj\JRC\NetworkModel_EU\doc\charts\Irelan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relan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580415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NORWAY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Norway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746 cells · 7.31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35.6M · LOG 932k</a:t>
            </a:r>
            <a:endParaRPr lang="en-US" sz="1000" dirty="0"/>
          </a:p>
        </p:txBody>
      </p:sp>
      <p:pic>
        <p:nvPicPr>
          <p:cNvPr id="5" name="Image 0" descr="E:\prj\JRC\NetworkModel_EU\doc\charts\Norway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orway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1654875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DENMARK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Denmark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444 cells · 6.64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33.9M · LOG 919k</a:t>
            </a:r>
            <a:endParaRPr lang="en-US" sz="1000" dirty="0"/>
          </a:p>
        </p:txBody>
      </p:sp>
      <p:pic>
        <p:nvPicPr>
          <p:cNvPr id="5" name="Image 0" descr="E:\prj\JRC\NetworkModel_EU\doc\charts\Denma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Denma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21826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AUSTRIA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Austria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1,129 cells · 4.67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41.0M · LOG 1.4M</a:t>
            </a:r>
            <a:endParaRPr lang="en-US" sz="1000" dirty="0"/>
          </a:p>
        </p:txBody>
      </p:sp>
      <p:pic>
        <p:nvPicPr>
          <p:cNvPr id="5" name="Image 0" descr="E:\prj\JRC\NetworkModel_EU\doc\charts\Austr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Austr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473195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PORTUGAL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Portugal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1,880 cells · 3.17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30.6M · LOG 1.4M</a:t>
            </a:r>
            <a:endParaRPr lang="en-US" sz="1000" dirty="0"/>
          </a:p>
        </p:txBody>
      </p:sp>
      <p:pic>
        <p:nvPicPr>
          <p:cNvPr id="5" name="Image 0" descr="E:\prj\JRC\NetworkModel_EU\doc\charts\Portuga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Portuga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647885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CZECHIA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Czechia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1,622 cells · 4.15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43.1M · LOG 1.6M</a:t>
            </a:r>
            <a:endParaRPr lang="en-US" sz="1000" dirty="0"/>
          </a:p>
        </p:txBody>
      </p:sp>
      <p:pic>
        <p:nvPicPr>
          <p:cNvPr id="5" name="Image 0" descr="E:\prj\JRC\NetworkModel_EU\doc\charts\Czechia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Czechia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884960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BELGIUM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Belgium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2,957 cells · 1.85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21.2M · LOG 1.5M</a:t>
            </a:r>
            <a:endParaRPr lang="en-US" sz="1000" dirty="0"/>
          </a:p>
        </p:txBody>
      </p:sp>
      <p:pic>
        <p:nvPicPr>
          <p:cNvPr id="5" name="Image 0" descr="E:\prj\JRC\NetworkModel_EU\doc\charts\Belgiu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Belgiu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5266276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1065966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860482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310518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025705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237117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4979724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0612744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43070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227223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560718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63351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3058229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5722130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331930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3858665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80171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3744770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742043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117428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22798520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192521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country, by travel-cost function</a:t>
            </a:r>
            <a:endParaRPr lang="en-US" sz="22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30,414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7,471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24,938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21,419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21,206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32,229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19,436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7067029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SCENARIO λ · NUTS-1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Interpolated λ for S1 and S2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FR / IT / SE NUTS-1 regions</a:t>
            </a:r>
            <a:endParaRPr lang="en-US" sz="22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536192"/>
          <a:ext cx="10698480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773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NUTS-1 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S1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 · S2 (log)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 · Île-de-France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 · Centre-Val de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 · Bourgogne-Franche-Comté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 · Normandie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 · Hauts-de-France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10,520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 · Grand 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 · Pays de la Loire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13,239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 · Bretagne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 · Nouvelle-Aquitaine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 · Occitanie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 · Auvergne-Rhône-Alpes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 · Provence-Alpes-Côte d'Azur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 · Corse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· Nord-Ovest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 · Sud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23,588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 · Isole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 · Nord-Est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8,680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 · Centro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 · Östra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 · Södra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781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 · Norra Sverige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25400" marT="25400" marB="254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63093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w · €100,000 (facility fixed-cost weight). </a:t>
            </a:r>
            <a:r>
              <a:rPr lang="en-US" sz="9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= λ at which the open-facility count equals the baseline #cells; S2 = λ at which the multistart travel cost equals the baseline — each log-interpolated between adjacent sweep points, per travel-cost function (lin / log). “—” = the baseline target lies outside the swept λ range (S1/S2 not yet bracketed — see roadmap).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5038439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(636)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(1843)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(1740)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(1781)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(1684)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+55% (2758)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 (1517)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(2437)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(1230)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(753)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+21% (1238)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 (1113)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(223)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 (610)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(1179)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499725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Lewis's &amp; Bernhard's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411480" y="886968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λ-sweep is the working general method. </a:t>
            </a:r>
            <a:r>
              <a:rPr lang="en-US" sz="95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A→D ladder would cap catchments + set a min threshold to sidestep it — but the descriptives show catchments vary so widely (p10–p90 several-fold; many pharmacies at zero) that realistic bounds are hard to set, and the ladder may not actually simplify the problem.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+ λ-sweep → Pareto curve of #facilities vs travel cost (Option 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6 of Lewis's 22-May descriptive indicators, per country (deck pages 5–8)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Catchments now by ROAD-network travel time (not Euclidean); #empty + smallest non-zero catchment reported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Cap-ladder rungs prototyped (cost-function-free, exploratory): S1-A/B · S2-A/B — run for NL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Coverage: 17 countries + per-NUTS-1 (FR/IT/SE); inhabited-cell candidates, pharmacies merged per cell (1 992→1 617 NL)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224528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07408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 the 13 newly-available countries (small→large) — networks + OD now prepped per 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per-NUTS-1 λ-sweeps for the large countries (FR / IT / PL)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and fix sweeps for FRM, ITG, SE2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and apply adapted logit function (see next page)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baseline_metrics: it drops un-reachable clients (ITG ≈14% of pop) while the sweep prices them at c(t_max) — make consistent before any distance-to-Pareto metric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2-D status-quo→frontier distance metric (coverage-honest; stranded priced at c(t_max))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(not committed): max-cap + min-threshold rungs — but the descriptives suggest realistic bounds are hard to set, so this may not pay off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Poland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Calculating better estimations for S1 and S2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8083296" y="1298448"/>
            <a:ext cx="3721608" cy="452628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47888" y="13716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66176" y="1700784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Urban/non-urban flag → model only non-urban, hold urban fixed (options B/C)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⊂ settlements, then restrict locations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Retune logistic to Lewis's ~5 &amp; ~45-min kinks; add flat-then-linear; sweep sensitivity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real pharmacy a,b (schools: 99 699 + 3 277.5x); ?fixed cost vs &lt;6-y care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(person-minutes / value-per-user)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Cost-function-free S3: balance #/capita vs mean travel, widen beyond the A–B segment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· replace a known X% · choose which X to close (hard)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Pharmacist-based cap (Ana); caps/thresholds pooled across countries, reported per-country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Border-cases</a:t>
            </a:r>
            <a:endParaRPr lang="en-US" sz="900" dirty="0"/>
          </a:p>
          <a:p>
            <a:pPr marL="152400" indent="-152400">
              <a:lnSpc>
                <a:spcPct val="98000"/>
              </a:lnSpc>
              <a:spcAft>
                <a:spcPts val="400"/>
              </a:spcAft>
              <a:buSzPct val="100000"/>
              <a:buChar char="•"/>
            </a:pPr>
            <a:r>
              <a:rPr lang="en-US" sz="9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 catchment &amp; travel costs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11480" y="594360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cap/threshold ladder worth pursuing given how widely catchments vary?  ·  logistic vs linear travel cost (the equity-weighting choice)?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400414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421340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10168</Words>
  <Application>Microsoft Office PowerPoint</Application>
  <PresentationFormat>Widescreen</PresentationFormat>
  <Paragraphs>2972</Paragraphs>
  <Slides>52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7" baseType="lpstr">
      <vt:lpstr>Arial</vt:lpstr>
      <vt:lpstr>Calibri</vt:lpstr>
      <vt:lpstr>Cambria Math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2026-07-02T10:38:30Z</dcterms:modified>
</cp:coreProperties>
</file>