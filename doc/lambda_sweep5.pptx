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7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59" d="100"/>
          <a:sy n="159" d="100"/>
        </p:scale>
        <p:origin x="1680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0051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6141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1173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1180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307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137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1032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77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97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694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7522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153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5640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3182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000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2485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72375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590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0203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629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47738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5081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73688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9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80137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64239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2307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929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28800"/>
            <a:ext cx="91440" cy="32004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8288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λ-sweep over an LP relaxation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frontiers, integrality gaps, and what the Netherlands sweep tells us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  ·  NetworkModel_EU / ServiceAccess  ·  May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LAMBDA_SWEEP.JL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Scenarios and what the sweep computes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91440" cy="22860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2296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pharmacy network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client → nearest existing pharmacy.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total travel cost, mean travel time, and the count of grid cells with at least one pharmacy (target_cells).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155448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10241280" y="17373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cost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92240" y="171907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S1 — fix #facilities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49224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travel time at sum_x ≈ target_cells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Σ wᵢ·c(tᵢⱼ)·yₖ + λ·Σⱼxⱼ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Sweep λ to land sum_x at the baseline cell count.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LP-relaxation of UFLP, strong linking yₖ ≤ x_{j(k)}.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114800"/>
            <a:ext cx="91440" cy="228600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457200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access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S2 — fix travel cost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2296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#facilities at C ≈ baseline cost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2296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objective, different λ target.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Closest point on sweep to the baseline travel cost; trade fewer pharmacies for the same access.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17920" y="4114800"/>
            <a:ext cx="5394960" cy="228600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0" y="4114800"/>
            <a:ext cx="91440" cy="228600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7" name="Shape 25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solidFill>
            <a:srgbClr val="F2B632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0" y="4297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sweep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4279392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S3 — reduce both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492240" y="47091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the full Pareto frontier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92240" y="5074920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Coarse sweep w ∈ {1e-5 … 1e3}, then fine sweep bracketing the S1 and S2 targets.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sum_x and travel cost at each λ.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SWEEP TRACES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Pareto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competing objectives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011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total person-c(t), weighted by population.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count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sum_x, the LP-relaxed number of opened pharmacies.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0896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sweep works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520440"/>
            <a:ext cx="53035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λ gives one Pareto point (sum_x, travel_c).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λ → many cheap facilities, low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λ → few expensive facilities, high travel.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and S2 are two specific points on the same curve.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sweep traces the curve between and beyond them.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691640"/>
            <a:ext cx="5120640" cy="4206240"/>
          </a:xfrm>
          <a:prstGeom prst="rect">
            <a:avLst/>
          </a:prstGeom>
          <a:solidFill>
            <a:srgbClr val="FFFFFF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3716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frontier (schematic)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949440" y="281178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49440" y="365760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0" y="4503420"/>
            <a:ext cx="4389120" cy="0"/>
          </a:xfrm>
          <a:prstGeom prst="line">
            <a:avLst/>
          </a:prstGeom>
          <a:noFill/>
          <a:ln w="6350">
            <a:solidFill>
              <a:srgbClr val="DCE3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949440" y="5349240"/>
            <a:ext cx="4389120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949440" y="1965960"/>
            <a:ext cx="0" cy="3383280"/>
          </a:xfrm>
          <a:prstGeom prst="line">
            <a:avLst/>
          </a:prstGeom>
          <a:noFill/>
          <a:ln w="9525">
            <a:solidFill>
              <a:srgbClr val="64748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949440" y="1965960"/>
            <a:ext cx="109728" cy="41045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59168" y="2376410"/>
            <a:ext cx="109728" cy="3366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68896" y="2713057"/>
            <a:ext cx="109728" cy="28110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78624" y="2994164"/>
            <a:ext cx="109728" cy="23826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88352" y="3232428"/>
            <a:ext cx="109728" cy="20452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98080" y="3436951"/>
            <a:ext cx="109728" cy="17747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07808" y="3614426"/>
            <a:ext cx="109728" cy="15545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17536" y="3769885"/>
            <a:ext cx="109728" cy="13730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827264" y="3907186"/>
            <a:ext cx="109728" cy="122149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36992" y="4029335"/>
            <a:ext cx="109728" cy="10937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46720" y="4138709"/>
            <a:ext cx="109728" cy="9850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156448" y="4237212"/>
            <a:ext cx="109728" cy="891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66176" y="4326388"/>
            <a:ext cx="109728" cy="811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75904" y="4407502"/>
            <a:ext cx="109728" cy="740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85632" y="4481601"/>
            <a:ext cx="109728" cy="6795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595360" y="4549556"/>
            <a:ext cx="109728" cy="6254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05088" y="4612101"/>
            <a:ext cx="109728" cy="5775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4669857"/>
            <a:ext cx="109728" cy="5349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544" y="4723355"/>
            <a:ext cx="109728" cy="4969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34272" y="4773048"/>
            <a:ext cx="109728" cy="4628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44000" y="4819329"/>
            <a:ext cx="109728" cy="4320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253728" y="4862536"/>
            <a:ext cx="109728" cy="4043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363456" y="4902967"/>
            <a:ext cx="109728" cy="379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73184" y="4940881"/>
            <a:ext cx="109728" cy="3562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582912" y="4976506"/>
            <a:ext cx="109728" cy="3353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92640" y="5010042"/>
            <a:ext cx="109728" cy="3162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802368" y="5041669"/>
            <a:ext cx="109728" cy="2987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12096" y="5071545"/>
            <a:ext cx="109728" cy="28266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021824" y="5099811"/>
            <a:ext cx="109728" cy="2678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131552" y="5126594"/>
            <a:ext cx="109728" cy="25414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241280" y="5152008"/>
            <a:ext cx="109728" cy="2414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0351008" y="5176156"/>
            <a:ext cx="109728" cy="2297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460736" y="5199129"/>
            <a:ext cx="109728" cy="21882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570464" y="5221011"/>
            <a:ext cx="109728" cy="20867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680192" y="5241878"/>
            <a:ext cx="109728" cy="19921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789920" y="5261799"/>
            <a:ext cx="109728" cy="19038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899648" y="5280838"/>
            <a:ext cx="109728" cy="18213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1009376" y="5299051"/>
            <a:ext cx="109728" cy="17440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1119104" y="5316490"/>
            <a:ext cx="109728" cy="1671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228832" y="5333205"/>
            <a:ext cx="109728" cy="16035"/>
          </a:xfrm>
          <a:prstGeom prst="line">
            <a:avLst/>
          </a:prstGeom>
          <a:noFill/>
          <a:ln w="25400">
            <a:solidFill>
              <a:srgbClr val="065A82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645541" y="3665694"/>
            <a:ext cx="0" cy="156970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642459" y="3665694"/>
            <a:ext cx="3003082" cy="0"/>
          </a:xfrm>
          <a:prstGeom prst="line">
            <a:avLst/>
          </a:prstGeom>
          <a:noFill/>
          <a:ln w="9525">
            <a:solidFill>
              <a:srgbClr val="64748B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7532731" y="35559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185259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535813" y="5125666"/>
            <a:ext cx="219456" cy="219456"/>
          </a:xfrm>
          <a:prstGeom prst="ellipse">
            <a:avLst/>
          </a:prstGeom>
          <a:solidFill>
            <a:srgbClr val="065A8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188341" y="47781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10535813" y="3555966"/>
            <a:ext cx="219456" cy="219456"/>
          </a:xfrm>
          <a:prstGeom prst="ellipse">
            <a:avLst/>
          </a:prstGeom>
          <a:solidFill>
            <a:srgbClr val="F2B632"/>
          </a:solidFill>
          <a:ln w="9525">
            <a:solidFill>
              <a:srgbClr val="21295C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188341" y="320849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6949440" y="5486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fewer facilities     sum_x     more facilities →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 rot="16200000">
            <a:off x="6446520" y="35204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cost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217920" y="6263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strong-linking LP, sum_x is a continuous lower bound on integer facility count.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4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FRACTIONAL SUM_X IS INFORMATIVE, NOT NOISE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94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Integrality gap: LP can strictly beat 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029200" cy="4754880"/>
          </a:xfrm>
          <a:prstGeom prst="rect">
            <a:avLst/>
          </a:prstGeom>
          <a:solidFill>
            <a:srgbClr val="E8EEF3"/>
          </a:solidFill>
          <a:ln w="6350">
            <a:solidFill>
              <a:srgbClr val="DC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H="1">
            <a:off x="171706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717060" y="4892040"/>
            <a:ext cx="2692359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 flipH="1" flipV="1">
            <a:off x="3063240" y="2560320"/>
            <a:ext cx="1346180" cy="23317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2880360" y="237744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80360" y="2377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i₃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3418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3418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26540" y="4709160"/>
            <a:ext cx="365760" cy="365760"/>
          </a:xfrm>
          <a:prstGeom prst="ellipse">
            <a:avLst/>
          </a:prstGeom>
          <a:solidFill>
            <a:srgbClr val="065A82"/>
          </a:solidFill>
          <a:ln w="6350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2654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0727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53450" y="35433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j₃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solidFill>
            <a:srgbClr val="F2B632"/>
          </a:solidFill>
          <a:ln w="6350">
            <a:solidFill>
              <a:srgbClr val="8A651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80360" y="4709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j₁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28042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626602" y="45537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68784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36093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210035" y="419938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36945" y="303352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59436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clients · 3 candidate pharmacies · weight = 1 each · λ = 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852160" y="155448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Best integer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852160" y="1965960"/>
            <a:ext cx="5760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one pharmacy: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+ 3 + λ = 7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any two:  </a:t>
            </a: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+ 1 + 1 + 2λ = 7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IP optimum = 7   (1 or 2 facilities)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852160" y="32461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29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LP fractional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85216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</a:t>
            </a:r>
            <a:r>
              <a:rPr lang="en-US" sz="14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= (½, ½, ½)</a:t>
            </a: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each client routes ½ + ½ to its two near pharmacies (cost 1 each).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= 3, facility = 3 · ½ · 2 = 3</a:t>
            </a:r>
            <a:endParaRPr lang="en-US" sz="1400" dirty="0"/>
          </a:p>
          <a:p>
            <a:pPr marL="0" indent="0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LP optimum = </a:t>
            </a:r>
            <a:r>
              <a:rPr lang="en-US" sz="1800" b="1" i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(sum_x = 1.5, strictly &lt; IP = 7)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852160" y="5212080"/>
            <a:ext cx="5760720" cy="1051560"/>
          </a:xfrm>
          <a:prstGeom prst="rect">
            <a:avLst/>
          </a:prstGeom>
          <a:solidFill>
            <a:srgbClr val="21295C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530352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2B6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3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sum_x is not a solver artefact. The LP frontier is a true lower bound; geographies that resist clean integer covering show the gap.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INDICATORS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Observed pharmacy distribution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descriptive indicators (Lewis, 22 May)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&gt;1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max/cell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20,735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cell is this one (pharmacies combined per cell); catch p10/50/90 = percentiles of that catchment population. Per-pharmacy distribution &amp; full percentiles in pharmacy_descriptives.csv.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88062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BASELINE INDICATORS · NUTS1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Observed pharmacy distribution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NUTS1 breakdown within FR / IT / SE</a:t>
            </a:r>
            <a:endParaRPr lang="en-US" sz="2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11274552" cy="914400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2412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33272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pharm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residents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resid/ph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cells &gt;1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max/cell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catch p90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17,989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15,772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7,983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FRJ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FRM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ITF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11,546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ITI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Sweden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D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  SE3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6,143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 = residents whose nearest pharmacy cell is this one (pharmacies combined per cell); catch p10/50/90 = percentiles of that catchment population. Country rows bold, NUTS1 below. Per-pharmacy distribution &amp; full percentiles in pharmacy_descriptives.csv.</a:t>
            </a:r>
            <a:endParaRPr lang="en-US" sz="800" dirty="0"/>
          </a:p>
        </p:txBody>
      </p:sp>
    </p:spTree>
    <p:extLst>
      <p:ext uri="{BB962C8B-B14F-4D97-AF65-F5344CB8AC3E}">
        <p14:creationId xmlns:p14="http://schemas.microsoft.com/office/powerpoint/2010/main" val="35583032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NETHERLANDS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Netherlands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1,613 cells · 3.44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59.8M · LOG 2.6M</a:t>
            </a:r>
            <a:endParaRPr lang="en-US" sz="1000" dirty="0"/>
          </a:p>
        </p:txBody>
      </p:sp>
      <p:pic>
        <p:nvPicPr>
          <p:cNvPr id="5" name="Image 0" descr="E:\prj\JRC\NetworkModel_EU\doc\charts\Netherlands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Netherlands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951187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825B26-4E0C-84C7-DBD5-CEE4003AE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76123"/>
            <a:ext cx="11277600" cy="490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430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Île-de-France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1,447 cells · 1.03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12.6M · LOG 1.6M</a:t>
            </a:r>
            <a:endParaRPr lang="en-US" sz="1000" dirty="0"/>
          </a:p>
        </p:txBody>
      </p:sp>
      <p:pic>
        <p:nvPicPr>
          <p:cNvPr id="5" name="Image 0" descr="E:\prj\JRC\NetworkModel_EU\doc\charts\FR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315494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Centre-Val de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613 cells · 4.13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10.2M · LOG 384k</a:t>
            </a:r>
            <a:endParaRPr lang="en-US" sz="1000" dirty="0"/>
          </a:p>
        </p:txBody>
      </p:sp>
      <p:pic>
        <p:nvPicPr>
          <p:cNvPr id="5" name="Image 0" descr="E:\prj\JRC\NetworkModel_EU\doc\charts\FRB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B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4161991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Bourgogne-Franche-Comté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723 cells · 4.56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12.3M · LOG 429k</a:t>
            </a:r>
            <a:endParaRPr lang="en-US" sz="1000" dirty="0"/>
          </a:p>
        </p:txBody>
      </p:sp>
      <p:pic>
        <p:nvPicPr>
          <p:cNvPr id="5" name="Image 0" descr="E:\prj\JRC\NetworkModel_EU\doc\charts\FR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38780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Normandie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679 cells · 4.21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13.6M · LOG 500k</a:t>
            </a:r>
            <a:endParaRPr lang="en-US" sz="1000" dirty="0"/>
          </a:p>
        </p:txBody>
      </p:sp>
      <p:pic>
        <p:nvPicPr>
          <p:cNvPr id="5" name="Image 0" descr="E:\prj\JRC\NetworkModel_EU\doc\charts\FRD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D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879048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Hauts-de-France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1,332 cells · 2.88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17.1M · LOG 852k</a:t>
            </a:r>
            <a:endParaRPr lang="en-US" sz="1000" dirty="0"/>
          </a:p>
        </p:txBody>
      </p:sp>
      <p:pic>
        <p:nvPicPr>
          <p:cNvPr id="5" name="Image 0" descr="E:\prj\JRC\NetworkModel_EU\doc\charts\FRE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E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620210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Grand 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1,167 cells · 3.77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20.7M · LOG 832k</a:t>
            </a:r>
            <a:endParaRPr lang="en-US" sz="1000" dirty="0"/>
          </a:p>
        </p:txBody>
      </p:sp>
      <p:pic>
        <p:nvPicPr>
          <p:cNvPr id="5" name="Image 0" descr="E:\prj\JRC\NetworkModel_EU\doc\charts\FR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4179936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Pays de la Loire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848 cells · 3.97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15.0M · LOG 578k</a:t>
            </a:r>
            <a:endParaRPr lang="en-US" sz="1000" dirty="0"/>
          </a:p>
        </p:txBody>
      </p:sp>
      <p:pic>
        <p:nvPicPr>
          <p:cNvPr id="5" name="Image 0" descr="E:\prj\JRC\NetworkModel_EU\doc\charts\FR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3689391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Bretagne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793 cells · 4.23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13.9M · LOG 508k</a:t>
            </a:r>
            <a:endParaRPr lang="en-US" sz="1000" dirty="0"/>
          </a:p>
        </p:txBody>
      </p:sp>
      <p:pic>
        <p:nvPicPr>
          <p:cNvPr id="5" name="Image 0" descr="E:\prj\JRC\NetworkModel_EU\doc\charts\FR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8483560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Nouvelle-Aquitaine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1,583 cells · 4.30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24.9M · LOG 906k</a:t>
            </a:r>
            <a:endParaRPr lang="en-US" sz="1000" dirty="0"/>
          </a:p>
        </p:txBody>
      </p:sp>
      <p:pic>
        <p:nvPicPr>
          <p:cNvPr id="5" name="Image 0" descr="E:\prj\JRC\NetworkModel_EU\doc\charts\FR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0.000841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419868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FRJ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Occitanie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1,424 cells · 3.63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21.0M · LOG 870k</a:t>
            </a:r>
            <a:endParaRPr lang="en-US" sz="1000" dirty="0"/>
          </a:p>
        </p:txBody>
      </p:sp>
      <p:pic>
        <p:nvPicPr>
          <p:cNvPr id="5" name="Image 0" descr="E:\prj\JRC\NetworkModel_EU\doc\charts\FRJ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J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50384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Auvergne-Rhône-Alpes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1,683 cells · 3.46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27.5M · LOG 1.2M</a:t>
            </a:r>
            <a:endParaRPr lang="en-US" sz="1000" dirty="0"/>
          </a:p>
        </p:txBody>
      </p:sp>
      <p:pic>
        <p:nvPicPr>
          <p:cNvPr id="5" name="Image 0" descr="E:\prj\JRC\NetworkModel_EU\doc\charts\FRK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K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0.000989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805918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Provence-Alpes-Côte d'Azur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1,021 cells · 2.51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12.5M · LOG 702k</a:t>
            </a:r>
            <a:endParaRPr lang="en-US" sz="1000" dirty="0"/>
          </a:p>
        </p:txBody>
      </p:sp>
      <p:pic>
        <p:nvPicPr>
          <p:cNvPr id="5" name="Image 0" descr="E:\prj\JRC\NetworkModel_EU\doc\charts\FRL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L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185044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FRANCE · FRM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Corse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cells · 4.59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1.5M · LOG 51k</a:t>
            </a:r>
            <a:endParaRPr lang="en-US" sz="1000" dirty="0"/>
          </a:p>
        </p:txBody>
      </p:sp>
      <p:pic>
        <p:nvPicPr>
          <p:cNvPr id="5" name="Image 0" descr="E:\prj\JRC\NetworkModel_EU\doc\charts\FRM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FRM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6765317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Nord-Ovest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3,652 cells · 2.55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40.1M · LOG 2.2M</a:t>
            </a:r>
            <a:endParaRPr lang="en-US" sz="1000" dirty="0"/>
          </a:p>
        </p:txBody>
      </p:sp>
      <p:pic>
        <p:nvPicPr>
          <p:cNvPr id="5" name="Image 0" descr="E:\prj\JRC\NetworkModel_EU\doc\charts\ITC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C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767085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Sud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2,841 cells · 3.19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42.0M · LOG 1.9M</a:t>
            </a:r>
            <a:endParaRPr lang="en-US" sz="1000" dirty="0"/>
          </a:p>
        </p:txBody>
      </p:sp>
      <p:pic>
        <p:nvPicPr>
          <p:cNvPr id="5" name="Image 0" descr="E:\prj\JRC\NetworkModel_EU\doc\charts\ITF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F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826580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Isole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1,181 cells · 2.73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14.6M · LOG 766k</a:t>
            </a:r>
            <a:endParaRPr lang="en-US" sz="1000" dirty="0"/>
          </a:p>
        </p:txBody>
      </p:sp>
      <p:pic>
        <p:nvPicPr>
          <p:cNvPr id="5" name="Image 0" descr="E:\prj\JRC\NetworkModel_EU\doc\charts\ITG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G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0.000251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4092582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Nord-Est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2,722 cells · 3.58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40.7M · LOG 1.7M</a:t>
            </a:r>
            <a:endParaRPr lang="en-US" sz="1000" dirty="0"/>
          </a:p>
        </p:txBody>
      </p:sp>
      <p:pic>
        <p:nvPicPr>
          <p:cNvPr id="5" name="Image 0" descr="E:\prj\JRC\NetworkModel_EU\doc\charts\ITH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H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9764914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ITALY · ITI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Centro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2,242 cells · 3.47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40.0M · LOG 1.7M</a:t>
            </a:r>
            <a:endParaRPr lang="en-US" sz="1000" dirty="0"/>
          </a:p>
        </p:txBody>
      </p:sp>
      <p:pic>
        <p:nvPicPr>
          <p:cNvPr id="5" name="Image 0" descr="E:\prj\JRC\NetworkModel_EU\doc\charts\ITI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ITI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382565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Östra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385 cells · 5.01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19.9M · LOG 659k</a:t>
            </a:r>
            <a:endParaRPr lang="en-US" sz="1000" dirty="0"/>
          </a:p>
        </p:txBody>
      </p:sp>
      <p:pic>
        <p:nvPicPr>
          <p:cNvPr id="5" name="Image 0" descr="E:\prj\JRC\NetworkModel_EU\doc\charts\SE1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1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0.00316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0.00415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6406918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Södra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451 cells · 6.70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28.0M · LOG 765k</a:t>
            </a:r>
            <a:endParaRPr lang="en-US" sz="1000" dirty="0"/>
          </a:p>
        </p:txBody>
      </p:sp>
      <p:pic>
        <p:nvPicPr>
          <p:cNvPr id="5" name="Image 0" descr="E:\prj\JRC\NetworkModel_EU\doc\charts\SE2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2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12345049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37744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SWEDEN · SE3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75488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Norra Sverige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multistart vs the LP-relax frontier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11480" y="1060704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(current)  </a:t>
            </a:r>
            <a:r>
              <a:rPr lang="en-US" sz="100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246 cells · 8.14 min mean · </a:t>
            </a:r>
            <a:r>
              <a:rPr lang="en-US" sz="10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c(t_max) travel  LIN 13.1M · LOG 323k</a:t>
            </a:r>
            <a:endParaRPr lang="en-US" sz="1000" dirty="0"/>
          </a:p>
        </p:txBody>
      </p:sp>
      <p:pic>
        <p:nvPicPr>
          <p:cNvPr id="5" name="Image 0" descr="E:\prj\JRC\NetworkModel_EU\doc\charts\SE3_LINE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463040"/>
            <a:ext cx="5349240" cy="3145536"/>
          </a:xfrm>
          <a:prstGeom prst="rect">
            <a:avLst/>
          </a:prstGeom>
        </p:spPr>
      </p:pic>
      <p:pic>
        <p:nvPicPr>
          <p:cNvPr id="6" name="Image 1" descr="E:\prj\JRC\NetworkModel_EU\doc\charts\SE3_LOGISTI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0448" y="1463040"/>
            <a:ext cx="5349240" cy="3145536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029200"/>
          <a:ext cx="11274552" cy="9144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4048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n_open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 vs relax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stranded (multi)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0.00707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Charts: travel_relax &amp; travel_multi (left), frac_x (2nd left), log₁₀(w) (right) vs sum_x; ★ baseline, ◆ S1, ■ S2.  multistart ≤ LP-relax bound; stranded clients priced at c(t_max).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30387578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8A33D"/>
                </a:solidFill>
              </a:rPr>
              <a:t>LINEAR vs LOGISTIC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tracks the LP-relax lower bound — the gap is tightest under LOGISTIC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E8A33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 c(t) — unbounded, stranding expensive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85800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+0–18% over the LP bound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85800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 rounding costs more where stranding is dear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45352" y="1371600"/>
            <a:ext cx="5486400" cy="1234440"/>
          </a:xfrm>
          <a:prstGeom prst="roundRect">
            <a:avLst>
              <a:gd name="adj" fmla="val 4444"/>
            </a:avLst>
          </a:prstGeom>
          <a:solidFill>
            <a:srgbClr val="1B3350"/>
          </a:solidFill>
          <a:ln w="12700">
            <a:solidFill>
              <a:srgbClr val="0B6E9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73952" y="148132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6E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 c(t) — saturates ≈1, stranding cheap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73952" y="1755648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multistart sits +0–4.7% over the LP bound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473952" y="2194560"/>
            <a:ext cx="5074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7D2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rounding is nearly free; the frontier is almost integral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Netherlands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(685)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(62)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(395)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(189)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(722)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(218)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(656)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(746)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(873)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(659)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 (391)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 (555)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(633)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(171)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(32)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(161)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(167)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 (377)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(224)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(372)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(174)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(269)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 (1233)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(1210)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(939)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FRJ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(256)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(576)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(455)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(550)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graphicFrame>
        <p:nvGraphicFramePr>
          <p:cNvPr id="5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868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 S2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(263)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(776)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(306)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(500)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(94)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(28)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ITF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 (311)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(136)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 (53)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(107)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(146)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(0)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(242)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(8)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(255)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(14)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(225)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 (12)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 (337)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 (1187)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 (503)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 (2517)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 (679)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(1)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 (76)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 (45)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dirty="0">
                          <a:solidFill>
                            <a:srgbClr val="DDE6E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 (112)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25400" marT="12700" marB="12700" anchor="ctr">
                    <a:lnL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456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FB0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 = multistart travel above the LP-relax bound  (multistart clients stranded by rounding, priced at c(t_max)).  Sparse Swedish regions keep the largest bound-gaps.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5451234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Status against Bernhard's &amp; Lewis's framing  </a:t>
            </a:r>
            <a:r>
              <a:rPr lang="en-US" sz="21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implemented · in progress · remaining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0F6F2"/>
          </a:solidFill>
          <a:ln w="12700">
            <a:solidFill>
              <a:srgbClr val="1E7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7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 ✓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Tabula-rasa LP allocation — replaces the old one-by-one greedy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facility cost a+bx → reduces to λ·#facilities in the LP (λ = w·a, a=100k)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λ-sweep → Pareto curve of #facilities vs travel cost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Lewis's 3 cases live: S1 (same #, ↓travel) · S2 (same travel, ↓#) · S3 full frontier (↓both)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&amp; LOGISTIC travel costs both run &amp; compared (this deck)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Inhabited-cell candidates; pharmacies merged per grid cell (1 992→1 617 in NL)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Per-region (NUTS-1) analysis — 22 regions across FR/IT/SE/NL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Fractional = the LP lower bound (travel_relax); rounded to integer by multistart, so we ship whole pharmacies — and the fractional LP is the cheap part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224528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BF5EA"/>
          </a:solidFill>
          <a:ln w="12700">
            <a:solidFill>
              <a:srgbClr val="B979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89120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979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Status-quo → curve distance: coverage-honest (stranded priced at c(t_max)); a single 2-D distance metric still to formalize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params: now midpoint 30 / scale 15 min — retune to Lewis's ~5 &amp; ~45-min kinks, then sweep sensitivity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vs unconstrained-frontier gap — have per-region curves, not yet the "how far from unconstrained" comparison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FR1, ITG, SE2 vs the much-lower baseline — higher λ required? (baseline &amp; sweep use different location sets)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8083296" y="1188720"/>
            <a:ext cx="3721608" cy="4617720"/>
          </a:xfrm>
          <a:prstGeom prst="roundRect">
            <a:avLst>
              <a:gd name="adj" fmla="val 1229"/>
            </a:avLst>
          </a:prstGeom>
          <a:solidFill>
            <a:srgbClr val="F2F5F8"/>
          </a:solidFill>
          <a:ln w="12700">
            <a:solidFill>
              <a:srgbClr val="5B6B7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47888" y="1298448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○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66176" y="1664208"/>
            <a:ext cx="3401568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a real pharmacy a,b (schools: 99 699 + 3 277.5x); decide if fixed cost depends on &lt;6-y care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 λ intuitively — e.g. express it in travel-time-equivalent units (person-min per facility)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Settlement candidate set: verify existing pharmacies ⊂ settlements, then restrict locations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Catchment-realism check outside urban areas — any cell un-servable by one pharmacy?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non-linear facility cost (after linear) · other travel shapes if needed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 testing of S2 for a few small regions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Lewis' indicators as in his e-mail of 22 May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Pareto frontier per country (combine the regional sweeps)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Counterfactuals: −10% pop (easy) · replace a known X% (easy) · choose which X to close (hard)</a:t>
            </a:r>
            <a:endParaRPr lang="en-US" sz="950" dirty="0"/>
          </a:p>
          <a:p>
            <a:pPr marL="152400" indent="-152400">
              <a:lnSpc>
                <a:spcPct val="10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locations &amp; client counts for NL and ITF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11480" y="598932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C3D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questions for the group: 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cost constant with vs without &lt;6-y care?  ·  logistic vs linear = the equity-weighting choice  ·  best way to communicate λ?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8376693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B6E99"/>
                </a:solidFill>
              </a:rPr>
              <a:t>TRAVEL-COST FUNCTION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11480" y="493776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3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c(t)  </a:t>
            </a:r>
            <a:r>
              <a:rPr lang="en-US" sz="2200" dirty="0">
                <a:solidFill>
                  <a:srgbClr val="1C3D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— current vs a Lewis-tuned alternative</a:t>
            </a:r>
            <a:endParaRPr lang="en-US" sz="2200" dirty="0"/>
          </a:p>
        </p:txBody>
      </p:sp>
      <p:pic>
        <p:nvPicPr>
          <p:cNvPr id="4" name="Image 0" descr="E:\prj\JRC\NetworkModel_EU\doc\charts\logistic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417320"/>
            <a:ext cx="7132320" cy="3849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680960" y="1463040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85F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30 · scale 15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680960" y="1755648"/>
            <a:ext cx="4206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9E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</a:t>
            </a: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midpoint 25 · scale 10</a:t>
            </a:r>
            <a:endParaRPr lang="en-US" sz="1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2212848"/>
          <a:ext cx="4160520" cy="9144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(min)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D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223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85FA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D9E7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680960" y="4297680"/>
            <a:ext cx="420624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1223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cross at ≈15 min (0.27). </a:t>
            </a:r>
            <a:r>
              <a:rPr lang="en-US" sz="100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alternative is lower below ~10 min (ignores minor relocations) and saturates by ~45 min (caps remote weight) — closer to Lewis's 22-May ask. Not yet swept; see roadmap.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411480" y="64465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c(t) is applied to travel time in minutes (raw OD seconds ÷ 60); LINEAR uses c(t)=t. settings.jl:82</a:t>
            </a:r>
            <a:endParaRPr lang="en-US" sz="850" dirty="0"/>
          </a:p>
        </p:txBody>
      </p:sp>
    </p:spTree>
    <p:extLst>
      <p:ext uri="{BB962C8B-B14F-4D97-AF65-F5344CB8AC3E}">
        <p14:creationId xmlns:p14="http://schemas.microsoft.com/office/powerpoint/2010/main" val="2801677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5268</Words>
  <Application>Microsoft Office PowerPoint</Application>
  <PresentationFormat>Widescreen</PresentationFormat>
  <Paragraphs>1396</Paragraphs>
  <Slides>32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lambda_sweep.jl — UFLP-LP for pharmacy locations</dc:title>
  <dc:subject>PptxGenJS Presentation</dc:subject>
  <dc:creator>Servaas Storm / Object Vision</dc:creator>
  <cp:lastModifiedBy>Maarten Hilferink</cp:lastModifiedBy>
  <cp:revision>3</cp:revision>
  <dcterms:created xsi:type="dcterms:W3CDTF">2026-06-01T08:24:25Z</dcterms:created>
  <dcterms:modified xsi:type="dcterms:W3CDTF">2026-06-22T08:43:53Z</dcterms:modified>
</cp:coreProperties>
</file>