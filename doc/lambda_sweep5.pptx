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60" r:id="rId2"/>
    <p:sldId id="261" r:id="rId3"/>
    <p:sldId id="267" r:id="rId4"/>
    <p:sldId id="268" r:id="rId5"/>
    <p:sldId id="269" r:id="rId6"/>
    <p:sldId id="270" r:id="rId7"/>
    <p:sldId id="262" r:id="rId8"/>
    <p:sldId id="263" r:id="rId9"/>
    <p:sldId id="264" r:id="rId10"/>
    <p:sldId id="265" r:id="rId11"/>
    <p:sldId id="257" r:id="rId12"/>
    <p:sldId id="266" r:id="rId13"/>
    <p:sldId id="258" r:id="rId14"/>
    <p:sldId id="259" r:id="rId15"/>
    <p:sldId id="271" r:id="rId16"/>
    <p:sldId id="272" r:id="rId17"/>
    <p:sldId id="320"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1" r:id="rId66"/>
    <p:sldId id="322" r:id="rId67"/>
    <p:sldId id="323" r:id="rId68"/>
    <p:sldId id="324" r:id="rId69"/>
    <p:sldId id="325" r:id="rId70"/>
    <p:sldId id="326" r:id="rId71"/>
    <p:sldId id="327" r:id="rId72"/>
    <p:sldId id="328" r:id="rId73"/>
    <p:sldId id="329" r:id="rId74"/>
    <p:sldId id="330" r:id="rId7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29200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09801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97781585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26598542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40099316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1610308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48457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930462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8023617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5523049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187138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8147640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3472897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070802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927417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77524905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441117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56667520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1700063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026351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63267991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473149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8887272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978024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5792938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2277610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6670793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31755886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89711607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0962767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3210419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2424525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5108360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322696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529724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388603437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31750363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5560920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7713195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4546136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9724657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9379484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26121802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3878915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28538322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60950979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34955930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652111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702633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228344972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207426255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972509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1377158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65141220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24053998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17062284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3579107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2390414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218623514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28990077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2023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2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3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58.png"/></Relationships>
</file>

<file path=ppt/slides/_rels/slide4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0.png"/></Relationships>
</file>

<file path=ppt/slides/_rels/slide4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4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4.png"/></Relationships>
</file>

<file path=ppt/slides/_rels/slide4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66.png"/></Relationships>
</file>

<file path=ppt/slides/_rels/slide4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68.png"/></Relationships>
</file>

<file path=ppt/slides/_rels/slide5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2.png"/></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76.png"/></Relationships>
</file>

<file path=ppt/slides/_rels/slide54.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78.png"/></Relationships>
</file>

<file path=ppt/slides/_rels/slide55.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0.png"/></Relationships>
</file>

<file path=ppt/slides/_rels/slide5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5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5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5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1417320"/>
            <a:ext cx="91440" cy="3566160"/>
          </a:xfrm>
          <a:prstGeom prst="rect">
            <a:avLst/>
          </a:prstGeom>
          <a:solidFill>
            <a:srgbClr val="0B6E99"/>
          </a:solidFill>
          <a:ln w="12700">
            <a:solidFill>
              <a:srgbClr val="333333"/>
            </a:solidFill>
            <a:prstDash val="solid"/>
          </a:ln>
        </p:spPr>
        <p:txBody>
          <a:bodyPr/>
          <a:lstStyle/>
          <a:p>
            <a:endParaRPr lang="en-GB"/>
          </a:p>
        </p:txBody>
      </p:sp>
      <p:sp>
        <p:nvSpPr>
          <p:cNvPr id="3" name="Text 1"/>
          <p:cNvSpPr/>
          <p:nvPr/>
        </p:nvSpPr>
        <p:spPr>
          <a:xfrm>
            <a:off x="914400" y="1417320"/>
            <a:ext cx="10515600" cy="292608"/>
          </a:xfrm>
          <a:prstGeom prst="rect">
            <a:avLst/>
          </a:prstGeom>
          <a:noFill/>
          <a:ln/>
        </p:spPr>
        <p:txBody>
          <a:bodyPr wrap="square" rtlCol="0" anchor="ctr"/>
          <a:lstStyle/>
          <a:p>
            <a:pPr marL="0" indent="0">
              <a:buNone/>
            </a:pPr>
            <a:r>
              <a:rPr lang="en-US" sz="1200" b="1" kern="0" spc="200" dirty="0">
                <a:solidFill>
                  <a:srgbClr val="0B6E99"/>
                </a:solidFill>
                <a:latin typeface="Calibri" pitchFamily="34" charset="0"/>
                <a:ea typeface="Calibri" pitchFamily="34" charset="-122"/>
                <a:cs typeface="Calibri" pitchFamily="34" charset="-120"/>
              </a:rPr>
              <a:t>NETWORKMODEL_EU  ·  SERVICE ACCESS  ·  PHARMACIES</a:t>
            </a:r>
            <a:endParaRPr lang="en-US" sz="1200" dirty="0"/>
          </a:p>
        </p:txBody>
      </p:sp>
      <p:sp>
        <p:nvSpPr>
          <p:cNvPr id="4" name="Text 2"/>
          <p:cNvSpPr/>
          <p:nvPr/>
        </p:nvSpPr>
        <p:spPr>
          <a:xfrm>
            <a:off x="914400" y="1783080"/>
            <a:ext cx="10515600" cy="1325880"/>
          </a:xfrm>
          <a:prstGeom prst="rect">
            <a:avLst/>
          </a:prstGeom>
          <a:noFill/>
          <a:ln/>
        </p:spPr>
        <p:txBody>
          <a:bodyPr wrap="square" rtlCol="0" anchor="t"/>
          <a:lstStyle/>
          <a:p>
            <a:pPr marL="0" indent="0">
              <a:buNone/>
            </a:pPr>
            <a:r>
              <a:rPr lang="en-US" sz="3200" b="1" dirty="0">
                <a:solidFill>
                  <a:srgbClr val="12233A"/>
                </a:solidFill>
                <a:latin typeface="Georgia" pitchFamily="34" charset="0"/>
                <a:ea typeface="Georgia" pitchFamily="34" charset="-122"/>
                <a:cs typeface="Georgia" pitchFamily="34" charset="-120"/>
              </a:rPr>
              <a:t>Pharmacy locations across EU regions: how far is today's network from the frontier?</a:t>
            </a:r>
            <a:endParaRPr lang="en-US" sz="3200" dirty="0"/>
          </a:p>
        </p:txBody>
      </p:sp>
      <p:sp>
        <p:nvSpPr>
          <p:cNvPr id="5" name="Text 3"/>
          <p:cNvSpPr/>
          <p:nvPr/>
        </p:nvSpPr>
        <p:spPr>
          <a:xfrm>
            <a:off x="914400" y="3200400"/>
            <a:ext cx="10515600" cy="868680"/>
          </a:xfrm>
          <a:prstGeom prst="rect">
            <a:avLst/>
          </a:prstGeom>
          <a:noFill/>
          <a:ln/>
        </p:spPr>
        <p:txBody>
          <a:bodyPr wrap="square" rtlCol="0" anchor="t"/>
          <a:lstStyle/>
          <a:p>
            <a:pPr marL="0" indent="0">
              <a:buNone/>
            </a:pPr>
            <a:r>
              <a:rPr lang="en-US" sz="1500" dirty="0">
                <a:solidFill>
                  <a:srgbClr val="1C3D5A"/>
                </a:solidFill>
                <a:latin typeface="Calibri" pitchFamily="34" charset="0"/>
                <a:ea typeface="Calibri" pitchFamily="34" charset="-122"/>
                <a:cs typeface="Calibri" pitchFamily="34" charset="-120"/>
              </a:rPr>
              <a:t>A λ-sweep over a facility-location LP on the road network — what exists today, by how much it could improve at equal cost or equal accessibility, and which of 42 study areas have the most to gain</a:t>
            </a:r>
            <a:endParaRPr lang="en-US" sz="1500" dirty="0"/>
          </a:p>
        </p:txBody>
      </p:sp>
      <p:sp>
        <p:nvSpPr>
          <p:cNvPr id="6" name="Text 4"/>
          <p:cNvSpPr/>
          <p:nvPr/>
        </p:nvSpPr>
        <p:spPr>
          <a:xfrm>
            <a:off x="914400" y="4343400"/>
            <a:ext cx="10515600" cy="685800"/>
          </a:xfrm>
          <a:prstGeom prst="rect">
            <a:avLst/>
          </a:prstGeom>
          <a:noFill/>
          <a:ln/>
        </p:spPr>
        <p:txBody>
          <a:bodyPr wrap="square" rtlCol="0" anchor="t"/>
          <a:lstStyle/>
          <a:p>
            <a:pPr marL="0" indent="0">
              <a:buNone/>
            </a:pPr>
            <a:r>
              <a:rPr lang="en-US" sz="1600" b="1" dirty="0">
                <a:solidFill>
                  <a:srgbClr val="12233A"/>
                </a:solidFill>
                <a:latin typeface="Calibri" pitchFamily="34" charset="0"/>
                <a:ea typeface="Calibri" pitchFamily="34" charset="-122"/>
                <a:cs typeface="Calibri" pitchFamily="34" charset="-120"/>
              </a:rPr>
              <a:t>Lola Dekhuijzen  ·  Maarten Hilferink</a:t>
            </a:r>
            <a:endParaRPr lang="en-US" sz="1600" dirty="0"/>
          </a:p>
          <a:p>
            <a:pPr marL="0" indent="0">
              <a:buNone/>
            </a:pPr>
            <a:r>
              <a:rPr lang="en-US" sz="1600" dirty="0">
                <a:solidFill>
                  <a:srgbClr val="5B6B7B"/>
                </a:solidFill>
                <a:latin typeface="Calibri" pitchFamily="34" charset="0"/>
                <a:ea typeface="Calibri" pitchFamily="34" charset="-122"/>
                <a:cs typeface="Calibri" pitchFamily="34" charset="-120"/>
              </a:rPr>
              <a:t>Object Vision</a:t>
            </a:r>
            <a:endParaRPr lang="en-US" sz="1600" dirty="0"/>
          </a:p>
        </p:txBody>
      </p:sp>
      <p:sp>
        <p:nvSpPr>
          <p:cNvPr id="7" name="Text 5"/>
          <p:cNvSpPr/>
          <p:nvPr/>
        </p:nvSpPr>
        <p:spPr>
          <a:xfrm>
            <a:off x="914400" y="6035040"/>
            <a:ext cx="10515600" cy="365760"/>
          </a:xfrm>
          <a:prstGeom prst="rect">
            <a:avLst/>
          </a:prstGeom>
          <a:noFill/>
          <a:ln/>
        </p:spPr>
        <p:txBody>
          <a:bodyPr wrap="square" rtlCol="0" anchor="ctr"/>
          <a:lstStyle/>
          <a:p>
            <a:pPr marL="0" indent="0">
              <a:buNone/>
            </a:pPr>
            <a:r>
              <a:rPr lang="en-US" sz="1000" i="1" dirty="0">
                <a:solidFill>
                  <a:srgbClr val="5B6B7B"/>
                </a:solidFill>
                <a:latin typeface="Calibri" pitchFamily="34" charset="0"/>
                <a:ea typeface="Calibri" pitchFamily="34" charset="-122"/>
                <a:cs typeface="Calibri" pitchFamily="34" charset="-120"/>
              </a:rPr>
              <a:t>Draft for discussion  ·  September 2026  ·  GeoDMS road-network OD + Julia (JuMP / HiGHS)  ·  NetworkModel_EU / ServiceAccess</a:t>
            </a:r>
            <a:endParaRPr lang="en-US" sz="1000" dirty="0"/>
          </a:p>
        </p:txBody>
      </p:sp>
    </p:spTree>
    <p:extLst>
      <p:ext uri="{BB962C8B-B14F-4D97-AF65-F5344CB8AC3E}">
        <p14:creationId xmlns:p14="http://schemas.microsoft.com/office/powerpoint/2010/main" val="40791517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What exists today: residents per pharmacy and per 1 km² location, per country and key NUTS1, catchments by road (p3–6).</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By how much can accessibility improve at equal cost, or cost fall at equal accessibility? A tabula-rasa LP allocation on the road OD, swept over λ, answers that as a frontier of #locations vs travel (p7–14). Cost and accessibility trade off continuously under exogenous demand — there is no trilemma to resolve.</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locations) per area, quantified first in native units — locations and person-minutes, which need no λ — and only then in € (p16–61).</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Linear vs the logistic (midpoint 25 / scale 10), its compressed λ-range, and BN's proposal to rescale it (p64).</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explored on the Netherlands — catchments vary so widely that realistic min/max bounds cannot be set. Dropped; p15 kept as the record.</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Choice set, open items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Where the 5-nearest choice set binds and why widening it precedes RSSV (p9); exact S1/S2 pinning; what remains, in priority order, and what was dropped (p63).</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(linear vs logistic, and BN's rescaling)  ·  widen the candidate radius before RSSV  ·  territorial coverage constraints for equity, or keep soft coverage.</a:t>
            </a:r>
            <a:endParaRPr lang="en-US" sz="1000" dirty="0"/>
          </a:p>
        </p:txBody>
      </p:sp>
    </p:spTree>
    <p:extLst>
      <p:ext uri="{BB962C8B-B14F-4D97-AF65-F5344CB8AC3E}">
        <p14:creationId xmlns:p14="http://schemas.microsoft.com/office/powerpoint/2010/main" val="3062181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17936543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36893845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36778252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8486548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location (placeholder)</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960" dirty="0">
                <a:solidFill>
                  <a:srgbClr val="5B6B7B"/>
                </a:solidFill>
                <a:latin typeface="Calibri" pitchFamily="34" charset="0"/>
                <a:ea typeface="Calibri" pitchFamily="34" charset="-122"/>
                <a:cs typeface="Calibri" pitchFamily="34" charset="-120"/>
              </a:rPr>
              <a:t>Linear cost a + b·q reduces to λ·#open: b·q is ~constant while (nearly) all demand is served, so only the fixed cost a matters (approximately, under soft coverage). €100,000 is a placeholder, not an estimate: the frontier, S1/S2 and the rankings are invariant to it — only the € labels move with the true a.</a:t>
            </a:r>
            <a:endParaRPr lang="en-US" sz="960" dirty="0"/>
          </a:p>
        </p:txBody>
      </p:sp>
      <p:sp>
        <p:nvSpPr>
          <p:cNvPr id="13" name="Text 11"/>
          <p:cNvSpPr/>
          <p:nvPr/>
        </p:nvSpPr>
        <p:spPr>
          <a:xfrm>
            <a:off x="6812280" y="3072384"/>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319272"/>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and it can bind at S2-level facility counts. Clients still unreachable within t_max are priced at BIG on BOTH sides — stranded in the baseline, optionally stranded in the LP — so ★ and frontier stay directly comparable. After the scope rules on p8 that is only 0.012% of residents: 34 of 41 areas have none at all, the largest remainder is SE2 with 165 cells / 14,210 residents (0.32%), and these are genuinely remote cells rather than a coverage artefact.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12)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12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1711933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SCOPE</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What the model covers  </a:t>
            </a:r>
            <a:r>
              <a:rPr lang="en-US" sz="2200" dirty="0">
                <a:solidFill>
                  <a:srgbClr val="1C3D5A"/>
                </a:solidFill>
                <a:latin typeface="Georgia" pitchFamily="34" charset="0"/>
                <a:ea typeface="Georgia" pitchFamily="34" charset="-122"/>
                <a:cs typeface="Georgia" pitchFamily="34" charset="-120"/>
              </a:rPr>
              <a:t>— and what it deliberately excludes</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Under soft coverage every resident the model cannot route to a pharmacy is priced at BIG (120 min). That is right for someone who is genuinely remote — and wrong when the network or the supply data is simply missing, because it turns a DATA gap into apparent policy headroom. Two rules separate the cases.</a:t>
            </a:r>
            <a:endParaRPr lang="en-US" sz="1000" dirty="0"/>
          </a:p>
        </p:txBody>
      </p:sp>
      <p:sp>
        <p:nvSpPr>
          <p:cNvPr id="5" name="Shape 3"/>
          <p:cNvSpPr/>
          <p:nvPr/>
        </p:nvSpPr>
        <p:spPr>
          <a:xfrm>
            <a:off x="365760" y="1417320"/>
            <a:ext cx="5715000" cy="3977640"/>
          </a:xfrm>
          <a:prstGeom prst="roundRect">
            <a:avLst>
              <a:gd name="adj" fmla="val 1149"/>
            </a:avLst>
          </a:prstGeom>
          <a:solidFill>
            <a:srgbClr val="F0F6F2"/>
          </a:solidFill>
          <a:ln w="12700">
            <a:solidFill>
              <a:srgbClr val="1E7A52"/>
            </a:solidFill>
            <a:prstDash val="solid"/>
          </a:ln>
        </p:spPr>
        <p:txBody>
          <a:bodyPr/>
          <a:lstStyle/>
          <a:p>
            <a:endParaRPr lang="en-GB"/>
          </a:p>
        </p:txBody>
      </p:sp>
      <p:sp>
        <p:nvSpPr>
          <p:cNvPr id="6" name="Text 4"/>
          <p:cNvSpPr/>
          <p:nvPr/>
        </p:nvSpPr>
        <p:spPr>
          <a:xfrm>
            <a:off x="566928" y="1499616"/>
            <a:ext cx="5349240" cy="274320"/>
          </a:xfrm>
          <a:prstGeom prst="rect">
            <a:avLst/>
          </a:prstGeom>
          <a:noFill/>
          <a:ln/>
        </p:spPr>
        <p:txBody>
          <a:bodyPr wrap="square" rtlCol="0" anchor="ctr"/>
          <a:lstStyle/>
          <a:p>
            <a:pPr marL="0" indent="0">
              <a:buNone/>
            </a:pPr>
            <a:r>
              <a:rPr lang="en-US" sz="1350" b="1" dirty="0">
                <a:solidFill>
                  <a:srgbClr val="1E7A52"/>
                </a:solidFill>
                <a:latin typeface="Calibri" pitchFamily="34" charset="0"/>
                <a:ea typeface="Calibri" pitchFamily="34" charset="-122"/>
                <a:cs typeface="Calibri" pitchFamily="34" charset="-120"/>
              </a:rPr>
              <a:t>1 · Road network — per landbody</a:t>
            </a:r>
            <a:endParaRPr lang="en-US" sz="1350" dirty="0"/>
          </a:p>
        </p:txBody>
      </p:sp>
      <p:sp>
        <p:nvSpPr>
          <p:cNvPr id="7" name="Text 5"/>
          <p:cNvSpPr/>
          <p:nvPr/>
        </p:nvSpPr>
        <p:spPr>
          <a:xfrm>
            <a:off x="5669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The largest strongly-connected network is kept for EVERY separate landbody, not just the single largest one in the study area.</a:t>
            </a:r>
            <a:endParaRPr lang="en-US" sz="1000" dirty="0"/>
          </a:p>
        </p:txBody>
      </p:sp>
      <p:sp>
        <p:nvSpPr>
          <p:cNvPr id="8" name="Text 6"/>
          <p:cNvSpPr/>
          <p:nvPr/>
        </p:nvSpPr>
        <p:spPr>
          <a:xfrm>
            <a:off x="5852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Before, one component survived per study area, so island networks — and the ferry links inside them — were discarded entirely.</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Sicilia and Sardegna are two separate landbodies, so at most one of them could ever be kept.</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source data changed: the links were always in the TomTom extract, they were being pruned.</a:t>
            </a:r>
            <a:endParaRPr lang="en-US" sz="950" dirty="0"/>
          </a:p>
        </p:txBody>
      </p:sp>
      <p:sp>
        <p:nvSpPr>
          <p:cNvPr id="9" name="Text 7"/>
          <p:cNvSpPr/>
          <p:nvPr/>
        </p:nvSpPr>
        <p:spPr>
          <a:xfrm>
            <a:off x="585216" y="4828032"/>
            <a:ext cx="5303520" cy="502920"/>
          </a:xfrm>
          <a:prstGeom prst="rect">
            <a:avLst/>
          </a:prstGeom>
          <a:noFill/>
          <a:ln/>
        </p:spPr>
        <p:txBody>
          <a:bodyPr wrap="square" rtlCol="0" anchor="t"/>
          <a:lstStyle/>
          <a:p>
            <a:pPr marL="0" indent="0">
              <a:buNone/>
            </a:pPr>
            <a:r>
              <a:rPr lang="en-US" sz="950" b="1" dirty="0">
                <a:solidFill>
                  <a:srgbClr val="1E7A52"/>
                </a:solidFill>
                <a:latin typeface="Calibri" pitchFamily="34" charset="0"/>
                <a:ea typeface="Calibri" pitchFamily="34" charset="-122"/>
                <a:cs typeface="Calibri" pitchFamily="34" charset="-120"/>
              </a:rPr>
              <a:t>ITG: mean travel 22.3 → 4.9 min · unreachable residents 983,169 → 591</a:t>
            </a:r>
            <a:endParaRPr lang="en-US" sz="950" dirty="0"/>
          </a:p>
        </p:txBody>
      </p:sp>
      <p:sp>
        <p:nvSpPr>
          <p:cNvPr id="10" name="Shape 8"/>
          <p:cNvSpPr/>
          <p:nvPr/>
        </p:nvSpPr>
        <p:spPr>
          <a:xfrm>
            <a:off x="6309360" y="1417320"/>
            <a:ext cx="5715000" cy="3977640"/>
          </a:xfrm>
          <a:prstGeom prst="roundRect">
            <a:avLst>
              <a:gd name="adj" fmla="val 1149"/>
            </a:avLst>
          </a:prstGeom>
          <a:solidFill>
            <a:srgbClr val="FBF5EA"/>
          </a:solidFill>
          <a:ln w="12700">
            <a:solidFill>
              <a:srgbClr val="B9791C"/>
            </a:solidFill>
            <a:prstDash val="solid"/>
          </a:ln>
        </p:spPr>
        <p:txBody>
          <a:bodyPr/>
          <a:lstStyle/>
          <a:p>
            <a:endParaRPr lang="en-GB"/>
          </a:p>
        </p:txBody>
      </p:sp>
      <p:sp>
        <p:nvSpPr>
          <p:cNvPr id="11" name="Text 9"/>
          <p:cNvSpPr/>
          <p:nvPr/>
        </p:nvSpPr>
        <p:spPr>
          <a:xfrm>
            <a:off x="6510528" y="1499616"/>
            <a:ext cx="5349240" cy="274320"/>
          </a:xfrm>
          <a:prstGeom prst="rect">
            <a:avLst/>
          </a:prstGeom>
          <a:noFill/>
          <a:ln/>
        </p:spPr>
        <p:txBody>
          <a:bodyPr wrap="square" rtlCol="0" anchor="ctr"/>
          <a:lstStyle/>
          <a:p>
            <a:pPr marL="0" indent="0">
              <a:buNone/>
            </a:pPr>
            <a:r>
              <a:rPr lang="en-US" sz="1350" b="1" dirty="0">
                <a:solidFill>
                  <a:srgbClr val="B9791C"/>
                </a:solidFill>
                <a:latin typeface="Calibri" pitchFamily="34" charset="0"/>
                <a:ea typeface="Calibri" pitchFamily="34" charset="-122"/>
                <a:cs typeface="Calibri" pitchFamily="34" charset="-120"/>
              </a:rPr>
              <a:t>2 · Regions the model cannot serve at all</a:t>
            </a:r>
            <a:endParaRPr lang="en-US" sz="1350" dirty="0"/>
          </a:p>
        </p:txBody>
      </p:sp>
      <p:sp>
        <p:nvSpPr>
          <p:cNvPr id="12" name="Text 10"/>
          <p:cNvSpPr/>
          <p:nvPr/>
        </p:nvSpPr>
        <p:spPr>
          <a:xfrm>
            <a:off x="6510528" y="1783080"/>
            <a:ext cx="5349240" cy="566928"/>
          </a:xfrm>
          <a:prstGeom prst="rect">
            <a:avLst/>
          </a:prstGeom>
          <a:noFill/>
          <a:ln/>
        </p:spPr>
        <p:txBody>
          <a:bodyPr wrap="square" rtlCol="0" anchor="t"/>
          <a:lstStyle/>
          <a:p>
            <a:pPr marL="0" indent="0">
              <a:buNone/>
            </a:pPr>
            <a:r>
              <a:rPr lang="en-US" sz="1000" dirty="0">
                <a:solidFill>
                  <a:srgbClr val="12233A"/>
                </a:solidFill>
                <a:latin typeface="Calibri" pitchFamily="34" charset="0"/>
                <a:ea typeface="Calibri" pitchFamily="34" charset="-122"/>
                <a:cs typeface="Calibri" pitchFamily="34" charset="-120"/>
              </a:rPr>
              <a:t>If more than 50% of a NUTS region's inhabitant locations are absent from the OD matrix, the WHOLE region is excluded — its population AND its candidate locations.</a:t>
            </a:r>
            <a:endParaRPr lang="en-US" sz="1000" dirty="0"/>
          </a:p>
        </p:txBody>
      </p:sp>
      <p:sp>
        <p:nvSpPr>
          <p:cNvPr id="13" name="Text 11"/>
          <p:cNvSpPr/>
          <p:nvPr/>
        </p:nvSpPr>
        <p:spPr>
          <a:xfrm>
            <a:off x="6528816" y="2377440"/>
            <a:ext cx="5303520" cy="2286000"/>
          </a:xfrm>
          <a:prstGeom prst="rect">
            <a:avLst/>
          </a:prstGeom>
          <a:noFill/>
          <a:ln/>
        </p:spPr>
        <p:txBody>
          <a:bodyPr wrap="square" rtlCol="0" anchor="t"/>
          <a:lstStyle/>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Level: NUTS3 where populated, otherwise NUTS2, otherwise NUTS1.</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Judged on the EXISTING network, so the baseline and the λ-sweep always agree on who is in scope.</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Excluded today: PT200 Azores (919 cells, 212,855 residents) and PT300 Madeira (419 cells, 244,867 residents) — both 100% absent. They hold population but no pharmacy anywhere in the source data, so no network fix could reach them.</a:t>
            </a:r>
            <a:endParaRPr lang="en-US" sz="950" dirty="0"/>
          </a:p>
          <a:p>
            <a:pPr marL="152400" indent="-152400">
              <a:lnSpc>
                <a:spcPct val="100000"/>
              </a:lnSpc>
              <a:spcAft>
                <a:spcPts val="500"/>
              </a:spcAft>
              <a:buSzPct val="100000"/>
              <a:buChar char="•"/>
            </a:pPr>
            <a:r>
              <a:rPr lang="en-US" sz="950" dirty="0">
                <a:solidFill>
                  <a:srgbClr val="12233A"/>
                </a:solidFill>
                <a:latin typeface="Calibri" pitchFamily="34" charset="0"/>
                <a:ea typeface="Calibri" pitchFamily="34" charset="-122"/>
                <a:cs typeface="Calibri" pitchFamily="34" charset="-120"/>
              </a:rPr>
              <a:t>No other area comes near the threshold: it is 100% or far below.</a:t>
            </a:r>
            <a:endParaRPr lang="en-US" sz="950" dirty="0"/>
          </a:p>
        </p:txBody>
      </p:sp>
      <p:sp>
        <p:nvSpPr>
          <p:cNvPr id="14" name="Text 12"/>
          <p:cNvSpPr/>
          <p:nvPr/>
        </p:nvSpPr>
        <p:spPr>
          <a:xfrm>
            <a:off x="6528816" y="4828032"/>
            <a:ext cx="5303520" cy="502920"/>
          </a:xfrm>
          <a:prstGeom prst="rect">
            <a:avLst/>
          </a:prstGeom>
          <a:noFill/>
          <a:ln/>
        </p:spPr>
        <p:txBody>
          <a:bodyPr wrap="square" rtlCol="0" anchor="t"/>
          <a:lstStyle/>
          <a:p>
            <a:pPr marL="0" indent="0">
              <a:buNone/>
            </a:pPr>
            <a:r>
              <a:rPr lang="en-US" sz="950" b="1" dirty="0">
                <a:solidFill>
                  <a:srgbClr val="B9791C"/>
                </a:solidFill>
                <a:latin typeface="Calibri" pitchFamily="34" charset="0"/>
                <a:ea typeface="Calibri" pitchFamily="34" charset="-122"/>
                <a:cs typeface="Calibri" pitchFamily="34" charset="-120"/>
              </a:rPr>
              <a:t>Portugal: baseline travel −62% · mean 8.64 → 3.47 min · figures now cover the MAINLAND ONLY</a:t>
            </a:r>
            <a:endParaRPr lang="en-US" sz="950" dirty="0"/>
          </a:p>
        </p:txBody>
      </p:sp>
      <p:sp>
        <p:nvSpPr>
          <p:cNvPr id="15" name="Shape 13"/>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6" name="Text 14"/>
          <p:cNvSpPr/>
          <p:nvPr/>
        </p:nvSpPr>
        <p:spPr>
          <a:xfrm>
            <a:off x="548640" y="5605272"/>
            <a:ext cx="11338560" cy="457200"/>
          </a:xfrm>
          <a:prstGeom prst="rect">
            <a:avLst/>
          </a:prstGeom>
          <a:noFill/>
          <a:ln/>
        </p:spPr>
        <p:txBody>
          <a:bodyPr wrap="square" rtlCol="0" anchor="t"/>
          <a:lstStyle/>
          <a:p>
            <a:pPr marL="0" indent="0">
              <a:buNone/>
            </a:pPr>
            <a:r>
              <a:rPr lang="en-US" sz="930" b="1" dirty="0">
                <a:solidFill>
                  <a:srgbClr val="B9791C"/>
                </a:solidFill>
                <a:latin typeface="Calibri" pitchFamily="34" charset="0"/>
                <a:ea typeface="Calibri" pitchFamily="34" charset="-122"/>
                <a:cs typeface="Calibri" pitchFamily="34" charset="-120"/>
              </a:rPr>
              <a:t>⚠ Not comparable with the previous deck.  </a:t>
            </a:r>
            <a:r>
              <a:rPr lang="en-US" sz="930" dirty="0">
                <a:solidFill>
                  <a:srgbClr val="12233A"/>
                </a:solidFill>
                <a:latin typeface="Calibri" pitchFamily="34" charset="0"/>
                <a:ea typeface="Calibri" pitchFamily="34" charset="-122"/>
                <a:cs typeface="Calibri" pitchFamily="34" charset="-120"/>
              </a:rPr>
              <a:t>Both rules change which residents are counted, so baselines, frontiers and the ranked improvement lists all shift. Absence of a pharmacy record is not evidence of absence of a pharmacy — excluding those regions states what we do not know, rather than asserting the strong version of it.</a:t>
            </a:r>
            <a:endParaRPr lang="en-US" sz="930" dirty="0"/>
          </a:p>
        </p:txBody>
      </p:sp>
    </p:spTree>
    <p:extLst>
      <p:ext uri="{BB962C8B-B14F-4D97-AF65-F5344CB8AC3E}">
        <p14:creationId xmlns:p14="http://schemas.microsoft.com/office/powerpoint/2010/main" val="32244406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CHOICE SET</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choice set  </a:t>
            </a:r>
            <a:r>
              <a:rPr lang="en-US" sz="2200" dirty="0">
                <a:solidFill>
                  <a:srgbClr val="1C3D5A"/>
                </a:solidFill>
                <a:latin typeface="Georgia" pitchFamily="34" charset="0"/>
                <a:ea typeface="Georgia" pitchFamily="34" charset="-122"/>
                <a:cs typeface="Georgia" pitchFamily="34" charset="-120"/>
              </a:rPr>
              <a:t>— where the 5-nearest rule binds, and why widening it comes before RSSV</a:t>
            </a:r>
            <a:endParaRPr lang="en-US" sz="2200" dirty="0"/>
          </a:p>
        </p:txBody>
      </p:sp>
      <p:sp>
        <p:nvSpPr>
          <p:cNvPr id="4" name="Text 2"/>
          <p:cNvSpPr/>
          <p:nvPr/>
        </p:nvSpPr>
        <p:spPr>
          <a:xfrm>
            <a:off x="411480" y="914400"/>
            <a:ext cx="11430000" cy="411480"/>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Each client is connected to every candidate cell within the road distance to its 5th-nearest EXISTING pharmacy (or 120 min). That radius holds ~70–90 candidates on average — so it is not “5 choices”, it is a radius fixed by today’s five. When the optimiser removes facilities, the radius does not grow.</a:t>
            </a:r>
            <a:endParaRPr lang="en-US" sz="1000" dirty="0"/>
          </a:p>
        </p:txBody>
      </p:sp>
      <p:sp>
        <p:nvSpPr>
          <p:cNvPr id="5" name="Shape 3"/>
          <p:cNvSpPr/>
          <p:nvPr/>
        </p:nvSpPr>
        <p:spPr>
          <a:xfrm>
            <a:off x="365760" y="1444752"/>
            <a:ext cx="3749040" cy="3931920"/>
          </a:xfrm>
          <a:prstGeom prst="roundRect">
            <a:avLst>
              <a:gd name="adj" fmla="val 1220"/>
            </a:avLst>
          </a:prstGeom>
          <a:solidFill>
            <a:srgbClr val="FBF5EA"/>
          </a:solidFill>
          <a:ln w="12700">
            <a:solidFill>
              <a:srgbClr val="B9791C"/>
            </a:solidFill>
            <a:prstDash val="solid"/>
          </a:ln>
        </p:spPr>
        <p:txBody>
          <a:bodyPr/>
          <a:lstStyle/>
          <a:p>
            <a:endParaRPr lang="en-GB"/>
          </a:p>
        </p:txBody>
      </p:sp>
      <p:sp>
        <p:nvSpPr>
          <p:cNvPr id="6" name="Text 4"/>
          <p:cNvSpPr/>
          <p:nvPr/>
        </p:nvSpPr>
        <p:spPr>
          <a:xfrm>
            <a:off x="548640" y="1517904"/>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Where it binds — measured at S2</a:t>
            </a:r>
            <a:endParaRPr lang="en-US" sz="1300" dirty="0"/>
          </a:p>
        </p:txBody>
      </p:sp>
      <p:sp>
        <p:nvSpPr>
          <p:cNvPr id="7" name="Text 5"/>
          <p:cNvSpPr/>
          <p:nvPr/>
        </p:nvSpPr>
        <p:spPr>
          <a:xfrm>
            <a:off x="566928"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SE2 at S2 (309 of 452 open): 1,730 cells / 449,261 residents — 10.2% of the population — have exactly ONE open facility left inside their radius. Closing it would strand them at BIG, so the optimiser must keep it open even where a 6th-nearest pharmacy would serve them.</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ITF at S2 (519 of 1,253 open): 9.0% of residents are already stranded and a further 23.9% are one closure away — a third of the population pins the solution.</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Even at S1 — same count as today, only relocated — ITF strands 1.84%: relocation moved facilities out of clients’ fixed radii.</a:t>
            </a:r>
            <a:endParaRPr lang="en-US" sz="940" dirty="0"/>
          </a:p>
        </p:txBody>
      </p:sp>
      <p:sp>
        <p:nvSpPr>
          <p:cNvPr id="8" name="Text 6"/>
          <p:cNvSpPr/>
          <p:nvPr/>
        </p:nvSpPr>
        <p:spPr>
          <a:xfrm>
            <a:off x="566928" y="4773168"/>
            <a:ext cx="3346704" cy="548640"/>
          </a:xfrm>
          <a:prstGeom prst="rect">
            <a:avLst/>
          </a:prstGeom>
          <a:noFill/>
          <a:ln/>
        </p:spPr>
        <p:txBody>
          <a:bodyPr wrap="square" rtlCol="0" anchor="t"/>
          <a:lstStyle/>
          <a:p>
            <a:pPr marL="0" indent="0">
              <a:buNone/>
            </a:pPr>
            <a:r>
              <a:rPr lang="en-US" sz="920" b="1" dirty="0">
                <a:solidFill>
                  <a:srgbClr val="B9791C"/>
                </a:solidFill>
                <a:latin typeface="Calibri" pitchFamily="34" charset="0"/>
                <a:ea typeface="Calibri" pitchFamily="34" charset="-122"/>
                <a:cs typeface="Calibri" pitchFamily="34" charset="-120"/>
              </a:rPr>
              <a:t>The frontier is under-estimated wherever the radius, not the geography, decides who can be served.</a:t>
            </a:r>
            <a:endParaRPr lang="en-US" sz="920" dirty="0"/>
          </a:p>
        </p:txBody>
      </p:sp>
      <p:sp>
        <p:nvSpPr>
          <p:cNvPr id="9" name="Shape 7"/>
          <p:cNvSpPr/>
          <p:nvPr/>
        </p:nvSpPr>
        <p:spPr>
          <a:xfrm>
            <a:off x="4315968" y="1444752"/>
            <a:ext cx="3749040" cy="3931920"/>
          </a:xfrm>
          <a:prstGeom prst="roundRect">
            <a:avLst>
              <a:gd name="adj" fmla="val 1220"/>
            </a:avLst>
          </a:prstGeom>
          <a:solidFill>
            <a:srgbClr val="F0F6F2"/>
          </a:solidFill>
          <a:ln w="12700">
            <a:solidFill>
              <a:srgbClr val="1E7A52"/>
            </a:solidFill>
            <a:prstDash val="solid"/>
          </a:ln>
        </p:spPr>
        <p:txBody>
          <a:bodyPr/>
          <a:lstStyle/>
          <a:p>
            <a:endParaRPr lang="en-GB"/>
          </a:p>
        </p:txBody>
      </p:sp>
      <p:sp>
        <p:nvSpPr>
          <p:cNvPr id="10" name="Text 8"/>
          <p:cNvSpPr/>
          <p:nvPr/>
        </p:nvSpPr>
        <p:spPr>
          <a:xfrm>
            <a:off x="4498848" y="1517904"/>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widening helps</a:t>
            </a:r>
            <a:endParaRPr lang="en-US" sz="1300" dirty="0"/>
          </a:p>
        </p:txBody>
      </p:sp>
      <p:sp>
        <p:nvSpPr>
          <p:cNvPr id="11" name="Text 9"/>
          <p:cNvSpPr/>
          <p:nvPr/>
        </p:nvSpPr>
        <p:spPr>
          <a:xfrm>
            <a:off x="4517136"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More existing and potential locations per client → a wider radius → the optimiser can consolidate further without stranding anyone → S2 reaches the baseline travel cost with fewer facilities.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gain is concentrated exactly where the lists rank improvement potential: the areas with the most one-option clients.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Keep the EXISTING-side radius at 5 for the baseline, so ★ stays comparable with earlier decks; widen the CANDIDATE side only.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Cost: a wider radius enlarges the full OD (build time, memory) and the exact solve on small areas.</a:t>
            </a:r>
            <a:endParaRPr lang="en-US" sz="940" dirty="0"/>
          </a:p>
        </p:txBody>
      </p:sp>
      <p:sp>
        <p:nvSpPr>
          <p:cNvPr id="12" name="Text 10"/>
          <p:cNvSpPr/>
          <p:nvPr/>
        </p:nvSpPr>
        <p:spPr>
          <a:xfrm>
            <a:off x="4517136" y="4773168"/>
            <a:ext cx="3346704" cy="548640"/>
          </a:xfrm>
          <a:prstGeom prst="rect">
            <a:avLst/>
          </a:prstGeom>
          <a:noFill/>
          <a:ln/>
        </p:spPr>
        <p:txBody>
          <a:bodyPr wrap="square" rtlCol="0" anchor="t"/>
          <a:lstStyle/>
          <a:p>
            <a:pPr marL="0" indent="0">
              <a:buNone/>
            </a:pPr>
            <a:r>
              <a:rPr lang="en-US" sz="920" b="1" dirty="0">
                <a:solidFill>
                  <a:srgbClr val="1E7A52"/>
                </a:solidFill>
                <a:latin typeface="Calibri" pitchFamily="34" charset="0"/>
                <a:ea typeface="Calibri" pitchFamily="34" charset="-122"/>
                <a:cs typeface="Calibri" pitchFamily="34" charset="-120"/>
              </a:rPr>
              <a:t>A cheap experiment: one area, radius 5 → 10, compare S2 facility count and stranding.</a:t>
            </a:r>
            <a:endParaRPr lang="en-US" sz="920" dirty="0"/>
          </a:p>
        </p:txBody>
      </p:sp>
      <p:sp>
        <p:nvSpPr>
          <p:cNvPr id="13" name="Shape 11"/>
          <p:cNvSpPr/>
          <p:nvPr/>
        </p:nvSpPr>
        <p:spPr>
          <a:xfrm>
            <a:off x="8266176" y="1444752"/>
            <a:ext cx="3749040" cy="3931920"/>
          </a:xfrm>
          <a:prstGeom prst="roundRect">
            <a:avLst>
              <a:gd name="adj" fmla="val 1220"/>
            </a:avLst>
          </a:prstGeom>
          <a:solidFill>
            <a:srgbClr val="EEF5FA"/>
          </a:solidFill>
          <a:ln w="12700">
            <a:solidFill>
              <a:srgbClr val="0B6E99"/>
            </a:solidFill>
            <a:prstDash val="solid"/>
          </a:ln>
        </p:spPr>
        <p:txBody>
          <a:bodyPr/>
          <a:lstStyle/>
          <a:p>
            <a:endParaRPr lang="en-GB"/>
          </a:p>
        </p:txBody>
      </p:sp>
      <p:sp>
        <p:nvSpPr>
          <p:cNvPr id="14" name="Text 12"/>
          <p:cNvSpPr/>
          <p:nvPr/>
        </p:nvSpPr>
        <p:spPr>
          <a:xfrm>
            <a:off x="8449056" y="1517904"/>
            <a:ext cx="338328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Why RSSV requires it</a:t>
            </a:r>
            <a:endParaRPr lang="en-US" sz="1300" dirty="0"/>
          </a:p>
        </p:txBody>
      </p:sp>
      <p:sp>
        <p:nvSpPr>
          <p:cNvPr id="15" name="Text 13"/>
          <p:cNvSpPr/>
          <p:nvPr/>
        </p:nvSpPr>
        <p:spPr>
          <a:xfrm>
            <a:off x="8467344" y="1847088"/>
            <a:ext cx="3346704" cy="2880360"/>
          </a:xfrm>
          <a:prstGeom prst="rect">
            <a:avLst/>
          </a:prstGeom>
          <a:noFill/>
          <a:ln/>
        </p:spPr>
        <p:txBody>
          <a:bodyPr wrap="square" rtlCol="0" anchor="t"/>
          <a:lstStyle/>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RSSV solves many sub-problems on random CANDIDATE subsets Jᵤ with the FULL client set. Every client must still reach some sampled candidate — otherwise it is stranded at BIG for that sub-problem alone, and those spurious penalties corrupt the spatial votes.</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The chance that a random Jᵤ leaves a client with no reachable candidate falls as the radius widens. A thin radius makes voting noisy; a wide one makes it robust.</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So the two size-control knobs trade against each other: under RSSV, size control moves from pruning per client to sample → vote → filter → exact solve. Widening the radius is the precondition, not a nicety.</a:t>
            </a:r>
            <a:endParaRPr lang="en-US" sz="940" dirty="0"/>
          </a:p>
          <a:p>
            <a:pPr marL="152400" indent="-152400">
              <a:lnSpc>
                <a:spcPct val="100000"/>
              </a:lnSpc>
              <a:spcAft>
                <a:spcPts val="500"/>
              </a:spcAft>
              <a:buSzPct val="100000"/>
              <a:buChar char="•"/>
            </a:pPr>
            <a:r>
              <a:rPr lang="en-US" sz="940" dirty="0">
                <a:solidFill>
                  <a:srgbClr val="12233A"/>
                </a:solidFill>
                <a:latin typeface="Calibri" pitchFamily="34" charset="0"/>
                <a:ea typeface="Calibri" pitchFamily="34" charset="-122"/>
                <a:cs typeface="Calibri" pitchFamily="34" charset="-120"/>
              </a:rPr>
              <a:t>Stratified (not uniform) sampling lets a narrower radius suffice — a lever to trade against OD size.</a:t>
            </a:r>
            <a:endParaRPr lang="en-US" sz="940" dirty="0"/>
          </a:p>
        </p:txBody>
      </p:sp>
      <p:sp>
        <p:nvSpPr>
          <p:cNvPr id="16" name="Text 14"/>
          <p:cNvSpPr/>
          <p:nvPr/>
        </p:nvSpPr>
        <p:spPr>
          <a:xfrm>
            <a:off x="8467344" y="4773168"/>
            <a:ext cx="3346704" cy="548640"/>
          </a:xfrm>
          <a:prstGeom prst="rect">
            <a:avLst/>
          </a:prstGeom>
          <a:noFill/>
          <a:ln/>
        </p:spPr>
        <p:txBody>
          <a:bodyPr wrap="square" rtlCol="0" anchor="t"/>
          <a:lstStyle/>
          <a:p>
            <a:pPr marL="0" indent="0">
              <a:buNone/>
            </a:pPr>
            <a:r>
              <a:rPr lang="en-US" sz="920" b="1" dirty="0">
                <a:solidFill>
                  <a:srgbClr val="0B6E99"/>
                </a:solidFill>
                <a:latin typeface="Calibri" pitchFamily="34" charset="0"/>
                <a:ea typeface="Calibri" pitchFamily="34" charset="-122"/>
                <a:cs typeface="Calibri" pitchFamily="34" charset="-120"/>
              </a:rPr>
              <a:t>Sequence: widen the candidate radius → RSSV → exact MIP on the reduced set.</a:t>
            </a:r>
            <a:endParaRPr lang="en-US" sz="920" dirty="0"/>
          </a:p>
        </p:txBody>
      </p:sp>
      <p:sp>
        <p:nvSpPr>
          <p:cNvPr id="17" name="Shape 15"/>
          <p:cNvSpPr/>
          <p:nvPr/>
        </p:nvSpPr>
        <p:spPr>
          <a:xfrm>
            <a:off x="365760" y="5532120"/>
            <a:ext cx="11658600" cy="566928"/>
          </a:xfrm>
          <a:prstGeom prst="roundRect">
            <a:avLst>
              <a:gd name="adj" fmla="val 8065"/>
            </a:avLst>
          </a:prstGeom>
          <a:solidFill>
            <a:srgbClr val="F2F5F8"/>
          </a:solidFill>
          <a:ln w="12700">
            <a:solidFill>
              <a:srgbClr val="5B6B7B"/>
            </a:solidFill>
            <a:prstDash val="solid"/>
          </a:ln>
        </p:spPr>
        <p:txBody>
          <a:bodyPr/>
          <a:lstStyle/>
          <a:p>
            <a:endParaRPr lang="en-GB"/>
          </a:p>
        </p:txBody>
      </p:sp>
      <p:sp>
        <p:nvSpPr>
          <p:cNvPr id="18" name="Text 16"/>
          <p:cNvSpPr/>
          <p:nvPr/>
        </p:nvSpPr>
        <p:spPr>
          <a:xfrm>
            <a:off x="548640" y="5596128"/>
            <a:ext cx="11338560" cy="475488"/>
          </a:xfrm>
          <a:prstGeom prst="rect">
            <a:avLst/>
          </a:prstGeom>
          <a:noFill/>
          <a:ln/>
        </p:spPr>
        <p:txBody>
          <a:bodyPr wrap="square" rtlCol="0" anchor="t"/>
          <a:lstStyle/>
          <a:p>
            <a:pPr marL="0" indent="0">
              <a:buNone/>
            </a:pPr>
            <a:r>
              <a:rPr lang="en-US" sz="880" b="1" dirty="0">
                <a:solidFill>
                  <a:srgbClr val="B9791C"/>
                </a:solidFill>
                <a:latin typeface="Calibri" pitchFamily="34" charset="0"/>
                <a:ea typeface="Calibri" pitchFamily="34" charset="-122"/>
                <a:cs typeface="Calibri" pitchFamily="34" charset="-120"/>
              </a:rPr>
              <a:t>Also found: </a:t>
            </a:r>
            <a:r>
              <a:rPr lang="en-US" sz="880" dirty="0">
                <a:solidFill>
                  <a:srgbClr val="12233A"/>
                </a:solidFill>
                <a:latin typeface="Calibri" pitchFamily="34" charset="0"/>
                <a:ea typeface="Calibri" pitchFamily="34" charset="-122"/>
                <a:cs typeface="Calibri" pitchFamily="34" charset="-120"/>
              </a:rPr>
              <a:t>S1 and S2 are read off the nearest swept λ grid point. In 5 of 42 areas (FRC, FRH, FRJ, FRK, SE2) both scenarios snap to the SAME point — SE2’s S1 bracket (0.2, 0.5) and S2 bracket (0.5, 1.0) both resolve to w = 0.5, so its delivered S1 has 309 open, not the baseline 452. The interpolated tables on p60–61 are unaffected; the exported S1/S2 location files and the exact-MIP step are where this needs a refinement step rather than a snap.</a:t>
            </a:r>
            <a:endParaRPr lang="en-US" sz="880" dirty="0"/>
          </a:p>
        </p:txBody>
      </p:sp>
    </p:spTree>
    <p:extLst>
      <p:ext uri="{BB962C8B-B14F-4D97-AF65-F5344CB8AC3E}">
        <p14:creationId xmlns:p14="http://schemas.microsoft.com/office/powerpoint/2010/main" val="597500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METHOD</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one λ picks one point  </a:t>
            </a:r>
            <a:r>
              <a:rPr lang="en-US" sz="2200" dirty="0">
                <a:solidFill>
                  <a:srgbClr val="1C3D5A"/>
                </a:solidFill>
                <a:latin typeface="Georgia" pitchFamily="34" charset="0"/>
                <a:ea typeface="Georgia" pitchFamily="34" charset="-122"/>
                <a:cs typeface="Georgia" pitchFamily="34" charset="-120"/>
              </a:rPr>
              <a:t>— and how a sweep over λ traces the frontier</a:t>
            </a:r>
            <a:endParaRPr lang="en-US" sz="2200" dirty="0"/>
          </a:p>
        </p:txBody>
      </p:sp>
      <p:sp>
        <p:nvSpPr>
          <p:cNvPr id="4" name="Text 2"/>
          <p:cNvSpPr/>
          <p:nvPr/>
        </p:nvSpPr>
        <p:spPr>
          <a:xfrm>
            <a:off x="411480" y="914400"/>
            <a:ext cx="11430000" cy="384048"/>
          </a:xfrm>
          <a:prstGeom prst="rect">
            <a:avLst/>
          </a:prstGeom>
          <a:noFill/>
          <a:ln/>
        </p:spPr>
        <p:txBody>
          <a:bodyPr wrap="square" rtlCol="0" anchor="t"/>
          <a:lstStyle/>
          <a:p>
            <a:pPr marL="0" indent="0">
              <a:buNone/>
            </a:pPr>
            <a:r>
              <a:rPr lang="en-US" sz="1000" dirty="0">
                <a:solidFill>
                  <a:srgbClr val="5B6B7B"/>
                </a:solidFill>
                <a:latin typeface="Calibri" pitchFamily="34" charset="0"/>
                <a:ea typeface="Calibri" pitchFamily="34" charset="-122"/>
                <a:cs typeface="Calibri" pitchFamily="34" charset="-120"/>
              </a:rPr>
              <a:t>The sweep never fixes a value of λ. Each λ is one slope; the solver returns the point of the feasible set where a line of that slope touches. Netherlands, LINEAR c(t) = t, multistart-rounded solutions; the ★ is today’s network.</a:t>
            </a:r>
            <a:endParaRPr lang="en-US" sz="1000" dirty="0"/>
          </a:p>
        </p:txBody>
      </p:sp>
      <p:pic>
        <p:nvPicPr>
          <p:cNvPr id="5" name="Image 0" descr="E:\prj\JRC\NetworkModel_EU\doc\charts\lambda_tangent.png"/>
          <p:cNvPicPr>
            <a:picLocks noChangeAspect="1"/>
          </p:cNvPicPr>
          <p:nvPr/>
        </p:nvPicPr>
        <p:blipFill>
          <a:blip r:embed="rId3"/>
          <a:stretch>
            <a:fillRect/>
          </a:stretch>
        </p:blipFill>
        <p:spPr>
          <a:xfrm>
            <a:off x="320040" y="1371600"/>
            <a:ext cx="7406640" cy="4507992"/>
          </a:xfrm>
          <a:prstGeom prst="rect">
            <a:avLst/>
          </a:prstGeom>
        </p:spPr>
      </p:pic>
      <p:sp>
        <p:nvSpPr>
          <p:cNvPr id="6" name="Shape 3"/>
          <p:cNvSpPr/>
          <p:nvPr/>
        </p:nvSpPr>
        <p:spPr>
          <a:xfrm>
            <a:off x="7909560" y="1371600"/>
            <a:ext cx="4069080" cy="1097280"/>
          </a:xfrm>
          <a:prstGeom prst="roundRect">
            <a:avLst>
              <a:gd name="adj" fmla="val 4167"/>
            </a:avLst>
          </a:prstGeom>
          <a:solidFill>
            <a:srgbClr val="F2F5F8"/>
          </a:solidFill>
          <a:ln w="12700">
            <a:solidFill>
              <a:srgbClr val="5B6B7B"/>
            </a:solidFill>
            <a:prstDash val="solid"/>
          </a:ln>
        </p:spPr>
        <p:txBody>
          <a:bodyPr/>
          <a:lstStyle/>
          <a:p>
            <a:endParaRPr lang="en-GB"/>
          </a:p>
        </p:txBody>
      </p:sp>
      <p:sp>
        <p:nvSpPr>
          <p:cNvPr id="7" name="Text 4"/>
          <p:cNvSpPr/>
          <p:nvPr/>
        </p:nvSpPr>
        <p:spPr>
          <a:xfrm>
            <a:off x="8074152" y="1435608"/>
            <a:ext cx="3749040" cy="256032"/>
          </a:xfrm>
          <a:prstGeom prst="rect">
            <a:avLst/>
          </a:prstGeom>
          <a:noFill/>
          <a:ln/>
        </p:spPr>
        <p:txBody>
          <a:bodyPr wrap="square" rtlCol="0" anchor="ctr"/>
          <a:lstStyle/>
          <a:p>
            <a:pPr marL="0" indent="0">
              <a:buNone/>
            </a:pPr>
            <a:r>
              <a:rPr lang="en-US" sz="1200" b="1" dirty="0">
                <a:solidFill>
                  <a:srgbClr val="5B6B7B"/>
                </a:solidFill>
                <a:latin typeface="Calibri" pitchFamily="34" charset="0"/>
                <a:ea typeface="Calibri" pitchFamily="34" charset="-122"/>
                <a:cs typeface="Calibri" pitchFamily="34" charset="-120"/>
              </a:rPr>
              <a:t>1 · The objective is a line</a:t>
            </a:r>
            <a:endParaRPr lang="en-US" sz="1200" dirty="0"/>
          </a:p>
        </p:txBody>
      </p:sp>
      <p:sp>
        <p:nvSpPr>
          <p:cNvPr id="8" name="Text 5"/>
          <p:cNvSpPr/>
          <p:nvPr/>
        </p:nvSpPr>
        <p:spPr>
          <a:xfrm>
            <a:off x="8074152" y="170078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We minimise  travel + λ · #open.  Every solution with the same objective value C lies on the line  travel = C − λ · #open:  slope −λ, and the lower the line, the cheaper the solution.</a:t>
            </a:r>
            <a:endParaRPr lang="en-US" sz="930" dirty="0"/>
          </a:p>
        </p:txBody>
      </p:sp>
      <p:sp>
        <p:nvSpPr>
          <p:cNvPr id="9" name="Shape 6"/>
          <p:cNvSpPr/>
          <p:nvPr/>
        </p:nvSpPr>
        <p:spPr>
          <a:xfrm>
            <a:off x="7909560" y="2560320"/>
            <a:ext cx="4069080" cy="1325880"/>
          </a:xfrm>
          <a:prstGeom prst="roundRect">
            <a:avLst>
              <a:gd name="adj" fmla="val 3448"/>
            </a:avLst>
          </a:prstGeom>
          <a:solidFill>
            <a:srgbClr val="EEF5FA"/>
          </a:solidFill>
          <a:ln w="12700">
            <a:solidFill>
              <a:srgbClr val="0B6E99"/>
            </a:solidFill>
            <a:prstDash val="solid"/>
          </a:ln>
        </p:spPr>
        <p:txBody>
          <a:bodyPr/>
          <a:lstStyle/>
          <a:p>
            <a:endParaRPr lang="en-GB"/>
          </a:p>
        </p:txBody>
      </p:sp>
      <p:sp>
        <p:nvSpPr>
          <p:cNvPr id="10" name="Text 7"/>
          <p:cNvSpPr/>
          <p:nvPr/>
        </p:nvSpPr>
        <p:spPr>
          <a:xfrm>
            <a:off x="8074152" y="2624328"/>
            <a:ext cx="3749040" cy="256032"/>
          </a:xfrm>
          <a:prstGeom prst="rect">
            <a:avLst/>
          </a:prstGeom>
          <a:noFill/>
          <a:ln/>
        </p:spPr>
        <p:txBody>
          <a:bodyPr wrap="square" rtlCol="0" anchor="ctr"/>
          <a:lstStyle/>
          <a:p>
            <a:pPr marL="0" indent="0">
              <a:buNone/>
            </a:pPr>
            <a:r>
              <a:rPr lang="en-US" sz="1200" b="1" dirty="0">
                <a:solidFill>
                  <a:srgbClr val="0B6E99"/>
                </a:solidFill>
                <a:latin typeface="Calibri" pitchFamily="34" charset="0"/>
                <a:ea typeface="Calibri" pitchFamily="34" charset="-122"/>
                <a:cs typeface="Calibri" pitchFamily="34" charset="-120"/>
              </a:rPr>
              <a:t>2 · The optimum is a tangency</a:t>
            </a:r>
            <a:endParaRPr lang="en-US" sz="1200" dirty="0"/>
          </a:p>
        </p:txBody>
      </p:sp>
      <p:sp>
        <p:nvSpPr>
          <p:cNvPr id="11" name="Text 8"/>
          <p:cNvSpPr/>
          <p:nvPr/>
        </p:nvSpPr>
        <p:spPr>
          <a:xfrm>
            <a:off x="8074152" y="2889504"/>
            <a:ext cx="3767328" cy="9418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Slide the line down until it last touches the feasible set. That touching point is the λ-optimum. λ₁ = €10,000 per facility touches at 3,220 open (22.6 M person-minutes); λ₂ = €50,000 touches at 831 open (74.7 M). A steeper slope buys fewer, busier pharmacies.</a:t>
            </a:r>
            <a:endParaRPr lang="en-US" sz="930" dirty="0"/>
          </a:p>
        </p:txBody>
      </p:sp>
      <p:sp>
        <p:nvSpPr>
          <p:cNvPr id="12" name="Shape 9"/>
          <p:cNvSpPr/>
          <p:nvPr/>
        </p:nvSpPr>
        <p:spPr>
          <a:xfrm>
            <a:off x="7909560" y="3977640"/>
            <a:ext cx="4069080" cy="1097280"/>
          </a:xfrm>
          <a:prstGeom prst="roundRect">
            <a:avLst>
              <a:gd name="adj" fmla="val 4167"/>
            </a:avLst>
          </a:prstGeom>
          <a:solidFill>
            <a:srgbClr val="F0F6F2"/>
          </a:solidFill>
          <a:ln w="12700">
            <a:solidFill>
              <a:srgbClr val="1E7A52"/>
            </a:solidFill>
            <a:prstDash val="solid"/>
          </a:ln>
        </p:spPr>
        <p:txBody>
          <a:bodyPr/>
          <a:lstStyle/>
          <a:p>
            <a:endParaRPr lang="en-GB"/>
          </a:p>
        </p:txBody>
      </p:sp>
      <p:sp>
        <p:nvSpPr>
          <p:cNvPr id="13" name="Text 10"/>
          <p:cNvSpPr/>
          <p:nvPr/>
        </p:nvSpPr>
        <p:spPr>
          <a:xfrm>
            <a:off x="8074152" y="4041648"/>
            <a:ext cx="3749040" cy="256032"/>
          </a:xfrm>
          <a:prstGeom prst="rect">
            <a:avLst/>
          </a:prstGeom>
          <a:noFill/>
          <a:ln/>
        </p:spPr>
        <p:txBody>
          <a:bodyPr wrap="square" rtlCol="0" anchor="ctr"/>
          <a:lstStyle/>
          <a:p>
            <a:pPr marL="0" indent="0">
              <a:buNone/>
            </a:pPr>
            <a:r>
              <a:rPr lang="en-US" sz="1200" b="1" dirty="0">
                <a:solidFill>
                  <a:srgbClr val="1E7A52"/>
                </a:solidFill>
                <a:latin typeface="Calibri" pitchFamily="34" charset="0"/>
                <a:ea typeface="Calibri" pitchFamily="34" charset="-122"/>
                <a:cs typeface="Calibri" pitchFamily="34" charset="-120"/>
              </a:rPr>
              <a:t>3 · Many λ → the frontier</a:t>
            </a:r>
            <a:endParaRPr lang="en-US" sz="1200" dirty="0"/>
          </a:p>
        </p:txBody>
      </p:sp>
      <p:sp>
        <p:nvSpPr>
          <p:cNvPr id="14" name="Text 11"/>
          <p:cNvSpPr/>
          <p:nvPr/>
        </p:nvSpPr>
        <p:spPr>
          <a:xfrm>
            <a:off x="8074152" y="4306824"/>
            <a:ext cx="3767328" cy="7132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Two λ give two tangencies; the 1-2-5 grid gives ~30. Their lower-left envelope is the Pareto frontier of the next slides. The frontier itself needs no λ — λ only says which point on it a decision-maker would pick.</a:t>
            </a:r>
            <a:endParaRPr lang="en-US" sz="930" dirty="0"/>
          </a:p>
        </p:txBody>
      </p:sp>
      <p:sp>
        <p:nvSpPr>
          <p:cNvPr id="15" name="Shape 12"/>
          <p:cNvSpPr/>
          <p:nvPr/>
        </p:nvSpPr>
        <p:spPr>
          <a:xfrm>
            <a:off x="7909560" y="5166360"/>
            <a:ext cx="4069080" cy="868680"/>
          </a:xfrm>
          <a:prstGeom prst="roundRect">
            <a:avLst>
              <a:gd name="adj" fmla="val 5263"/>
            </a:avLst>
          </a:prstGeom>
          <a:solidFill>
            <a:srgbClr val="FBF5EA"/>
          </a:solidFill>
          <a:ln w="12700">
            <a:solidFill>
              <a:srgbClr val="B9791C"/>
            </a:solidFill>
            <a:prstDash val="solid"/>
          </a:ln>
        </p:spPr>
        <p:txBody>
          <a:bodyPr/>
          <a:lstStyle/>
          <a:p>
            <a:endParaRPr lang="en-GB"/>
          </a:p>
        </p:txBody>
      </p:sp>
      <p:sp>
        <p:nvSpPr>
          <p:cNvPr id="16" name="Text 13"/>
          <p:cNvSpPr/>
          <p:nvPr/>
        </p:nvSpPr>
        <p:spPr>
          <a:xfrm>
            <a:off x="8074152" y="5230368"/>
            <a:ext cx="3749040" cy="256032"/>
          </a:xfrm>
          <a:prstGeom prst="rect">
            <a:avLst/>
          </a:prstGeom>
          <a:noFill/>
          <a:ln/>
        </p:spPr>
        <p:txBody>
          <a:bodyPr wrap="square" rtlCol="0" anchor="ctr"/>
          <a:lstStyle/>
          <a:p>
            <a:pPr marL="0" indent="0">
              <a:buNone/>
            </a:pPr>
            <a:r>
              <a:rPr lang="en-US" sz="1200" b="1" dirty="0">
                <a:solidFill>
                  <a:srgbClr val="B9791C"/>
                </a:solidFill>
                <a:latin typeface="Calibri" pitchFamily="34" charset="0"/>
                <a:ea typeface="Calibri" pitchFamily="34" charset="-122"/>
                <a:cs typeface="Calibri" pitchFamily="34" charset="-120"/>
              </a:rPr>
              <a:t>What a tangency cannot reach</a:t>
            </a:r>
            <a:endParaRPr lang="en-US" sz="1200" dirty="0"/>
          </a:p>
        </p:txBody>
      </p:sp>
      <p:sp>
        <p:nvSpPr>
          <p:cNvPr id="17" name="Text 14"/>
          <p:cNvSpPr/>
          <p:nvPr/>
        </p:nvSpPr>
        <p:spPr>
          <a:xfrm>
            <a:off x="8074152" y="5495544"/>
            <a:ext cx="3767328" cy="484632"/>
          </a:xfrm>
          <a:prstGeom prst="rect">
            <a:avLst/>
          </a:prstGeom>
          <a:noFill/>
          <a:ln/>
        </p:spPr>
        <p:txBody>
          <a:bodyPr wrap="square" rtlCol="0" anchor="t"/>
          <a:lstStyle/>
          <a:p>
            <a:pPr marL="0" indent="0">
              <a:buNone/>
            </a:pPr>
            <a:r>
              <a:rPr lang="en-US" sz="930" dirty="0">
                <a:solidFill>
                  <a:srgbClr val="12233A"/>
                </a:solidFill>
                <a:latin typeface="Calibri" pitchFamily="34" charset="0"/>
                <a:ea typeface="Calibri" pitchFamily="34" charset="-122"/>
                <a:cs typeface="Calibri" pitchFamily="34" charset="-120"/>
              </a:rPr>
              <a:t>A point in a concave dent of the frontier is never a tangency, whatever λ. Such points — and an exact count such as “today’s 1,615” — need a fixed-#open solve, which is the refinement step S1/S2 still lack (p9).</a:t>
            </a:r>
            <a:endParaRPr lang="en-US" sz="930" dirty="0"/>
          </a:p>
        </p:txBody>
      </p:sp>
    </p:spTree>
    <p:extLst>
      <p:ext uri="{BB962C8B-B14F-4D97-AF65-F5344CB8AC3E}">
        <p14:creationId xmlns:p14="http://schemas.microsoft.com/office/powerpoint/2010/main" val="3965737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90672"/>
          </a:xfrm>
          <a:prstGeom prst="rect">
            <a:avLst/>
          </a:prstGeom>
          <a:noFill/>
          <a:ln/>
        </p:spPr>
        <p:txBody>
          <a:bodyPr wrap="square" rtlCol="0" anchor="t"/>
          <a:lstStyle/>
          <a:p>
            <a:pPr marL="0" indent="0">
              <a:lnSpc>
                <a:spcPct val="100000"/>
              </a:lnSpc>
              <a:buNone/>
            </a:pPr>
            <a:r>
              <a:rPr lang="en-US" sz="96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960" dirty="0"/>
          </a:p>
          <a:p>
            <a:pPr marL="0" indent="0">
              <a:lnSpc>
                <a:spcPct val="100000"/>
              </a:lnSpc>
              <a:buNone/>
            </a:pPr>
            <a:endParaRPr lang="en-US" sz="960" dirty="0"/>
          </a:p>
          <a:p>
            <a:pPr marL="0" indent="0" algn="ctr">
              <a:lnSpc>
                <a:spcPct val="100000"/>
              </a:lnSpc>
              <a:buNone/>
            </a:pPr>
            <a:r>
              <a:rPr lang="en-US" sz="960" b="1" dirty="0">
                <a:solidFill>
                  <a:srgbClr val="1E7A52"/>
                </a:solidFill>
                <a:latin typeface="Calibri" pitchFamily="34" charset="0"/>
                <a:ea typeface="Calibri" pitchFamily="34" charset="-122"/>
                <a:cs typeface="Calibri" pitchFamily="34" charset="-120"/>
              </a:rPr>
              <a:t>LP relax  ≤  integer optimum  ≤  multistart</a:t>
            </a:r>
            <a:endParaRPr lang="en-US" sz="960" dirty="0"/>
          </a:p>
          <a:p>
            <a:pPr marL="0" indent="0">
              <a:lnSpc>
                <a:spcPct val="100000"/>
              </a:lnSpc>
              <a:buNone/>
            </a:pPr>
            <a:endParaRPr lang="en-US" sz="960" dirty="0"/>
          </a:p>
          <a:p>
            <a:pPr marL="0" indent="0">
              <a:lnSpc>
                <a:spcPct val="100000"/>
              </a:lnSpc>
              <a:buNone/>
            </a:pPr>
            <a:r>
              <a:rPr lang="en-US" sz="96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960" dirty="0"/>
          </a:p>
          <a:p>
            <a:pPr marL="0" indent="0">
              <a:lnSpc>
                <a:spcPct val="100000"/>
              </a:lnSpc>
              <a:buNone/>
            </a:pPr>
            <a:endParaRPr lang="en-US" sz="960" dirty="0"/>
          </a:p>
          <a:p>
            <a:pPr marL="0" indent="0">
              <a:lnSpc>
                <a:spcPct val="100000"/>
              </a:lnSpc>
              <a:buNone/>
            </a:pPr>
            <a:r>
              <a:rPr lang="en-US" sz="960" i="1" dirty="0">
                <a:solidFill>
                  <a:srgbClr val="12233A"/>
                </a:solidFill>
                <a:latin typeface="Calibri" pitchFamily="34" charset="0"/>
                <a:ea typeface="Calibri" pitchFamily="34" charset="-122"/>
                <a:cs typeface="Calibri" pitchFamily="34" charset="-120"/>
              </a:rPr>
              <a:t>The multi-vs-relax column in the end tables is therefore a certified optimality gap on TOTAL cost: the integer optimum lies inside it. </a:t>
            </a:r>
            <a:r>
              <a:rPr lang="en-US" sz="960" i="1" dirty="0">
                <a:solidFill>
                  <a:srgbClr val="5B6B7B"/>
                </a:solidFill>
                <a:latin typeface="Calibri" pitchFamily="34" charset="0"/>
                <a:ea typeface="Calibri" pitchFamily="34" charset="-122"/>
                <a:cs typeface="Calibri" pitchFamily="34" charset="-120"/>
              </a:rPr>
              <a:t>It does NOT bound travel and facility cost separately — the discrete solution may sit with higher travel and lower facility cost than the relaxation, or the reverse. For the logistic variant the bound is on the transformed cost c(t), not on minutes; mean_t is reported alongside and carries no bound. In practice the two bounds are now nearly a line for most areas.</a:t>
            </a:r>
            <a:endParaRPr lang="en-US" sz="96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3280797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2241581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180405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4691809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74592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403615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110939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58476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37771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40704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7909613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46540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2517333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66801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341707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050838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006070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957891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03114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13503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56426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881211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06223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148317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967661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26332493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8251032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293340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250846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6267454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07716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66626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096166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629788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922185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6390481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9373733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0082204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8673058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0398641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4424321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4587850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89435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94412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715688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566928" y="1371600"/>
            <a:ext cx="4745736" cy="2788920"/>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6309360" y="1371600"/>
            <a:ext cx="4745736" cy="2788920"/>
          </a:xfrm>
          <a:prstGeom prst="rect">
            <a:avLst/>
          </a:prstGeom>
        </p:spPr>
      </p:pic>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14884">
                <a:tc>
                  <a:txBody>
                    <a:bodyPr/>
                    <a:lstStyle/>
                    <a:p>
                      <a:pPr marL="0" indent="0" algn="l">
                        <a:buNone/>
                      </a:pP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point</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w</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n_open</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facilities</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multi vs relax</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Δ travel (multi)</a:t>
                      </a:r>
                      <a:endParaRPr lang="en-US" sz="8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LINEAR</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43,357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0.227</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28,609</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0.500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15,808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-64%</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433,828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14884">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LOGISTIC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S1 (same count)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0.00130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44,416</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S2 (same travel)</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0.00282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26,673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fewest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0.0200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10,933</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14884">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most facilities swept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0.000100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191,428</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+342%</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-31%</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09360"/>
            <a:ext cx="11274552" cy="502920"/>
          </a:xfrm>
          <a:prstGeom prst="rect">
            <a:avLst/>
          </a:prstGeom>
          <a:noFill/>
          <a:ln/>
        </p:spPr>
        <p:txBody>
          <a:bodyPr wrap="square" rtlCol="0" anchor="ctr"/>
          <a:lstStyle/>
          <a:p>
            <a:pPr marL="0" indent="0">
              <a:buNone/>
            </a:pPr>
            <a:r>
              <a:rPr lang="en-US" sz="83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 The Δ columns state the aggregate S1/S2 gain in native units and need no λ; λ only prices them (placeholder €100,000 per location).</a:t>
            </a:r>
            <a:endParaRPr lang="en-US" sz="830" dirty="0"/>
          </a:p>
        </p:txBody>
      </p:sp>
    </p:spTree>
    <p:extLst>
      <p:ext uri="{BB962C8B-B14F-4D97-AF65-F5344CB8AC3E}">
        <p14:creationId xmlns:p14="http://schemas.microsoft.com/office/powerpoint/2010/main" val="23104898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PER COUNTRY</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827532">
                  <a:extLst>
                    <a:ext uri="{9D8B030D-6E8A-4147-A177-3AD203B41FA5}">
                      <a16:colId xmlns:a16="http://schemas.microsoft.com/office/drawing/2014/main" val="20006"/>
                    </a:ext>
                  </a:extLst>
                </a:gridCol>
                <a:gridCol w="827532">
                  <a:extLst>
                    <a:ext uri="{9D8B030D-6E8A-4147-A177-3AD203B41FA5}">
                      <a16:colId xmlns:a16="http://schemas.microsoft.com/office/drawing/2014/main" val="20007"/>
                    </a:ext>
                  </a:extLst>
                </a:gridCol>
                <a:gridCol w="827532">
                  <a:extLst>
                    <a:ext uri="{9D8B030D-6E8A-4147-A177-3AD203B41FA5}">
                      <a16:colId xmlns:a16="http://schemas.microsoft.com/office/drawing/2014/main" val="20008"/>
                    </a:ext>
                  </a:extLst>
                </a:gridCol>
                <a:gridCol w="827532">
                  <a:extLst>
                    <a:ext uri="{9D8B030D-6E8A-4147-A177-3AD203B41FA5}">
                      <a16:colId xmlns:a16="http://schemas.microsoft.com/office/drawing/2014/main" val="20009"/>
                    </a:ext>
                  </a:extLst>
                </a:gridCol>
              </a:tblGrid>
              <a:tr h="304800">
                <a:tc>
                  <a:txBody>
                    <a:bodyPr/>
                    <a:lstStyle/>
                    <a:p>
                      <a:pPr marL="0" indent="0" algn="l">
                        <a:buNone/>
                      </a:pPr>
                      <a:r>
                        <a:rPr lang="en-US" sz="950" b="1" dirty="0">
                          <a:solidFill>
                            <a:srgbClr val="FFFFFF"/>
                          </a:solidFill>
                          <a:latin typeface="Calibri" pitchFamily="34" charset="0"/>
                          <a:ea typeface="Calibri" pitchFamily="34" charset="-122"/>
                          <a:cs typeface="Calibri" pitchFamily="34" charset="-120"/>
                        </a:rPr>
                        <a:t>country</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today #</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travel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S1 · Δ cost · Δ mean t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S2 · Δ #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lin</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S1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λ S2 log</a:t>
                      </a:r>
                      <a:endParaRPr lang="en-US" sz="95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Netherlands</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1,615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−443 · −27.4%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−551 · −34.1%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24,532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34,329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Luxembourg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−427 k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 · −29.9%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15,945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25,641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Estonia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 M min · −22.6%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 · −32.3%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−121 · −41.4%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11,388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19,421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Latvia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−19.9%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−29.1%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 · −36.8%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8,822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Slovenia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 M min · −13.1%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 · −26.7%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 · −0.8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 · −32.4%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17,680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25,450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Lithuania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 M min · −23.5%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 · −35.1%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−14.4%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−268 · −46.0%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10,987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19,834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128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Ireland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 M min · −16.9%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 · −27.2%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 · −34.5%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14,269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21,020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Norway</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755</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 M min · −25.3%</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−326 · −43.2%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−18.0% · −1.8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−359 · −47.6%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23,174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49,999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324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841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Denmark</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 M min · −14.8%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−28.6%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 · −0.9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 · −35.6%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37,082</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55,960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448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867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Austria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−20.4%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−373 · −33.0%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 · −1.0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−497 · −44.0%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18,361</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31,027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204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496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Portugal</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1,882</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−7.4 M min · −21.6%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−527 · −28.0%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−623 · −33.1%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10,473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17,033</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196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Czechia</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1,624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 M min · −19.8%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−487 · −30.0%</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 · −0.7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−587 · −36.1%</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14,550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22,885</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278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Belgium</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2,958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 M min · −14.9%</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−520 · −17.6%</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 · −0.3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−552 · −18.7%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5,666</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7,340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50</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67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Poland</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7,027</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 M min · −17.8%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−1,883 · −26.8%</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 · −0.6 min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−2,207 · −31.4%</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10,254</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15,809</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107</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40" dirty="0">
                          <a:solidFill>
                            <a:srgbClr val="5B6B7B"/>
                          </a:solidFill>
                          <a:latin typeface="Calibri" pitchFamily="34" charset="0"/>
                          <a:ea typeface="Calibri" pitchFamily="34" charset="-122"/>
                          <a:cs typeface="Calibri" pitchFamily="34" charset="-120"/>
                        </a:rPr>
                        <a:t>188</a:t>
                      </a:r>
                      <a:endParaRPr lang="en-US" sz="94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70209035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SCENARIOS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By how much: S1 and S2  </a:t>
            </a:r>
            <a:r>
              <a:rPr lang="en-US" sz="2200" dirty="0">
                <a:solidFill>
                  <a:srgbClr val="1C3D5A"/>
                </a:solidFill>
                <a:latin typeface="Georgia" pitchFamily="34" charset="0"/>
                <a:ea typeface="Georgia" pitchFamily="34" charset="-122"/>
                <a:cs typeface="Georgia" pitchFamily="34" charset="-120"/>
              </a:rPr>
              <a:t>— FR / IT / SE / PL NUTS-1 regions</a:t>
            </a:r>
            <a:endParaRPr lang="en-US" sz="2200" dirty="0"/>
          </a:p>
        </p:txBody>
      </p:sp>
      <p:sp>
        <p:nvSpPr>
          <p:cNvPr id="4" name="Text 2"/>
          <p:cNvSpPr/>
          <p:nvPr/>
        </p:nvSpPr>
        <p:spPr>
          <a:xfrm>
            <a:off x="411480" y="914400"/>
            <a:ext cx="11430000" cy="274320"/>
          </a:xfrm>
          <a:prstGeom prst="rect">
            <a:avLst/>
          </a:prstGeom>
          <a:noFill/>
          <a:ln/>
        </p:spPr>
        <p:txBody>
          <a:bodyPr wrap="square" rtlCol="0" anchor="ctr"/>
          <a:lstStyle/>
          <a:p>
            <a:pPr marL="0" indent="0">
              <a:buNone/>
            </a:pPr>
            <a:r>
              <a:rPr lang="en-US" sz="1000" dirty="0">
                <a:solidFill>
                  <a:srgbClr val="5B6B7B"/>
                </a:solidFill>
                <a:latin typeface="Calibri" pitchFamily="34" charset="0"/>
                <a:ea typeface="Calibri" pitchFamily="34" charset="-122"/>
                <a:cs typeface="Calibri" pitchFamily="34" charset="-120"/>
              </a:rPr>
              <a:t>Gains in native units first — person-minutes and locations, read off the frontier and independent of any λ — then the λ at which the sweep reaches each point.</a:t>
            </a:r>
            <a:endParaRPr lang="en-US" sz="1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207008">
                  <a:extLst>
                    <a:ext uri="{9D8B030D-6E8A-4147-A177-3AD203B41FA5}">
                      <a16:colId xmlns:a16="http://schemas.microsoft.com/office/drawing/2014/main" val="20002"/>
                    </a:ext>
                  </a:extLst>
                </a:gridCol>
                <a:gridCol w="1207008">
                  <a:extLst>
                    <a:ext uri="{9D8B030D-6E8A-4147-A177-3AD203B41FA5}">
                      <a16:colId xmlns:a16="http://schemas.microsoft.com/office/drawing/2014/main" val="20003"/>
                    </a:ext>
                  </a:extLst>
                </a:gridCol>
                <a:gridCol w="1207008">
                  <a:extLst>
                    <a:ext uri="{9D8B030D-6E8A-4147-A177-3AD203B41FA5}">
                      <a16:colId xmlns:a16="http://schemas.microsoft.com/office/drawing/2014/main" val="20004"/>
                    </a:ext>
                  </a:extLst>
                </a:gridCol>
                <a:gridCol w="1207008">
                  <a:extLst>
                    <a:ext uri="{9D8B030D-6E8A-4147-A177-3AD203B41FA5}">
                      <a16:colId xmlns:a16="http://schemas.microsoft.com/office/drawing/2014/main" val="20005"/>
                    </a:ext>
                  </a:extLst>
                </a:gridCol>
                <a:gridCol w="667512">
                  <a:extLst>
                    <a:ext uri="{9D8B030D-6E8A-4147-A177-3AD203B41FA5}">
                      <a16:colId xmlns:a16="http://schemas.microsoft.com/office/drawing/2014/main" val="20006"/>
                    </a:ext>
                  </a:extLst>
                </a:gridCol>
                <a:gridCol w="667512">
                  <a:extLst>
                    <a:ext uri="{9D8B030D-6E8A-4147-A177-3AD203B41FA5}">
                      <a16:colId xmlns:a16="http://schemas.microsoft.com/office/drawing/2014/main" val="20007"/>
                    </a:ext>
                  </a:extLst>
                </a:gridCol>
                <a:gridCol w="667512">
                  <a:extLst>
                    <a:ext uri="{9D8B030D-6E8A-4147-A177-3AD203B41FA5}">
                      <a16:colId xmlns:a16="http://schemas.microsoft.com/office/drawing/2014/main" val="20008"/>
                    </a:ext>
                  </a:extLst>
                </a:gridCol>
                <a:gridCol w="667512">
                  <a:extLst>
                    <a:ext uri="{9D8B030D-6E8A-4147-A177-3AD203B41FA5}">
                      <a16:colId xmlns:a16="http://schemas.microsoft.com/office/drawing/2014/main" val="20009"/>
                    </a:ext>
                  </a:extLst>
                </a:gridCol>
              </a:tblGrid>
              <a:tr h="157655">
                <a:tc>
                  <a:txBody>
                    <a:bodyPr/>
                    <a:lstStyle/>
                    <a:p>
                      <a:pPr marL="0" indent="0" algn="l">
                        <a:buNone/>
                      </a:pPr>
                      <a:r>
                        <a:rPr lang="en-US" sz="760" b="1" dirty="0">
                          <a:solidFill>
                            <a:srgbClr val="FFFFFF"/>
                          </a:solidFill>
                          <a:latin typeface="Calibri" pitchFamily="34" charset="0"/>
                          <a:ea typeface="Calibri" pitchFamily="34" charset="-122"/>
                          <a:cs typeface="Calibri" pitchFamily="34" charset="-120"/>
                        </a:rPr>
                        <a:t>NUTS-1 region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today #</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travel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S1 · Δ cost · Δ mean t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S2 · Δ #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lin</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S1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tc>
                  <a:txBody>
                    <a:bodyPr/>
                    <a:lstStyle/>
                    <a:p>
                      <a:pPr marL="0" indent="0" algn="ctr">
                        <a:buNone/>
                      </a:pPr>
                      <a:r>
                        <a:rPr lang="en-US" sz="760" b="1" dirty="0">
                          <a:solidFill>
                            <a:srgbClr val="FFFFFF"/>
                          </a:solidFill>
                          <a:latin typeface="Calibri" pitchFamily="34" charset="0"/>
                          <a:ea typeface="Calibri" pitchFamily="34" charset="-122"/>
                          <a:cs typeface="Calibri" pitchFamily="34" charset="-120"/>
                        </a:rPr>
                        <a:t>λ S2 log</a:t>
                      </a:r>
                      <a:endParaRPr lang="en-US" sz="76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5B6B7B"/>
                    </a:solidFill>
                  </a:tcPr>
                </a:tc>
                <a:extLst>
                  <a:ext uri="{0D108BD9-81ED-4DB2-BD59-A6C34878D82A}">
                    <a16:rowId xmlns:a16="http://schemas.microsoft.com/office/drawing/2014/main" val="1000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FR1 · Île-de-France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−23.0%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 −0.2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−237 · −16.4%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11,918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16,444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FRB · Centre-Val de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 M min · −13.6%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−159 · −26.0%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FRC · Bourgogne-Franche-Comté</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−12.8%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−130 · −18.0%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−7.4%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−197 · −27.2%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13,075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FRD · Normandie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 M min · −11.9%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 · −17.6%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−175 · −25.7%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11,278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14,679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FRE · Hauts-de-France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−254 · −19.1%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 · −0.4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−308 · −23.1%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9,048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11,670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FRF · Grand 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 M min · −13.5%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−204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−6.6%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−309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14,257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FRG · Pays de la Loire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848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 M min · −13.0%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 · −17.0%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−219 · −25.9%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11,153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14,447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FRH · Bretagne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793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−2.2 M min · −15.1%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−162 · −20.4%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−212 · −26.7%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13,828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FRI · Nouvelle-Aquitaine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 M min · −8.7%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−296 · −18.7%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−447 · −28.2%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8,368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10,901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FRJ · Occitanie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−14.7%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−265 · −18.6%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−377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13,202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FRK · Auvergne-Rhône-Alpes</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−4.2 M min · −14.3%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−300 · −17.8%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−6.3%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−440 · −26.1%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13,737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FRL · Provence-Alpes-Côte d'Azur</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 M min · −21.2%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−240 · −23.4%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 · −0.5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−286 · −27.9%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9,741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14,155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FRM · Corse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−313 k min · −18.4%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−10.9% · −0.8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 −34.5%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10,336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135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259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ITC · Nord-Ovest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2,890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−15.6 M min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−1,101 · −38.1%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 · −1.0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−1,196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20,047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ITF · Sud</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1,253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−40.7 M min · −45.8%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−732 · −58.5%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−28.3% · −2.8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−783 · −62.5%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101,789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ITG · Isole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−15.0 M min · −49.1%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−474 · −53.2%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−26.1% · −2.4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−545 · −61.2%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18,626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56,207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ITH · Nord-Est</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−13.6 M min · −28.0%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−825 · −39.7%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−12.3%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−945 · −45.4%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12,529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23,350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ITI · Centro</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1,631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−15.3 M min · −31.3%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 · −41.4%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−13.8% · −1.2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−774 · −47.4%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16,279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33,187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421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SE1 · Östra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−4.8 M min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−1.1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−186 · −48.0%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27,492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44,267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299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711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SE2 · Södra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452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−6.0 M min · −18.5%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−167 · −36.9%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−1.5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−192 · −42.4%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33,567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57,265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SE3 · Norra Sverige</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−2.5 M min · −15.0%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−78 · −31.8%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−14.3% · −1.6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−87 · −35.4%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30,810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52,783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439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910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PL2 · Południowy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−5.0 M min · −20.3%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−419 · −29.1%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−462 · −32.1%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9,666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15,455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PL4 · Północno-Zachodni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1,200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−18.1%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−288 · −24.0%</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−8.3%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−404 · −33.7%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9,925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15,169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PL5 · Południowo-Zachodni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688</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−2.3 M min · −17.9%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−180 · −26.2%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−7.5%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−218 · −31.7%</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10,586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15,617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106</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189</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PL6 · Północny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1,023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−3.5 M min · −16.6%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−247 · −24.2%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−7.7%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−324 · −31.6%</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11,568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17,393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125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220</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PL7 · Centralny</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675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 M min · −15.5%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−148 · −21.9%</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−7.1%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−205 · −30.4%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10,013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14,885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188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PL8 · Wschodni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1,065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−4.0 M min · −17.3%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−282 · −26.5%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−8.6% · −0.7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−363 · −34.1%</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10,273</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16,347</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115</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211</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157655">
                <a:tc>
                  <a:txBody>
                    <a:bodyPr/>
                    <a:lstStyle/>
                    <a:p>
                      <a:pPr marL="0" indent="0" algn="l">
                        <a:buNone/>
                      </a:pPr>
                      <a:r>
                        <a:rPr lang="en-US" sz="760" dirty="0">
                          <a:solidFill>
                            <a:srgbClr val="12233A"/>
                          </a:solidFill>
                          <a:latin typeface="Calibri" pitchFamily="34" charset="0"/>
                          <a:ea typeface="Calibri" pitchFamily="34" charset="-122"/>
                          <a:cs typeface="Calibri" pitchFamily="34" charset="-120"/>
                        </a:rPr>
                        <a:t>PL9 · Mazowiecki</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933</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−3.0 M min · −17.4%</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−217 · −23.2%</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−7.0% · −0.6 min</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60" dirty="0">
                          <a:solidFill>
                            <a:srgbClr val="12233A"/>
                          </a:solidFill>
                          <a:latin typeface="Calibri" pitchFamily="34" charset="0"/>
                          <a:ea typeface="Calibri" pitchFamily="34" charset="-122"/>
                          <a:cs typeface="Calibri" pitchFamily="34" charset="-120"/>
                        </a:rPr>
                        <a:t>−284 · −30.5%</a:t>
                      </a:r>
                      <a:endParaRPr lang="en-US" sz="76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11,084</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16,582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112</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700" dirty="0">
                          <a:solidFill>
                            <a:srgbClr val="5B6B7B"/>
                          </a:solidFill>
                          <a:latin typeface="Calibri" pitchFamily="34" charset="0"/>
                          <a:ea typeface="Calibri" pitchFamily="34" charset="-122"/>
                          <a:cs typeface="Calibri" pitchFamily="34" charset="-120"/>
                        </a:rPr>
                        <a:t>198</a:t>
                      </a:r>
                      <a:endParaRPr lang="en-US" sz="70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6" name="Text 3"/>
          <p:cNvSpPr/>
          <p:nvPr/>
        </p:nvSpPr>
        <p:spPr>
          <a:xfrm>
            <a:off x="640080" y="6144768"/>
            <a:ext cx="10881360" cy="603504"/>
          </a:xfrm>
          <a:prstGeom prst="rect">
            <a:avLst/>
          </a:prstGeom>
          <a:noFill/>
          <a:ln/>
        </p:spPr>
        <p:txBody>
          <a:bodyPr wrap="square" rtlCol="0" anchor="t"/>
          <a:lstStyle/>
          <a:p>
            <a:pPr marL="0" indent="0">
              <a:buNone/>
            </a:pPr>
            <a:r>
              <a:rPr lang="en-US" sz="860" b="1" i="1" dirty="0">
                <a:solidFill>
                  <a:srgbClr val="1C3D5A"/>
                </a:solidFill>
                <a:latin typeface="Calibri" pitchFamily="34" charset="0"/>
                <a:ea typeface="Calibri" pitchFamily="34" charset="-122"/>
                <a:cs typeface="Calibri" pitchFamily="34" charset="-120"/>
              </a:rPr>
              <a:t>S1 = today's number of locations, travel minimised; S2 = today's travel, fewer locations. </a:t>
            </a:r>
            <a:r>
              <a:rPr lang="en-US" sz="860" i="1" dirty="0">
                <a:solidFill>
                  <a:srgbClr val="5B6B7B"/>
                </a:solidFill>
                <a:latin typeface="Calibri" pitchFamily="34" charset="0"/>
                <a:ea typeface="Calibri" pitchFamily="34" charset="-122"/>
                <a:cs typeface="Calibri" pitchFamily="34" charset="-120"/>
              </a:rPr>
              <a:t>Δ columns are read off the multistart frontier by interpolation between adjacent sweep points — person-minutes (linear), dimensionless logistic cost with the mean minutes beside it, and locations — and need no λ. λ = w · €100,000 is the price per location at which the sweep reaches that point; the €100,000 is a placeholder, not an estimate — the frontier, the Δs and the ranking of areas do not depend on it, only these € figures do. “—” = the target lies outside the swept λ range.</a:t>
            </a:r>
            <a:endParaRPr lang="en-US" sz="860" dirty="0"/>
          </a:p>
        </p:txBody>
      </p:sp>
    </p:spTree>
    <p:extLst>
      <p:ext uri="{BB962C8B-B14F-4D97-AF65-F5344CB8AC3E}">
        <p14:creationId xmlns:p14="http://schemas.microsoft.com/office/powerpoint/2010/main" val="19613949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6903489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remaining · not pursued</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Two method changes since the previous deck — landbody-complete networks and NUTS region exclusion — make these figures NOT comparable with earlier ones. The REGIO review (Moreno Monroy, Brons, Nöbauer) is worked in where it asked for answers and listed below where it asked for work. Status confirmed 4 Sep 2026: nothing is mid-flight, so the list is what is done and what remains, in priority order.</a:t>
            </a:r>
            <a:endParaRPr lang="en-US" sz="950" dirty="0"/>
          </a:p>
        </p:txBody>
      </p:sp>
      <p:sp>
        <p:nvSpPr>
          <p:cNvPr id="5" name="Shape 3"/>
          <p:cNvSpPr/>
          <p:nvPr/>
        </p:nvSpPr>
        <p:spPr>
          <a:xfrm>
            <a:off x="365760" y="1298448"/>
            <a:ext cx="5669280" cy="4297680"/>
          </a:xfrm>
          <a:prstGeom prst="roundRect">
            <a:avLst>
              <a:gd name="adj" fmla="val 1064"/>
            </a:avLst>
          </a:prstGeom>
          <a:solidFill>
            <a:srgbClr val="F0F6F2"/>
          </a:solidFill>
          <a:ln w="12700">
            <a:solidFill>
              <a:srgbClr val="1E7A52"/>
            </a:solidFill>
            <a:prstDash val="solid"/>
          </a:ln>
        </p:spPr>
      </p:sp>
      <p:sp>
        <p:nvSpPr>
          <p:cNvPr id="6" name="Text 4"/>
          <p:cNvSpPr/>
          <p:nvPr/>
        </p:nvSpPr>
        <p:spPr>
          <a:xfrm>
            <a:off x="530352" y="1371600"/>
            <a:ext cx="5340096"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NETWORK per landbody + REGION EXCLUSION (&gt;50% of inhabitant locations unreachable → NUTS region dropped, population AND candidates): ITG mean travel 22.3 → 4.9 min; Azores/Madeira out, Portugal baseline travel −62%. A DATA gap no longer ranks as headroom (p8)</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#locations vs travel (Option D);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S1 (same #, ↓travel) · S2 (same travel, ↓#) · S3 full frontier — S1/S2 interpolated onto the frontier, stated in NATIVE units first, € second (p60–61)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6 descriptive indicators per country and key NUTS1, catchments by ROAD travel time — ahead of the model (p3–6)</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Candidates = ≥50-pop cells ∪ pharmacy cells · clients = FULL population · adapted logit (25/10)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bracketing S1 and S2 for both functions (p59)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Improvement rectangle (raw + relative), diagonal crossing + λ, point-cloud with projections; ranked lists by policy typology, free of coverage artefacts (ITF #1 on an UNCHANGED value)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REGIO review worked in: choice set (p9), λ-tangency (p10), logistic parametrised (p64), bounds on TOTAL cost only (p12), €100,000 a placeholder everywhere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subsampling keeps EVERY baseline location, so the frontier still dominates the baseline</a:t>
            </a:r>
            <a:endParaRPr lang="en-US" sz="900" dirty="0"/>
          </a:p>
        </p:txBody>
      </p:sp>
      <p:sp>
        <p:nvSpPr>
          <p:cNvPr id="8" name="Shape 6"/>
          <p:cNvSpPr/>
          <p:nvPr/>
        </p:nvSpPr>
        <p:spPr>
          <a:xfrm>
            <a:off x="6172200" y="1298448"/>
            <a:ext cx="5669280" cy="4297680"/>
          </a:xfrm>
          <a:prstGeom prst="roundRect">
            <a:avLst>
              <a:gd name="adj" fmla="val 1064"/>
            </a:avLst>
          </a:prstGeom>
          <a:solidFill>
            <a:srgbClr val="F2F5F8"/>
          </a:solidFill>
          <a:ln w="12700">
            <a:solidFill>
              <a:srgbClr val="5B6B7B"/>
            </a:solidFill>
            <a:prstDash val="solid"/>
          </a:ln>
        </p:spPr>
      </p:sp>
      <p:sp>
        <p:nvSpPr>
          <p:cNvPr id="9" name="Text 7"/>
          <p:cNvSpPr/>
          <p:nvPr/>
        </p:nvSpPr>
        <p:spPr>
          <a:xfrm>
            <a:off x="6336792" y="1371600"/>
            <a:ext cx="5340096"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 — in priority order  (◐ = in progress)</a:t>
            </a:r>
            <a:endParaRPr lang="en-US" sz="1300" dirty="0"/>
          </a:p>
        </p:txBody>
      </p:sp>
      <p:sp>
        <p:nvSpPr>
          <p:cNvPr id="10" name="Text 8"/>
          <p:cNvSpPr/>
          <p:nvPr/>
        </p:nvSpPr>
        <p:spPr>
          <a:xfrm>
            <a:off x="6355080" y="1700784"/>
            <a:ext cx="5303520" cy="38404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 Communicate λ intuitively (person-minutes per location): the tangency slide (p10) and the native-unit S1/S2 tables (p60–61) are the first steps; the € labels stay placeholders until a is calibrated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Widen the CANDIDATE radius per client (5 → 10 nearest EXISTING), one area first — measured to bind at S2 (SE2: 10.2% of residents one closure from stranding,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 needs the wider radius first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 also replaces the nearest-grid-point snap that makes S1 = S2 in 5 areas (FRC/FRH/FRJ/FRK/SE2, p9)</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DECIDE: rescale the logistic so c(0) and c(60) match the linear (BN, 23 July) — less degeneracy, but it changes the equity weighting the logistic was chosen for (p64)</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the real pharmacy fixed cost a (schools: 99 699 + 3 277.5x) — only the € labels move, nothing else in the deck</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p:txBody>
      </p:sp>
      <p:sp>
        <p:nvSpPr>
          <p:cNvPr id="11" name="Text 9"/>
          <p:cNvSpPr/>
          <p:nvPr/>
        </p:nvSpPr>
        <p:spPr>
          <a:xfrm>
            <a:off x="411480" y="5669280"/>
            <a:ext cx="11430000" cy="411480"/>
          </a:xfrm>
          <a:prstGeom prst="rect">
            <a:avLst/>
          </a:prstGeom>
          <a:noFill/>
          <a:ln/>
        </p:spPr>
        <p:txBody>
          <a:bodyPr wrap="square" rtlCol="0" anchor="t"/>
          <a:lstStyle/>
          <a:p>
            <a:pPr marL="0" indent="0">
              <a:buNone/>
            </a:pPr>
            <a:r>
              <a:rPr lang="en-US" sz="900" b="1" dirty="0">
                <a:solidFill>
                  <a:srgbClr val="B9791C"/>
                </a:solidFill>
                <a:latin typeface="Calibri" pitchFamily="34" charset="0"/>
                <a:ea typeface="Calibri" pitchFamily="34" charset="-122"/>
                <a:cs typeface="Calibri" pitchFamily="34" charset="-120"/>
              </a:rPr>
              <a:t>Not pursued (decided 4 Sep 2026):  </a:t>
            </a:r>
            <a:r>
              <a:rPr lang="en-US" sz="900" dirty="0">
                <a:solidFill>
                  <a:srgbClr val="5B6B7B"/>
                </a:solidFill>
                <a:latin typeface="Calibri" pitchFamily="34" charset="0"/>
                <a:ea typeface="Calibri" pitchFamily="34" charset="-122"/>
                <a:cs typeface="Calibri" pitchFamily="34" charset="-120"/>
              </a:rPr>
              <a:t>the catchment-cap / min-threshold ladder (explored on the Netherlands; p15 kept as the record) · age-weighted demand · candidate cells plus their neighbours · urban/non-urban split and a settlement candidate set · flat-then-linear cost and logit-parameter sensitivity · pharmacist-based and pooled caps, catchment–travel correlation, border cases.</a:t>
            </a:r>
            <a:endParaRPr lang="en-US" sz="900" dirty="0"/>
          </a:p>
        </p:txBody>
      </p:sp>
      <p:sp>
        <p:nvSpPr>
          <p:cNvPr id="12" name="Text 10"/>
          <p:cNvSpPr/>
          <p:nvPr/>
        </p:nvSpPr>
        <p:spPr>
          <a:xfrm>
            <a:off x="411480" y="6108192"/>
            <a:ext cx="11430000" cy="45720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widen the choice set before RSSV (p9)?  ·  logistic vs linear, and BN's rescaling (p64)?  ·  territorial coverage constraints for equity, or keep soft coverage?</a:t>
            </a:r>
            <a:endParaRPr lang="en-US" sz="1000" dirty="0"/>
          </a:p>
        </p:txBody>
      </p:sp>
    </p:spTree>
    <p:extLst>
      <p:ext uri="{BB962C8B-B14F-4D97-AF65-F5344CB8AC3E}">
        <p14:creationId xmlns:p14="http://schemas.microsoft.com/office/powerpoint/2010/main" val="207315157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Shape 5"/>
          <p:cNvSpPr/>
          <p:nvPr/>
        </p:nvSpPr>
        <p:spPr>
          <a:xfrm>
            <a:off x="365760" y="5413248"/>
            <a:ext cx="11475720" cy="960120"/>
          </a:xfrm>
          <a:prstGeom prst="roundRect">
            <a:avLst>
              <a:gd name="adj" fmla="val 4762"/>
            </a:avLst>
          </a:prstGeom>
          <a:solidFill>
            <a:srgbClr val="F0F6F2"/>
          </a:solidFill>
          <a:ln w="12700">
            <a:solidFill>
              <a:srgbClr val="1E7A52"/>
            </a:solidFill>
            <a:prstDash val="solid"/>
          </a:ln>
        </p:spPr>
      </p:sp>
      <p:sp>
        <p:nvSpPr>
          <p:cNvPr id="10" name="Text 6"/>
          <p:cNvSpPr/>
          <p:nvPr/>
        </p:nvSpPr>
        <p:spPr>
          <a:xfrm>
            <a:off x="548640" y="5468112"/>
            <a:ext cx="11155680" cy="868680"/>
          </a:xfrm>
          <a:prstGeom prst="rect">
            <a:avLst/>
          </a:prstGeom>
          <a:noFill/>
          <a:ln/>
        </p:spPr>
        <p:txBody>
          <a:bodyPr wrap="square" rtlCol="0" anchor="t"/>
          <a:lstStyle/>
          <a:p>
            <a:pPr marL="0" indent="0">
              <a:lnSpc>
                <a:spcPct val="98000"/>
              </a:lnSpc>
              <a:buNone/>
            </a:pPr>
            <a:r>
              <a:rPr lang="en-US" sz="860" b="1" dirty="0">
                <a:solidFill>
                  <a:srgbClr val="1E7A52"/>
                </a:solidFill>
                <a:latin typeface="Calibri" pitchFamily="34" charset="0"/>
                <a:ea typeface="Calibri" pitchFamily="34" charset="-122"/>
                <a:cs typeface="Calibri" pitchFamily="34" charset="-120"/>
              </a:rPr>
              <a:t>Answers to the review.  </a:t>
            </a:r>
            <a:r>
              <a:rPr lang="en-US" sz="860" dirty="0">
                <a:solidFill>
                  <a:srgbClr val="12233A"/>
                </a:solidFill>
                <a:latin typeface="Calibri" pitchFamily="34" charset="0"/>
                <a:ea typeface="Calibri" pitchFamily="34" charset="-122"/>
                <a:cs typeface="Calibri" pitchFamily="34" charset="-120"/>
              </a:rPr>
              <a:t>It is a plain logistic, not a log-logistic:  c(t) = 1 / (1 + e</a:t>
            </a:r>
            <a:r>
              <a:rPr lang="en-US" sz="750" baseline="30000" dirty="0">
                <a:solidFill>
                  <a:srgbClr val="12233A"/>
                </a:solidFill>
                <a:latin typeface="Calibri" pitchFamily="34" charset="0"/>
                <a:ea typeface="Calibri" pitchFamily="34" charset="-122"/>
                <a:cs typeface="Calibri" pitchFamily="34" charset="-120"/>
              </a:rPr>
              <a:t>−(t−25)/10</a:t>
            </a:r>
            <a:r>
              <a:rPr lang="en-US" sz="860" dirty="0">
                <a:solidFill>
                  <a:srgbClr val="12233A"/>
                </a:solidFill>
                <a:latin typeface="Calibri" pitchFamily="34" charset="0"/>
                <a:ea typeface="Calibri" pitchFamily="34" charset="-122"/>
                <a:cs typeface="Calibri" pitchFamily="34" charset="-120"/>
              </a:rPr>
              <a:t>).  It does not start at zero — c(0) = 0.076 — so a relocation within a few minutes is nearly free but not free; c(60) = 0.971, c(120) ≈ 1.  </a:t>
            </a:r>
            <a:r>
              <a:rPr lang="en-US" sz="860" b="1" dirty="0">
                <a:solidFill>
                  <a:srgbClr val="12233A"/>
                </a:solidFill>
                <a:latin typeface="Calibri" pitchFamily="34" charset="0"/>
                <a:ea typeface="Calibri" pitchFamily="34" charset="-122"/>
                <a:cs typeface="Calibri" pitchFamily="34" charset="-120"/>
              </a:rPr>
              <a:t>The degeneracy: </a:t>
            </a:r>
            <a:r>
              <a:rPr lang="en-US" sz="860" dirty="0">
                <a:solidFill>
                  <a:srgbClr val="5B6B7B"/>
                </a:solidFill>
                <a:latin typeface="Calibri" pitchFamily="34" charset="0"/>
                <a:ea typeface="Calibri" pitchFamily="34" charset="-122"/>
                <a:cs typeface="Calibri" pitchFamily="34" charset="-120"/>
              </a:rPr>
              <a:t>both variants sweep the same 1-2-5/decade λ-grid (1e-4 … 5), but c(t) here spans only 0.08–1 where the linear one spans 0–120, so the travel term is ~100× smaller relative to λ·#open. The aggregate’s useful λ-range is 1e-4 … 0.02 for logistic against 1e-4 … 0.5 for linear — that compression is the degeneracy: many λ values map to one solution.  </a:t>
            </a:r>
            <a:r>
              <a:rPr lang="en-US" sz="860" b="1" dirty="0">
                <a:solidFill>
                  <a:srgbClr val="B9791C"/>
                </a:solidFill>
                <a:latin typeface="Calibri" pitchFamily="34" charset="0"/>
                <a:ea typeface="Calibri" pitchFamily="34" charset="-122"/>
                <a:cs typeface="Calibri" pitchFamily="34" charset="-120"/>
              </a:rPr>
              <a:t>Open (BN, 23 Jul): </a:t>
            </a:r>
            <a:r>
              <a:rPr lang="en-US" sz="860" dirty="0">
                <a:solidFill>
                  <a:srgbClr val="5B6B7B"/>
                </a:solidFill>
                <a:latin typeface="Calibri" pitchFamily="34" charset="0"/>
                <a:ea typeface="Calibri" pitchFamily="34" charset="-122"/>
                <a:cs typeface="Calibri" pitchFamily="34" charset="-120"/>
              </a:rPr>
              <a:t>rescale c(t) so c(0) and c(60) match the linear curve. It would spread the λ-range and reduce degeneracy, but it also changes the equity weighting the group chose the logistic for — a group decision, not a tuning.</a:t>
            </a:r>
            <a:endParaRPr lang="en-US" sz="860" dirty="0"/>
          </a:p>
        </p:txBody>
      </p:sp>
      <p:sp>
        <p:nvSpPr>
          <p:cNvPr id="11" name="Text 7"/>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 c(): logistic_midpoint=25, logistic_scale=10.</a:t>
            </a:r>
            <a:endParaRPr lang="en-US" sz="850" dirty="0"/>
          </a:p>
        </p:txBody>
      </p:sp>
    </p:spTree>
    <p:extLst>
      <p:ext uri="{BB962C8B-B14F-4D97-AF65-F5344CB8AC3E}">
        <p14:creationId xmlns:p14="http://schemas.microsoft.com/office/powerpoint/2010/main" val="35460970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AAACAA3-0457-56D6-1D77-B4298114ABF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all 41 areas: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70BA6EE6-C058-4D2D-8D12-70804DD105F9}"/>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BD9FB65B-F335-13D0-24C1-F7BAF732552E}"/>
              </a:ext>
            </a:extLst>
          </p:cNvPr>
          <p:cNvSpPr txBox="1"/>
          <p:nvPr/>
        </p:nvSpPr>
        <p:spPr>
          <a:xfrm>
            <a:off x="381000" y="5884607"/>
            <a:ext cx="11430000" cy="507831"/>
          </a:xfrm>
          <a:prstGeom prst="rect">
            <a:avLst/>
          </a:prstGeom>
          <a:noFill/>
        </p:spPr>
        <p:txBody>
          <a:bodyPr vert="horz" rtlCol="0">
            <a:spAutoFit/>
          </a:bodyPr>
          <a:lstStyle/>
          <a:p>
            <a:r>
              <a:rPr lang="en-US" sz="900" i="1">
                <a:solidFill>
                  <a:srgbClr val="5B6B7B"/>
                </a:solidFill>
                <a:latin typeface="Calibri" panose="020F0502020204030204" pitchFamily="34" charset="0"/>
              </a:rPr>
              <a:t>x = lambda, the price per location (log scale). Left axis: LP relaxation (lower bound) and multistart integer solution (upper bound) on travel cost. Right axis: the LP-relaxed count sum_y and the integer count n_open = round(sum_y); they coincide by construction - the certified gap is on TOTAL cost only (p12). Dotted = baseline: S2 is where travel crosses its baseline, S1 where the count does; the guides are interpolated crossings, labelled with their facility count, so S1 reads the same number under LINEAR and LOGISTIC. The count axis is logarithmic and shared by both panels: same height = same count.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17168962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C49D4D-2914-AA38-450D-93B99AB44208}"/>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The sweep read along lambda  -  Netherlands: travel-cost bounds (left) and facility count (right)</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AD278FE-3F1A-499D-49FF-456E13718161}"/>
              </a:ext>
            </a:extLst>
          </p:cNvPr>
          <p:cNvPicPr>
            <a:picLocks/>
          </p:cNvPicPr>
          <p:nvPr/>
        </p:nvPicPr>
        <p:blipFill>
          <a:blip r:embed="rId2"/>
          <a:stretch>
            <a:fillRect/>
          </a:stretch>
        </p:blipFill>
        <p:spPr>
          <a:xfrm>
            <a:off x="254000" y="1684593"/>
            <a:ext cx="11684000" cy="4123813"/>
          </a:xfrm>
          <a:prstGeom prst="rect">
            <a:avLst/>
          </a:prstGeom>
        </p:spPr>
      </p:pic>
      <p:sp>
        <p:nvSpPr>
          <p:cNvPr id="5" name="TextBox 4">
            <a:extLst>
              <a:ext uri="{FF2B5EF4-FFF2-40B4-BE49-F238E27FC236}">
                <a16:creationId xmlns:a16="http://schemas.microsoft.com/office/drawing/2014/main" id="{6225FEFB-433F-36C5-E9B1-81810B734B15}"/>
              </a:ext>
            </a:extLst>
          </p:cNvPr>
          <p:cNvSpPr txBox="1"/>
          <p:nvPr/>
        </p:nvSpPr>
        <p:spPr>
          <a:xfrm>
            <a:off x="381000" y="5884607"/>
            <a:ext cx="11430000" cy="369332"/>
          </a:xfrm>
          <a:prstGeom prst="rect">
            <a:avLst/>
          </a:prstGeom>
          <a:noFill/>
        </p:spPr>
        <p:txBody>
          <a:bodyPr vert="horz" rtlCol="0">
            <a:spAutoFit/>
          </a:bodyPr>
          <a:lstStyle/>
          <a:p>
            <a:r>
              <a:rPr lang="en-US" sz="900" i="1">
                <a:solidFill>
                  <a:srgbClr val="5B6B7B"/>
                </a:solidFill>
                <a:latin typeface="Calibri" panose="020F0502020204030204" pitchFamily="34" charset="0"/>
              </a:rPr>
              <a:t>Same reading as the aggregate. The count falls over two decades of lambda before the travel bounds separate; under LINEAR they open only above ~EUR 50,000 per location, beyond S2, so the S1/S2 figures sit where lower and upper bound agree. S1 is 1,615 facilities under both cost functions by construction; the deck_data scenario rows would have put the guide a whole grid step off (1,334 LINEAR, 1,788 LOGISTIC), which is the S1/S2 snap noted on p9.</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13336094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37F2D5B-E474-746D-6FCF-02640AA1A656}"/>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A57D547-ED99-62D1-4F0F-431B26E267F9}"/>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16449388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DD5854D-2B79-87A5-DEE7-18B554CE21A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BEC6915-EFB7-2147-EF84-AAE1D7B8CEC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7368288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534AA8-6A23-1787-03DD-3FA53C09509E}"/>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0945D4CD-628D-26A9-1289-3221EE1D0C31}"/>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94450934-A584-B341-44A0-B68A06FB4E0A}"/>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207245432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FAD1849-5729-1459-2BFB-FCE269961EEC}"/>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E11323AF-1A69-48F6-94D4-F7C1BC2A91AF}"/>
              </a:ext>
            </a:extLst>
          </p:cNvPr>
          <p:cNvPicPr>
            <a:picLocks/>
          </p:cNvPicPr>
          <p:nvPr/>
        </p:nvPicPr>
        <p:blipFill>
          <a:blip r:embed="rId2"/>
          <a:stretch>
            <a:fillRect/>
          </a:stretch>
        </p:blipFill>
        <p:spPr>
          <a:xfrm>
            <a:off x="3487103" y="889000"/>
            <a:ext cx="5217795" cy="5715000"/>
          </a:xfrm>
          <a:prstGeom prst="rect">
            <a:avLst/>
          </a:prstGeom>
        </p:spPr>
      </p:pic>
      <p:sp>
        <p:nvSpPr>
          <p:cNvPr id="5" name="TextBox 4">
            <a:extLst>
              <a:ext uri="{FF2B5EF4-FFF2-40B4-BE49-F238E27FC236}">
                <a16:creationId xmlns:a16="http://schemas.microsoft.com/office/drawing/2014/main" id="{772882A4-DB31-A119-AD35-DA243CE998B4}"/>
              </a:ext>
            </a:extLst>
          </p:cNvPr>
          <p:cNvSpPr txBox="1"/>
          <p:nvPr/>
        </p:nvSpPr>
        <p:spPr>
          <a:xfrm>
            <a:off x="381000" y="6578600"/>
            <a:ext cx="11430000" cy="230832"/>
          </a:xfrm>
          <a:prstGeom prst="rect">
            <a:avLst/>
          </a:prstGeom>
          <a:noFill/>
        </p:spPr>
        <p:txBody>
          <a:bodyPr vert="horz" rtlCol="0">
            <a:spAutoFit/>
          </a:bodyPr>
          <a:lstStyle/>
          <a:p>
            <a:r>
              <a:rPr lang="en-US" sz="900" i="1">
                <a:solidFill>
                  <a:srgbClr val="5B6B7B"/>
                </a:solidFill>
                <a:latin typeface="Calibri" panose="020F0502020204030204" pitchFamily="34" charset="0"/>
              </a:rPr>
              <a:t>Lambda is in EUR only through the placeholder EUR 100,000 per location (REGIO review, Brons/BN): the crossing point and this ranking do not depend on it; only the EUR axis rescales with the true fixed cost.</a:t>
            </a:r>
            <a:endParaRPr lang="en-GB" sz="900" i="1">
              <a:solidFill>
                <a:srgbClr val="5B6B7B"/>
              </a:solidFill>
              <a:latin typeface="Calibri" panose="020F0502020204030204" pitchFamily="34" charset="0"/>
            </a:endParaRPr>
          </a:p>
        </p:txBody>
      </p:sp>
    </p:spTree>
    <p:extLst>
      <p:ext uri="{BB962C8B-B14F-4D97-AF65-F5344CB8AC3E}">
        <p14:creationId xmlns:p14="http://schemas.microsoft.com/office/powerpoint/2010/main" val="401377953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B53D7A-3BC7-6CF9-60AE-AD2C75945E3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4DEFD29-228F-87D8-FDB3-DE0DC1F8585D}"/>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78752081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FC4906-7E4C-C9B7-7FBC-84C607709BE2}"/>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89379C85-4C4C-405D-A447-6B83DB0696C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594363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980BDD-1FCF-371A-5846-DFA94D45B5F4}"/>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6DB18074-EBFB-4C55-344B-CC8A1960954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0994250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0B9FE1A-B702-1601-C928-0047E847084A}"/>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A3C0803D-CCA0-5A70-5CC9-CED1C9790DF6}"/>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9191040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17184</Words>
  <Application>Microsoft Office PowerPoint</Application>
  <PresentationFormat>Widescreen</PresentationFormat>
  <Paragraphs>3662</Paragraphs>
  <Slides>74</Slides>
  <Notes>63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74</vt:i4>
      </vt:variant>
    </vt:vector>
  </HeadingPairs>
  <TitlesOfParts>
    <vt:vector size="79"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6</cp:revision>
  <dcterms:created xsi:type="dcterms:W3CDTF">2026-06-01T08:24:25Z</dcterms:created>
  <dcterms:modified xsi:type="dcterms:W3CDTF">2026-09-10T12:39:36Z</dcterms:modified>
</cp:coreProperties>
</file>