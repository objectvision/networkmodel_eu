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60" r:id="rId2"/>
    <p:sldId id="261" r:id="rId3"/>
    <p:sldId id="267" r:id="rId4"/>
    <p:sldId id="268" r:id="rId5"/>
    <p:sldId id="269" r:id="rId6"/>
    <p:sldId id="270" r:id="rId7"/>
    <p:sldId id="262" r:id="rId8"/>
    <p:sldId id="263" r:id="rId9"/>
    <p:sldId id="264" r:id="rId10"/>
    <p:sldId id="265" r:id="rId11"/>
    <p:sldId id="257" r:id="rId12"/>
    <p:sldId id="266" r:id="rId13"/>
    <p:sldId id="258" r:id="rId14"/>
    <p:sldId id="259"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1680"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0051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745745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87634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28935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838210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01048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49968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40232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81224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50284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25258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944361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47482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33311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5918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184488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72911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205670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529657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396905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682172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979093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654248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67878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426159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4064727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7144837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7734455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1052817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726778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1776614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349427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0743036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6094102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6107548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824616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7730982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8345658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41604433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7100166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6379876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6466854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4384071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2081344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2685324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6488020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8216098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7405175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039409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1132567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7190592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245577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1174492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9387478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4814394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0224626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5715118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292193740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24120085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34497692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2505806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870590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5799584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5315484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2852058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1459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5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5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5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5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5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5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6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6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92.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1417320"/>
            <a:ext cx="91440" cy="3566160"/>
          </a:xfrm>
          <a:prstGeom prst="rect">
            <a:avLst/>
          </a:prstGeom>
          <a:solidFill>
            <a:srgbClr val="0B6E99"/>
          </a:solidFill>
          <a:ln w="12700">
            <a:solidFill>
              <a:srgbClr val="333333"/>
            </a:solidFill>
            <a:prstDash val="solid"/>
          </a:ln>
        </p:spPr>
        <p:txBody>
          <a:bodyPr/>
          <a:lstStyle/>
          <a:p>
            <a:endParaRPr lang="en-GB"/>
          </a:p>
        </p:txBody>
      </p:sp>
      <p:sp>
        <p:nvSpPr>
          <p:cNvPr id="3" name="Text 1"/>
          <p:cNvSpPr/>
          <p:nvPr/>
        </p:nvSpPr>
        <p:spPr>
          <a:xfrm>
            <a:off x="914400" y="1417320"/>
            <a:ext cx="10515600" cy="292608"/>
          </a:xfrm>
          <a:prstGeom prst="rect">
            <a:avLst/>
          </a:prstGeom>
          <a:noFill/>
          <a:ln/>
        </p:spPr>
        <p:txBody>
          <a:bodyPr wrap="square" rtlCol="0" anchor="ctr"/>
          <a:lstStyle/>
          <a:p>
            <a:pPr marL="0" indent="0">
              <a:buNone/>
            </a:pPr>
            <a:r>
              <a:rPr lang="en-US" sz="1200" b="1" kern="0" spc="200" dirty="0">
                <a:solidFill>
                  <a:srgbClr val="0B6E99"/>
                </a:solidFill>
                <a:latin typeface="Calibri" pitchFamily="34" charset="0"/>
                <a:ea typeface="Calibri" pitchFamily="34" charset="-122"/>
                <a:cs typeface="Calibri" pitchFamily="34" charset="-120"/>
              </a:rPr>
              <a:t>NETWORKMODEL_EU  ·  SERVICE ACCESS  ·  PHARMACIES</a:t>
            </a:r>
            <a:endParaRPr lang="en-US" sz="1200" dirty="0"/>
          </a:p>
        </p:txBody>
      </p:sp>
      <p:sp>
        <p:nvSpPr>
          <p:cNvPr id="4" name="Text 2"/>
          <p:cNvSpPr/>
          <p:nvPr/>
        </p:nvSpPr>
        <p:spPr>
          <a:xfrm>
            <a:off x="914400" y="1783080"/>
            <a:ext cx="10515600" cy="1325880"/>
          </a:xfrm>
          <a:prstGeom prst="rect">
            <a:avLst/>
          </a:prstGeom>
          <a:noFill/>
          <a:ln/>
        </p:spPr>
        <p:txBody>
          <a:bodyPr wrap="square" rtlCol="0" anchor="t"/>
          <a:lstStyle/>
          <a:p>
            <a:pPr marL="0" indent="0">
              <a:buNone/>
            </a:pPr>
            <a:r>
              <a:rPr lang="en-US" sz="3200" b="1" dirty="0">
                <a:solidFill>
                  <a:srgbClr val="12233A"/>
                </a:solidFill>
                <a:latin typeface="Georgia" pitchFamily="34" charset="0"/>
                <a:ea typeface="Georgia" pitchFamily="34" charset="-122"/>
                <a:cs typeface="Georgia" pitchFamily="34" charset="-120"/>
              </a:rPr>
              <a:t>Pharmacy locations across EU regions: how far is today's network from the frontier?</a:t>
            </a:r>
            <a:endParaRPr lang="en-US" sz="3200" dirty="0"/>
          </a:p>
        </p:txBody>
      </p:sp>
      <p:sp>
        <p:nvSpPr>
          <p:cNvPr id="5" name="Text 3"/>
          <p:cNvSpPr/>
          <p:nvPr/>
        </p:nvSpPr>
        <p:spPr>
          <a:xfrm>
            <a:off x="914400" y="3200400"/>
            <a:ext cx="10515600" cy="868680"/>
          </a:xfrm>
          <a:prstGeom prst="rect">
            <a:avLst/>
          </a:prstGeom>
          <a:noFill/>
          <a:ln/>
        </p:spPr>
        <p:txBody>
          <a:bodyPr wrap="square" rtlCol="0" anchor="t"/>
          <a:lstStyle/>
          <a:p>
            <a:pPr marL="0" indent="0">
              <a:buNone/>
            </a:pPr>
            <a:r>
              <a:rPr lang="en-US" sz="1500" dirty="0">
                <a:solidFill>
                  <a:srgbClr val="1C3D5A"/>
                </a:solidFill>
                <a:latin typeface="Calibri" pitchFamily="34" charset="0"/>
                <a:ea typeface="Calibri" pitchFamily="34" charset="-122"/>
                <a:cs typeface="Calibri" pitchFamily="34" charset="-120"/>
              </a:rPr>
              <a:t>A λ-sweep over a facility-location LP on the road network — proximity vs efficiency: what exists today, by how much it could improve at equal cost or equal accessibility, and which of 44 study areas have the most to gain</a:t>
            </a:r>
            <a:endParaRPr lang="en-US" sz="1500" dirty="0"/>
          </a:p>
        </p:txBody>
      </p:sp>
      <p:sp>
        <p:nvSpPr>
          <p:cNvPr id="6" name="Text 4"/>
          <p:cNvSpPr/>
          <p:nvPr/>
        </p:nvSpPr>
        <p:spPr>
          <a:xfrm>
            <a:off x="914400" y="4343400"/>
            <a:ext cx="10515600" cy="685800"/>
          </a:xfrm>
          <a:prstGeom prst="rect">
            <a:avLst/>
          </a:prstGeom>
          <a:noFill/>
          <a:ln/>
        </p:spPr>
        <p:txBody>
          <a:bodyPr wrap="square" rtlCol="0" anchor="t"/>
          <a:lstStyle/>
          <a:p>
            <a:pPr marL="0" indent="0">
              <a:buNone/>
            </a:pPr>
            <a:r>
              <a:rPr lang="en-US" sz="1600" b="1" dirty="0">
                <a:solidFill>
                  <a:srgbClr val="12233A"/>
                </a:solidFill>
                <a:latin typeface="Calibri" pitchFamily="34" charset="0"/>
                <a:ea typeface="Calibri" pitchFamily="34" charset="-122"/>
                <a:cs typeface="Calibri" pitchFamily="34" charset="-120"/>
              </a:rPr>
              <a:t>Lola Dekhuijzen  ·  Maarten Hilferink</a:t>
            </a:r>
            <a:endParaRPr lang="en-US" sz="1600" dirty="0"/>
          </a:p>
          <a:p>
            <a:pPr marL="0" indent="0">
              <a:buNone/>
            </a:pPr>
            <a:r>
              <a:rPr lang="en-US" sz="1600" dirty="0">
                <a:solidFill>
                  <a:srgbClr val="5B6B7B"/>
                </a:solidFill>
                <a:latin typeface="Calibri" pitchFamily="34" charset="0"/>
                <a:ea typeface="Calibri" pitchFamily="34" charset="-122"/>
                <a:cs typeface="Calibri" pitchFamily="34" charset="-120"/>
              </a:rPr>
              <a:t>Object Vision</a:t>
            </a:r>
            <a:endParaRPr lang="en-US" sz="1600" dirty="0"/>
          </a:p>
        </p:txBody>
      </p:sp>
      <p:sp>
        <p:nvSpPr>
          <p:cNvPr id="7" name="Text 5"/>
          <p:cNvSpPr/>
          <p:nvPr/>
        </p:nvSpPr>
        <p:spPr>
          <a:xfrm>
            <a:off x="914400" y="6035040"/>
            <a:ext cx="10515600" cy="365760"/>
          </a:xfrm>
          <a:prstGeom prst="rect">
            <a:avLst/>
          </a:prstGeom>
          <a:noFill/>
          <a:ln/>
        </p:spPr>
        <p:txBody>
          <a:bodyPr wrap="square" rtlCol="0" anchor="ctr"/>
          <a:lstStyle/>
          <a:p>
            <a:pPr marL="0" indent="0">
              <a:buNone/>
            </a:pPr>
            <a:r>
              <a:rPr lang="en-US" sz="1000" i="1" dirty="0">
                <a:solidFill>
                  <a:srgbClr val="5B6B7B"/>
                </a:solidFill>
                <a:latin typeface="Calibri" pitchFamily="34" charset="0"/>
                <a:ea typeface="Calibri" pitchFamily="34" charset="-122"/>
                <a:cs typeface="Calibri" pitchFamily="34" charset="-120"/>
              </a:rPr>
              <a:t>Draft for discussion  ·  September 2026  ·  GeoDMS road-network OD + Julia (JuMP / HiGHS)  ·  NetworkModel_EU / ServiceAccess</a:t>
            </a:r>
            <a:endParaRPr lang="en-US" sz="1000" dirty="0"/>
          </a:p>
        </p:txBody>
      </p:sp>
    </p:spTree>
    <p:extLst>
      <p:ext uri="{BB962C8B-B14F-4D97-AF65-F5344CB8AC3E}">
        <p14:creationId xmlns:p14="http://schemas.microsoft.com/office/powerpoint/2010/main" val="129317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310896"/>
            <a:ext cx="8229600" cy="274320"/>
          </a:xfrm>
          <a:prstGeom prst="rect">
            <a:avLst/>
          </a:prstGeom>
          <a:noFill/>
          <a:ln/>
        </p:spPr>
        <p:txBody>
          <a:bodyPr wrap="square" rtlCol="0" anchor="ctr"/>
          <a:lstStyle/>
          <a:p>
            <a:pPr marL="0" indent="0">
              <a:buNone/>
            </a:pPr>
            <a:r>
              <a:rPr lang="en-US" sz="1200" b="1" kern="0" spc="200" dirty="0">
                <a:solidFill>
                  <a:srgbClr val="0B6E99"/>
                </a:solidFill>
              </a:rPr>
              <a:t>AGENDA</a:t>
            </a:r>
            <a:endParaRPr lang="en-US" sz="1200" dirty="0"/>
          </a:p>
        </p:txBody>
      </p:sp>
      <p:sp>
        <p:nvSpPr>
          <p:cNvPr id="3" name="Text 1"/>
          <p:cNvSpPr/>
          <p:nvPr/>
        </p:nvSpPr>
        <p:spPr>
          <a:xfrm>
            <a:off x="411480" y="566928"/>
            <a:ext cx="11430000" cy="457200"/>
          </a:xfrm>
          <a:prstGeom prst="rect">
            <a:avLst/>
          </a:prstGeom>
          <a:noFill/>
          <a:ln/>
        </p:spPr>
        <p:txBody>
          <a:bodyPr wrap="square" rtlCol="0" anchor="ctr"/>
          <a:lstStyle/>
          <a:p>
            <a:pPr marL="0" indent="0">
              <a:buNone/>
            </a:pPr>
            <a:r>
              <a:rPr lang="en-US" sz="2400" b="1" dirty="0">
                <a:solidFill>
                  <a:srgbClr val="12233A"/>
                </a:solidFill>
                <a:latin typeface="Georgia" pitchFamily="34" charset="0"/>
                <a:ea typeface="Georgia" pitchFamily="34" charset="-122"/>
                <a:cs typeface="Georgia" pitchFamily="34" charset="-120"/>
              </a:rPr>
              <a:t>Proposed agenda  </a:t>
            </a:r>
            <a:r>
              <a:rPr lang="en-US" sz="2400" dirty="0">
                <a:solidFill>
                  <a:srgbClr val="1C3D5A"/>
                </a:solidFill>
                <a:latin typeface="Georgia" pitchFamily="34" charset="0"/>
                <a:ea typeface="Georgia" pitchFamily="34" charset="-122"/>
                <a:cs typeface="Georgia" pitchFamily="34" charset="-120"/>
              </a:rPr>
              <a:t>— assessing the current pharmacy distribution</a:t>
            </a:r>
            <a:endParaRPr lang="en-US" sz="2400" dirty="0"/>
          </a:p>
        </p:txBody>
      </p:sp>
      <p:sp>
        <p:nvSpPr>
          <p:cNvPr id="4" name="Shape 2"/>
          <p:cNvSpPr/>
          <p:nvPr/>
        </p:nvSpPr>
        <p:spPr>
          <a:xfrm>
            <a:off x="457200" y="1463040"/>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5" name="Text 3"/>
          <p:cNvSpPr/>
          <p:nvPr/>
        </p:nvSpPr>
        <p:spPr>
          <a:xfrm>
            <a:off x="457200" y="146304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24128" y="1435608"/>
            <a:ext cx="10607040" cy="292608"/>
          </a:xfrm>
          <a:prstGeom prst="rect">
            <a:avLst/>
          </a:prstGeom>
          <a:noFill/>
          <a:ln/>
        </p:spPr>
        <p:txBody>
          <a:bodyPr wrap="square"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The current distribution</a:t>
            </a:r>
            <a:endParaRPr lang="en-US" sz="1500" dirty="0"/>
          </a:p>
        </p:txBody>
      </p:sp>
      <p:sp>
        <p:nvSpPr>
          <p:cNvPr id="7" name="Text 5"/>
          <p:cNvSpPr/>
          <p:nvPr/>
        </p:nvSpPr>
        <p:spPr>
          <a:xfrm>
            <a:off x="1024128" y="1728216"/>
            <a:ext cx="10698480" cy="420624"/>
          </a:xfrm>
          <a:prstGeom prst="rect">
            <a:avLst/>
          </a:prstGeom>
          <a:noFill/>
          <a:ln/>
        </p:spPr>
        <p:txBody>
          <a:bodyPr wrap="square" rtlCol="0" anchor="t"/>
          <a:lstStyle/>
          <a:p>
            <a:pPr marL="0" indent="0">
              <a:buNone/>
            </a:pPr>
            <a:r>
              <a:rPr lang="en-US" sz="1150" dirty="0">
                <a:solidFill>
                  <a:srgbClr val="5B6B7B"/>
                </a:solidFill>
                <a:latin typeface="Calibri" pitchFamily="34" charset="0"/>
                <a:ea typeface="Calibri" pitchFamily="34" charset="-122"/>
                <a:cs typeface="Calibri" pitchFamily="34" charset="-120"/>
              </a:rPr>
              <a:t>What exists today: residents per pharmacy and per 1 km² location, per country and key NUTS1, catchments by road (p3–6).</a:t>
            </a:r>
            <a:endParaRPr lang="en-US" sz="1150" dirty="0"/>
          </a:p>
        </p:txBody>
      </p:sp>
      <p:sp>
        <p:nvSpPr>
          <p:cNvPr id="8" name="Shape 6"/>
          <p:cNvSpPr/>
          <p:nvPr/>
        </p:nvSpPr>
        <p:spPr>
          <a:xfrm>
            <a:off x="457200" y="2249424"/>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9" name="Text 7"/>
          <p:cNvSpPr/>
          <p:nvPr/>
        </p:nvSpPr>
        <p:spPr>
          <a:xfrm>
            <a:off x="457200" y="2249424"/>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024128" y="2221992"/>
            <a:ext cx="10607040" cy="292608"/>
          </a:xfrm>
          <a:prstGeom prst="rect">
            <a:avLst/>
          </a:prstGeom>
          <a:noFill/>
          <a:ln/>
        </p:spPr>
        <p:txBody>
          <a:bodyPr wrap="square"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Scope &amp; method</a:t>
            </a:r>
            <a:endParaRPr lang="en-US" sz="1500" dirty="0"/>
          </a:p>
        </p:txBody>
      </p:sp>
      <p:sp>
        <p:nvSpPr>
          <p:cNvPr id="11" name="Text 9"/>
          <p:cNvSpPr/>
          <p:nvPr/>
        </p:nvSpPr>
        <p:spPr>
          <a:xfrm>
            <a:off x="1024128" y="2514600"/>
            <a:ext cx="10698480" cy="420624"/>
          </a:xfrm>
          <a:prstGeom prst="rect">
            <a:avLst/>
          </a:prstGeom>
          <a:noFill/>
          <a:ln/>
        </p:spPr>
        <p:txBody>
          <a:bodyPr wrap="square" rtlCol="0" anchor="t"/>
          <a:lstStyle/>
          <a:p>
            <a:pPr marL="0" indent="0">
              <a:buNone/>
            </a:pPr>
            <a:r>
              <a:rPr lang="en-US" sz="1150" dirty="0">
                <a:solidFill>
                  <a:srgbClr val="5B6B7B"/>
                </a:solidFill>
                <a:latin typeface="Calibri" pitchFamily="34" charset="0"/>
                <a:ea typeface="Calibri" pitchFamily="34" charset="-122"/>
                <a:cs typeface="Calibri" pitchFamily="34" charset="-120"/>
              </a:rPr>
              <a:t>By how much can accessibility improve at equal cost, or cost fall at equal accessibility? A tabula-rasa LP allocation on the road OD, swept over λ, answers that as a frontier of #locations vs travel (p7–14): proximity vs efficiency — Lewis's trilemma (travel, operating cost, demand density) with the population distribution taken as given, as his p5 does.</a:t>
            </a:r>
            <a:endParaRPr lang="en-US" sz="1150" dirty="0"/>
          </a:p>
        </p:txBody>
      </p:sp>
      <p:sp>
        <p:nvSpPr>
          <p:cNvPr id="12" name="Shape 10"/>
          <p:cNvSpPr/>
          <p:nvPr/>
        </p:nvSpPr>
        <p:spPr>
          <a:xfrm>
            <a:off x="457200" y="3035808"/>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13" name="Text 11"/>
          <p:cNvSpPr/>
          <p:nvPr/>
        </p:nvSpPr>
        <p:spPr>
          <a:xfrm>
            <a:off x="457200" y="3035808"/>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024128" y="3008376"/>
            <a:ext cx="10607040" cy="292608"/>
          </a:xfrm>
          <a:prstGeom prst="rect">
            <a:avLst/>
          </a:prstGeom>
          <a:noFill/>
          <a:ln/>
        </p:spPr>
        <p:txBody>
          <a:bodyPr wrap="square"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Scenario results</a:t>
            </a:r>
            <a:endParaRPr lang="en-US" sz="1500" dirty="0"/>
          </a:p>
        </p:txBody>
      </p:sp>
      <p:sp>
        <p:nvSpPr>
          <p:cNvPr id="15" name="Text 13"/>
          <p:cNvSpPr/>
          <p:nvPr/>
        </p:nvSpPr>
        <p:spPr>
          <a:xfrm>
            <a:off x="1024128" y="3300984"/>
            <a:ext cx="10698480" cy="420624"/>
          </a:xfrm>
          <a:prstGeom prst="rect">
            <a:avLst/>
          </a:prstGeom>
          <a:noFill/>
          <a:ln/>
        </p:spPr>
        <p:txBody>
          <a:bodyPr wrap="square" rtlCol="0" anchor="t"/>
          <a:lstStyle/>
          <a:p>
            <a:pPr marL="0" indent="0">
              <a:buNone/>
            </a:pPr>
            <a:r>
              <a:rPr lang="en-US" sz="1150" dirty="0">
                <a:solidFill>
                  <a:srgbClr val="5B6B7B"/>
                </a:solidFill>
                <a:latin typeface="Calibri" pitchFamily="34" charset="0"/>
                <a:ea typeface="Calibri" pitchFamily="34" charset="-122"/>
                <a:cs typeface="Calibri" pitchFamily="34" charset="-120"/>
              </a:rPr>
              <a:t>S1 (same #, less travel) and S2 (same travel, fewer locations) per area, quantified first in native units — locations and person-minutes, which need no λ — and only then in € (p16–63).</a:t>
            </a:r>
            <a:endParaRPr lang="en-US" sz="1150" dirty="0"/>
          </a:p>
        </p:txBody>
      </p:sp>
      <p:sp>
        <p:nvSpPr>
          <p:cNvPr id="16" name="Shape 14"/>
          <p:cNvSpPr/>
          <p:nvPr/>
        </p:nvSpPr>
        <p:spPr>
          <a:xfrm>
            <a:off x="457200" y="3822192"/>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17" name="Text 15"/>
          <p:cNvSpPr/>
          <p:nvPr/>
        </p:nvSpPr>
        <p:spPr>
          <a:xfrm>
            <a:off x="457200" y="3822192"/>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024128" y="3794760"/>
            <a:ext cx="10607040" cy="292608"/>
          </a:xfrm>
          <a:prstGeom prst="rect">
            <a:avLst/>
          </a:prstGeom>
          <a:noFill/>
          <a:ln/>
        </p:spPr>
        <p:txBody>
          <a:bodyPr wrap="square"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Travel-cost function</a:t>
            </a:r>
            <a:r>
              <a:rPr lang="en-US" sz="1100" i="1" dirty="0">
                <a:solidFill>
                  <a:srgbClr val="0B6E99"/>
                </a:solidFill>
                <a:latin typeface="Calibri" pitchFamily="34" charset="0"/>
                <a:ea typeface="Calibri" pitchFamily="34" charset="-122"/>
                <a:cs typeface="Calibri" pitchFamily="34" charset="-120"/>
              </a:rPr>
              <a:t>    ▸ for discussion / decision</a:t>
            </a:r>
            <a:endParaRPr lang="en-US" sz="1500" dirty="0"/>
          </a:p>
        </p:txBody>
      </p:sp>
      <p:sp>
        <p:nvSpPr>
          <p:cNvPr id="19" name="Text 17"/>
          <p:cNvSpPr/>
          <p:nvPr/>
        </p:nvSpPr>
        <p:spPr>
          <a:xfrm>
            <a:off x="1024128" y="4087368"/>
            <a:ext cx="10698480" cy="420624"/>
          </a:xfrm>
          <a:prstGeom prst="rect">
            <a:avLst/>
          </a:prstGeom>
          <a:noFill/>
          <a:ln/>
        </p:spPr>
        <p:txBody>
          <a:bodyPr wrap="square" rtlCol="0" anchor="t"/>
          <a:lstStyle/>
          <a:p>
            <a:pPr marL="0" indent="0">
              <a:buNone/>
            </a:pPr>
            <a:r>
              <a:rPr lang="en-US" sz="1150" dirty="0">
                <a:solidFill>
                  <a:srgbClr val="5B6B7B"/>
                </a:solidFill>
                <a:latin typeface="Calibri" pitchFamily="34" charset="0"/>
                <a:ea typeface="Calibri" pitchFamily="34" charset="-122"/>
                <a:cs typeface="Calibri" pitchFamily="34" charset="-120"/>
              </a:rPr>
              <a:t>Linear vs the logistic (midpoint 25 / scale 10), its compressed λ-range, and BN's proposal to rescale it (p66).</a:t>
            </a:r>
            <a:endParaRPr lang="en-US" sz="1150" dirty="0"/>
          </a:p>
        </p:txBody>
      </p:sp>
      <p:sp>
        <p:nvSpPr>
          <p:cNvPr id="20" name="Shape 18"/>
          <p:cNvSpPr/>
          <p:nvPr/>
        </p:nvSpPr>
        <p:spPr>
          <a:xfrm>
            <a:off x="457200" y="4608576"/>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21" name="Text 19"/>
          <p:cNvSpPr/>
          <p:nvPr/>
        </p:nvSpPr>
        <p:spPr>
          <a:xfrm>
            <a:off x="457200" y="4608576"/>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p:nvPr/>
        </p:nvSpPr>
        <p:spPr>
          <a:xfrm>
            <a:off x="1024128" y="4581144"/>
            <a:ext cx="10607040" cy="292608"/>
          </a:xfrm>
          <a:prstGeom prst="rect">
            <a:avLst/>
          </a:prstGeom>
          <a:noFill/>
          <a:ln/>
        </p:spPr>
        <p:txBody>
          <a:bodyPr wrap="square"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Cap / threshold ladder</a:t>
            </a:r>
            <a:endParaRPr lang="en-US" sz="1500" dirty="0"/>
          </a:p>
        </p:txBody>
      </p:sp>
      <p:sp>
        <p:nvSpPr>
          <p:cNvPr id="23" name="Text 21"/>
          <p:cNvSpPr/>
          <p:nvPr/>
        </p:nvSpPr>
        <p:spPr>
          <a:xfrm>
            <a:off x="1024128" y="4873752"/>
            <a:ext cx="10698480" cy="420624"/>
          </a:xfrm>
          <a:prstGeom prst="rect">
            <a:avLst/>
          </a:prstGeom>
          <a:noFill/>
          <a:ln/>
        </p:spPr>
        <p:txBody>
          <a:bodyPr wrap="square" rtlCol="0" anchor="t"/>
          <a:lstStyle/>
          <a:p>
            <a:pPr marL="0" indent="0">
              <a:buNone/>
            </a:pPr>
            <a:r>
              <a:rPr lang="en-US" sz="1150" dirty="0">
                <a:solidFill>
                  <a:srgbClr val="5B6B7B"/>
                </a:solidFill>
                <a:latin typeface="Calibri" pitchFamily="34" charset="0"/>
                <a:ea typeface="Calibri" pitchFamily="34" charset="-122"/>
                <a:cs typeface="Calibri" pitchFamily="34" charset="-120"/>
              </a:rPr>
              <a:t>A proposed shortcut to the λ-sweep, explored on the Netherlands — catchments vary so widely that realistic min/max bounds cannot be set. Dropped; p15 kept as the record.</a:t>
            </a:r>
            <a:endParaRPr lang="en-US" sz="1150" dirty="0"/>
          </a:p>
        </p:txBody>
      </p:sp>
      <p:sp>
        <p:nvSpPr>
          <p:cNvPr id="24" name="Shape 22"/>
          <p:cNvSpPr/>
          <p:nvPr/>
        </p:nvSpPr>
        <p:spPr>
          <a:xfrm>
            <a:off x="457200" y="5394960"/>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25" name="Text 23"/>
          <p:cNvSpPr/>
          <p:nvPr/>
        </p:nvSpPr>
        <p:spPr>
          <a:xfrm>
            <a:off x="457200" y="539496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p:nvPr/>
        </p:nvSpPr>
        <p:spPr>
          <a:xfrm>
            <a:off x="1024128" y="5367528"/>
            <a:ext cx="10607040" cy="292608"/>
          </a:xfrm>
          <a:prstGeom prst="rect">
            <a:avLst/>
          </a:prstGeom>
          <a:noFill/>
          <a:ln/>
        </p:spPr>
        <p:txBody>
          <a:bodyPr wrap="square"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Choice set, open items &amp; roadmap</a:t>
            </a:r>
            <a:endParaRPr lang="en-US" sz="1500" dirty="0"/>
          </a:p>
        </p:txBody>
      </p:sp>
      <p:sp>
        <p:nvSpPr>
          <p:cNvPr id="27" name="Text 25"/>
          <p:cNvSpPr/>
          <p:nvPr/>
        </p:nvSpPr>
        <p:spPr>
          <a:xfrm>
            <a:off x="1024128" y="5660136"/>
            <a:ext cx="10698480" cy="420624"/>
          </a:xfrm>
          <a:prstGeom prst="rect">
            <a:avLst/>
          </a:prstGeom>
          <a:noFill/>
          <a:ln/>
        </p:spPr>
        <p:txBody>
          <a:bodyPr wrap="square" rtlCol="0" anchor="t"/>
          <a:lstStyle/>
          <a:p>
            <a:pPr marL="0" indent="0">
              <a:buNone/>
            </a:pPr>
            <a:r>
              <a:rPr lang="en-US" sz="1150" dirty="0">
                <a:solidFill>
                  <a:srgbClr val="5B6B7B"/>
                </a:solidFill>
                <a:latin typeface="Calibri" pitchFamily="34" charset="0"/>
                <a:ea typeface="Calibri" pitchFamily="34" charset="-122"/>
                <a:cs typeface="Calibri" pitchFamily="34" charset="-120"/>
              </a:rPr>
              <a:t>Where the 5-nearest choice set binds and why widening it precedes RSSV (p9); exact S1/S2 pinning; what remains, in priority order, and what was dropped (p65). A terminology bridge to Lewis's benchmarking deck and Rosa Figueiredo's La Poste deck closes the deck (p67).</a:t>
            </a:r>
            <a:endParaRPr lang="en-US" sz="1150" dirty="0"/>
          </a:p>
        </p:txBody>
      </p:sp>
      <p:sp>
        <p:nvSpPr>
          <p:cNvPr id="28" name="Text 26"/>
          <p:cNvSpPr/>
          <p:nvPr/>
        </p:nvSpPr>
        <p:spPr>
          <a:xfrm>
            <a:off x="411480" y="6364224"/>
            <a:ext cx="11430000" cy="365760"/>
          </a:xfrm>
          <a:prstGeom prst="rect">
            <a:avLst/>
          </a:prstGeom>
          <a:noFill/>
          <a:ln/>
        </p:spPr>
        <p:txBody>
          <a:bodyPr wrap="square" rtlCol="0" anchor="t"/>
          <a:lstStyle/>
          <a:p>
            <a:pPr marL="0" indent="0">
              <a:buNone/>
            </a:pPr>
            <a:r>
              <a:rPr lang="en-US" sz="1000" b="1" i="1" dirty="0">
                <a:solidFill>
                  <a:srgbClr val="1C3D5A"/>
                </a:solidFill>
                <a:latin typeface="Calibri" pitchFamily="34" charset="0"/>
                <a:ea typeface="Calibri" pitchFamily="34" charset="-122"/>
                <a:cs typeface="Calibri" pitchFamily="34" charset="-120"/>
              </a:rPr>
              <a:t>Decisions sought:  </a:t>
            </a:r>
            <a:r>
              <a:rPr lang="en-US" sz="1000" i="1" dirty="0">
                <a:solidFill>
                  <a:srgbClr val="5B6B7B"/>
                </a:solidFill>
                <a:latin typeface="Calibri" pitchFamily="34" charset="0"/>
                <a:ea typeface="Calibri" pitchFamily="34" charset="-122"/>
                <a:cs typeface="Calibri" pitchFamily="34" charset="-120"/>
              </a:rPr>
              <a:t>travel-cost shape (linear vs logistic, and BN's rescaling)  ·  widen the candidate radius before RSSV  ·  territorial coverage constraints (≥1 pharmacy per zone — Rosa's CpMP with territorial coverage) for equity, or keep soft coverage.</a:t>
            </a:r>
            <a:endParaRPr lang="en-US" sz="1000" dirty="0"/>
          </a:p>
        </p:txBody>
      </p:sp>
    </p:spTree>
    <p:extLst>
      <p:ext uri="{BB962C8B-B14F-4D97-AF65-F5344CB8AC3E}">
        <p14:creationId xmlns:p14="http://schemas.microsoft.com/office/powerpoint/2010/main" val="296243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10058400" cy="274320"/>
          </a:xfrm>
          <a:prstGeom prst="rect">
            <a:avLst/>
          </a:prstGeom>
          <a:noFill/>
          <a:ln/>
        </p:spPr>
        <p:txBody>
          <a:bodyPr wrap="square" rtlCol="0" anchor="ctr"/>
          <a:lstStyle/>
          <a:p>
            <a:pPr marL="0" indent="0">
              <a:buNone/>
            </a:pPr>
            <a:r>
              <a:rPr lang="en-US" sz="1200" b="1" kern="0" spc="200" dirty="0">
                <a:solidFill>
                  <a:srgbClr val="0B6E99"/>
                </a:solidFill>
              </a:rPr>
              <a:t>BASELINE · RESIDENTS PER PHARMACY</a:t>
            </a:r>
            <a:endParaRPr lang="en-US" sz="1200" dirty="0"/>
          </a:p>
        </p:txBody>
      </p:sp>
      <p:sp>
        <p:nvSpPr>
          <p:cNvPr id="3" name="Text 1"/>
          <p:cNvSpPr/>
          <p:nvPr/>
        </p:nvSpPr>
        <p:spPr>
          <a:xfrm>
            <a:off x="411480" y="475488"/>
            <a:ext cx="11430000" cy="457200"/>
          </a:xfrm>
          <a:prstGeom prst="rect">
            <a:avLst/>
          </a:prstGeom>
          <a:noFill/>
          <a:ln/>
        </p:spPr>
        <p:txBody>
          <a:bodyPr wrap="square" rtlCol="0" anchor="ctr"/>
          <a:lstStyle/>
          <a:p>
            <a:pPr marL="0" indent="0">
              <a:buNone/>
            </a:pPr>
            <a:r>
              <a:rPr lang="en-US" sz="2100" b="1" dirty="0">
                <a:solidFill>
                  <a:srgbClr val="12233A"/>
                </a:solidFill>
                <a:latin typeface="Georgia" pitchFamily="34" charset="0"/>
                <a:ea typeface="Georgia" pitchFamily="34" charset="-122"/>
                <a:cs typeface="Georgia" pitchFamily="34" charset="-120"/>
              </a:rPr>
              <a:t>Residents per pharmacy  </a:t>
            </a:r>
            <a:r>
              <a:rPr lang="en-US" sz="2100" dirty="0">
                <a:solidFill>
                  <a:srgbClr val="1C3D5A"/>
                </a:solidFill>
                <a:latin typeface="Georgia" pitchFamily="34" charset="0"/>
                <a:ea typeface="Georgia" pitchFamily="34" charset="-122"/>
                <a:cs typeface="Georgia" pitchFamily="34" charset="-120"/>
              </a:rPr>
              <a:t>— per country</a:t>
            </a:r>
            <a:endParaRPr lang="en-US" sz="2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1691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gridCol w="822960">
                  <a:extLst>
                    <a:ext uri="{9D8B030D-6E8A-4147-A177-3AD203B41FA5}">
                      <a16:colId xmlns:a16="http://schemas.microsoft.com/office/drawing/2014/main" val="20010"/>
                    </a:ext>
                  </a:extLst>
                </a:gridCol>
                <a:gridCol w="886968">
                  <a:extLst>
                    <a:ext uri="{9D8B030D-6E8A-4147-A177-3AD203B41FA5}">
                      <a16:colId xmlns:a16="http://schemas.microsoft.com/office/drawing/2014/main" val="20011"/>
                    </a:ext>
                  </a:extLst>
                </a:gridCol>
              </a:tblGrid>
              <a:tr h="237744">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region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pharm.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residents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resid/ph</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#empty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min&gt;0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max</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Austria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1,467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8.9M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6,088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2,422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3,883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5,666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7,628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10,203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25,354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1"/>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Belgium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4,860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2,373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2,137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4,053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10,019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2"/>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Czechia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3,932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3,463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5,162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7,222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18,348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3"/>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Denmark</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536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10,736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4,892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7,363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10,014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13,242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17,801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35,188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4"/>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Estonia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2,684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2,314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3,450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4,778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20,604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5"/>
                  </a:ext>
                </a:extLst>
              </a:tr>
              <a:tr h="237744">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Finland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6,876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3,177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5,501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9,177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13,713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36,164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France</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20,698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65.3M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3,155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660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2,869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4,091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5,495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17,502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7"/>
                  </a:ext>
                </a:extLst>
              </a:tr>
              <a:tr h="237744">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Hungary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4,311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5,874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15,016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8"/>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Ireland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1,652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857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2,420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3,990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17,055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9"/>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Italy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20,621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2,542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3,689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19,504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0"/>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Latvia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2,313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4,344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16,587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1"/>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Lithuania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1,253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2,240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4,507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13,754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2"/>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Luxembourg</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6,042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3,672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5,610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7,822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10,139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14,020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3"/>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Netherlands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8,765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5,060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7,952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11,913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15,567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33,497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4"/>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Norway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1,057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4,835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2,755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4,300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6,236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8,548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23,011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5"/>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Poland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13,791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2,280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3,488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5,017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19,078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6"/>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Portugal</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2,801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3,680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1,262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2,941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4,439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6,497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19,709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7"/>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Slovenia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5,918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2,485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3,571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5,239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7,647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10,075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20,620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8"/>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Sweden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10.2M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7,078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3,840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6,208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9,617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12,659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37,107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9"/>
                  </a:ext>
                </a:extLst>
              </a:tr>
            </a:tbl>
          </a:graphicData>
        </a:graphic>
      </p:graphicFrame>
      <p:sp>
        <p:nvSpPr>
          <p:cNvPr id="5" name="Text 2"/>
          <p:cNvSpPr/>
          <p:nvPr/>
        </p:nvSpPr>
        <p:spPr>
          <a:xfrm>
            <a:off x="457200" y="6510528"/>
            <a:ext cx="11274552" cy="274320"/>
          </a:xfrm>
          <a:prstGeom prst="rect">
            <a:avLst/>
          </a:prstGeom>
          <a:noFill/>
          <a:ln/>
        </p:spPr>
        <p:txBody>
          <a:bodyPr wrap="square" rtlCol="0" anchor="ctr"/>
          <a:lstStyle/>
          <a:p>
            <a:pPr marL="0" indent="0">
              <a:buNone/>
            </a:pPr>
            <a:r>
              <a:rPr lang="en-US" sz="800" i="1" dirty="0">
                <a:solidFill>
                  <a:srgbClr val="5B6B7B"/>
                </a:solidFill>
                <a:latin typeface="Calibri" pitchFamily="34" charset="0"/>
                <a:ea typeface="Calibri" pitchFamily="34" charset="-122"/>
                <a:cs typeface="Calibri" pitchFamily="34" charset="-120"/>
              </a:rPr>
              <a:t>Catchment = residents whose nearest pharmacy BY ROAD-NETWORK travel time is this one (a cell's catchment split evenly among the pharmacies in it); p10..max = percentiles of that per-pharmacy catchment. #empty = pharmacies that are never the road-nearest for any populated cell (fully shadowed / disconnected); min&gt;0 = smallest non-zero catchment. Country rows bold, NUTS1 indented below. Source: pharmacy_descriptives.csv (road OD; Lewis, 22 May).</a:t>
            </a:r>
            <a:endParaRPr lang="en-US" sz="800" dirty="0"/>
          </a:p>
        </p:txBody>
      </p:sp>
    </p:spTree>
    <p:extLst>
      <p:ext uri="{BB962C8B-B14F-4D97-AF65-F5344CB8AC3E}">
        <p14:creationId xmlns:p14="http://schemas.microsoft.com/office/powerpoint/2010/main" val="361625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10058400" cy="274320"/>
          </a:xfrm>
          <a:prstGeom prst="rect">
            <a:avLst/>
          </a:prstGeom>
          <a:noFill/>
          <a:ln/>
        </p:spPr>
        <p:txBody>
          <a:bodyPr wrap="square" rtlCol="0" anchor="ctr"/>
          <a:lstStyle/>
          <a:p>
            <a:pPr marL="0" indent="0">
              <a:buNone/>
            </a:pPr>
            <a:r>
              <a:rPr lang="en-US" sz="1200" b="1" kern="0" spc="200" dirty="0">
                <a:solidFill>
                  <a:srgbClr val="0B6E99"/>
                </a:solidFill>
              </a:rPr>
              <a:t>BASELINE · RESIDENTS PER PHARMACY</a:t>
            </a:r>
            <a:endParaRPr lang="en-US" sz="1200" dirty="0"/>
          </a:p>
        </p:txBody>
      </p:sp>
      <p:sp>
        <p:nvSpPr>
          <p:cNvPr id="3" name="Text 1"/>
          <p:cNvSpPr/>
          <p:nvPr/>
        </p:nvSpPr>
        <p:spPr>
          <a:xfrm>
            <a:off x="411480" y="475488"/>
            <a:ext cx="11430000" cy="457200"/>
          </a:xfrm>
          <a:prstGeom prst="rect">
            <a:avLst/>
          </a:prstGeom>
          <a:noFill/>
          <a:ln/>
        </p:spPr>
        <p:txBody>
          <a:bodyPr wrap="square" rtlCol="0" anchor="ctr"/>
          <a:lstStyle/>
          <a:p>
            <a:pPr marL="0" indent="0">
              <a:buNone/>
            </a:pPr>
            <a:r>
              <a:rPr lang="en-US" sz="2100" b="1" dirty="0">
                <a:solidFill>
                  <a:srgbClr val="12233A"/>
                </a:solidFill>
                <a:latin typeface="Georgia" pitchFamily="34" charset="0"/>
                <a:ea typeface="Georgia" pitchFamily="34" charset="-122"/>
                <a:cs typeface="Georgia" pitchFamily="34" charset="-120"/>
              </a:rPr>
              <a:t>Residents per pharmacy  </a:t>
            </a:r>
            <a:r>
              <a:rPr lang="en-US" sz="2100" dirty="0">
                <a:solidFill>
                  <a:srgbClr val="1C3D5A"/>
                </a:solidFill>
                <a:latin typeface="Georgia" pitchFamily="34" charset="0"/>
                <a:ea typeface="Georgia" pitchFamily="34" charset="-122"/>
                <a:cs typeface="Georgia" pitchFamily="34" charset="-120"/>
              </a:rPr>
              <a:t>— key NUTS1 regions (FR / IT / SE)</a:t>
            </a:r>
            <a:endParaRPr lang="en-US" sz="2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1691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gridCol w="822960">
                  <a:extLst>
                    <a:ext uri="{9D8B030D-6E8A-4147-A177-3AD203B41FA5}">
                      <a16:colId xmlns:a16="http://schemas.microsoft.com/office/drawing/2014/main" val="20010"/>
                    </a:ext>
                  </a:extLst>
                </a:gridCol>
                <a:gridCol w="886968">
                  <a:extLst>
                    <a:ext uri="{9D8B030D-6E8A-4147-A177-3AD203B41FA5}">
                      <a16:colId xmlns:a16="http://schemas.microsoft.com/office/drawing/2014/main" val="20011"/>
                    </a:ext>
                  </a:extLst>
                </a:gridCol>
              </a:tblGrid>
              <a:tr h="187452">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region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pharm.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residents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resid/ph</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#empty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min&gt;0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max</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Netherlands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8,765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5,060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7,952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11,913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15,567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33,497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1"/>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France</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20,698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65.3M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3,155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660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2,869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4,091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5,495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17,502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2"/>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3,530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1,584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2,155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3,131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4,365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17,502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FRB</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2,126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4,274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5,672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12,007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4"/>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FRC</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4,868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12,847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3,596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2,271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4,730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5,991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13,685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FRE</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1,943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3,081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1,933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3,860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5,055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15,413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FRF</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3,502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2,157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3,248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4,415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5,900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15,870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8"/>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FRG</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1,069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3,589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2,350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3,309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4,600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5,859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12,237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FRH</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3,344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2,224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4,255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5,461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12,264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0"/>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FRI</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2,052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2,950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3,768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4,973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11,655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FRJ</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3,847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5,369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12,011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2"/>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FRK</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2,420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3,353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1,408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3,040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4,304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5,700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12,834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FRL</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2,391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3,605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4,956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14,737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4"/>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2,541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1,401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2,304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3,228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4,762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9,333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Italy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20,621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2,542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3,689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19,504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6"/>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ITC</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2,815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884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1,529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2,560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3,710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5,008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16,143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ITF</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4,955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784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1,441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2,368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3,438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4,948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19,504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8"/>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ITG</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2,332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1,523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2,422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4,822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13,898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ITH</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3,805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1,096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2,736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3,954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5,227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18,442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0"/>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ITI</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3,919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2,986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943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3,844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5,259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17,207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Sweden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10.2M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7,078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3,840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6,208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9,617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12,659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37,107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22"/>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SE1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558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7,310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3,734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6,197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10,009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13,365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37,107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3"/>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SE2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4.4M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7,276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2,146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3,885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6,511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9,937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12,948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33,444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4"/>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SE3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6,121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3,763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5,420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7,672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10,842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16,576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5"/>
                  </a:ext>
                </a:extLst>
              </a:tr>
            </a:tbl>
          </a:graphicData>
        </a:graphic>
      </p:graphicFrame>
      <p:sp>
        <p:nvSpPr>
          <p:cNvPr id="5" name="Text 2"/>
          <p:cNvSpPr/>
          <p:nvPr/>
        </p:nvSpPr>
        <p:spPr>
          <a:xfrm>
            <a:off x="457200" y="6510528"/>
            <a:ext cx="11274552" cy="274320"/>
          </a:xfrm>
          <a:prstGeom prst="rect">
            <a:avLst/>
          </a:prstGeom>
          <a:noFill/>
          <a:ln/>
        </p:spPr>
        <p:txBody>
          <a:bodyPr wrap="square" rtlCol="0" anchor="ctr"/>
          <a:lstStyle/>
          <a:p>
            <a:pPr marL="0" indent="0">
              <a:buNone/>
            </a:pPr>
            <a:r>
              <a:rPr lang="en-US" sz="800" i="1" dirty="0">
                <a:solidFill>
                  <a:srgbClr val="5B6B7B"/>
                </a:solidFill>
                <a:latin typeface="Calibri" pitchFamily="34" charset="0"/>
                <a:ea typeface="Calibri" pitchFamily="34" charset="-122"/>
                <a:cs typeface="Calibri" pitchFamily="34" charset="-120"/>
              </a:rPr>
              <a:t>Catchment = residents whose nearest pharmacy BY ROAD-NETWORK travel time is this one (a cell's catchment split evenly among the pharmacies in it); p10..max = percentiles of that per-pharmacy catchment. #empty = pharmacies that are never the road-nearest for any populated cell (fully shadowed / disconnected); min&gt;0 = smallest non-zero catchment. Country rows bold, NUTS1 indented below. Source: pharmacy_descriptives.csv (road OD; Lewis, 22 May).</a:t>
            </a:r>
            <a:endParaRPr lang="en-US" sz="800" dirty="0"/>
          </a:p>
        </p:txBody>
      </p:sp>
    </p:spTree>
    <p:extLst>
      <p:ext uri="{BB962C8B-B14F-4D97-AF65-F5344CB8AC3E}">
        <p14:creationId xmlns:p14="http://schemas.microsoft.com/office/powerpoint/2010/main" val="2496068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10058400" cy="274320"/>
          </a:xfrm>
          <a:prstGeom prst="rect">
            <a:avLst/>
          </a:prstGeom>
          <a:noFill/>
          <a:ln/>
        </p:spPr>
        <p:txBody>
          <a:bodyPr wrap="square" rtlCol="0" anchor="ctr"/>
          <a:lstStyle/>
          <a:p>
            <a:pPr marL="0" indent="0">
              <a:buNone/>
            </a:pPr>
            <a:r>
              <a:rPr lang="en-US" sz="1200" b="1" kern="0" spc="200" dirty="0">
                <a:solidFill>
                  <a:srgbClr val="0B6E99"/>
                </a:solidFill>
              </a:rPr>
              <a:t>BASELINE · RESIDENTS PER 1 KM² LOCATION</a:t>
            </a:r>
            <a:endParaRPr lang="en-US" sz="1200" dirty="0"/>
          </a:p>
        </p:txBody>
      </p:sp>
      <p:sp>
        <p:nvSpPr>
          <p:cNvPr id="3" name="Text 1"/>
          <p:cNvSpPr/>
          <p:nvPr/>
        </p:nvSpPr>
        <p:spPr>
          <a:xfrm>
            <a:off x="411480" y="475488"/>
            <a:ext cx="11430000" cy="457200"/>
          </a:xfrm>
          <a:prstGeom prst="rect">
            <a:avLst/>
          </a:prstGeom>
          <a:noFill/>
          <a:ln/>
        </p:spPr>
        <p:txBody>
          <a:bodyPr wrap="square" rtlCol="0" anchor="ctr"/>
          <a:lstStyle/>
          <a:p>
            <a:pPr marL="0" indent="0">
              <a:buNone/>
            </a:pPr>
            <a:r>
              <a:rPr lang="en-US" sz="2100" b="1" dirty="0">
                <a:solidFill>
                  <a:srgbClr val="12233A"/>
                </a:solidFill>
                <a:latin typeface="Georgia" pitchFamily="34" charset="0"/>
                <a:ea typeface="Georgia" pitchFamily="34" charset="-122"/>
                <a:cs typeface="Georgia" pitchFamily="34" charset="-120"/>
              </a:rPr>
              <a:t>Residents per 1 km² location  </a:t>
            </a:r>
            <a:r>
              <a:rPr lang="en-US" sz="2100" dirty="0">
                <a:solidFill>
                  <a:srgbClr val="1C3D5A"/>
                </a:solidFill>
                <a:latin typeface="Georgia" pitchFamily="34" charset="0"/>
                <a:ea typeface="Georgia" pitchFamily="34" charset="-122"/>
                <a:cs typeface="Georgia" pitchFamily="34" charset="-120"/>
              </a:rPr>
              <a:t>— per country</a:t>
            </a:r>
            <a:endParaRPr lang="en-US" sz="2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1691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gridCol w="822960">
                  <a:extLst>
                    <a:ext uri="{9D8B030D-6E8A-4147-A177-3AD203B41FA5}">
                      <a16:colId xmlns:a16="http://schemas.microsoft.com/office/drawing/2014/main" val="20010"/>
                    </a:ext>
                  </a:extLst>
                </a:gridCol>
                <a:gridCol w="886968">
                  <a:extLst>
                    <a:ext uri="{9D8B030D-6E8A-4147-A177-3AD203B41FA5}">
                      <a16:colId xmlns:a16="http://schemas.microsoft.com/office/drawing/2014/main" val="20011"/>
                    </a:ext>
                  </a:extLst>
                </a:gridCol>
              </a:tblGrid>
              <a:tr h="237744">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region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locations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residents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resid/loc</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#empty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min&gt;0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max</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Austria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1,131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8.9M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7,897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3,298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4,971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6,976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9,677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13,119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33,771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1"/>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Belgium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3,892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1,649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2,295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3,310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4,691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6,549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29,568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2"/>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Czechia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6,448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2,139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3,688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5,728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8,446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11,723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27,465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3"/>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Denmark</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12,349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5,900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8,353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11,182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15,281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20,513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40,606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4"/>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Estonia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4,514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2,373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5,421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8,262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20,604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5"/>
                  </a:ext>
                </a:extLst>
              </a:tr>
              <a:tr h="237744">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Finland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7,609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3,142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5,928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10,483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15,792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36,164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France</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13,863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65.3M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4,711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2,638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3,991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8,412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51,246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7"/>
                  </a:ext>
                </a:extLst>
              </a:tr>
              <a:tr h="237744">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Hungary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5,174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1,881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2,900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4,498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6,688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9,330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28,015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8"/>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Ireland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5,777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2,259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3,401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7,221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10,276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28,024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9"/>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Italy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14,264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4,116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916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3,245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5,473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8,492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33,618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0"/>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Latvia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496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1.9M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3,815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1,551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8,093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16,587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1"/>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Lithuania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4,822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4,045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6,579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9,157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24,536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2"/>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Luxembourg</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7,377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600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3,472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5,232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6,861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9,508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11,596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22,601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3"/>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Netherlands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10,797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4,394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6,802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10,167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13,827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17,874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34,905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4"/>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Norway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758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6,737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2,292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3,756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5,758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8,790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12,626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26,897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5"/>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Poland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7,030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5,273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1,871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4,571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6,819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9,712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26,161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6"/>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Portugal</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1,893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5,199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2,740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4,282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6,720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9,811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32,667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7"/>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Slovenia</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6,865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2,928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4,294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6,106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8,708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11,475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22,559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8"/>
                  </a:ext>
                </a:extLst>
              </a:tr>
              <a:tr h="237744">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Sweden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10.2M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9,419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5,220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8,541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12,284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17,268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37,107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9"/>
                  </a:ext>
                </a:extLst>
              </a:tr>
            </a:tbl>
          </a:graphicData>
        </a:graphic>
      </p:graphicFrame>
      <p:sp>
        <p:nvSpPr>
          <p:cNvPr id="5" name="Text 2"/>
          <p:cNvSpPr/>
          <p:nvPr/>
        </p:nvSpPr>
        <p:spPr>
          <a:xfrm>
            <a:off x="457200" y="6510528"/>
            <a:ext cx="11274552" cy="274320"/>
          </a:xfrm>
          <a:prstGeom prst="rect">
            <a:avLst/>
          </a:prstGeom>
          <a:noFill/>
          <a:ln/>
        </p:spPr>
        <p:txBody>
          <a:bodyPr wrap="square" rtlCol="0" anchor="ctr"/>
          <a:lstStyle/>
          <a:p>
            <a:pPr marL="0" indent="0">
              <a:buNone/>
            </a:pPr>
            <a:r>
              <a:rPr lang="en-US" sz="800" i="1" dirty="0">
                <a:solidFill>
                  <a:srgbClr val="5B6B7B"/>
                </a:solidFill>
                <a:latin typeface="Calibri" pitchFamily="34" charset="0"/>
                <a:ea typeface="Calibri" pitchFamily="34" charset="-122"/>
                <a:cs typeface="Calibri" pitchFamily="34" charset="-120"/>
              </a:rPr>
              <a:t>A location = a unique 1 km² cell with ≥1 pharmacy; catchment = residents whose nearest pharmacy cell BY ROAD is this one; p10..max = percentiles of that per-location catchment. #empty = locations that are never the road-nearest for any populated cell (fully shadowed / disconnected); min&gt;0 = smallest non-zero catchment. Country rows bold, NUTS1 indented below. Source: pharmacy_descriptives.csv (road OD; Lewis, 22 May).</a:t>
            </a:r>
            <a:endParaRPr lang="en-US" sz="800" dirty="0"/>
          </a:p>
        </p:txBody>
      </p:sp>
    </p:spTree>
    <p:extLst>
      <p:ext uri="{BB962C8B-B14F-4D97-AF65-F5344CB8AC3E}">
        <p14:creationId xmlns:p14="http://schemas.microsoft.com/office/powerpoint/2010/main" val="3303375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10058400" cy="274320"/>
          </a:xfrm>
          <a:prstGeom prst="rect">
            <a:avLst/>
          </a:prstGeom>
          <a:noFill/>
          <a:ln/>
        </p:spPr>
        <p:txBody>
          <a:bodyPr wrap="square" rtlCol="0" anchor="ctr"/>
          <a:lstStyle/>
          <a:p>
            <a:pPr marL="0" indent="0">
              <a:buNone/>
            </a:pPr>
            <a:r>
              <a:rPr lang="en-US" sz="1200" b="1" kern="0" spc="200" dirty="0">
                <a:solidFill>
                  <a:srgbClr val="0B6E99"/>
                </a:solidFill>
              </a:rPr>
              <a:t>BASELINE · RESIDENTS PER 1 KM² LOCATION</a:t>
            </a:r>
            <a:endParaRPr lang="en-US" sz="1200" dirty="0"/>
          </a:p>
        </p:txBody>
      </p:sp>
      <p:sp>
        <p:nvSpPr>
          <p:cNvPr id="3" name="Text 1"/>
          <p:cNvSpPr/>
          <p:nvPr/>
        </p:nvSpPr>
        <p:spPr>
          <a:xfrm>
            <a:off x="411480" y="475488"/>
            <a:ext cx="11430000" cy="457200"/>
          </a:xfrm>
          <a:prstGeom prst="rect">
            <a:avLst/>
          </a:prstGeom>
          <a:noFill/>
          <a:ln/>
        </p:spPr>
        <p:txBody>
          <a:bodyPr wrap="square" rtlCol="0" anchor="ctr"/>
          <a:lstStyle/>
          <a:p>
            <a:pPr marL="0" indent="0">
              <a:buNone/>
            </a:pPr>
            <a:r>
              <a:rPr lang="en-US" sz="2100" b="1" dirty="0">
                <a:solidFill>
                  <a:srgbClr val="12233A"/>
                </a:solidFill>
                <a:latin typeface="Georgia" pitchFamily="34" charset="0"/>
                <a:ea typeface="Georgia" pitchFamily="34" charset="-122"/>
                <a:cs typeface="Georgia" pitchFamily="34" charset="-120"/>
              </a:rPr>
              <a:t>Residents per 1 km² location  </a:t>
            </a:r>
            <a:r>
              <a:rPr lang="en-US" sz="2100" dirty="0">
                <a:solidFill>
                  <a:srgbClr val="1C3D5A"/>
                </a:solidFill>
                <a:latin typeface="Georgia" pitchFamily="34" charset="0"/>
                <a:ea typeface="Georgia" pitchFamily="34" charset="-122"/>
                <a:cs typeface="Georgia" pitchFamily="34" charset="-120"/>
              </a:rPr>
              <a:t>— key NUTS1 regions (FR / IT / SE)</a:t>
            </a:r>
            <a:endParaRPr lang="en-US" sz="2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1691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gridCol w="822960">
                  <a:extLst>
                    <a:ext uri="{9D8B030D-6E8A-4147-A177-3AD203B41FA5}">
                      <a16:colId xmlns:a16="http://schemas.microsoft.com/office/drawing/2014/main" val="20010"/>
                    </a:ext>
                  </a:extLst>
                </a:gridCol>
                <a:gridCol w="886968">
                  <a:extLst>
                    <a:ext uri="{9D8B030D-6E8A-4147-A177-3AD203B41FA5}">
                      <a16:colId xmlns:a16="http://schemas.microsoft.com/office/drawing/2014/main" val="20011"/>
                    </a:ext>
                  </a:extLst>
                </a:gridCol>
              </a:tblGrid>
              <a:tr h="187452">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region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locations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residents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resid/loc</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#empty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min&gt;0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max</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Netherlands</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10,797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4,394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6,802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10,167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13,827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17,874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34,905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1"/>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France</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13,863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65.3M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4,711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448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1,578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2,638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3,991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8,412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51,246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02"/>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1,452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8,480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4,317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6,789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10,194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15,712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51,246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FRB</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614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4,194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3,699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5,323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6,899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12,007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4"/>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FRC</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723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1,840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4,707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6,508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15,552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FRD</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683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4,824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3,015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4,549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7,865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15,013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FRE</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4,476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2,006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2,862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3,995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5,636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7,566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17,786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FRF</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1,167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4,764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3,035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4,213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5,963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8,069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16,534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8"/>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FRG</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851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4,507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2,816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4,106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5,647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7,539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22,395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FRH</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798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2,643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3,849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5,140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7,199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18,734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0"/>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FRI</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3,804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1,609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2,362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3,441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4,803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6,506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18,820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FRJ</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1,424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4,221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2,323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3,646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5,452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7,734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17,607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2"/>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FRK</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1,685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4,815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4,149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6,096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8,479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25,354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FRL</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5.0M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4,820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1,326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4,132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6,229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8,837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25,437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4"/>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FRM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3,606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3,141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4,271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6,491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14,763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Italy</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14,264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58.7M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4,116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916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1,695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3,245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5,473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8,492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33,618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16"/>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ITC</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3,883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15.8M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4,074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962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1,686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3,166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5,321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8,350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27,322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ITF</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3,213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701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1,329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3,034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9,117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31,263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8"/>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ITG</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6.3M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4,330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664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1,481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3,353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6,329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9,453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22,291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ITH</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3,003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11.5M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3,836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3,273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4,950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7,186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20,143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0"/>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ITI</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2,726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11.7M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4,289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978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1,845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3,471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5,690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8,759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33,618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187452">
                <a:tc>
                  <a:txBody>
                    <a:bodyPr/>
                    <a:lstStyle/>
                    <a:p>
                      <a:pPr marL="0" indent="0" algn="l">
                        <a:buNone/>
                      </a:pPr>
                      <a:r>
                        <a:rPr lang="en-US" sz="850" b="1" dirty="0">
                          <a:solidFill>
                            <a:srgbClr val="12233A"/>
                          </a:solidFill>
                          <a:latin typeface="Calibri" pitchFamily="34" charset="0"/>
                          <a:ea typeface="Calibri" pitchFamily="34" charset="-122"/>
                          <a:cs typeface="Calibri" pitchFamily="34" charset="-120"/>
                        </a:rPr>
                        <a:t>Sweden</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1,088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10.2M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9,419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3,080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5,220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8,541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12,284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17,268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tc>
                  <a:txBody>
                    <a:bodyPr/>
                    <a:lstStyle/>
                    <a:p>
                      <a:pPr marL="0" indent="0" algn="ctr">
                        <a:buNone/>
                      </a:pPr>
                      <a:r>
                        <a:rPr lang="en-US" sz="850" b="1" dirty="0">
                          <a:solidFill>
                            <a:srgbClr val="12233A"/>
                          </a:solidFill>
                          <a:latin typeface="Calibri" pitchFamily="34" charset="0"/>
                          <a:ea typeface="Calibri" pitchFamily="34" charset="-122"/>
                          <a:cs typeface="Calibri" pitchFamily="34" charset="-120"/>
                        </a:rPr>
                        <a:t>37,107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6EDF4"/>
                    </a:solidFill>
                  </a:tcPr>
                </a:tc>
                <a:extLst>
                  <a:ext uri="{0D108BD9-81ED-4DB2-BD59-A6C34878D82A}">
                    <a16:rowId xmlns:a16="http://schemas.microsoft.com/office/drawing/2014/main" val="10022"/>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SE1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389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4.1M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10,418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3,114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6,182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9,375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13,628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19,521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37,107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3"/>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SE2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4.4M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9,668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3,289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5,549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8,903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12,497</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16,812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35,654</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4"/>
                  </a:ext>
                </a:extLst>
              </a:tr>
              <a:tr h="187452">
                <a:tc>
                  <a:txBody>
                    <a:bodyPr/>
                    <a:lstStyle/>
                    <a:p>
                      <a:pPr marL="0" indent="0" algn="l">
                        <a:buNone/>
                      </a:pPr>
                      <a:r>
                        <a:rPr lang="en-US" sz="850" dirty="0">
                          <a:solidFill>
                            <a:srgbClr val="12233A"/>
                          </a:solidFill>
                          <a:latin typeface="Calibri" pitchFamily="34" charset="0"/>
                          <a:ea typeface="Calibri" pitchFamily="34" charset="-122"/>
                          <a:cs typeface="Calibri" pitchFamily="34" charset="-120"/>
                        </a:rPr>
                        <a:t>    SE3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246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1.7M</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7,043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168</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2,572</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3,926</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5,939</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9,425</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12,971</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2233A"/>
                          </a:solidFill>
                          <a:latin typeface="Calibri" pitchFamily="34" charset="0"/>
                          <a:ea typeface="Calibri" pitchFamily="34" charset="-122"/>
                          <a:cs typeface="Calibri" pitchFamily="34" charset="-120"/>
                        </a:rPr>
                        <a:t>24,673</a:t>
                      </a:r>
                      <a:endParaRPr lang="en-US" sz="85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5"/>
                  </a:ext>
                </a:extLst>
              </a:tr>
            </a:tbl>
          </a:graphicData>
        </a:graphic>
      </p:graphicFrame>
      <p:sp>
        <p:nvSpPr>
          <p:cNvPr id="5" name="Text 2"/>
          <p:cNvSpPr/>
          <p:nvPr/>
        </p:nvSpPr>
        <p:spPr>
          <a:xfrm>
            <a:off x="457200" y="6510528"/>
            <a:ext cx="11274552" cy="274320"/>
          </a:xfrm>
          <a:prstGeom prst="rect">
            <a:avLst/>
          </a:prstGeom>
          <a:noFill/>
          <a:ln/>
        </p:spPr>
        <p:txBody>
          <a:bodyPr wrap="square" rtlCol="0" anchor="ctr"/>
          <a:lstStyle/>
          <a:p>
            <a:pPr marL="0" indent="0">
              <a:buNone/>
            </a:pPr>
            <a:r>
              <a:rPr lang="en-US" sz="800" i="1" dirty="0">
                <a:solidFill>
                  <a:srgbClr val="5B6B7B"/>
                </a:solidFill>
                <a:latin typeface="Calibri" pitchFamily="34" charset="0"/>
                <a:ea typeface="Calibri" pitchFamily="34" charset="-122"/>
                <a:cs typeface="Calibri" pitchFamily="34" charset="-120"/>
              </a:rPr>
              <a:t>A location = a unique 1 km² cell with ≥1 pharmacy; catchment = residents whose nearest pharmacy cell BY ROAD is this one; p10..max = percentiles of that per-location catchment. #empty = locations that are never the road-nearest for any populated cell (fully shadowed / disconnected); min&gt;0 = smallest non-zero catchment. Country rows bold, NUTS1 indented below. Source: pharmacy_descriptives.csv (road OD; Lewis, 22 May).</a:t>
            </a:r>
            <a:endParaRPr lang="en-US" sz="800" dirty="0"/>
          </a:p>
        </p:txBody>
      </p:sp>
    </p:spTree>
    <p:extLst>
      <p:ext uri="{BB962C8B-B14F-4D97-AF65-F5344CB8AC3E}">
        <p14:creationId xmlns:p14="http://schemas.microsoft.com/office/powerpoint/2010/main" val="4197836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8229600" cy="274320"/>
          </a:xfrm>
          <a:prstGeom prst="rect">
            <a:avLst/>
          </a:prstGeom>
          <a:noFill/>
          <a:ln/>
        </p:spPr>
        <p:txBody>
          <a:bodyPr wrap="square" rtlCol="0" anchor="ctr"/>
          <a:lstStyle/>
          <a:p>
            <a:pPr marL="0" indent="0">
              <a:buNone/>
            </a:pPr>
            <a:r>
              <a:rPr lang="en-US" sz="1200" b="1" kern="0" spc="200" dirty="0">
                <a:solidFill>
                  <a:srgbClr val="0B6E99"/>
                </a:solidFill>
              </a:rPr>
              <a:t>MODEL</a:t>
            </a:r>
            <a:endParaRPr lang="en-US" sz="1200" dirty="0"/>
          </a:p>
        </p:txBody>
      </p:sp>
      <p:sp>
        <p:nvSpPr>
          <p:cNvPr id="3" name="Text 1"/>
          <p:cNvSpPr/>
          <p:nvPr/>
        </p:nvSpPr>
        <p:spPr>
          <a:xfrm>
            <a:off x="411480" y="512064"/>
            <a:ext cx="1143000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The optimization problem  </a:t>
            </a:r>
            <a:r>
              <a:rPr lang="en-US" sz="2200" dirty="0">
                <a:solidFill>
                  <a:srgbClr val="1C3D5A"/>
                </a:solidFill>
                <a:latin typeface="Georgia" pitchFamily="34" charset="0"/>
                <a:ea typeface="Georgia" pitchFamily="34" charset="-122"/>
                <a:cs typeface="Georgia" pitchFamily="34" charset="-120"/>
              </a:rPr>
              <a:t>— uncapacitated facility location on the road OD</a:t>
            </a:r>
            <a:endParaRPr lang="en-US" sz="2200" dirty="0"/>
          </a:p>
        </p:txBody>
      </p:sp>
      <p:sp>
        <p:nvSpPr>
          <p:cNvPr id="4" name="Shape 2"/>
          <p:cNvSpPr/>
          <p:nvPr/>
        </p:nvSpPr>
        <p:spPr>
          <a:xfrm>
            <a:off x="457200" y="1234440"/>
            <a:ext cx="6035040" cy="3108960"/>
          </a:xfrm>
          <a:prstGeom prst="roundRect">
            <a:avLst>
              <a:gd name="adj" fmla="val 1765"/>
            </a:avLst>
          </a:prstGeom>
          <a:solidFill>
            <a:srgbClr val="12233A"/>
          </a:solidFill>
          <a:ln w="12700">
            <a:solidFill>
              <a:srgbClr val="333333"/>
            </a:solidFill>
            <a:prstDash val="solid"/>
          </a:ln>
        </p:spPr>
        <p:txBody>
          <a:bodyPr/>
          <a:lstStyle/>
          <a:p>
            <a:endParaRPr lang="en-GB"/>
          </a:p>
        </p:txBody>
      </p:sp>
      <p:sp>
        <p:nvSpPr>
          <p:cNvPr id="5" name="Text 3"/>
          <p:cNvSpPr/>
          <p:nvPr/>
        </p:nvSpPr>
        <p:spPr>
          <a:xfrm>
            <a:off x="731520" y="1371600"/>
            <a:ext cx="5577840" cy="365760"/>
          </a:xfrm>
          <a:prstGeom prst="rect">
            <a:avLst/>
          </a:prstGeom>
          <a:noFill/>
          <a:ln/>
        </p:spPr>
        <p:txBody>
          <a:bodyPr wrap="square" rtlCol="0" anchor="ctr"/>
          <a:lstStyle/>
          <a:p>
            <a:pPr marL="0" indent="0">
              <a:buNone/>
            </a:pPr>
            <a:r>
              <a:rPr lang="en-US" sz="1400" b="1" dirty="0">
                <a:solidFill>
                  <a:srgbClr val="8FD4F0"/>
                </a:solidFill>
                <a:latin typeface="Cambria Math" pitchFamily="34" charset="0"/>
                <a:ea typeface="Cambria Math" pitchFamily="34" charset="-122"/>
                <a:cs typeface="Cambria Math" pitchFamily="34" charset="-120"/>
              </a:rPr>
              <a:t>min</a:t>
            </a:r>
            <a:r>
              <a:rPr lang="en-US" sz="1000" baseline="-40000" dirty="0">
                <a:solidFill>
                  <a:srgbClr val="8FD4F0"/>
                </a:solidFill>
                <a:latin typeface="Cambria Math" pitchFamily="34" charset="0"/>
                <a:ea typeface="Cambria Math" pitchFamily="34" charset="-122"/>
                <a:cs typeface="Cambria Math" pitchFamily="34" charset="-120"/>
              </a:rPr>
              <a:t>x,y</a:t>
            </a:r>
            <a:r>
              <a:rPr lang="en-US" sz="1400" dirty="0">
                <a:solidFill>
                  <a:srgbClr val="FFFFFF"/>
                </a:solidFill>
                <a:latin typeface="Cambria Math" pitchFamily="34" charset="0"/>
                <a:ea typeface="Cambria Math" pitchFamily="34" charset="-122"/>
                <a:cs typeface="Cambria Math" pitchFamily="34" charset="-120"/>
              </a:rPr>
              <a:t>   Σᵢ popᵢ · [ Σⱼ c(tᵢⱼ)·xᵢⱼ  +  BIG·(1 − Σⱼ xᵢⱼ) ]   +   λ · Σⱼ yⱼ</a:t>
            </a:r>
            <a:endParaRPr lang="en-US" sz="1400" dirty="0"/>
          </a:p>
        </p:txBody>
      </p:sp>
      <p:sp>
        <p:nvSpPr>
          <p:cNvPr id="6" name="Text 4"/>
          <p:cNvSpPr/>
          <p:nvPr/>
        </p:nvSpPr>
        <p:spPr>
          <a:xfrm>
            <a:off x="731520" y="1737360"/>
            <a:ext cx="5577840" cy="228600"/>
          </a:xfrm>
          <a:prstGeom prst="rect">
            <a:avLst/>
          </a:prstGeom>
          <a:noFill/>
          <a:ln/>
        </p:spPr>
        <p:txBody>
          <a:bodyPr wrap="square" rtlCol="0" anchor="ctr"/>
          <a:lstStyle/>
          <a:p>
            <a:pPr marL="0" indent="0">
              <a:buNone/>
            </a:pPr>
            <a:r>
              <a:rPr lang="en-US" sz="900" i="1" dirty="0">
                <a:solidFill>
                  <a:srgbClr val="9FB0C2"/>
                </a:solidFill>
                <a:latin typeface="Calibri" pitchFamily="34" charset="0"/>
                <a:ea typeface="Calibri" pitchFamily="34" charset="-122"/>
                <a:cs typeface="Calibri" pitchFamily="34" charset="-120"/>
              </a:rPr>
              <a:t>travel of the served share   +   the unserved share, priced at BIG   +   facility cost</a:t>
            </a:r>
            <a:endParaRPr lang="en-US" sz="900" dirty="0"/>
          </a:p>
        </p:txBody>
      </p:sp>
      <p:sp>
        <p:nvSpPr>
          <p:cNvPr id="7" name="Text 5"/>
          <p:cNvSpPr/>
          <p:nvPr/>
        </p:nvSpPr>
        <p:spPr>
          <a:xfrm>
            <a:off x="731520" y="2057400"/>
            <a:ext cx="5577840" cy="1280160"/>
          </a:xfrm>
          <a:prstGeom prst="rect">
            <a:avLst/>
          </a:prstGeom>
          <a:noFill/>
          <a:ln/>
        </p:spPr>
        <p:txBody>
          <a:bodyPr wrap="square" rtlCol="0" anchor="ctr"/>
          <a:lstStyle/>
          <a:p>
            <a:pPr marL="0" indent="0">
              <a:lnSpc>
                <a:spcPct val="135000"/>
              </a:lnSpc>
              <a:buNone/>
            </a:pPr>
            <a:r>
              <a:rPr lang="en-US" sz="1500" b="1" dirty="0">
                <a:solidFill>
                  <a:srgbClr val="8FD4F0"/>
                </a:solidFill>
                <a:latin typeface="Cambria Math" pitchFamily="34" charset="0"/>
                <a:ea typeface="Cambria Math" pitchFamily="34" charset="-122"/>
                <a:cs typeface="Cambria Math" pitchFamily="34" charset="-120"/>
              </a:rPr>
              <a:t>s.t.</a:t>
            </a:r>
            <a:r>
              <a:rPr lang="en-US" sz="1500" dirty="0">
                <a:solidFill>
                  <a:srgbClr val="FFFFFF"/>
                </a:solidFill>
                <a:latin typeface="Cambria Math" pitchFamily="34" charset="0"/>
                <a:ea typeface="Cambria Math" pitchFamily="34" charset="-122"/>
                <a:cs typeface="Cambria Math" pitchFamily="34" charset="-120"/>
              </a:rPr>
              <a:t>  Σⱼ xᵢⱼ  ≤  1</a:t>
            </a:r>
            <a:r>
              <a:rPr lang="en-US" sz="1050" dirty="0">
                <a:solidFill>
                  <a:srgbClr val="FFD9A0"/>
                </a:solidFill>
                <a:latin typeface="Calibri" pitchFamily="34" charset="0"/>
                <a:ea typeface="Calibri" pitchFamily="34" charset="-122"/>
                <a:cs typeface="Calibri" pitchFamily="34" charset="-120"/>
              </a:rPr>
              <a:t>          a client MAY be left unserved</a:t>
            </a:r>
            <a:endParaRPr lang="en-US" sz="1500" dirty="0"/>
          </a:p>
          <a:p>
            <a:pPr marL="0" indent="0">
              <a:lnSpc>
                <a:spcPct val="135000"/>
              </a:lnSpc>
              <a:buNone/>
            </a:pPr>
            <a:r>
              <a:rPr lang="en-US" sz="1500" dirty="0">
                <a:solidFill>
                  <a:srgbClr val="FFFFFF"/>
                </a:solidFill>
                <a:latin typeface="Cambria Math" pitchFamily="34" charset="0"/>
                <a:ea typeface="Cambria Math" pitchFamily="34" charset="-122"/>
                <a:cs typeface="Cambria Math" pitchFamily="34" charset="-120"/>
              </a:rPr>
              <a:t>      xᵢⱼ  ≤  yⱼ</a:t>
            </a:r>
            <a:r>
              <a:rPr lang="en-US" sz="1050" dirty="0">
                <a:solidFill>
                  <a:srgbClr val="9FB0C2"/>
                </a:solidFill>
                <a:latin typeface="Calibri" pitchFamily="34" charset="0"/>
                <a:ea typeface="Calibri" pitchFamily="34" charset="-122"/>
                <a:cs typeface="Calibri" pitchFamily="34" charset="-120"/>
              </a:rPr>
              <a:t>            only to open pharmacies</a:t>
            </a:r>
            <a:endParaRPr lang="en-US" sz="1500" dirty="0"/>
          </a:p>
          <a:p>
            <a:pPr marL="0" indent="0">
              <a:lnSpc>
                <a:spcPct val="135000"/>
              </a:lnSpc>
              <a:buNone/>
            </a:pPr>
            <a:r>
              <a:rPr lang="en-US" sz="1500" dirty="0">
                <a:solidFill>
                  <a:srgbClr val="FFFFFF"/>
                </a:solidFill>
                <a:latin typeface="Cambria Math" pitchFamily="34" charset="0"/>
                <a:ea typeface="Cambria Math" pitchFamily="34" charset="-122"/>
                <a:cs typeface="Cambria Math" pitchFamily="34" charset="-120"/>
              </a:rPr>
              <a:t>      yⱼ ∈ {0,1}</a:t>
            </a:r>
            <a:r>
              <a:rPr lang="en-US" sz="1500" dirty="0">
                <a:solidFill>
                  <a:srgbClr val="FFD9A0"/>
                </a:solidFill>
                <a:latin typeface="Cambria Math" pitchFamily="34" charset="0"/>
                <a:ea typeface="Cambria Math" pitchFamily="34" charset="-122"/>
                <a:cs typeface="Cambria Math" pitchFamily="34" charset="-120"/>
              </a:rPr>
              <a:t>  →  relaxed to  0 ≤ yⱼ ≤ 1,   xᵢⱼ ≥ 0</a:t>
            </a:r>
            <a:endParaRPr lang="en-US" sz="1500" dirty="0"/>
          </a:p>
        </p:txBody>
      </p:sp>
      <p:sp>
        <p:nvSpPr>
          <p:cNvPr id="8" name="Text 6"/>
          <p:cNvSpPr/>
          <p:nvPr/>
        </p:nvSpPr>
        <p:spPr>
          <a:xfrm>
            <a:off x="731520" y="3364992"/>
            <a:ext cx="5532120" cy="868680"/>
          </a:xfrm>
          <a:prstGeom prst="rect">
            <a:avLst/>
          </a:prstGeom>
          <a:noFill/>
          <a:ln/>
        </p:spPr>
        <p:txBody>
          <a:bodyPr wrap="square" rtlCol="0" anchor="t"/>
          <a:lstStyle/>
          <a:p>
            <a:pPr marL="0" indent="0">
              <a:buNone/>
            </a:pPr>
            <a:r>
              <a:rPr lang="en-US" sz="1100" i="1" dirty="0">
                <a:solidFill>
                  <a:srgbClr val="FFFFFF"/>
                </a:solidFill>
                <a:latin typeface="Cambria Math" pitchFamily="34" charset="0"/>
                <a:ea typeface="Cambria Math" pitchFamily="34" charset="-122"/>
                <a:cs typeface="Cambria Math" pitchFamily="34" charset="-120"/>
              </a:rPr>
              <a:t>i</a:t>
            </a:r>
            <a:r>
              <a:rPr lang="en-US" sz="1050" dirty="0">
                <a:solidFill>
                  <a:srgbClr val="C7D2DD"/>
                </a:solidFill>
                <a:latin typeface="Calibri" pitchFamily="34" charset="0"/>
                <a:ea typeface="Calibri" pitchFamily="34" charset="-122"/>
                <a:cs typeface="Calibri" pitchFamily="34" charset="-120"/>
              </a:rPr>
              <a:t> = populated 1 km² cells (clients) · </a:t>
            </a:r>
            <a:r>
              <a:rPr lang="en-US" sz="1100" i="1" dirty="0">
                <a:solidFill>
                  <a:srgbClr val="FFFFFF"/>
                </a:solidFill>
                <a:latin typeface="Cambria Math" pitchFamily="34" charset="0"/>
                <a:ea typeface="Cambria Math" pitchFamily="34" charset="-122"/>
                <a:cs typeface="Cambria Math" pitchFamily="34" charset="-120"/>
              </a:rPr>
              <a:t>j</a:t>
            </a:r>
            <a:r>
              <a:rPr lang="en-US" sz="1050" dirty="0">
                <a:solidFill>
                  <a:srgbClr val="C7D2DD"/>
                </a:solidFill>
                <a:latin typeface="Calibri" pitchFamily="34" charset="0"/>
                <a:ea typeface="Calibri" pitchFamily="34" charset="-122"/>
                <a:cs typeface="Calibri" pitchFamily="34" charset="-120"/>
              </a:rPr>
              <a:t> = candidate pharmacy cells · </a:t>
            </a:r>
            <a:r>
              <a:rPr lang="en-US" sz="1100" i="1" dirty="0">
                <a:solidFill>
                  <a:srgbClr val="FFFFFF"/>
                </a:solidFill>
                <a:latin typeface="Cambria Math" pitchFamily="34" charset="0"/>
                <a:ea typeface="Cambria Math" pitchFamily="34" charset="-122"/>
                <a:cs typeface="Cambria Math" pitchFamily="34" charset="-120"/>
              </a:rPr>
              <a:t>(i,j)</a:t>
            </a:r>
            <a:r>
              <a:rPr lang="en-US" sz="1050" dirty="0">
                <a:solidFill>
                  <a:srgbClr val="C7D2DD"/>
                </a:solidFill>
                <a:latin typeface="Calibri" pitchFamily="34" charset="0"/>
                <a:ea typeface="Calibri" pitchFamily="34" charset="-122"/>
                <a:cs typeface="Calibri" pitchFamily="34" charset="-120"/>
              </a:rPr>
              <a:t> only where the road network gives tᵢⱼ ≤ t_max — the exported OD.  </a:t>
            </a:r>
            <a:r>
              <a:rPr lang="en-US" sz="1100" i="1" dirty="0">
                <a:solidFill>
                  <a:srgbClr val="FFD9A0"/>
                </a:solidFill>
                <a:latin typeface="Cambria Math" pitchFamily="34" charset="0"/>
                <a:ea typeface="Cambria Math" pitchFamily="34" charset="-122"/>
                <a:cs typeface="Cambria Math" pitchFamily="34" charset="-120"/>
              </a:rPr>
              <a:t>BIG</a:t>
            </a:r>
            <a:r>
              <a:rPr lang="en-US" sz="1050" dirty="0">
                <a:solidFill>
                  <a:srgbClr val="C7D2DD"/>
                </a:solidFill>
                <a:latin typeface="Calibri" pitchFamily="34" charset="0"/>
                <a:ea typeface="Calibri" pitchFamily="34" charset="-122"/>
                <a:cs typeface="Calibri" pitchFamily="34" charset="-120"/>
              </a:rPr>
              <a:t> = price of leaving a client unserved: 120 min (linear) / 1.0 (logistic saturation). Opening a facility only pays off where it saves more travel than λ.</a:t>
            </a:r>
            <a:endParaRPr lang="en-US" sz="1100" dirty="0"/>
          </a:p>
        </p:txBody>
      </p:sp>
      <p:sp>
        <p:nvSpPr>
          <p:cNvPr id="9" name="Text 7"/>
          <p:cNvSpPr/>
          <p:nvPr/>
        </p:nvSpPr>
        <p:spPr>
          <a:xfrm>
            <a:off x="6812280" y="1280160"/>
            <a:ext cx="4937760" cy="256032"/>
          </a:xfrm>
          <a:prstGeom prst="rect">
            <a:avLst/>
          </a:prstGeom>
          <a:noFill/>
          <a:ln/>
        </p:spPr>
        <p:txBody>
          <a:bodyPr wrap="square" rtlCol="0" anchor="ctr"/>
          <a:lstStyle/>
          <a:p>
            <a:pPr marL="0" indent="0">
              <a:buNone/>
            </a:pPr>
            <a:r>
              <a:rPr lang="en-US" sz="1250" b="1" dirty="0">
                <a:solidFill>
                  <a:srgbClr val="1C3D5A"/>
                </a:solidFill>
                <a:latin typeface="Calibri" pitchFamily="34" charset="0"/>
                <a:ea typeface="Calibri" pitchFamily="34" charset="-122"/>
                <a:cs typeface="Calibri" pitchFamily="34" charset="-120"/>
              </a:rPr>
              <a:t>c(t) — travel cost, t in minutes</a:t>
            </a:r>
            <a:endParaRPr lang="en-US" sz="1250" dirty="0"/>
          </a:p>
        </p:txBody>
      </p:sp>
      <p:sp>
        <p:nvSpPr>
          <p:cNvPr id="10" name="Text 8"/>
          <p:cNvSpPr/>
          <p:nvPr/>
        </p:nvSpPr>
        <p:spPr>
          <a:xfrm>
            <a:off x="6812280" y="1527048"/>
            <a:ext cx="4937760" cy="566928"/>
          </a:xfrm>
          <a:prstGeom prst="rect">
            <a:avLst/>
          </a:prstGeom>
          <a:noFill/>
          <a:ln/>
        </p:spPr>
        <p:txBody>
          <a:bodyPr wrap="square" rtlCol="0" anchor="t"/>
          <a:lstStyle/>
          <a:p>
            <a:pPr marL="0" indent="0">
              <a:buNone/>
            </a:pPr>
            <a:r>
              <a:rPr lang="en-US" sz="1050" dirty="0">
                <a:solidFill>
                  <a:srgbClr val="5B6B7B"/>
                </a:solidFill>
                <a:latin typeface="Calibri" pitchFamily="34" charset="0"/>
                <a:ea typeface="Calibri" pitchFamily="34" charset="-122"/>
                <a:cs typeface="Calibri" pitchFamily="34" charset="-120"/>
              </a:rPr>
              <a:t>LINEAR c(t)=t; LOGISTIC (adapted logit) c(t)=1/(1+e^−(t−25)/10). The swept LPs run once per function.</a:t>
            </a:r>
            <a:endParaRPr lang="en-US" sz="1050" dirty="0"/>
          </a:p>
        </p:txBody>
      </p:sp>
      <p:sp>
        <p:nvSpPr>
          <p:cNvPr id="11" name="Text 9"/>
          <p:cNvSpPr/>
          <p:nvPr/>
        </p:nvSpPr>
        <p:spPr>
          <a:xfrm>
            <a:off x="6812280" y="2121408"/>
            <a:ext cx="4937760" cy="256032"/>
          </a:xfrm>
          <a:prstGeom prst="rect">
            <a:avLst/>
          </a:prstGeom>
          <a:noFill/>
          <a:ln/>
        </p:spPr>
        <p:txBody>
          <a:bodyPr wrap="square" rtlCol="0" anchor="ctr"/>
          <a:lstStyle/>
          <a:p>
            <a:pPr marL="0" indent="0">
              <a:buNone/>
            </a:pPr>
            <a:r>
              <a:rPr lang="en-US" sz="1250" b="1" dirty="0">
                <a:solidFill>
                  <a:srgbClr val="1C3D5A"/>
                </a:solidFill>
                <a:latin typeface="Calibri" pitchFamily="34" charset="0"/>
                <a:ea typeface="Calibri" pitchFamily="34" charset="-122"/>
                <a:cs typeface="Calibri" pitchFamily="34" charset="-120"/>
              </a:rPr>
              <a:t>λ = w · €100,000 — the price of a location (placeholder)</a:t>
            </a:r>
            <a:endParaRPr lang="en-US" sz="1250" dirty="0"/>
          </a:p>
        </p:txBody>
      </p:sp>
      <p:sp>
        <p:nvSpPr>
          <p:cNvPr id="12" name="Text 10"/>
          <p:cNvSpPr/>
          <p:nvPr/>
        </p:nvSpPr>
        <p:spPr>
          <a:xfrm>
            <a:off x="6812280" y="2368296"/>
            <a:ext cx="4937760" cy="566928"/>
          </a:xfrm>
          <a:prstGeom prst="rect">
            <a:avLst/>
          </a:prstGeom>
          <a:noFill/>
          <a:ln/>
        </p:spPr>
        <p:txBody>
          <a:bodyPr wrap="square" rtlCol="0" anchor="t"/>
          <a:lstStyle/>
          <a:p>
            <a:pPr marL="0" indent="0">
              <a:buNone/>
            </a:pPr>
            <a:r>
              <a:rPr lang="en-US" sz="960" dirty="0">
                <a:solidFill>
                  <a:srgbClr val="5B6B7B"/>
                </a:solidFill>
                <a:latin typeface="Calibri" pitchFamily="34" charset="0"/>
                <a:ea typeface="Calibri" pitchFamily="34" charset="-122"/>
                <a:cs typeface="Calibri" pitchFamily="34" charset="-120"/>
              </a:rPr>
              <a:t>Linear cost a + b·q reduces to λ·#open: b·q is ~constant while (nearly) all demand is served, so only the fixed cost a matters (approximately, under soft coverage). €100,000 is a placeholder, not an estimate: the frontier, S1/S2 and the rankings are invariant to it — only the € labels move with the true a.</a:t>
            </a:r>
            <a:endParaRPr lang="en-US" sz="960" dirty="0"/>
          </a:p>
        </p:txBody>
      </p:sp>
      <p:sp>
        <p:nvSpPr>
          <p:cNvPr id="13" name="Text 11"/>
          <p:cNvSpPr/>
          <p:nvPr/>
        </p:nvSpPr>
        <p:spPr>
          <a:xfrm>
            <a:off x="6812280" y="3072384"/>
            <a:ext cx="4937760" cy="256032"/>
          </a:xfrm>
          <a:prstGeom prst="rect">
            <a:avLst/>
          </a:prstGeom>
          <a:noFill/>
          <a:ln/>
        </p:spPr>
        <p:txBody>
          <a:bodyPr wrap="square" rtlCol="0" anchor="ctr"/>
          <a:lstStyle/>
          <a:p>
            <a:pPr marL="0" indent="0">
              <a:buNone/>
            </a:pPr>
            <a:r>
              <a:rPr lang="en-US" sz="1250" b="1" dirty="0">
                <a:solidFill>
                  <a:srgbClr val="1C3D5A"/>
                </a:solidFill>
                <a:latin typeface="Calibri" pitchFamily="34" charset="0"/>
                <a:ea typeface="Calibri" pitchFamily="34" charset="-122"/>
                <a:cs typeface="Calibri" pitchFamily="34" charset="-120"/>
              </a:rPr>
              <a:t>One LP per λ, exact</a:t>
            </a:r>
            <a:endParaRPr lang="en-US" sz="1250" dirty="0"/>
          </a:p>
        </p:txBody>
      </p:sp>
      <p:sp>
        <p:nvSpPr>
          <p:cNvPr id="14" name="Text 12"/>
          <p:cNvSpPr/>
          <p:nvPr/>
        </p:nvSpPr>
        <p:spPr>
          <a:xfrm>
            <a:off x="6812280" y="3319272"/>
            <a:ext cx="4937760" cy="566928"/>
          </a:xfrm>
          <a:prstGeom prst="rect">
            <a:avLst/>
          </a:prstGeom>
          <a:noFill/>
          <a:ln/>
        </p:spPr>
        <p:txBody>
          <a:bodyPr wrap="square" rtlCol="0" anchor="t"/>
          <a:lstStyle/>
          <a:p>
            <a:pPr marL="0" indent="0">
              <a:buNone/>
            </a:pPr>
            <a:r>
              <a:rPr lang="en-US" sz="1050" dirty="0">
                <a:solidFill>
                  <a:srgbClr val="5B6B7B"/>
                </a:solidFill>
                <a:latin typeface="Calibri" pitchFamily="34" charset="0"/>
                <a:ea typeface="Calibri" pitchFamily="34" charset="-122"/>
                <a:cs typeface="Calibri" pitchFamily="34" charset="-120"/>
              </a:rPr>
              <a:t>JuMP + HiGHS dual simplex; the model is built once and re-solved along the w-grid from the previous optimal basis (lp_run.jl solve_at_w!) — millions of xᵢⱼ, minutes per point.</a:t>
            </a:r>
            <a:endParaRPr lang="en-US" sz="1050" dirty="0"/>
          </a:p>
        </p:txBody>
      </p:sp>
      <p:sp>
        <p:nvSpPr>
          <p:cNvPr id="15" name="Shape 13"/>
          <p:cNvSpPr/>
          <p:nvPr/>
        </p:nvSpPr>
        <p:spPr>
          <a:xfrm>
            <a:off x="6812280" y="3712464"/>
            <a:ext cx="4937760" cy="859536"/>
          </a:xfrm>
          <a:prstGeom prst="roundRect">
            <a:avLst>
              <a:gd name="adj" fmla="val 5319"/>
            </a:avLst>
          </a:prstGeom>
          <a:solidFill>
            <a:srgbClr val="FBF5EA"/>
          </a:solidFill>
          <a:ln w="12700">
            <a:solidFill>
              <a:srgbClr val="B9791C"/>
            </a:solidFill>
            <a:prstDash val="solid"/>
          </a:ln>
        </p:spPr>
        <p:txBody>
          <a:bodyPr/>
          <a:lstStyle/>
          <a:p>
            <a:endParaRPr lang="en-GB"/>
          </a:p>
        </p:txBody>
      </p:sp>
      <p:sp>
        <p:nvSpPr>
          <p:cNvPr id="16" name="Text 14"/>
          <p:cNvSpPr/>
          <p:nvPr/>
        </p:nvSpPr>
        <p:spPr>
          <a:xfrm>
            <a:off x="6931152" y="3749040"/>
            <a:ext cx="4718304" cy="804672"/>
          </a:xfrm>
          <a:prstGeom prst="rect">
            <a:avLst/>
          </a:prstGeom>
          <a:noFill/>
          <a:ln/>
        </p:spPr>
        <p:txBody>
          <a:bodyPr wrap="square" rtlCol="0" anchor="t"/>
          <a:lstStyle/>
          <a:p>
            <a:pPr marL="0" indent="0">
              <a:lnSpc>
                <a:spcPct val="96000"/>
              </a:lnSpc>
              <a:buNone/>
            </a:pPr>
            <a:r>
              <a:rPr lang="en-US" sz="760" b="1" dirty="0">
                <a:solidFill>
                  <a:srgbClr val="B9791C"/>
                </a:solidFill>
                <a:latin typeface="Calibri" pitchFamily="34" charset="0"/>
                <a:ea typeface="Calibri" pitchFamily="34" charset="-122"/>
                <a:cs typeface="Calibri" pitchFamily="34" charset="-120"/>
              </a:rPr>
              <a:t>⚠ For review:  </a:t>
            </a:r>
            <a:r>
              <a:rPr lang="en-US" sz="760" dirty="0">
                <a:solidFill>
                  <a:srgbClr val="12233A"/>
                </a:solidFill>
                <a:latin typeface="Calibri" pitchFamily="34" charset="0"/>
                <a:ea typeface="Calibri" pitchFamily="34" charset="-122"/>
                <a:cs typeface="Calibri" pitchFamily="34" charset="-120"/>
              </a:rPr>
              <a:t>each client's OD holds every candidate out to its 5 nearest EXISTING pharmacies (max_nr_facilities_per_client) — it shrinks the LP but limits reassignment choice, and it can bind at S2-level facility counts. Clients still unreachable within t_max are priced at BIG on BOTH sides — stranded in the baseline, optionally stranded in the LP — so ★ and frontier stay directly comparable. After the scope rules on p8 that is 0.012% of residents: 36 of 43 areas have none, the largest remainder is SE2 (165 cells, 14,210 residents, 0.32%) — genuinely remote cells, not a coverage artefact. Feedback welcome.</a:t>
            </a:r>
            <a:endParaRPr lang="en-US" sz="760" dirty="0"/>
          </a:p>
        </p:txBody>
      </p:sp>
      <p:sp>
        <p:nvSpPr>
          <p:cNvPr id="17" name="Shape 15"/>
          <p:cNvSpPr/>
          <p:nvPr/>
        </p:nvSpPr>
        <p:spPr>
          <a:xfrm>
            <a:off x="457200" y="4617720"/>
            <a:ext cx="11274552" cy="1783080"/>
          </a:xfrm>
          <a:prstGeom prst="roundRect">
            <a:avLst>
              <a:gd name="adj" fmla="val 3077"/>
            </a:avLst>
          </a:prstGeom>
          <a:solidFill>
            <a:srgbClr val="F2F5F8"/>
          </a:solidFill>
          <a:ln w="12700">
            <a:solidFill>
              <a:srgbClr val="D9E0E7"/>
            </a:solidFill>
            <a:prstDash val="solid"/>
          </a:ln>
        </p:spPr>
        <p:txBody>
          <a:bodyPr/>
          <a:lstStyle/>
          <a:p>
            <a:endParaRPr lang="en-GB"/>
          </a:p>
        </p:txBody>
      </p:sp>
      <p:sp>
        <p:nvSpPr>
          <p:cNvPr id="18" name="Text 16"/>
          <p:cNvSpPr/>
          <p:nvPr/>
        </p:nvSpPr>
        <p:spPr>
          <a:xfrm>
            <a:off x="685800" y="4736592"/>
            <a:ext cx="10835640" cy="1627632"/>
          </a:xfrm>
          <a:prstGeom prst="rect">
            <a:avLst/>
          </a:prstGeom>
          <a:noFill/>
          <a:ln/>
        </p:spPr>
        <p:txBody>
          <a:bodyPr wrap="square" rtlCol="0" anchor="t"/>
          <a:lstStyle/>
          <a:p>
            <a:pPr marL="0" indent="0">
              <a:buNone/>
            </a:pPr>
            <a:r>
              <a:rPr lang="en-US" sz="930" b="1" dirty="0">
                <a:solidFill>
                  <a:srgbClr val="12233A"/>
                </a:solidFill>
                <a:latin typeface="Calibri" pitchFamily="34" charset="0"/>
                <a:ea typeface="Calibri" pitchFamily="34" charset="-122"/>
                <a:cs typeface="Calibri" pitchFamily="34" charset="-120"/>
              </a:rPr>
              <a:t>Why the relaxation, and what it buys.  </a:t>
            </a:r>
            <a:r>
              <a:rPr lang="en-US" sz="930" dirty="0">
                <a:solidFill>
                  <a:srgbClr val="5B6B7B"/>
                </a:solidFill>
                <a:latin typeface="Calibri" pitchFamily="34" charset="0"/>
                <a:ea typeface="Calibri" pitchFamily="34" charset="-122"/>
                <a:cs typeface="Calibri" pitchFamily="34" charset="-120"/>
              </a:rPr>
              <a:t>With yⱼ ∈ {0,1} this is the (NP-hard) uncapacitated facility-location problem (UFLP), in its strong disaggregated formulation — one xᵢⱼ ≤ yⱼ per OD pair, i.e. the full set of the “disaggregated cuts” that Rosa's La Poste deck (p11) adds only for each customer's closest facility — whose LP relaxation is known to be nearly integral, which the sweeps confirm (frac_y stays small). The LP optimum is a certified </a:t>
            </a:r>
            <a:r>
              <a:rPr lang="en-US" sz="930" b="1" dirty="0">
                <a:solidFill>
                  <a:srgbClr val="5B6B7B"/>
                </a:solidFill>
                <a:latin typeface="Calibri" pitchFamily="34" charset="0"/>
                <a:ea typeface="Calibri" pitchFamily="34" charset="-122"/>
                <a:cs typeface="Calibri" pitchFamily="34" charset="-120"/>
              </a:rPr>
              <a:t>lower bound</a:t>
            </a:r>
            <a:r>
              <a:rPr lang="en-US" sz="930" dirty="0">
                <a:solidFill>
                  <a:srgbClr val="5B6B7B"/>
                </a:solidFill>
                <a:latin typeface="Calibri" pitchFamily="34" charset="0"/>
                <a:ea typeface="Calibri" pitchFamily="34" charset="-122"/>
                <a:cs typeface="Calibri" pitchFamily="34" charset="-120"/>
              </a:rPr>
              <a:t> (the grey dashed line); rounding x* to a real set of pharmacies (multistart, p. 12) gives a feasible </a:t>
            </a:r>
            <a:r>
              <a:rPr lang="en-US" sz="930" b="1" dirty="0">
                <a:solidFill>
                  <a:srgbClr val="0B6E99"/>
                </a:solidFill>
                <a:latin typeface="Calibri" pitchFamily="34" charset="0"/>
                <a:ea typeface="Calibri" pitchFamily="34" charset="-122"/>
                <a:cs typeface="Calibri" pitchFamily="34" charset="-120"/>
              </a:rPr>
              <a:t>upper bound</a:t>
            </a:r>
            <a:r>
              <a:rPr lang="en-US" sz="930" dirty="0">
                <a:solidFill>
                  <a:srgbClr val="5B6B7B"/>
                </a:solidFill>
                <a:latin typeface="Calibri" pitchFamily="34" charset="0"/>
                <a:ea typeface="Calibri" pitchFamily="34" charset="-122"/>
                <a:cs typeface="Calibri" pitchFamily="34" charset="-120"/>
              </a:rPr>
              <a:t> — the integer optimum is pinched between the two (+0–18% LINEAR, +0–4.7% LOGISTIC).</a:t>
            </a:r>
            <a:endParaRPr lang="en-US" sz="930" dirty="0"/>
          </a:p>
          <a:p>
            <a:pPr marL="0" indent="0">
              <a:buNone/>
            </a:pPr>
            <a:r>
              <a:rPr lang="en-US" sz="930" b="1" dirty="0">
                <a:solidFill>
                  <a:srgbClr val="12233A"/>
                </a:solidFill>
                <a:latin typeface="Calibri" pitchFamily="34" charset="0"/>
                <a:ea typeface="Calibri" pitchFamily="34" charset="-122"/>
                <a:cs typeface="Calibri" pitchFamily="34" charset="-120"/>
              </a:rPr>
              <a:t>Relation to the p-median problem.  </a:t>
            </a:r>
            <a:r>
              <a:rPr lang="en-US" sz="930" dirty="0">
                <a:solidFill>
                  <a:srgbClr val="5B6B7B"/>
                </a:solidFill>
                <a:latin typeface="Calibri" pitchFamily="34" charset="0"/>
                <a:ea typeface="Calibri" pitchFamily="34" charset="-122"/>
                <a:cs typeface="Calibri" pitchFamily="34" charset="-120"/>
              </a:rPr>
              <a:t>Imposing the count (Σⱼ yⱼ = p) instead of pricing it gives the p-median problem with costs c(tᵢⱼ) (pMP: Hakimi 1964; ReVelle &amp; Swain 1970) — S1 at the baseline count is a p-median instance, in its soft-coverage form: a client may go unserved at BIG rather than be forced onto a far facility (an outside option / p-median with an upper bound on assignment cost). The λ-sweep is its Lagrangian relaxation w.r.t. that constraint (Cornuéjols, Fisher &amp; Nemhauser 1977): it recovers only the p’s on the lower convex envelope of the p-median value function, so p-values in non-convex gaps are unreachable by any λ — there S1/S2 are interpolated between sweep points, or pinned exactly with the cardinality constraint (roadmap: better S1/S2 estimations). The swap polish of p. 12 is the classic p-median vertex-substitution search. In the family tree of Rosa's deck (her p7): capacities Rⱼ on Σᵢ popᵢ·xᵢⱼ make it the CpMP; a coverage radius in place of c(t) makes it the MCLP — the saturating logistic c(t) is the smooth counterpart of that coverage objective (p66).</a:t>
            </a:r>
            <a:endParaRPr lang="en-US" sz="930" dirty="0"/>
          </a:p>
        </p:txBody>
      </p:sp>
      <p:sp>
        <p:nvSpPr>
          <p:cNvPr id="19" name="Text 17"/>
          <p:cNvSpPr/>
          <p:nvPr/>
        </p:nvSpPr>
        <p:spPr>
          <a:xfrm>
            <a:off x="457200" y="6446520"/>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Implementation: lp_run.jl (build_lp_warmstart / solve_at_w!) · weights popᵢ = total residents of cell i (CLIENT_WEIGHT=total_pop) · OD from GeoDMS impedance_matrix_od64, t = seconds/60.</a:t>
            </a:r>
            <a:endParaRPr lang="en-US" sz="850" dirty="0"/>
          </a:p>
        </p:txBody>
      </p:sp>
    </p:spTree>
    <p:extLst>
      <p:ext uri="{BB962C8B-B14F-4D97-AF65-F5344CB8AC3E}">
        <p14:creationId xmlns:p14="http://schemas.microsoft.com/office/powerpoint/2010/main" val="3396448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8229600" cy="274320"/>
          </a:xfrm>
          <a:prstGeom prst="rect">
            <a:avLst/>
          </a:prstGeom>
          <a:noFill/>
          <a:ln/>
        </p:spPr>
        <p:txBody>
          <a:bodyPr wrap="square" rtlCol="0" anchor="ctr"/>
          <a:lstStyle/>
          <a:p>
            <a:pPr marL="0" indent="0">
              <a:buNone/>
            </a:pPr>
            <a:r>
              <a:rPr lang="en-US" sz="1200" b="1" kern="0" spc="200" dirty="0">
                <a:solidFill>
                  <a:srgbClr val="0B6E99"/>
                </a:solidFill>
              </a:rPr>
              <a:t>SCOPE</a:t>
            </a:r>
            <a:endParaRPr lang="en-US" sz="1200" dirty="0"/>
          </a:p>
        </p:txBody>
      </p:sp>
      <p:sp>
        <p:nvSpPr>
          <p:cNvPr id="3" name="Text 1"/>
          <p:cNvSpPr/>
          <p:nvPr/>
        </p:nvSpPr>
        <p:spPr>
          <a:xfrm>
            <a:off x="411480" y="512064"/>
            <a:ext cx="1143000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What the model covers  </a:t>
            </a:r>
            <a:r>
              <a:rPr lang="en-US" sz="2200" dirty="0">
                <a:solidFill>
                  <a:srgbClr val="1C3D5A"/>
                </a:solidFill>
                <a:latin typeface="Georgia" pitchFamily="34" charset="0"/>
                <a:ea typeface="Georgia" pitchFamily="34" charset="-122"/>
                <a:cs typeface="Georgia" pitchFamily="34" charset="-120"/>
              </a:rPr>
              <a:t>— and what it deliberately excludes</a:t>
            </a:r>
            <a:endParaRPr lang="en-US" sz="2200" dirty="0"/>
          </a:p>
        </p:txBody>
      </p:sp>
      <p:sp>
        <p:nvSpPr>
          <p:cNvPr id="4" name="Text 2"/>
          <p:cNvSpPr/>
          <p:nvPr/>
        </p:nvSpPr>
        <p:spPr>
          <a:xfrm>
            <a:off x="411480" y="914400"/>
            <a:ext cx="11430000" cy="384048"/>
          </a:xfrm>
          <a:prstGeom prst="rect">
            <a:avLst/>
          </a:prstGeom>
          <a:noFill/>
          <a:ln/>
        </p:spPr>
        <p:txBody>
          <a:bodyPr wrap="square" rtlCol="0" anchor="t"/>
          <a:lstStyle/>
          <a:p>
            <a:pPr marL="0" indent="0">
              <a:buNone/>
            </a:pPr>
            <a:r>
              <a:rPr lang="en-US" sz="1000" dirty="0">
                <a:solidFill>
                  <a:srgbClr val="5B6B7B"/>
                </a:solidFill>
                <a:latin typeface="Calibri" pitchFamily="34" charset="0"/>
                <a:ea typeface="Calibri" pitchFamily="34" charset="-122"/>
                <a:cs typeface="Calibri" pitchFamily="34" charset="-120"/>
              </a:rPr>
              <a:t>Under soft coverage every resident the model cannot route to a pharmacy is priced at BIG (120 min). That is right for someone who is genuinely remote — and wrong when the network or the supply data is simply missing, because it turns a DATA gap into apparent policy headroom. Two rules separate the cases.</a:t>
            </a:r>
            <a:endParaRPr lang="en-US" sz="1000" dirty="0"/>
          </a:p>
        </p:txBody>
      </p:sp>
      <p:sp>
        <p:nvSpPr>
          <p:cNvPr id="5" name="Shape 3"/>
          <p:cNvSpPr/>
          <p:nvPr/>
        </p:nvSpPr>
        <p:spPr>
          <a:xfrm>
            <a:off x="365760" y="1417320"/>
            <a:ext cx="5715000" cy="3977640"/>
          </a:xfrm>
          <a:prstGeom prst="roundRect">
            <a:avLst>
              <a:gd name="adj" fmla="val 1149"/>
            </a:avLst>
          </a:prstGeom>
          <a:solidFill>
            <a:srgbClr val="F0F6F2"/>
          </a:solidFill>
          <a:ln w="12700">
            <a:solidFill>
              <a:srgbClr val="1E7A52"/>
            </a:solidFill>
            <a:prstDash val="solid"/>
          </a:ln>
        </p:spPr>
        <p:txBody>
          <a:bodyPr/>
          <a:lstStyle/>
          <a:p>
            <a:endParaRPr lang="en-GB"/>
          </a:p>
        </p:txBody>
      </p:sp>
      <p:sp>
        <p:nvSpPr>
          <p:cNvPr id="6" name="Text 4"/>
          <p:cNvSpPr/>
          <p:nvPr/>
        </p:nvSpPr>
        <p:spPr>
          <a:xfrm>
            <a:off x="566928" y="1499616"/>
            <a:ext cx="5349240" cy="274320"/>
          </a:xfrm>
          <a:prstGeom prst="rect">
            <a:avLst/>
          </a:prstGeom>
          <a:noFill/>
          <a:ln/>
        </p:spPr>
        <p:txBody>
          <a:bodyPr wrap="square" rtlCol="0" anchor="ctr"/>
          <a:lstStyle/>
          <a:p>
            <a:pPr marL="0" indent="0">
              <a:buNone/>
            </a:pPr>
            <a:r>
              <a:rPr lang="en-US" sz="1350" b="1" dirty="0">
                <a:solidFill>
                  <a:srgbClr val="1E7A52"/>
                </a:solidFill>
                <a:latin typeface="Calibri" pitchFamily="34" charset="0"/>
                <a:ea typeface="Calibri" pitchFamily="34" charset="-122"/>
                <a:cs typeface="Calibri" pitchFamily="34" charset="-120"/>
              </a:rPr>
              <a:t>1 · Road network — per landbody</a:t>
            </a:r>
            <a:endParaRPr lang="en-US" sz="1350" dirty="0"/>
          </a:p>
        </p:txBody>
      </p:sp>
      <p:sp>
        <p:nvSpPr>
          <p:cNvPr id="7" name="Text 5"/>
          <p:cNvSpPr/>
          <p:nvPr/>
        </p:nvSpPr>
        <p:spPr>
          <a:xfrm>
            <a:off x="566928" y="1783080"/>
            <a:ext cx="5349240" cy="566928"/>
          </a:xfrm>
          <a:prstGeom prst="rect">
            <a:avLst/>
          </a:prstGeom>
          <a:noFill/>
          <a:ln/>
        </p:spPr>
        <p:txBody>
          <a:bodyPr wrap="square" rtlCol="0" anchor="t"/>
          <a:lstStyle/>
          <a:p>
            <a:pPr marL="0" indent="0">
              <a:buNone/>
            </a:pPr>
            <a:r>
              <a:rPr lang="en-US" sz="1000" dirty="0">
                <a:solidFill>
                  <a:srgbClr val="12233A"/>
                </a:solidFill>
                <a:latin typeface="Calibri" pitchFamily="34" charset="0"/>
                <a:ea typeface="Calibri" pitchFamily="34" charset="-122"/>
                <a:cs typeface="Calibri" pitchFamily="34" charset="-120"/>
              </a:rPr>
              <a:t>The largest strongly-connected network is kept for EVERY separate landbody, not just the single largest one in the study area.</a:t>
            </a:r>
            <a:endParaRPr lang="en-US" sz="1000" dirty="0"/>
          </a:p>
        </p:txBody>
      </p:sp>
      <p:sp>
        <p:nvSpPr>
          <p:cNvPr id="8" name="Text 6"/>
          <p:cNvSpPr/>
          <p:nvPr/>
        </p:nvSpPr>
        <p:spPr>
          <a:xfrm>
            <a:off x="585216" y="2377440"/>
            <a:ext cx="5303520" cy="2286000"/>
          </a:xfrm>
          <a:prstGeom prst="rect">
            <a:avLst/>
          </a:prstGeom>
          <a:noFill/>
          <a:ln/>
        </p:spPr>
        <p:txBody>
          <a:bodyPr wrap="square" rtlCol="0" anchor="t"/>
          <a:lstStyle/>
          <a:p>
            <a:pPr marL="152400" indent="-152400">
              <a:lnSpc>
                <a:spcPct val="100000"/>
              </a:lnSpc>
              <a:spcAft>
                <a:spcPts val="500"/>
              </a:spcAft>
              <a:buSzPct val="100000"/>
              <a:buChar char="•"/>
            </a:pPr>
            <a:r>
              <a:rPr lang="en-US" sz="950" dirty="0">
                <a:solidFill>
                  <a:srgbClr val="12233A"/>
                </a:solidFill>
                <a:latin typeface="Calibri" pitchFamily="34" charset="0"/>
                <a:ea typeface="Calibri" pitchFamily="34" charset="-122"/>
                <a:cs typeface="Calibri" pitchFamily="34" charset="-120"/>
              </a:rPr>
              <a:t>Before, one component survived per study area, so island networks — and the ferry links inside them — were discarded entirely.</a:t>
            </a:r>
            <a:endParaRPr lang="en-US" sz="950" dirty="0"/>
          </a:p>
          <a:p>
            <a:pPr marL="152400" indent="-152400">
              <a:lnSpc>
                <a:spcPct val="100000"/>
              </a:lnSpc>
              <a:spcAft>
                <a:spcPts val="500"/>
              </a:spcAft>
              <a:buSzPct val="100000"/>
              <a:buChar char="•"/>
            </a:pPr>
            <a:r>
              <a:rPr lang="en-US" sz="950" dirty="0">
                <a:solidFill>
                  <a:srgbClr val="12233A"/>
                </a:solidFill>
                <a:latin typeface="Calibri" pitchFamily="34" charset="0"/>
                <a:ea typeface="Calibri" pitchFamily="34" charset="-122"/>
                <a:cs typeface="Calibri" pitchFamily="34" charset="-120"/>
              </a:rPr>
              <a:t>Sicilia and Sardegna are two separate landbodies, so at most one of them could ever be kept.</a:t>
            </a:r>
            <a:endParaRPr lang="en-US" sz="950" dirty="0"/>
          </a:p>
          <a:p>
            <a:pPr marL="152400" indent="-152400">
              <a:lnSpc>
                <a:spcPct val="100000"/>
              </a:lnSpc>
              <a:spcAft>
                <a:spcPts val="500"/>
              </a:spcAft>
              <a:buSzPct val="100000"/>
              <a:buChar char="•"/>
            </a:pPr>
            <a:r>
              <a:rPr lang="en-US" sz="950" dirty="0">
                <a:solidFill>
                  <a:srgbClr val="12233A"/>
                </a:solidFill>
                <a:latin typeface="Calibri" pitchFamily="34" charset="0"/>
                <a:ea typeface="Calibri" pitchFamily="34" charset="-122"/>
                <a:cs typeface="Calibri" pitchFamily="34" charset="-120"/>
              </a:rPr>
              <a:t>No source data changed: the links were always in the TomTom extract, they were being pruned.</a:t>
            </a:r>
            <a:endParaRPr lang="en-US" sz="950" dirty="0"/>
          </a:p>
        </p:txBody>
      </p:sp>
      <p:sp>
        <p:nvSpPr>
          <p:cNvPr id="9" name="Text 7"/>
          <p:cNvSpPr/>
          <p:nvPr/>
        </p:nvSpPr>
        <p:spPr>
          <a:xfrm>
            <a:off x="585216" y="4828032"/>
            <a:ext cx="5303520" cy="502920"/>
          </a:xfrm>
          <a:prstGeom prst="rect">
            <a:avLst/>
          </a:prstGeom>
          <a:noFill/>
          <a:ln/>
        </p:spPr>
        <p:txBody>
          <a:bodyPr wrap="square" rtlCol="0" anchor="t"/>
          <a:lstStyle/>
          <a:p>
            <a:pPr marL="0" indent="0">
              <a:buNone/>
            </a:pPr>
            <a:r>
              <a:rPr lang="en-US" sz="950" b="1" dirty="0">
                <a:solidFill>
                  <a:srgbClr val="1E7A52"/>
                </a:solidFill>
                <a:latin typeface="Calibri" pitchFamily="34" charset="0"/>
                <a:ea typeface="Calibri" pitchFamily="34" charset="-122"/>
                <a:cs typeface="Calibri" pitchFamily="34" charset="-120"/>
              </a:rPr>
              <a:t>ITG: mean travel 22.3 → 4.9 min · unreachable residents 983,169 → 591 (on the ESPON list; 2.0 min and 1,682 on the OECD list, next box)</a:t>
            </a:r>
            <a:endParaRPr lang="en-US" sz="950" dirty="0"/>
          </a:p>
        </p:txBody>
      </p:sp>
      <p:sp>
        <p:nvSpPr>
          <p:cNvPr id="10" name="Shape 8"/>
          <p:cNvSpPr/>
          <p:nvPr/>
        </p:nvSpPr>
        <p:spPr>
          <a:xfrm>
            <a:off x="6309360" y="1417320"/>
            <a:ext cx="5715000" cy="3977640"/>
          </a:xfrm>
          <a:prstGeom prst="roundRect">
            <a:avLst>
              <a:gd name="adj" fmla="val 1149"/>
            </a:avLst>
          </a:prstGeom>
          <a:solidFill>
            <a:srgbClr val="FBF5EA"/>
          </a:solidFill>
          <a:ln w="12700">
            <a:solidFill>
              <a:srgbClr val="B9791C"/>
            </a:solidFill>
            <a:prstDash val="solid"/>
          </a:ln>
        </p:spPr>
        <p:txBody>
          <a:bodyPr/>
          <a:lstStyle/>
          <a:p>
            <a:endParaRPr lang="en-GB"/>
          </a:p>
        </p:txBody>
      </p:sp>
      <p:sp>
        <p:nvSpPr>
          <p:cNvPr id="11" name="Text 9"/>
          <p:cNvSpPr/>
          <p:nvPr/>
        </p:nvSpPr>
        <p:spPr>
          <a:xfrm>
            <a:off x="6510528" y="1499616"/>
            <a:ext cx="5349240" cy="274320"/>
          </a:xfrm>
          <a:prstGeom prst="rect">
            <a:avLst/>
          </a:prstGeom>
          <a:noFill/>
          <a:ln/>
        </p:spPr>
        <p:txBody>
          <a:bodyPr wrap="square" rtlCol="0" anchor="ctr"/>
          <a:lstStyle/>
          <a:p>
            <a:pPr marL="0" indent="0">
              <a:buNone/>
            </a:pPr>
            <a:r>
              <a:rPr lang="en-US" sz="1350" b="1" dirty="0">
                <a:solidFill>
                  <a:srgbClr val="B9791C"/>
                </a:solidFill>
                <a:latin typeface="Calibri" pitchFamily="34" charset="0"/>
                <a:ea typeface="Calibri" pitchFamily="34" charset="-122"/>
                <a:cs typeface="Calibri" pitchFamily="34" charset="-120"/>
              </a:rPr>
              <a:t>2 · Regions the model cannot serve at all</a:t>
            </a:r>
            <a:endParaRPr lang="en-US" sz="1350" dirty="0"/>
          </a:p>
        </p:txBody>
      </p:sp>
      <p:sp>
        <p:nvSpPr>
          <p:cNvPr id="12" name="Text 10"/>
          <p:cNvSpPr/>
          <p:nvPr/>
        </p:nvSpPr>
        <p:spPr>
          <a:xfrm>
            <a:off x="6510528" y="1783080"/>
            <a:ext cx="5349240" cy="566928"/>
          </a:xfrm>
          <a:prstGeom prst="rect">
            <a:avLst/>
          </a:prstGeom>
          <a:noFill/>
          <a:ln/>
        </p:spPr>
        <p:txBody>
          <a:bodyPr wrap="square" rtlCol="0" anchor="t"/>
          <a:lstStyle/>
          <a:p>
            <a:pPr marL="0" indent="0">
              <a:buNone/>
            </a:pPr>
            <a:r>
              <a:rPr lang="en-US" sz="1000" dirty="0">
                <a:solidFill>
                  <a:srgbClr val="12233A"/>
                </a:solidFill>
                <a:latin typeface="Calibri" pitchFamily="34" charset="0"/>
                <a:ea typeface="Calibri" pitchFamily="34" charset="-122"/>
                <a:cs typeface="Calibri" pitchFamily="34" charset="-120"/>
              </a:rPr>
              <a:t>If more than 50% of a NUTS region's inhabitant locations are absent from the OD matrix, the WHOLE region is excluded — its population AND its candidate locations.</a:t>
            </a:r>
            <a:endParaRPr lang="en-US" sz="1000" dirty="0"/>
          </a:p>
        </p:txBody>
      </p:sp>
      <p:sp>
        <p:nvSpPr>
          <p:cNvPr id="13" name="Text 11"/>
          <p:cNvSpPr/>
          <p:nvPr/>
        </p:nvSpPr>
        <p:spPr>
          <a:xfrm>
            <a:off x="6528816" y="2377440"/>
            <a:ext cx="5303520" cy="2286000"/>
          </a:xfrm>
          <a:prstGeom prst="rect">
            <a:avLst/>
          </a:prstGeom>
          <a:noFill/>
          <a:ln/>
        </p:spPr>
        <p:txBody>
          <a:bodyPr wrap="square" rtlCol="0" anchor="t"/>
          <a:lstStyle/>
          <a:p>
            <a:pPr marL="152400" indent="-152400">
              <a:lnSpc>
                <a:spcPct val="100000"/>
              </a:lnSpc>
              <a:spcAft>
                <a:spcPts val="500"/>
              </a:spcAft>
              <a:buSzPct val="100000"/>
              <a:buChar char="•"/>
            </a:pPr>
            <a:r>
              <a:rPr lang="en-US" sz="950" dirty="0">
                <a:solidFill>
                  <a:srgbClr val="12233A"/>
                </a:solidFill>
                <a:latin typeface="Calibri" pitchFamily="34" charset="0"/>
                <a:ea typeface="Calibri" pitchFamily="34" charset="-122"/>
                <a:cs typeface="Calibri" pitchFamily="34" charset="-120"/>
              </a:rPr>
              <a:t>Level: NUTS3 where populated, otherwise NUTS2, otherwise NUTS1.</a:t>
            </a:r>
            <a:endParaRPr lang="en-US" sz="950" dirty="0"/>
          </a:p>
          <a:p>
            <a:pPr marL="152400" indent="-152400">
              <a:lnSpc>
                <a:spcPct val="100000"/>
              </a:lnSpc>
              <a:spcAft>
                <a:spcPts val="500"/>
              </a:spcAft>
              <a:buSzPct val="100000"/>
              <a:buChar char="•"/>
            </a:pPr>
            <a:r>
              <a:rPr lang="en-US" sz="950" dirty="0">
                <a:solidFill>
                  <a:srgbClr val="12233A"/>
                </a:solidFill>
                <a:latin typeface="Calibri" pitchFamily="34" charset="0"/>
                <a:ea typeface="Calibri" pitchFamily="34" charset="-122"/>
                <a:cs typeface="Calibri" pitchFamily="34" charset="-120"/>
              </a:rPr>
              <a:t>Judged on the EXISTING network, so the baseline and the λ-sweep always agree on who is in scope.</a:t>
            </a:r>
            <a:endParaRPr lang="en-US" sz="950" dirty="0"/>
          </a:p>
          <a:p>
            <a:pPr marL="152400" indent="-152400">
              <a:lnSpc>
                <a:spcPct val="100000"/>
              </a:lnSpc>
              <a:spcAft>
                <a:spcPts val="500"/>
              </a:spcAft>
              <a:buSzPct val="100000"/>
              <a:buChar char="•"/>
            </a:pPr>
            <a:r>
              <a:rPr lang="en-US" sz="950" dirty="0">
                <a:solidFill>
                  <a:srgbClr val="12233A"/>
                </a:solidFill>
                <a:latin typeface="Calibri" pitchFamily="34" charset="0"/>
                <a:ea typeface="Calibri" pitchFamily="34" charset="-122"/>
                <a:cs typeface="Calibri" pitchFamily="34" charset="-120"/>
              </a:rPr>
              <a:t>Excluded today: PT200 Azores (919 cells, 212,855 residents) and PT300 Madeira (419 cells, 244,867 residents) — both 100% absent. They hold population but no pharmacy anywhere in the source data, so no network fix could reach them.</a:t>
            </a:r>
            <a:endParaRPr lang="en-US" sz="950" dirty="0"/>
          </a:p>
          <a:p>
            <a:pPr marL="152400" indent="-152400">
              <a:lnSpc>
                <a:spcPct val="100000"/>
              </a:lnSpc>
              <a:spcAft>
                <a:spcPts val="500"/>
              </a:spcAft>
              <a:buSzPct val="100000"/>
              <a:buChar char="•"/>
            </a:pPr>
            <a:r>
              <a:rPr lang="en-US" sz="950" dirty="0">
                <a:solidFill>
                  <a:srgbClr val="12233A"/>
                </a:solidFill>
                <a:latin typeface="Calibri" pitchFamily="34" charset="0"/>
                <a:ea typeface="Calibri" pitchFamily="34" charset="-122"/>
                <a:cs typeface="Calibri" pitchFamily="34" charset="-120"/>
              </a:rPr>
              <a:t>No other area comes near the threshold: it is 100% or far below.</a:t>
            </a:r>
            <a:endParaRPr lang="en-US" sz="950" dirty="0"/>
          </a:p>
        </p:txBody>
      </p:sp>
      <p:sp>
        <p:nvSpPr>
          <p:cNvPr id="14" name="Text 12"/>
          <p:cNvSpPr/>
          <p:nvPr/>
        </p:nvSpPr>
        <p:spPr>
          <a:xfrm>
            <a:off x="6528816" y="4828032"/>
            <a:ext cx="5303520" cy="502920"/>
          </a:xfrm>
          <a:prstGeom prst="rect">
            <a:avLst/>
          </a:prstGeom>
          <a:noFill/>
          <a:ln/>
        </p:spPr>
        <p:txBody>
          <a:bodyPr wrap="square" rtlCol="0" anchor="t"/>
          <a:lstStyle/>
          <a:p>
            <a:pPr marL="0" indent="0">
              <a:buNone/>
            </a:pPr>
            <a:r>
              <a:rPr lang="en-US" sz="950" b="1" dirty="0">
                <a:solidFill>
                  <a:srgbClr val="B9791C"/>
                </a:solidFill>
                <a:latin typeface="Calibri" pitchFamily="34" charset="0"/>
                <a:ea typeface="Calibri" pitchFamily="34" charset="-122"/>
                <a:cs typeface="Calibri" pitchFamily="34" charset="-120"/>
              </a:rPr>
              <a:t>Portugal: baseline travel −62% · mean 8.64 → 3.47 min · figures now cover the MAINLAND ONLY</a:t>
            </a:r>
            <a:endParaRPr lang="en-US" sz="950" dirty="0"/>
          </a:p>
        </p:txBody>
      </p:sp>
      <p:sp>
        <p:nvSpPr>
          <p:cNvPr id="15" name="Shape 13"/>
          <p:cNvSpPr/>
          <p:nvPr/>
        </p:nvSpPr>
        <p:spPr>
          <a:xfrm>
            <a:off x="365760" y="5532120"/>
            <a:ext cx="11658600" cy="566928"/>
          </a:xfrm>
          <a:prstGeom prst="roundRect">
            <a:avLst>
              <a:gd name="adj" fmla="val 8065"/>
            </a:avLst>
          </a:prstGeom>
          <a:solidFill>
            <a:srgbClr val="F2F5F8"/>
          </a:solidFill>
          <a:ln w="12700">
            <a:solidFill>
              <a:srgbClr val="5B6B7B"/>
            </a:solidFill>
            <a:prstDash val="solid"/>
          </a:ln>
        </p:spPr>
        <p:txBody>
          <a:bodyPr/>
          <a:lstStyle/>
          <a:p>
            <a:endParaRPr lang="en-GB"/>
          </a:p>
        </p:txBody>
      </p:sp>
      <p:sp>
        <p:nvSpPr>
          <p:cNvPr id="16" name="Text 14"/>
          <p:cNvSpPr/>
          <p:nvPr/>
        </p:nvSpPr>
        <p:spPr>
          <a:xfrm>
            <a:off x="548640" y="5605272"/>
            <a:ext cx="11338560" cy="457200"/>
          </a:xfrm>
          <a:prstGeom prst="rect">
            <a:avLst/>
          </a:prstGeom>
          <a:noFill/>
          <a:ln/>
        </p:spPr>
        <p:txBody>
          <a:bodyPr wrap="square" rtlCol="0" anchor="t"/>
          <a:lstStyle/>
          <a:p>
            <a:pPr marL="0" indent="0">
              <a:buNone/>
            </a:pPr>
            <a:r>
              <a:rPr lang="en-US" sz="930" b="1" dirty="0">
                <a:solidFill>
                  <a:srgbClr val="B9791C"/>
                </a:solidFill>
                <a:latin typeface="Calibri" pitchFamily="34" charset="0"/>
                <a:ea typeface="Calibri" pitchFamily="34" charset="-122"/>
                <a:cs typeface="Calibri" pitchFamily="34" charset="-120"/>
              </a:rPr>
              <a:t>⚠ Not comparable with the previous deck, and Italy not with the previous one either.  </a:t>
            </a:r>
            <a:r>
              <a:rPr lang="en-US" sz="930" dirty="0">
                <a:solidFill>
                  <a:srgbClr val="12233A"/>
                </a:solidFill>
                <a:latin typeface="Calibri" pitchFamily="34" charset="0"/>
                <a:ea typeface="Calibri" pitchFamily="34" charset="-122"/>
                <a:cs typeface="Calibri" pitchFamily="34" charset="-120"/>
              </a:rPr>
              <a:t>Both rules change which residents are counted, so baselines, frontiers and the ranked lists all shift. And since 7 Sep the Italian pharmacies are the OECD-geolocated Ministry of Health list — 20,635 instead of the ESPON shapefile's 12,991 (ITF 1,951 → 4,955): the “improvement potential” the earlier decks ranked ITF and ITG first on was mostly pharmacies missing from the DATA. Hungary (3,094, OECD-geocoded) and Finland (797) are new areas: 44 swept, 43 disjoint in the aggregate.</a:t>
            </a:r>
            <a:endParaRPr lang="en-US" sz="930" dirty="0"/>
          </a:p>
        </p:txBody>
      </p:sp>
    </p:spTree>
    <p:extLst>
      <p:ext uri="{BB962C8B-B14F-4D97-AF65-F5344CB8AC3E}">
        <p14:creationId xmlns:p14="http://schemas.microsoft.com/office/powerpoint/2010/main" val="2088928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8229600" cy="274320"/>
          </a:xfrm>
          <a:prstGeom prst="rect">
            <a:avLst/>
          </a:prstGeom>
          <a:noFill/>
          <a:ln/>
        </p:spPr>
        <p:txBody>
          <a:bodyPr wrap="square" rtlCol="0" anchor="ctr"/>
          <a:lstStyle/>
          <a:p>
            <a:pPr marL="0" indent="0">
              <a:buNone/>
            </a:pPr>
            <a:r>
              <a:rPr lang="en-US" sz="1200" b="1" kern="0" spc="200" dirty="0">
                <a:solidFill>
                  <a:srgbClr val="0B6E99"/>
                </a:solidFill>
              </a:rPr>
              <a:t>CHOICE SET</a:t>
            </a:r>
            <a:endParaRPr lang="en-US" sz="1200" dirty="0"/>
          </a:p>
        </p:txBody>
      </p:sp>
      <p:sp>
        <p:nvSpPr>
          <p:cNvPr id="3" name="Text 1"/>
          <p:cNvSpPr/>
          <p:nvPr/>
        </p:nvSpPr>
        <p:spPr>
          <a:xfrm>
            <a:off x="411480" y="512064"/>
            <a:ext cx="11430000" cy="457200"/>
          </a:xfrm>
          <a:prstGeom prst="rect">
            <a:avLst/>
          </a:prstGeom>
          <a:noFill/>
          <a:ln/>
        </p:spPr>
        <p:txBody>
          <a:bodyPr wrap="square" rtlCol="0" anchor="ctr"/>
          <a:lstStyle/>
          <a:p>
            <a:pPr marL="0" indent="0">
              <a:buNone/>
            </a:pPr>
            <a:r>
              <a:rPr lang="en-US" sz="2000" b="1" dirty="0">
                <a:solidFill>
                  <a:srgbClr val="12233A"/>
                </a:solidFill>
                <a:latin typeface="Georgia" pitchFamily="34" charset="0"/>
                <a:ea typeface="Georgia" pitchFamily="34" charset="-122"/>
                <a:cs typeface="Georgia" pitchFamily="34" charset="-120"/>
              </a:rPr>
              <a:t>The choice set  </a:t>
            </a:r>
            <a:r>
              <a:rPr lang="en-US" sz="2000" dirty="0">
                <a:solidFill>
                  <a:srgbClr val="1C3D5A"/>
                </a:solidFill>
                <a:latin typeface="Georgia" pitchFamily="34" charset="0"/>
                <a:ea typeface="Georgia" pitchFamily="34" charset="-122"/>
                <a:cs typeface="Georgia" pitchFamily="34" charset="-120"/>
              </a:rPr>
              <a:t>— where the 5-nearest rule binds, and why widening it precedes RSSV</a:t>
            </a:r>
            <a:endParaRPr lang="en-US" sz="2000" dirty="0"/>
          </a:p>
        </p:txBody>
      </p:sp>
      <p:sp>
        <p:nvSpPr>
          <p:cNvPr id="4" name="Text 2"/>
          <p:cNvSpPr/>
          <p:nvPr/>
        </p:nvSpPr>
        <p:spPr>
          <a:xfrm>
            <a:off x="411480" y="914400"/>
            <a:ext cx="11430000" cy="411480"/>
          </a:xfrm>
          <a:prstGeom prst="rect">
            <a:avLst/>
          </a:prstGeom>
          <a:noFill/>
          <a:ln/>
        </p:spPr>
        <p:txBody>
          <a:bodyPr wrap="square" rtlCol="0" anchor="t"/>
          <a:lstStyle/>
          <a:p>
            <a:pPr marL="0" indent="0">
              <a:buNone/>
            </a:pPr>
            <a:r>
              <a:rPr lang="en-US" sz="1000" dirty="0">
                <a:solidFill>
                  <a:srgbClr val="5B6B7B"/>
                </a:solidFill>
                <a:latin typeface="Calibri" pitchFamily="34" charset="0"/>
                <a:ea typeface="Calibri" pitchFamily="34" charset="-122"/>
                <a:cs typeface="Calibri" pitchFamily="34" charset="-120"/>
              </a:rPr>
              <a:t>Each client is connected to every candidate cell within the road distance to its 5th-nearest EXISTING pharmacy (or 120 min). That radius holds ~70–90 candidates on average — so it is not “5 choices”, it is a radius fixed by today’s five. When the optimiser removes facilities, the radius does not grow.</a:t>
            </a:r>
            <a:endParaRPr lang="en-US" sz="1000" dirty="0"/>
          </a:p>
        </p:txBody>
      </p:sp>
      <p:sp>
        <p:nvSpPr>
          <p:cNvPr id="5" name="Shape 3"/>
          <p:cNvSpPr/>
          <p:nvPr/>
        </p:nvSpPr>
        <p:spPr>
          <a:xfrm>
            <a:off x="365760" y="1444752"/>
            <a:ext cx="3749040" cy="3931920"/>
          </a:xfrm>
          <a:prstGeom prst="roundRect">
            <a:avLst>
              <a:gd name="adj" fmla="val 1220"/>
            </a:avLst>
          </a:prstGeom>
          <a:solidFill>
            <a:srgbClr val="FBF5EA"/>
          </a:solidFill>
          <a:ln w="12700">
            <a:solidFill>
              <a:srgbClr val="B9791C"/>
            </a:solidFill>
            <a:prstDash val="solid"/>
          </a:ln>
        </p:spPr>
        <p:txBody>
          <a:bodyPr/>
          <a:lstStyle/>
          <a:p>
            <a:endParaRPr lang="en-GB"/>
          </a:p>
        </p:txBody>
      </p:sp>
      <p:sp>
        <p:nvSpPr>
          <p:cNvPr id="6" name="Text 4"/>
          <p:cNvSpPr/>
          <p:nvPr/>
        </p:nvSpPr>
        <p:spPr>
          <a:xfrm>
            <a:off x="548640" y="1517904"/>
            <a:ext cx="3383280" cy="274320"/>
          </a:xfrm>
          <a:prstGeom prst="rect">
            <a:avLst/>
          </a:prstGeom>
          <a:noFill/>
          <a:ln/>
        </p:spPr>
        <p:txBody>
          <a:bodyPr wrap="square" rtlCol="0" anchor="ctr"/>
          <a:lstStyle/>
          <a:p>
            <a:pPr marL="0" indent="0">
              <a:buNone/>
            </a:pPr>
            <a:r>
              <a:rPr lang="en-US" sz="1300" b="1" dirty="0">
                <a:solidFill>
                  <a:srgbClr val="B9791C"/>
                </a:solidFill>
                <a:latin typeface="Calibri" pitchFamily="34" charset="0"/>
                <a:ea typeface="Calibri" pitchFamily="34" charset="-122"/>
                <a:cs typeface="Calibri" pitchFamily="34" charset="-120"/>
              </a:rPr>
              <a:t>Where it binds — measured at S2</a:t>
            </a:r>
            <a:endParaRPr lang="en-US" sz="1300" dirty="0"/>
          </a:p>
        </p:txBody>
      </p:sp>
      <p:sp>
        <p:nvSpPr>
          <p:cNvPr id="7" name="Text 5"/>
          <p:cNvSpPr/>
          <p:nvPr/>
        </p:nvSpPr>
        <p:spPr>
          <a:xfrm>
            <a:off x="566928" y="1847088"/>
            <a:ext cx="3346704" cy="2880360"/>
          </a:xfrm>
          <a:prstGeom prst="rect">
            <a:avLst/>
          </a:prstGeom>
          <a:noFill/>
          <a:ln/>
        </p:spPr>
        <p:txBody>
          <a:bodyPr wrap="square" rtlCol="0" anchor="t"/>
          <a:lstStyle/>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Norway at S2 (429 of 757 open): 2,642 cells / 949,030 residents — 18.6% of the population — have exactly ONE open facility left inside their radius. Closing it would strand them at BIG, so the optimiser must keep it open even where a 6th-nearest pharmacy would serve them.</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SE1 at S2 (221 of 388): 12.7% one closure away; SE2 at S2 (278 of 452): 12.0%, 529,700 residents. These are the areas the ranked lists now put on top — the sparse Nordic ones — and exactly where the radius binds hardest.</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On the OECD Italian data the pressure is gone from ITF (1.8% at S2, 0% stranded; 28.6 candidates per client): its earlier 9% + 24% was the ESPON list missing three pharmacies in five. Measured on the S1/S2 pinned by bisection (#52).</a:t>
            </a:r>
            <a:endParaRPr lang="en-US" sz="940" dirty="0"/>
          </a:p>
        </p:txBody>
      </p:sp>
      <p:sp>
        <p:nvSpPr>
          <p:cNvPr id="8" name="Text 6"/>
          <p:cNvSpPr/>
          <p:nvPr/>
        </p:nvSpPr>
        <p:spPr>
          <a:xfrm>
            <a:off x="566928" y="4773168"/>
            <a:ext cx="3346704" cy="548640"/>
          </a:xfrm>
          <a:prstGeom prst="rect">
            <a:avLst/>
          </a:prstGeom>
          <a:noFill/>
          <a:ln/>
        </p:spPr>
        <p:txBody>
          <a:bodyPr wrap="square" rtlCol="0" anchor="t"/>
          <a:lstStyle/>
          <a:p>
            <a:pPr marL="0" indent="0">
              <a:buNone/>
            </a:pPr>
            <a:r>
              <a:rPr lang="en-US" sz="920" b="1" dirty="0">
                <a:solidFill>
                  <a:srgbClr val="B9791C"/>
                </a:solidFill>
                <a:latin typeface="Calibri" pitchFamily="34" charset="0"/>
                <a:ea typeface="Calibri" pitchFamily="34" charset="-122"/>
                <a:cs typeface="Calibri" pitchFamily="34" charset="-120"/>
              </a:rPr>
              <a:t>The frontier is under-estimated wherever the radius, not the geography, decides who can be served.</a:t>
            </a:r>
            <a:endParaRPr lang="en-US" sz="920" dirty="0"/>
          </a:p>
        </p:txBody>
      </p:sp>
      <p:sp>
        <p:nvSpPr>
          <p:cNvPr id="9" name="Shape 7"/>
          <p:cNvSpPr/>
          <p:nvPr/>
        </p:nvSpPr>
        <p:spPr>
          <a:xfrm>
            <a:off x="4315968" y="1444752"/>
            <a:ext cx="3749040" cy="3931920"/>
          </a:xfrm>
          <a:prstGeom prst="roundRect">
            <a:avLst>
              <a:gd name="adj" fmla="val 1220"/>
            </a:avLst>
          </a:prstGeom>
          <a:solidFill>
            <a:srgbClr val="F0F6F2"/>
          </a:solidFill>
          <a:ln w="12700">
            <a:solidFill>
              <a:srgbClr val="1E7A52"/>
            </a:solidFill>
            <a:prstDash val="solid"/>
          </a:ln>
        </p:spPr>
        <p:txBody>
          <a:bodyPr/>
          <a:lstStyle/>
          <a:p>
            <a:endParaRPr lang="en-GB"/>
          </a:p>
        </p:txBody>
      </p:sp>
      <p:sp>
        <p:nvSpPr>
          <p:cNvPr id="10" name="Text 8"/>
          <p:cNvSpPr/>
          <p:nvPr/>
        </p:nvSpPr>
        <p:spPr>
          <a:xfrm>
            <a:off x="4498848" y="1517904"/>
            <a:ext cx="3383280" cy="274320"/>
          </a:xfrm>
          <a:prstGeom prst="rect">
            <a:avLst/>
          </a:prstGeom>
          <a:noFill/>
          <a:ln/>
        </p:spPr>
        <p:txBody>
          <a:bodyPr wrap="square" rtlCol="0" anchor="ctr"/>
          <a:lstStyle/>
          <a:p>
            <a:pPr marL="0" indent="0">
              <a:buNone/>
            </a:pPr>
            <a:r>
              <a:rPr lang="en-US" sz="1300" b="1" dirty="0">
                <a:solidFill>
                  <a:srgbClr val="1E7A52"/>
                </a:solidFill>
                <a:latin typeface="Calibri" pitchFamily="34" charset="0"/>
                <a:ea typeface="Calibri" pitchFamily="34" charset="-122"/>
                <a:cs typeface="Calibri" pitchFamily="34" charset="-120"/>
              </a:rPr>
              <a:t>Why widening helps</a:t>
            </a:r>
            <a:endParaRPr lang="en-US" sz="1300" dirty="0"/>
          </a:p>
        </p:txBody>
      </p:sp>
      <p:sp>
        <p:nvSpPr>
          <p:cNvPr id="11" name="Text 9"/>
          <p:cNvSpPr/>
          <p:nvPr/>
        </p:nvSpPr>
        <p:spPr>
          <a:xfrm>
            <a:off x="4517136" y="1847088"/>
            <a:ext cx="3346704" cy="2880360"/>
          </a:xfrm>
          <a:prstGeom prst="rect">
            <a:avLst/>
          </a:prstGeom>
          <a:noFill/>
          <a:ln/>
        </p:spPr>
        <p:txBody>
          <a:bodyPr wrap="square" rtlCol="0" anchor="t"/>
          <a:lstStyle/>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More existing and potential locations per client → a wider radius → the optimiser can consolidate further without stranding anyone → S2 reaches the baseline travel cost with fewer facilities.</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The gain is concentrated exactly where the lists rank improvement potential: the areas with the most one-option clients.</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Keep the EXISTING-side radius at 5 for the baseline, so ★ stays comparable with earlier decks; widen the CANDIDATE side only.</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Cost: a wider radius enlarges the full OD (build time, memory) and the exact solve on small areas.</a:t>
            </a:r>
            <a:endParaRPr lang="en-US" sz="940" dirty="0"/>
          </a:p>
        </p:txBody>
      </p:sp>
      <p:sp>
        <p:nvSpPr>
          <p:cNvPr id="12" name="Text 10"/>
          <p:cNvSpPr/>
          <p:nvPr/>
        </p:nvSpPr>
        <p:spPr>
          <a:xfrm>
            <a:off x="4517136" y="4773168"/>
            <a:ext cx="3346704" cy="548640"/>
          </a:xfrm>
          <a:prstGeom prst="rect">
            <a:avLst/>
          </a:prstGeom>
          <a:noFill/>
          <a:ln/>
        </p:spPr>
        <p:txBody>
          <a:bodyPr wrap="square" rtlCol="0" anchor="t"/>
          <a:lstStyle/>
          <a:p>
            <a:pPr marL="0" indent="0">
              <a:buNone/>
            </a:pPr>
            <a:r>
              <a:rPr lang="en-US" sz="920" b="1" dirty="0">
                <a:solidFill>
                  <a:srgbClr val="1E7A52"/>
                </a:solidFill>
                <a:latin typeface="Calibri" pitchFamily="34" charset="0"/>
                <a:ea typeface="Calibri" pitchFamily="34" charset="-122"/>
                <a:cs typeface="Calibri" pitchFamily="34" charset="-120"/>
              </a:rPr>
              <a:t>A cheap experiment: one area, radius 5 → 10, compare S2 facility count and stranding.</a:t>
            </a:r>
            <a:endParaRPr lang="en-US" sz="920" dirty="0"/>
          </a:p>
        </p:txBody>
      </p:sp>
      <p:sp>
        <p:nvSpPr>
          <p:cNvPr id="13" name="Shape 11"/>
          <p:cNvSpPr/>
          <p:nvPr/>
        </p:nvSpPr>
        <p:spPr>
          <a:xfrm>
            <a:off x="8266176" y="1444752"/>
            <a:ext cx="3749040" cy="3931920"/>
          </a:xfrm>
          <a:prstGeom prst="roundRect">
            <a:avLst>
              <a:gd name="adj" fmla="val 1220"/>
            </a:avLst>
          </a:prstGeom>
          <a:solidFill>
            <a:srgbClr val="EEF5FA"/>
          </a:solidFill>
          <a:ln w="12700">
            <a:solidFill>
              <a:srgbClr val="0B6E99"/>
            </a:solidFill>
            <a:prstDash val="solid"/>
          </a:ln>
        </p:spPr>
        <p:txBody>
          <a:bodyPr/>
          <a:lstStyle/>
          <a:p>
            <a:endParaRPr lang="en-GB"/>
          </a:p>
        </p:txBody>
      </p:sp>
      <p:sp>
        <p:nvSpPr>
          <p:cNvPr id="14" name="Text 12"/>
          <p:cNvSpPr/>
          <p:nvPr/>
        </p:nvSpPr>
        <p:spPr>
          <a:xfrm>
            <a:off x="8449056" y="1517904"/>
            <a:ext cx="3383280" cy="274320"/>
          </a:xfrm>
          <a:prstGeom prst="rect">
            <a:avLst/>
          </a:prstGeom>
          <a:noFill/>
          <a:ln/>
        </p:spPr>
        <p:txBody>
          <a:bodyPr wrap="square" rtlCol="0" anchor="ctr"/>
          <a:lstStyle/>
          <a:p>
            <a:pPr marL="0" indent="0">
              <a:buNone/>
            </a:pPr>
            <a:r>
              <a:rPr lang="en-US" sz="1300" b="1" dirty="0">
                <a:solidFill>
                  <a:srgbClr val="0B6E99"/>
                </a:solidFill>
                <a:latin typeface="Calibri" pitchFamily="34" charset="0"/>
                <a:ea typeface="Calibri" pitchFamily="34" charset="-122"/>
                <a:cs typeface="Calibri" pitchFamily="34" charset="-120"/>
              </a:rPr>
              <a:t>Why RSSV requires it</a:t>
            </a:r>
            <a:endParaRPr lang="en-US" sz="1300" dirty="0"/>
          </a:p>
        </p:txBody>
      </p:sp>
      <p:sp>
        <p:nvSpPr>
          <p:cNvPr id="15" name="Text 13"/>
          <p:cNvSpPr/>
          <p:nvPr/>
        </p:nvSpPr>
        <p:spPr>
          <a:xfrm>
            <a:off x="8467344" y="1847088"/>
            <a:ext cx="3346704" cy="2880360"/>
          </a:xfrm>
          <a:prstGeom prst="rect">
            <a:avLst/>
          </a:prstGeom>
          <a:noFill/>
          <a:ln/>
        </p:spPr>
        <p:txBody>
          <a:bodyPr wrap="square" rtlCol="0" anchor="t"/>
          <a:lstStyle/>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RSSV (Albuquerque, Figueiredo &amp; Genre-Grandpierre 2026, arXiv 2607.22666 — Rosa's p12) solves many sub-problems on random CANDIDATE subsets Jᵤ with the FULL client set. Every client must still reach some sampled candidate — otherwise it is stranded at BIG for that sub-problem alone, and those spurious penalties corrupt the spatial votes.</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The chance that a random Jᵤ leaves a client with no reachable candidate falls as the radius widens. A thin radius makes voting noisy; a wide one makes it robust.</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So the two size-control knobs trade against each other: under RSSV, size control moves from pruning per client to sample → vote → filter → exact solve. Widening the radius is the precondition, not a nicety.</a:t>
            </a:r>
            <a:endParaRPr lang="en-US" sz="940" dirty="0"/>
          </a:p>
          <a:p>
            <a:pPr marL="152400" indent="-152400">
              <a:lnSpc>
                <a:spcPct val="100000"/>
              </a:lnSpc>
              <a:spcAft>
                <a:spcPts val="500"/>
              </a:spcAft>
              <a:buSzPct val="100000"/>
              <a:buChar char="•"/>
            </a:pPr>
            <a:r>
              <a:rPr lang="en-US" sz="940" dirty="0">
                <a:solidFill>
                  <a:srgbClr val="12233A"/>
                </a:solidFill>
                <a:latin typeface="Calibri" pitchFamily="34" charset="0"/>
                <a:ea typeface="Calibri" pitchFamily="34" charset="-122"/>
                <a:cs typeface="Calibri" pitchFamily="34" charset="-120"/>
              </a:rPr>
              <a:t>Stratified (not uniform) sampling lets a narrower radius suffice — a lever to trade against OD size.</a:t>
            </a:r>
            <a:endParaRPr lang="en-US" sz="940" dirty="0"/>
          </a:p>
        </p:txBody>
      </p:sp>
      <p:sp>
        <p:nvSpPr>
          <p:cNvPr id="16" name="Text 14"/>
          <p:cNvSpPr/>
          <p:nvPr/>
        </p:nvSpPr>
        <p:spPr>
          <a:xfrm>
            <a:off x="8467344" y="4773168"/>
            <a:ext cx="3346704" cy="548640"/>
          </a:xfrm>
          <a:prstGeom prst="rect">
            <a:avLst/>
          </a:prstGeom>
          <a:noFill/>
          <a:ln/>
        </p:spPr>
        <p:txBody>
          <a:bodyPr wrap="square" rtlCol="0" anchor="t"/>
          <a:lstStyle/>
          <a:p>
            <a:pPr marL="0" indent="0">
              <a:buNone/>
            </a:pPr>
            <a:r>
              <a:rPr lang="en-US" sz="920" b="1" dirty="0">
                <a:solidFill>
                  <a:srgbClr val="0B6E99"/>
                </a:solidFill>
                <a:latin typeface="Calibri" pitchFamily="34" charset="0"/>
                <a:ea typeface="Calibri" pitchFamily="34" charset="-122"/>
                <a:cs typeface="Calibri" pitchFamily="34" charset="-120"/>
              </a:rPr>
              <a:t>Sequence: widen the candidate radius → RSSV (sample → solve → vote → filter) → exact MIP on the reduced set → post-optimisation, as in her flow.</a:t>
            </a:r>
            <a:endParaRPr lang="en-US" sz="920" dirty="0"/>
          </a:p>
        </p:txBody>
      </p:sp>
      <p:sp>
        <p:nvSpPr>
          <p:cNvPr id="17" name="Shape 15"/>
          <p:cNvSpPr/>
          <p:nvPr/>
        </p:nvSpPr>
        <p:spPr>
          <a:xfrm>
            <a:off x="365760" y="5532120"/>
            <a:ext cx="11658600" cy="566928"/>
          </a:xfrm>
          <a:prstGeom prst="roundRect">
            <a:avLst>
              <a:gd name="adj" fmla="val 8065"/>
            </a:avLst>
          </a:prstGeom>
          <a:solidFill>
            <a:srgbClr val="F2F5F8"/>
          </a:solidFill>
          <a:ln w="12700">
            <a:solidFill>
              <a:srgbClr val="5B6B7B"/>
            </a:solidFill>
            <a:prstDash val="solid"/>
          </a:ln>
        </p:spPr>
        <p:txBody>
          <a:bodyPr/>
          <a:lstStyle/>
          <a:p>
            <a:endParaRPr lang="en-GB"/>
          </a:p>
        </p:txBody>
      </p:sp>
      <p:sp>
        <p:nvSpPr>
          <p:cNvPr id="18" name="Text 16"/>
          <p:cNvSpPr/>
          <p:nvPr/>
        </p:nvSpPr>
        <p:spPr>
          <a:xfrm>
            <a:off x="548640" y="5596128"/>
            <a:ext cx="11338560" cy="475488"/>
          </a:xfrm>
          <a:prstGeom prst="rect">
            <a:avLst/>
          </a:prstGeom>
          <a:noFill/>
          <a:ln/>
        </p:spPr>
        <p:txBody>
          <a:bodyPr wrap="square" rtlCol="0" anchor="t"/>
          <a:lstStyle/>
          <a:p>
            <a:pPr marL="0" indent="0">
              <a:buNone/>
            </a:pPr>
            <a:r>
              <a:rPr lang="en-US" sz="880" b="1" dirty="0">
                <a:solidFill>
                  <a:srgbClr val="1E7A52"/>
                </a:solidFill>
                <a:latin typeface="Calibri" pitchFamily="34" charset="0"/>
                <a:ea typeface="Calibri" pitchFamily="34" charset="-122"/>
                <a:cs typeface="Calibri" pitchFamily="34" charset="-120"/>
              </a:rPr>
              <a:t>Fixed (#52): </a:t>
            </a:r>
            <a:r>
              <a:rPr lang="en-US" sz="880" dirty="0">
                <a:solidFill>
                  <a:srgbClr val="12233A"/>
                </a:solidFill>
                <a:latin typeface="Calibri" pitchFamily="34" charset="0"/>
                <a:ea typeface="Calibri" pitchFamily="34" charset="-122"/>
                <a:cs typeface="Calibri" pitchFamily="34" charset="-120"/>
              </a:rPr>
              <a:t>S1 and S2 used to be read off the nearest swept λ grid point — a coarse read anywhere (S1 was more than 10% off today’s count in 22 of 74 sweeps) and in 5 areas the same point for both (SE2’s delivered S1 had 309 open, not 452). Both are now pinned by bisection the moment their bracket closes, to within max(1, 0.2%) of today’s count and 0.2% of today’s travel — in 87 of 88 sweeps; the exception is country-level Poland LINEAR (S1 1.6% off), the largest LP, whose solves near S1 take hours each and whose seven NUTS-1 areas are all pinned. The exported S1/S2 location files (#45) and everything measured on them, this slide included, are on the pinned points.</a:t>
            </a:r>
            <a:endParaRPr lang="en-US" sz="880" dirty="0"/>
          </a:p>
        </p:txBody>
      </p:sp>
    </p:spTree>
    <p:extLst>
      <p:ext uri="{BB962C8B-B14F-4D97-AF65-F5344CB8AC3E}">
        <p14:creationId xmlns:p14="http://schemas.microsoft.com/office/powerpoint/2010/main" val="2368136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8229600" cy="274320"/>
          </a:xfrm>
          <a:prstGeom prst="rect">
            <a:avLst/>
          </a:prstGeom>
          <a:noFill/>
          <a:ln/>
        </p:spPr>
        <p:txBody>
          <a:bodyPr wrap="square" rtlCol="0" anchor="ctr"/>
          <a:lstStyle/>
          <a:p>
            <a:pPr marL="0" indent="0">
              <a:buNone/>
            </a:pPr>
            <a:r>
              <a:rPr lang="en-US" sz="1200" b="1" kern="0" spc="200" dirty="0">
                <a:solidFill>
                  <a:srgbClr val="0B6E99"/>
                </a:solidFill>
              </a:rPr>
              <a:t>METHOD</a:t>
            </a:r>
            <a:endParaRPr lang="en-US" sz="1200" dirty="0"/>
          </a:p>
        </p:txBody>
      </p:sp>
      <p:sp>
        <p:nvSpPr>
          <p:cNvPr id="3" name="Text 1"/>
          <p:cNvSpPr/>
          <p:nvPr/>
        </p:nvSpPr>
        <p:spPr>
          <a:xfrm>
            <a:off x="411480" y="512064"/>
            <a:ext cx="1143000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How one λ picks one point  </a:t>
            </a:r>
            <a:r>
              <a:rPr lang="en-US" sz="2200" dirty="0">
                <a:solidFill>
                  <a:srgbClr val="1C3D5A"/>
                </a:solidFill>
                <a:latin typeface="Georgia" pitchFamily="34" charset="0"/>
                <a:ea typeface="Georgia" pitchFamily="34" charset="-122"/>
                <a:cs typeface="Georgia" pitchFamily="34" charset="-120"/>
              </a:rPr>
              <a:t>— and how a sweep over λ traces the frontier</a:t>
            </a:r>
            <a:endParaRPr lang="en-US" sz="2200" dirty="0"/>
          </a:p>
        </p:txBody>
      </p:sp>
      <p:sp>
        <p:nvSpPr>
          <p:cNvPr id="4" name="Text 2"/>
          <p:cNvSpPr/>
          <p:nvPr/>
        </p:nvSpPr>
        <p:spPr>
          <a:xfrm>
            <a:off x="411480" y="914400"/>
            <a:ext cx="11430000" cy="384048"/>
          </a:xfrm>
          <a:prstGeom prst="rect">
            <a:avLst/>
          </a:prstGeom>
          <a:noFill/>
          <a:ln/>
        </p:spPr>
        <p:txBody>
          <a:bodyPr wrap="square" rtlCol="0" anchor="t"/>
          <a:lstStyle/>
          <a:p>
            <a:pPr marL="0" indent="0">
              <a:buNone/>
            </a:pPr>
            <a:r>
              <a:rPr lang="en-US" sz="1000" dirty="0">
                <a:solidFill>
                  <a:srgbClr val="5B6B7B"/>
                </a:solidFill>
                <a:latin typeface="Calibri" pitchFamily="34" charset="0"/>
                <a:ea typeface="Calibri" pitchFamily="34" charset="-122"/>
                <a:cs typeface="Calibri" pitchFamily="34" charset="-120"/>
              </a:rPr>
              <a:t>The sweep never fixes a value of λ. Each λ is one slope; the solver returns the point of the feasible set where a line of that slope touches. Netherlands, LINEAR c(t) = t, multistart-rounded solutions; the ★ is today’s network.</a:t>
            </a:r>
            <a:endParaRPr lang="en-US" sz="1000" dirty="0"/>
          </a:p>
        </p:txBody>
      </p:sp>
      <p:pic>
        <p:nvPicPr>
          <p:cNvPr id="5" name="Image 0" descr="E:\prj\JRC\NetworkModel_EU\doc\charts\lambda_tangent.png"/>
          <p:cNvPicPr>
            <a:picLocks noChangeAspect="1"/>
          </p:cNvPicPr>
          <p:nvPr/>
        </p:nvPicPr>
        <p:blipFill>
          <a:blip r:embed="rId3"/>
          <a:stretch>
            <a:fillRect/>
          </a:stretch>
        </p:blipFill>
        <p:spPr>
          <a:xfrm>
            <a:off x="320040" y="1371600"/>
            <a:ext cx="7406640" cy="4507992"/>
          </a:xfrm>
          <a:prstGeom prst="rect">
            <a:avLst/>
          </a:prstGeom>
        </p:spPr>
      </p:pic>
      <p:sp>
        <p:nvSpPr>
          <p:cNvPr id="6" name="Shape 3"/>
          <p:cNvSpPr/>
          <p:nvPr/>
        </p:nvSpPr>
        <p:spPr>
          <a:xfrm>
            <a:off x="7909560" y="1371600"/>
            <a:ext cx="4069080" cy="1097280"/>
          </a:xfrm>
          <a:prstGeom prst="roundRect">
            <a:avLst>
              <a:gd name="adj" fmla="val 4167"/>
            </a:avLst>
          </a:prstGeom>
          <a:solidFill>
            <a:srgbClr val="F2F5F8"/>
          </a:solidFill>
          <a:ln w="12700">
            <a:solidFill>
              <a:srgbClr val="5B6B7B"/>
            </a:solidFill>
            <a:prstDash val="solid"/>
          </a:ln>
        </p:spPr>
        <p:txBody>
          <a:bodyPr/>
          <a:lstStyle/>
          <a:p>
            <a:endParaRPr lang="en-GB"/>
          </a:p>
        </p:txBody>
      </p:sp>
      <p:sp>
        <p:nvSpPr>
          <p:cNvPr id="7" name="Text 4"/>
          <p:cNvSpPr/>
          <p:nvPr/>
        </p:nvSpPr>
        <p:spPr>
          <a:xfrm>
            <a:off x="8074152" y="1435608"/>
            <a:ext cx="3749040" cy="256032"/>
          </a:xfrm>
          <a:prstGeom prst="rect">
            <a:avLst/>
          </a:prstGeom>
          <a:noFill/>
          <a:ln/>
        </p:spPr>
        <p:txBody>
          <a:bodyPr wrap="square" rtlCol="0" anchor="ctr"/>
          <a:lstStyle/>
          <a:p>
            <a:pPr marL="0" indent="0">
              <a:buNone/>
            </a:pPr>
            <a:r>
              <a:rPr lang="en-US" sz="1200" b="1" dirty="0">
                <a:solidFill>
                  <a:srgbClr val="5B6B7B"/>
                </a:solidFill>
                <a:latin typeface="Calibri" pitchFamily="34" charset="0"/>
                <a:ea typeface="Calibri" pitchFamily="34" charset="-122"/>
                <a:cs typeface="Calibri" pitchFamily="34" charset="-120"/>
              </a:rPr>
              <a:t>1 · The objective is a line</a:t>
            </a:r>
            <a:endParaRPr lang="en-US" sz="1200" dirty="0"/>
          </a:p>
        </p:txBody>
      </p:sp>
      <p:sp>
        <p:nvSpPr>
          <p:cNvPr id="8" name="Text 5"/>
          <p:cNvSpPr/>
          <p:nvPr/>
        </p:nvSpPr>
        <p:spPr>
          <a:xfrm>
            <a:off x="8074152" y="1700784"/>
            <a:ext cx="3767328" cy="713232"/>
          </a:xfrm>
          <a:prstGeom prst="rect">
            <a:avLst/>
          </a:prstGeom>
          <a:noFill/>
          <a:ln/>
        </p:spPr>
        <p:txBody>
          <a:bodyPr wrap="square" rtlCol="0" anchor="t"/>
          <a:lstStyle/>
          <a:p>
            <a:pPr marL="0" indent="0">
              <a:buNone/>
            </a:pPr>
            <a:r>
              <a:rPr lang="en-US" sz="930" dirty="0">
                <a:solidFill>
                  <a:srgbClr val="12233A"/>
                </a:solidFill>
                <a:latin typeface="Calibri" pitchFamily="34" charset="0"/>
                <a:ea typeface="Calibri" pitchFamily="34" charset="-122"/>
                <a:cs typeface="Calibri" pitchFamily="34" charset="-120"/>
              </a:rPr>
              <a:t>We minimise  travel + λ · #open.  Every solution with the same objective value C lies on the line  travel = C − λ · #open:  slope −λ, and the lower the line, the cheaper the solution.</a:t>
            </a:r>
            <a:endParaRPr lang="en-US" sz="930" dirty="0"/>
          </a:p>
        </p:txBody>
      </p:sp>
      <p:sp>
        <p:nvSpPr>
          <p:cNvPr id="9" name="Shape 6"/>
          <p:cNvSpPr/>
          <p:nvPr/>
        </p:nvSpPr>
        <p:spPr>
          <a:xfrm>
            <a:off x="7909560" y="2560320"/>
            <a:ext cx="4069080" cy="1325880"/>
          </a:xfrm>
          <a:prstGeom prst="roundRect">
            <a:avLst>
              <a:gd name="adj" fmla="val 3448"/>
            </a:avLst>
          </a:prstGeom>
          <a:solidFill>
            <a:srgbClr val="EEF5FA"/>
          </a:solidFill>
          <a:ln w="12700">
            <a:solidFill>
              <a:srgbClr val="0B6E99"/>
            </a:solidFill>
            <a:prstDash val="solid"/>
          </a:ln>
        </p:spPr>
        <p:txBody>
          <a:bodyPr/>
          <a:lstStyle/>
          <a:p>
            <a:endParaRPr lang="en-GB"/>
          </a:p>
        </p:txBody>
      </p:sp>
      <p:sp>
        <p:nvSpPr>
          <p:cNvPr id="10" name="Text 7"/>
          <p:cNvSpPr/>
          <p:nvPr/>
        </p:nvSpPr>
        <p:spPr>
          <a:xfrm>
            <a:off x="8074152" y="2624328"/>
            <a:ext cx="3749040" cy="256032"/>
          </a:xfrm>
          <a:prstGeom prst="rect">
            <a:avLst/>
          </a:prstGeom>
          <a:noFill/>
          <a:ln/>
        </p:spPr>
        <p:txBody>
          <a:bodyPr wrap="square" rtlCol="0" anchor="ctr"/>
          <a:lstStyle/>
          <a:p>
            <a:pPr marL="0" indent="0">
              <a:buNone/>
            </a:pPr>
            <a:r>
              <a:rPr lang="en-US" sz="1200" b="1" dirty="0">
                <a:solidFill>
                  <a:srgbClr val="0B6E99"/>
                </a:solidFill>
                <a:latin typeface="Calibri" pitchFamily="34" charset="0"/>
                <a:ea typeface="Calibri" pitchFamily="34" charset="-122"/>
                <a:cs typeface="Calibri" pitchFamily="34" charset="-120"/>
              </a:rPr>
              <a:t>2 · The optimum is a tangency</a:t>
            </a:r>
            <a:endParaRPr lang="en-US" sz="1200" dirty="0"/>
          </a:p>
        </p:txBody>
      </p:sp>
      <p:sp>
        <p:nvSpPr>
          <p:cNvPr id="11" name="Text 8"/>
          <p:cNvSpPr/>
          <p:nvPr/>
        </p:nvSpPr>
        <p:spPr>
          <a:xfrm>
            <a:off x="8074152" y="2889504"/>
            <a:ext cx="3767328" cy="941832"/>
          </a:xfrm>
          <a:prstGeom prst="rect">
            <a:avLst/>
          </a:prstGeom>
          <a:noFill/>
          <a:ln/>
        </p:spPr>
        <p:txBody>
          <a:bodyPr wrap="square" rtlCol="0" anchor="t"/>
          <a:lstStyle/>
          <a:p>
            <a:pPr marL="0" indent="0">
              <a:buNone/>
            </a:pPr>
            <a:r>
              <a:rPr lang="en-US" sz="930" dirty="0">
                <a:solidFill>
                  <a:srgbClr val="12233A"/>
                </a:solidFill>
                <a:latin typeface="Calibri" pitchFamily="34" charset="0"/>
                <a:ea typeface="Calibri" pitchFamily="34" charset="-122"/>
                <a:cs typeface="Calibri" pitchFamily="34" charset="-120"/>
              </a:rPr>
              <a:t>Slide the line down until it last touches the feasible set. That touching point is the λ-optimum. λ₁ = €10,000 per facility touches at 3,220 open (22.6 M person-minutes); λ₂ = €50,000 touches at 831 open (74.7 M). A steeper slope buys fewer, busier pharmacies.</a:t>
            </a:r>
            <a:endParaRPr lang="en-US" sz="930" dirty="0"/>
          </a:p>
        </p:txBody>
      </p:sp>
      <p:sp>
        <p:nvSpPr>
          <p:cNvPr id="12" name="Shape 9"/>
          <p:cNvSpPr/>
          <p:nvPr/>
        </p:nvSpPr>
        <p:spPr>
          <a:xfrm>
            <a:off x="7909560" y="3977640"/>
            <a:ext cx="4069080" cy="1097280"/>
          </a:xfrm>
          <a:prstGeom prst="roundRect">
            <a:avLst>
              <a:gd name="adj" fmla="val 4167"/>
            </a:avLst>
          </a:prstGeom>
          <a:solidFill>
            <a:srgbClr val="F0F6F2"/>
          </a:solidFill>
          <a:ln w="12700">
            <a:solidFill>
              <a:srgbClr val="1E7A52"/>
            </a:solidFill>
            <a:prstDash val="solid"/>
          </a:ln>
        </p:spPr>
        <p:txBody>
          <a:bodyPr/>
          <a:lstStyle/>
          <a:p>
            <a:endParaRPr lang="en-GB"/>
          </a:p>
        </p:txBody>
      </p:sp>
      <p:sp>
        <p:nvSpPr>
          <p:cNvPr id="13" name="Text 10"/>
          <p:cNvSpPr/>
          <p:nvPr/>
        </p:nvSpPr>
        <p:spPr>
          <a:xfrm>
            <a:off x="8074152" y="4041648"/>
            <a:ext cx="3749040" cy="256032"/>
          </a:xfrm>
          <a:prstGeom prst="rect">
            <a:avLst/>
          </a:prstGeom>
          <a:noFill/>
          <a:ln/>
        </p:spPr>
        <p:txBody>
          <a:bodyPr wrap="square" rtlCol="0" anchor="ctr"/>
          <a:lstStyle/>
          <a:p>
            <a:pPr marL="0" indent="0">
              <a:buNone/>
            </a:pPr>
            <a:r>
              <a:rPr lang="en-US" sz="1200" b="1" dirty="0">
                <a:solidFill>
                  <a:srgbClr val="1E7A52"/>
                </a:solidFill>
                <a:latin typeface="Calibri" pitchFamily="34" charset="0"/>
                <a:ea typeface="Calibri" pitchFamily="34" charset="-122"/>
                <a:cs typeface="Calibri" pitchFamily="34" charset="-120"/>
              </a:rPr>
              <a:t>3 · Many λ → the frontier</a:t>
            </a:r>
            <a:endParaRPr lang="en-US" sz="1200" dirty="0"/>
          </a:p>
        </p:txBody>
      </p:sp>
      <p:sp>
        <p:nvSpPr>
          <p:cNvPr id="14" name="Text 11"/>
          <p:cNvSpPr/>
          <p:nvPr/>
        </p:nvSpPr>
        <p:spPr>
          <a:xfrm>
            <a:off x="8074152" y="4306824"/>
            <a:ext cx="3767328" cy="713232"/>
          </a:xfrm>
          <a:prstGeom prst="rect">
            <a:avLst/>
          </a:prstGeom>
          <a:noFill/>
          <a:ln/>
        </p:spPr>
        <p:txBody>
          <a:bodyPr wrap="square" rtlCol="0" anchor="t"/>
          <a:lstStyle/>
          <a:p>
            <a:pPr marL="0" indent="0">
              <a:buNone/>
            </a:pPr>
            <a:r>
              <a:rPr lang="en-US" sz="930" dirty="0">
                <a:solidFill>
                  <a:srgbClr val="12233A"/>
                </a:solidFill>
                <a:latin typeface="Calibri" pitchFamily="34" charset="0"/>
                <a:ea typeface="Calibri" pitchFamily="34" charset="-122"/>
                <a:cs typeface="Calibri" pitchFamily="34" charset="-120"/>
              </a:rPr>
              <a:t>Two λ give two tangencies; the 1-2-5 grid gives ~30. Their lower-left envelope is the Pareto frontier of the next slides. The frontier itself needs no λ — λ only says which point on it a decision-maker would pick.</a:t>
            </a:r>
            <a:endParaRPr lang="en-US" sz="930" dirty="0"/>
          </a:p>
        </p:txBody>
      </p:sp>
      <p:sp>
        <p:nvSpPr>
          <p:cNvPr id="15" name="Shape 12"/>
          <p:cNvSpPr/>
          <p:nvPr/>
        </p:nvSpPr>
        <p:spPr>
          <a:xfrm>
            <a:off x="7909560" y="5166360"/>
            <a:ext cx="4069080" cy="1188720"/>
          </a:xfrm>
          <a:prstGeom prst="roundRect">
            <a:avLst>
              <a:gd name="adj" fmla="val 3846"/>
            </a:avLst>
          </a:prstGeom>
          <a:solidFill>
            <a:srgbClr val="FBF5EA"/>
          </a:solidFill>
          <a:ln w="12700">
            <a:solidFill>
              <a:srgbClr val="B9791C"/>
            </a:solidFill>
            <a:prstDash val="solid"/>
          </a:ln>
        </p:spPr>
        <p:txBody>
          <a:bodyPr/>
          <a:lstStyle/>
          <a:p>
            <a:endParaRPr lang="en-GB"/>
          </a:p>
        </p:txBody>
      </p:sp>
      <p:sp>
        <p:nvSpPr>
          <p:cNvPr id="16" name="Text 13"/>
          <p:cNvSpPr/>
          <p:nvPr/>
        </p:nvSpPr>
        <p:spPr>
          <a:xfrm>
            <a:off x="8074152" y="5230368"/>
            <a:ext cx="3749040" cy="256032"/>
          </a:xfrm>
          <a:prstGeom prst="rect">
            <a:avLst/>
          </a:prstGeom>
          <a:noFill/>
          <a:ln/>
        </p:spPr>
        <p:txBody>
          <a:bodyPr wrap="square" rtlCol="0" anchor="ctr"/>
          <a:lstStyle/>
          <a:p>
            <a:pPr marL="0" indent="0">
              <a:buNone/>
            </a:pPr>
            <a:r>
              <a:rPr lang="en-US" sz="1200" b="1" dirty="0">
                <a:solidFill>
                  <a:srgbClr val="B9791C"/>
                </a:solidFill>
                <a:latin typeface="Calibri" pitchFamily="34" charset="0"/>
                <a:ea typeface="Calibri" pitchFamily="34" charset="-122"/>
                <a:cs typeface="Calibri" pitchFamily="34" charset="-120"/>
              </a:rPr>
              <a:t>What a tangency cannot reach</a:t>
            </a:r>
            <a:endParaRPr lang="en-US" sz="1200" dirty="0"/>
          </a:p>
        </p:txBody>
      </p:sp>
      <p:sp>
        <p:nvSpPr>
          <p:cNvPr id="17" name="Text 14"/>
          <p:cNvSpPr/>
          <p:nvPr/>
        </p:nvSpPr>
        <p:spPr>
          <a:xfrm>
            <a:off x="8074152" y="5495544"/>
            <a:ext cx="3767328" cy="804672"/>
          </a:xfrm>
          <a:prstGeom prst="rect">
            <a:avLst/>
          </a:prstGeom>
          <a:noFill/>
          <a:ln/>
        </p:spPr>
        <p:txBody>
          <a:bodyPr wrap="square" rtlCol="0" anchor="t"/>
          <a:lstStyle/>
          <a:p>
            <a:pPr marL="0" indent="0">
              <a:buNone/>
            </a:pPr>
            <a:r>
              <a:rPr lang="en-US" sz="930" dirty="0">
                <a:solidFill>
                  <a:srgbClr val="12233A"/>
                </a:solidFill>
                <a:latin typeface="Calibri" pitchFamily="34" charset="0"/>
                <a:ea typeface="Calibri" pitchFamily="34" charset="-122"/>
                <a:cs typeface="Calibri" pitchFamily="34" charset="-120"/>
              </a:rPr>
              <a:t>A point in a concave dent of the frontier is never a tangency, whatever λ. Such points — and an exact count such as “today’s 1,615” — need a fixed-#open solve — a p-median instance (p7). S1/S2 are now pinned by bisection over λ to within one facility / 0.2% travel (#52, p9); the exact fixed-count solve stays on the roadmap for the integrality gap (p65).</a:t>
            </a:r>
            <a:endParaRPr lang="en-US" sz="930" dirty="0"/>
          </a:p>
        </p:txBody>
      </p:sp>
    </p:spTree>
    <p:extLst>
      <p:ext uri="{BB962C8B-B14F-4D97-AF65-F5344CB8AC3E}">
        <p14:creationId xmlns:p14="http://schemas.microsoft.com/office/powerpoint/2010/main" val="2296003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kern="0" spc="400" dirty="0">
                <a:solidFill>
                  <a:srgbClr val="1C7293"/>
                </a:solidFill>
                <a:latin typeface="Calibri" pitchFamily="34" charset="0"/>
                <a:ea typeface="Calibri" pitchFamily="34" charset="-122"/>
                <a:cs typeface="Calibri" pitchFamily="34" charset="-120"/>
              </a:rPr>
              <a:t>LAMBDA_SWEEP.JL</a:t>
            </a:r>
            <a:endParaRPr lang="en-US" sz="1100" dirty="0"/>
          </a:p>
        </p:txBody>
      </p:sp>
      <p:sp>
        <p:nvSpPr>
          <p:cNvPr id="3" name="Text 1"/>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dirty="0">
                <a:solidFill>
                  <a:srgbClr val="21295C"/>
                </a:solidFill>
                <a:latin typeface="Georgia" pitchFamily="34" charset="0"/>
                <a:ea typeface="Georgia" pitchFamily="34" charset="-122"/>
                <a:cs typeface="Georgia" pitchFamily="34" charset="-120"/>
              </a:rPr>
              <a:t>Scenarios and what the sweep computes</a:t>
            </a:r>
            <a:endParaRPr lang="en-US" sz="3200" dirty="0"/>
          </a:p>
        </p:txBody>
      </p:sp>
      <p:sp>
        <p:nvSpPr>
          <p:cNvPr id="4" name="Shape 2"/>
          <p:cNvSpPr/>
          <p:nvPr/>
        </p:nvSpPr>
        <p:spPr>
          <a:xfrm>
            <a:off x="548640" y="1554480"/>
            <a:ext cx="5394960" cy="2286000"/>
          </a:xfrm>
          <a:prstGeom prst="rect">
            <a:avLst/>
          </a:prstGeom>
          <a:solidFill>
            <a:srgbClr val="E8EEF3"/>
          </a:solidFill>
          <a:ln w="6350">
            <a:solidFill>
              <a:srgbClr val="DCE3EA"/>
            </a:solidFill>
            <a:prstDash val="solid"/>
          </a:ln>
        </p:spPr>
        <p:txBody>
          <a:bodyPr/>
          <a:lstStyle/>
          <a:p>
            <a:endParaRPr/>
          </a:p>
        </p:txBody>
      </p:sp>
      <p:sp>
        <p:nvSpPr>
          <p:cNvPr id="5" name="Shape 3"/>
          <p:cNvSpPr/>
          <p:nvPr/>
        </p:nvSpPr>
        <p:spPr>
          <a:xfrm>
            <a:off x="548640" y="1554480"/>
            <a:ext cx="91440" cy="2286000"/>
          </a:xfrm>
          <a:prstGeom prst="rect">
            <a:avLst/>
          </a:prstGeom>
          <a:solidFill>
            <a:srgbClr val="1C7293"/>
          </a:solidFill>
          <a:ln/>
        </p:spPr>
        <p:txBody>
          <a:bodyPr/>
          <a:lstStyle/>
          <a:p>
            <a:endParaRPr/>
          </a:p>
        </p:txBody>
      </p:sp>
      <p:sp>
        <p:nvSpPr>
          <p:cNvPr id="6" name="Shape 4"/>
          <p:cNvSpPr/>
          <p:nvPr/>
        </p:nvSpPr>
        <p:spPr>
          <a:xfrm>
            <a:off x="4572000" y="1737360"/>
            <a:ext cx="1188720" cy="274320"/>
          </a:xfrm>
          <a:prstGeom prst="rect">
            <a:avLst/>
          </a:prstGeom>
          <a:solidFill>
            <a:srgbClr val="1C7293"/>
          </a:solidFill>
          <a:ln/>
        </p:spPr>
        <p:txBody>
          <a:bodyPr/>
          <a:lstStyle/>
          <a:p>
            <a:endParaRPr/>
          </a:p>
        </p:txBody>
      </p:sp>
      <p:sp>
        <p:nvSpPr>
          <p:cNvPr id="7" name="Text 5"/>
          <p:cNvSpPr/>
          <p:nvPr/>
        </p:nvSpPr>
        <p:spPr>
          <a:xfrm>
            <a:off x="4572000" y="1737360"/>
            <a:ext cx="11887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p>
        </p:txBody>
      </p:sp>
      <p:sp>
        <p:nvSpPr>
          <p:cNvPr id="8" name="Text 6"/>
          <p:cNvSpPr/>
          <p:nvPr/>
        </p:nvSpPr>
        <p:spPr>
          <a:xfrm>
            <a:off x="822960" y="1719072"/>
            <a:ext cx="3566160" cy="411480"/>
          </a:xfrm>
          <a:prstGeom prst="rect">
            <a:avLst/>
          </a:prstGeom>
          <a:noFill/>
          <a:ln/>
        </p:spPr>
        <p:txBody>
          <a:bodyPr wrap="square" lIns="0" tIns="0" rIns="0" bIns="0" rtlCol="0" anchor="ctr"/>
          <a:lstStyle/>
          <a:p>
            <a:pPr marL="0" indent="0">
              <a:buNone/>
            </a:pPr>
            <a:r>
              <a:rPr lang="en-US" sz="2000" b="1" dirty="0">
                <a:solidFill>
                  <a:srgbClr val="21295C"/>
                </a:solidFill>
                <a:latin typeface="Georgia" pitchFamily="34" charset="0"/>
                <a:ea typeface="Georgia" pitchFamily="34" charset="-122"/>
                <a:cs typeface="Georgia" pitchFamily="34" charset="-120"/>
              </a:rPr>
              <a:t>Baseline</a:t>
            </a:r>
            <a:endParaRPr lang="en-US" sz="2000" dirty="0"/>
          </a:p>
        </p:txBody>
      </p:sp>
      <p:sp>
        <p:nvSpPr>
          <p:cNvPr id="9" name="Text 7"/>
          <p:cNvSpPr/>
          <p:nvPr/>
        </p:nvSpPr>
        <p:spPr>
          <a:xfrm>
            <a:off x="822960" y="2148840"/>
            <a:ext cx="484632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Current pharmacy network</a:t>
            </a:r>
            <a:endParaRPr lang="en-US" sz="1300" dirty="0"/>
          </a:p>
        </p:txBody>
      </p:sp>
      <p:sp>
        <p:nvSpPr>
          <p:cNvPr id="10" name="Text 8"/>
          <p:cNvSpPr/>
          <p:nvPr/>
        </p:nvSpPr>
        <p:spPr>
          <a:xfrm>
            <a:off x="822960" y="2514600"/>
            <a:ext cx="4846320" cy="12344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Each client → nearest existing pharmacy.</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Reports total travel cost, mean travel time, and the count of grid cells with at least one pharmacy (target_cells).</a:t>
            </a:r>
            <a:endParaRPr lang="en-US" sz="1200" dirty="0"/>
          </a:p>
        </p:txBody>
      </p:sp>
      <p:sp>
        <p:nvSpPr>
          <p:cNvPr id="11" name="Shape 9"/>
          <p:cNvSpPr/>
          <p:nvPr/>
        </p:nvSpPr>
        <p:spPr>
          <a:xfrm>
            <a:off x="6217920" y="1554480"/>
            <a:ext cx="5394960" cy="2286000"/>
          </a:xfrm>
          <a:prstGeom prst="rect">
            <a:avLst/>
          </a:prstGeom>
          <a:solidFill>
            <a:srgbClr val="E8EEF3"/>
          </a:solidFill>
          <a:ln w="6350">
            <a:solidFill>
              <a:srgbClr val="DCE3EA"/>
            </a:solidFill>
            <a:prstDash val="solid"/>
          </a:ln>
        </p:spPr>
        <p:txBody>
          <a:bodyPr/>
          <a:lstStyle/>
          <a:p>
            <a:endParaRPr/>
          </a:p>
        </p:txBody>
      </p:sp>
      <p:sp>
        <p:nvSpPr>
          <p:cNvPr id="12" name="Shape 10"/>
          <p:cNvSpPr/>
          <p:nvPr/>
        </p:nvSpPr>
        <p:spPr>
          <a:xfrm>
            <a:off x="6217920" y="1554480"/>
            <a:ext cx="91440" cy="2286000"/>
          </a:xfrm>
          <a:prstGeom prst="rect">
            <a:avLst/>
          </a:prstGeom>
          <a:solidFill>
            <a:srgbClr val="065A82"/>
          </a:solidFill>
          <a:ln/>
        </p:spPr>
        <p:txBody>
          <a:bodyPr/>
          <a:lstStyle/>
          <a:p>
            <a:endParaRPr/>
          </a:p>
        </p:txBody>
      </p:sp>
      <p:sp>
        <p:nvSpPr>
          <p:cNvPr id="13" name="Shape 11"/>
          <p:cNvSpPr/>
          <p:nvPr/>
        </p:nvSpPr>
        <p:spPr>
          <a:xfrm>
            <a:off x="10241280" y="1737360"/>
            <a:ext cx="1188720" cy="274320"/>
          </a:xfrm>
          <a:prstGeom prst="rect">
            <a:avLst/>
          </a:prstGeom>
          <a:solidFill>
            <a:srgbClr val="065A82"/>
          </a:solidFill>
          <a:ln/>
        </p:spPr>
        <p:txBody>
          <a:bodyPr/>
          <a:lstStyle/>
          <a:p>
            <a:endParaRPr/>
          </a:p>
        </p:txBody>
      </p:sp>
      <p:sp>
        <p:nvSpPr>
          <p:cNvPr id="14" name="Text 12"/>
          <p:cNvSpPr/>
          <p:nvPr/>
        </p:nvSpPr>
        <p:spPr>
          <a:xfrm>
            <a:off x="10241280" y="1737360"/>
            <a:ext cx="11887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Equal cost</a:t>
            </a:r>
            <a:endParaRPr lang="en-US" sz="1000" dirty="0"/>
          </a:p>
        </p:txBody>
      </p:sp>
      <p:sp>
        <p:nvSpPr>
          <p:cNvPr id="15" name="Text 13"/>
          <p:cNvSpPr/>
          <p:nvPr/>
        </p:nvSpPr>
        <p:spPr>
          <a:xfrm>
            <a:off x="6492240" y="1719072"/>
            <a:ext cx="3566160" cy="411480"/>
          </a:xfrm>
          <a:prstGeom prst="rect">
            <a:avLst/>
          </a:prstGeom>
          <a:noFill/>
          <a:ln/>
        </p:spPr>
        <p:txBody>
          <a:bodyPr wrap="square" lIns="0" tIns="0" rIns="0" bIns="0" rtlCol="0" anchor="ctr"/>
          <a:lstStyle/>
          <a:p>
            <a:pPr marL="0" indent="0">
              <a:buNone/>
            </a:pPr>
            <a:r>
              <a:rPr lang="en-US" sz="2000" b="1" dirty="0">
                <a:solidFill>
                  <a:srgbClr val="21295C"/>
                </a:solidFill>
                <a:latin typeface="Georgia" pitchFamily="34" charset="0"/>
                <a:ea typeface="Georgia" pitchFamily="34" charset="-122"/>
                <a:cs typeface="Georgia" pitchFamily="34" charset="-120"/>
              </a:rPr>
              <a:t>S1 — fix #facilities</a:t>
            </a:r>
            <a:endParaRPr lang="en-US" sz="2000" dirty="0"/>
          </a:p>
        </p:txBody>
      </p:sp>
      <p:sp>
        <p:nvSpPr>
          <p:cNvPr id="16" name="Text 14"/>
          <p:cNvSpPr/>
          <p:nvPr/>
        </p:nvSpPr>
        <p:spPr>
          <a:xfrm>
            <a:off x="6492240" y="2148840"/>
            <a:ext cx="484632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Reduce travel time at sum_y = today's cell count</a:t>
            </a:r>
            <a:endParaRPr lang="en-US" sz="1300" dirty="0"/>
          </a:p>
        </p:txBody>
      </p:sp>
      <p:sp>
        <p:nvSpPr>
          <p:cNvPr id="17" name="Text 15"/>
          <p:cNvSpPr/>
          <p:nvPr/>
        </p:nvSpPr>
        <p:spPr>
          <a:xfrm>
            <a:off x="6492240" y="2514600"/>
            <a:ext cx="4846320" cy="12344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min Σᵢ popᵢ·c(tᵢⱼ)·xᵢⱼ + λ·Σⱼ yⱼ   (p7)</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Bisection over λ pins the count at today's, within max(1, 0.2%) (#52).</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LP relaxation of the UFLP, strong linking xᵢⱼ ≤ yⱼ; at fixed p a p-median (pMP).</a:t>
            </a:r>
            <a:endParaRPr lang="en-US" sz="1200" dirty="0"/>
          </a:p>
        </p:txBody>
      </p:sp>
      <p:sp>
        <p:nvSpPr>
          <p:cNvPr id="18" name="Shape 16"/>
          <p:cNvSpPr/>
          <p:nvPr/>
        </p:nvSpPr>
        <p:spPr>
          <a:xfrm>
            <a:off x="548640" y="4114800"/>
            <a:ext cx="5394960" cy="2286000"/>
          </a:xfrm>
          <a:prstGeom prst="rect">
            <a:avLst/>
          </a:prstGeom>
          <a:solidFill>
            <a:srgbClr val="E8EEF3"/>
          </a:solidFill>
          <a:ln w="6350">
            <a:solidFill>
              <a:srgbClr val="DCE3EA"/>
            </a:solidFill>
            <a:prstDash val="solid"/>
          </a:ln>
        </p:spPr>
        <p:txBody>
          <a:bodyPr/>
          <a:lstStyle/>
          <a:p>
            <a:endParaRPr/>
          </a:p>
        </p:txBody>
      </p:sp>
      <p:sp>
        <p:nvSpPr>
          <p:cNvPr id="19" name="Shape 17"/>
          <p:cNvSpPr/>
          <p:nvPr/>
        </p:nvSpPr>
        <p:spPr>
          <a:xfrm>
            <a:off x="548640" y="4114800"/>
            <a:ext cx="91440" cy="2286000"/>
          </a:xfrm>
          <a:prstGeom prst="rect">
            <a:avLst/>
          </a:prstGeom>
          <a:solidFill>
            <a:srgbClr val="065A82"/>
          </a:solidFill>
          <a:ln/>
        </p:spPr>
        <p:txBody>
          <a:bodyPr/>
          <a:lstStyle/>
          <a:p>
            <a:endParaRPr/>
          </a:p>
        </p:txBody>
      </p:sp>
      <p:sp>
        <p:nvSpPr>
          <p:cNvPr id="20" name="Shape 18"/>
          <p:cNvSpPr/>
          <p:nvPr/>
        </p:nvSpPr>
        <p:spPr>
          <a:xfrm>
            <a:off x="4572000" y="4297680"/>
            <a:ext cx="1188720" cy="274320"/>
          </a:xfrm>
          <a:prstGeom prst="rect">
            <a:avLst/>
          </a:prstGeom>
          <a:solidFill>
            <a:srgbClr val="065A82"/>
          </a:solidFill>
          <a:ln/>
        </p:spPr>
        <p:txBody>
          <a:bodyPr/>
          <a:lstStyle/>
          <a:p>
            <a:endParaRPr/>
          </a:p>
        </p:txBody>
      </p:sp>
      <p:sp>
        <p:nvSpPr>
          <p:cNvPr id="21" name="Text 19"/>
          <p:cNvSpPr/>
          <p:nvPr/>
        </p:nvSpPr>
        <p:spPr>
          <a:xfrm>
            <a:off x="4572000" y="4297680"/>
            <a:ext cx="11887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Equal access</a:t>
            </a:r>
            <a:endParaRPr lang="en-US" sz="1000" dirty="0"/>
          </a:p>
        </p:txBody>
      </p:sp>
      <p:sp>
        <p:nvSpPr>
          <p:cNvPr id="22" name="Text 20"/>
          <p:cNvSpPr/>
          <p:nvPr/>
        </p:nvSpPr>
        <p:spPr>
          <a:xfrm>
            <a:off x="822960" y="4279392"/>
            <a:ext cx="3566160" cy="411480"/>
          </a:xfrm>
          <a:prstGeom prst="rect">
            <a:avLst/>
          </a:prstGeom>
          <a:noFill/>
          <a:ln/>
        </p:spPr>
        <p:txBody>
          <a:bodyPr wrap="square" lIns="0" tIns="0" rIns="0" bIns="0" rtlCol="0" anchor="ctr"/>
          <a:lstStyle/>
          <a:p>
            <a:pPr marL="0" indent="0">
              <a:buNone/>
            </a:pPr>
            <a:r>
              <a:rPr lang="en-US" sz="2000" b="1" dirty="0">
                <a:solidFill>
                  <a:srgbClr val="21295C"/>
                </a:solidFill>
                <a:latin typeface="Georgia" pitchFamily="34" charset="0"/>
                <a:ea typeface="Georgia" pitchFamily="34" charset="-122"/>
                <a:cs typeface="Georgia" pitchFamily="34" charset="-120"/>
              </a:rPr>
              <a:t>S2 — fix travel cost</a:t>
            </a:r>
            <a:endParaRPr lang="en-US" sz="2000" dirty="0"/>
          </a:p>
        </p:txBody>
      </p:sp>
      <p:sp>
        <p:nvSpPr>
          <p:cNvPr id="23" name="Text 21"/>
          <p:cNvSpPr/>
          <p:nvPr/>
        </p:nvSpPr>
        <p:spPr>
          <a:xfrm>
            <a:off x="822960" y="4709160"/>
            <a:ext cx="484632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Reduce #facilities at travel = today's</a:t>
            </a:r>
            <a:endParaRPr lang="en-US" sz="1300" dirty="0"/>
          </a:p>
        </p:txBody>
      </p:sp>
      <p:sp>
        <p:nvSpPr>
          <p:cNvPr id="24" name="Text 22"/>
          <p:cNvSpPr/>
          <p:nvPr/>
        </p:nvSpPr>
        <p:spPr>
          <a:xfrm>
            <a:off x="822960" y="5074920"/>
            <a:ext cx="4846320" cy="12344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Same objective, different λ target.</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Bisection over λ pins travel at today's, within 0.2%; fewer pharmacies for the same access.</a:t>
            </a:r>
            <a:endParaRPr lang="en-US" sz="1200" dirty="0"/>
          </a:p>
        </p:txBody>
      </p:sp>
      <p:sp>
        <p:nvSpPr>
          <p:cNvPr id="25" name="Shape 23"/>
          <p:cNvSpPr/>
          <p:nvPr/>
        </p:nvSpPr>
        <p:spPr>
          <a:xfrm>
            <a:off x="6217920" y="4114800"/>
            <a:ext cx="5394960" cy="2286000"/>
          </a:xfrm>
          <a:prstGeom prst="rect">
            <a:avLst/>
          </a:prstGeom>
          <a:solidFill>
            <a:srgbClr val="E8EEF3"/>
          </a:solidFill>
          <a:ln w="6350">
            <a:solidFill>
              <a:srgbClr val="DCE3EA"/>
            </a:solidFill>
            <a:prstDash val="solid"/>
          </a:ln>
        </p:spPr>
        <p:txBody>
          <a:bodyPr/>
          <a:lstStyle/>
          <a:p>
            <a:endParaRPr/>
          </a:p>
        </p:txBody>
      </p:sp>
      <p:sp>
        <p:nvSpPr>
          <p:cNvPr id="26" name="Shape 24"/>
          <p:cNvSpPr/>
          <p:nvPr/>
        </p:nvSpPr>
        <p:spPr>
          <a:xfrm>
            <a:off x="6217920" y="4114800"/>
            <a:ext cx="91440" cy="2286000"/>
          </a:xfrm>
          <a:prstGeom prst="rect">
            <a:avLst/>
          </a:prstGeom>
          <a:solidFill>
            <a:srgbClr val="F2B632"/>
          </a:solidFill>
          <a:ln/>
        </p:spPr>
        <p:txBody>
          <a:bodyPr/>
          <a:lstStyle/>
          <a:p>
            <a:endParaRPr/>
          </a:p>
        </p:txBody>
      </p:sp>
      <p:sp>
        <p:nvSpPr>
          <p:cNvPr id="27" name="Shape 25"/>
          <p:cNvSpPr/>
          <p:nvPr/>
        </p:nvSpPr>
        <p:spPr>
          <a:xfrm>
            <a:off x="10241280" y="4297680"/>
            <a:ext cx="1188720" cy="274320"/>
          </a:xfrm>
          <a:prstGeom prst="rect">
            <a:avLst/>
          </a:prstGeom>
          <a:solidFill>
            <a:srgbClr val="F2B632"/>
          </a:solidFill>
          <a:ln/>
        </p:spPr>
        <p:txBody>
          <a:bodyPr/>
          <a:lstStyle/>
          <a:p>
            <a:endParaRPr/>
          </a:p>
        </p:txBody>
      </p:sp>
      <p:sp>
        <p:nvSpPr>
          <p:cNvPr id="28" name="Text 26"/>
          <p:cNvSpPr/>
          <p:nvPr/>
        </p:nvSpPr>
        <p:spPr>
          <a:xfrm>
            <a:off x="10241280" y="4297680"/>
            <a:ext cx="11887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Pareto sweep</a:t>
            </a:r>
            <a:endParaRPr lang="en-US" sz="1000" dirty="0"/>
          </a:p>
        </p:txBody>
      </p:sp>
      <p:sp>
        <p:nvSpPr>
          <p:cNvPr id="29" name="Text 27"/>
          <p:cNvSpPr/>
          <p:nvPr/>
        </p:nvSpPr>
        <p:spPr>
          <a:xfrm>
            <a:off x="6492240" y="4279392"/>
            <a:ext cx="3566160" cy="411480"/>
          </a:xfrm>
          <a:prstGeom prst="rect">
            <a:avLst/>
          </a:prstGeom>
          <a:noFill/>
          <a:ln/>
        </p:spPr>
        <p:txBody>
          <a:bodyPr wrap="square" lIns="0" tIns="0" rIns="0" bIns="0" rtlCol="0" anchor="ctr"/>
          <a:lstStyle/>
          <a:p>
            <a:pPr marL="0" indent="0">
              <a:buNone/>
            </a:pPr>
            <a:r>
              <a:rPr lang="en-US" sz="2000" b="1" dirty="0">
                <a:solidFill>
                  <a:srgbClr val="21295C"/>
                </a:solidFill>
                <a:latin typeface="Georgia" pitchFamily="34" charset="0"/>
                <a:ea typeface="Georgia" pitchFamily="34" charset="-122"/>
                <a:cs typeface="Georgia" pitchFamily="34" charset="-120"/>
              </a:rPr>
              <a:t>S3 — reduce both</a:t>
            </a:r>
            <a:endParaRPr lang="en-US" sz="2000" dirty="0"/>
          </a:p>
        </p:txBody>
      </p:sp>
      <p:sp>
        <p:nvSpPr>
          <p:cNvPr id="30" name="Text 28"/>
          <p:cNvSpPr/>
          <p:nvPr/>
        </p:nvSpPr>
        <p:spPr>
          <a:xfrm>
            <a:off x="6492240" y="4709160"/>
            <a:ext cx="484632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Trace the full Pareto frontier</a:t>
            </a:r>
            <a:endParaRPr lang="en-US" sz="1300" dirty="0"/>
          </a:p>
        </p:txBody>
      </p:sp>
      <p:sp>
        <p:nvSpPr>
          <p:cNvPr id="31" name="Text 29"/>
          <p:cNvSpPr/>
          <p:nvPr/>
        </p:nvSpPr>
        <p:spPr>
          <a:xfrm>
            <a:off x="6492240" y="5074920"/>
            <a:ext cx="4846320" cy="12344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1-2-5 grid per decade, w ∈ {1e-4 … 5}, extended upward until S1 brackets; then bisection to S1 and S2.</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Report sum_y, the travel bounds and the rounded n_open at each λ.</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8229600" cy="274320"/>
          </a:xfrm>
          <a:prstGeom prst="rect">
            <a:avLst/>
          </a:prstGeom>
          <a:noFill/>
          <a:ln/>
        </p:spPr>
        <p:txBody>
          <a:bodyPr wrap="square" rtlCol="0" anchor="ctr"/>
          <a:lstStyle/>
          <a:p>
            <a:pPr marL="0" indent="0">
              <a:buNone/>
            </a:pPr>
            <a:r>
              <a:rPr lang="en-US" sz="1200" b="1" kern="0" spc="200" dirty="0">
                <a:solidFill>
                  <a:srgbClr val="0B6E99"/>
                </a:solidFill>
              </a:rPr>
              <a:t>FROM FRACTIONS TO PHARMACIES</a:t>
            </a:r>
            <a:endParaRPr lang="en-US" sz="1200" dirty="0"/>
          </a:p>
        </p:txBody>
      </p:sp>
      <p:sp>
        <p:nvSpPr>
          <p:cNvPr id="3" name="Text 1"/>
          <p:cNvSpPr/>
          <p:nvPr/>
        </p:nvSpPr>
        <p:spPr>
          <a:xfrm>
            <a:off x="411480" y="512064"/>
            <a:ext cx="1143000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How multistart rounds the LP relaxation  </a:t>
            </a:r>
            <a:r>
              <a:rPr lang="en-US" sz="2200" dirty="0">
                <a:solidFill>
                  <a:srgbClr val="1C3D5A"/>
                </a:solidFill>
                <a:latin typeface="Georgia" pitchFamily="34" charset="0"/>
                <a:ea typeface="Georgia" pitchFamily="34" charset="-122"/>
                <a:cs typeface="Georgia" pitchFamily="34" charset="-120"/>
              </a:rPr>
              <a:t>— and why it is an upper bound</a:t>
            </a:r>
            <a:endParaRPr lang="en-US" sz="2200" dirty="0"/>
          </a:p>
        </p:txBody>
      </p:sp>
      <p:sp>
        <p:nvSpPr>
          <p:cNvPr id="4" name="Shape 2"/>
          <p:cNvSpPr/>
          <p:nvPr/>
        </p:nvSpPr>
        <p:spPr>
          <a:xfrm>
            <a:off x="457200" y="1298448"/>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5" name="Text 3"/>
          <p:cNvSpPr/>
          <p:nvPr/>
        </p:nvSpPr>
        <p:spPr>
          <a:xfrm>
            <a:off x="457200" y="1298448"/>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24128" y="1280160"/>
            <a:ext cx="5852160" cy="274320"/>
          </a:xfrm>
          <a:prstGeom prst="rect">
            <a:avLst/>
          </a:prstGeom>
          <a:noFill/>
          <a:ln/>
        </p:spPr>
        <p:txBody>
          <a:bodyPr wrap="square"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Fix the count</a:t>
            </a:r>
            <a:endParaRPr lang="en-US" sz="1400" dirty="0"/>
          </a:p>
        </p:txBody>
      </p:sp>
      <p:sp>
        <p:nvSpPr>
          <p:cNvPr id="7" name="Text 5"/>
          <p:cNvSpPr/>
          <p:nvPr/>
        </p:nvSpPr>
        <p:spPr>
          <a:xfrm>
            <a:off x="1024128" y="1545336"/>
            <a:ext cx="5989320" cy="621792"/>
          </a:xfrm>
          <a:prstGeom prst="rect">
            <a:avLst/>
          </a:prstGeom>
          <a:noFill/>
          <a:ln/>
        </p:spPr>
        <p:txBody>
          <a:bodyPr wrap="square" rtlCol="0" anchor="t"/>
          <a:lstStyle/>
          <a:p>
            <a:pPr marL="0" indent="0">
              <a:buNone/>
            </a:pPr>
            <a:r>
              <a:rPr lang="en-US" sz="1050" dirty="0">
                <a:solidFill>
                  <a:srgbClr val="5B6B7B"/>
                </a:solidFill>
                <a:latin typeface="Calibri" pitchFamily="34" charset="0"/>
                <a:ea typeface="Calibri" pitchFamily="34" charset="-122"/>
                <a:cs typeface="Calibri" pitchFamily="34" charset="-120"/>
              </a:rPr>
              <a:t>p = round(Σ yⱼ*) — the integer pharmacy count nearest the LP's fractional total, so every rounded point stays on the same axis as the relaxation.</a:t>
            </a:r>
            <a:endParaRPr lang="en-US" sz="1050" dirty="0"/>
          </a:p>
        </p:txBody>
      </p:sp>
      <p:sp>
        <p:nvSpPr>
          <p:cNvPr id="8" name="Shape 6"/>
          <p:cNvSpPr/>
          <p:nvPr/>
        </p:nvSpPr>
        <p:spPr>
          <a:xfrm>
            <a:off x="457200" y="2194560"/>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9" name="Text 7"/>
          <p:cNvSpPr/>
          <p:nvPr/>
        </p:nvSpPr>
        <p:spPr>
          <a:xfrm>
            <a:off x="457200" y="219456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024128" y="2176272"/>
            <a:ext cx="5852160" cy="274320"/>
          </a:xfrm>
          <a:prstGeom prst="rect">
            <a:avLst/>
          </a:prstGeom>
          <a:noFill/>
          <a:ln/>
        </p:spPr>
        <p:txBody>
          <a:bodyPr wrap="square"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Seed 10 candidate sets</a:t>
            </a:r>
            <a:endParaRPr lang="en-US" sz="1400" dirty="0"/>
          </a:p>
        </p:txBody>
      </p:sp>
      <p:sp>
        <p:nvSpPr>
          <p:cNvPr id="11" name="Text 9"/>
          <p:cNvSpPr/>
          <p:nvPr/>
        </p:nvSpPr>
        <p:spPr>
          <a:xfrm>
            <a:off x="1024128" y="2441448"/>
            <a:ext cx="5989320" cy="621792"/>
          </a:xfrm>
          <a:prstGeom prst="rect">
            <a:avLst/>
          </a:prstGeom>
          <a:noFill/>
          <a:ln/>
        </p:spPr>
        <p:txBody>
          <a:bodyPr wrap="square" rtlCol="0" anchor="t"/>
          <a:lstStyle/>
          <a:p>
            <a:pPr marL="0" indent="0">
              <a:buNone/>
            </a:pPr>
            <a:r>
              <a:rPr lang="en-US" sz="1050" dirty="0">
                <a:solidFill>
                  <a:srgbClr val="5B6B7B"/>
                </a:solidFill>
                <a:latin typeface="Calibri" pitchFamily="34" charset="0"/>
                <a:ea typeface="Calibri" pitchFamily="34" charset="-122"/>
                <a:cs typeface="Calibri" pitchFamily="34" charset="-120"/>
              </a:rPr>
              <a:t>top-p by x* and the lazy-greedy set (CELF, Leskovec et al. 2007 — marginal travel gains are submodular), so the result can never be worse than either; plus 8 x*-weighted random draws (Efraimidis–Spirakis 2006 A-Res); must-open pharmacies (x*≈1) are always kept.</a:t>
            </a:r>
            <a:endParaRPr lang="en-US" sz="1050" dirty="0"/>
          </a:p>
        </p:txBody>
      </p:sp>
      <p:sp>
        <p:nvSpPr>
          <p:cNvPr id="12" name="Shape 10"/>
          <p:cNvSpPr/>
          <p:nvPr/>
        </p:nvSpPr>
        <p:spPr>
          <a:xfrm>
            <a:off x="457200" y="3090672"/>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13" name="Text 11"/>
          <p:cNvSpPr/>
          <p:nvPr/>
        </p:nvSpPr>
        <p:spPr>
          <a:xfrm>
            <a:off x="457200" y="3090672"/>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024128" y="3072384"/>
            <a:ext cx="5852160" cy="274320"/>
          </a:xfrm>
          <a:prstGeom prst="rect">
            <a:avLst/>
          </a:prstGeom>
          <a:noFill/>
          <a:ln/>
        </p:spPr>
        <p:txBody>
          <a:bodyPr wrap="square"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Polish by swaps</a:t>
            </a:r>
            <a:endParaRPr lang="en-US" sz="1400" dirty="0"/>
          </a:p>
        </p:txBody>
      </p:sp>
      <p:sp>
        <p:nvSpPr>
          <p:cNvPr id="15" name="Text 13"/>
          <p:cNvSpPr/>
          <p:nvPr/>
        </p:nvSpPr>
        <p:spPr>
          <a:xfrm>
            <a:off x="1024128" y="3337560"/>
            <a:ext cx="5989320" cy="621792"/>
          </a:xfrm>
          <a:prstGeom prst="rect">
            <a:avLst/>
          </a:prstGeom>
          <a:noFill/>
          <a:ln/>
        </p:spPr>
        <p:txBody>
          <a:bodyPr wrap="square" rtlCol="0" anchor="t"/>
          <a:lstStyle/>
          <a:p>
            <a:pPr marL="0" indent="0">
              <a:buNone/>
            </a:pPr>
            <a:r>
              <a:rPr lang="en-US" sz="1050" dirty="0">
                <a:solidFill>
                  <a:srgbClr val="5B6B7B"/>
                </a:solidFill>
                <a:latin typeface="Calibri" pitchFamily="34" charset="0"/>
                <a:ea typeface="Calibri" pitchFamily="34" charset="-122"/>
                <a:cs typeface="Calibri" pitchFamily="34" charset="-120"/>
              </a:rPr>
              <a:t>best-improving open↔closed swaps over the fractional pool — the classic p-median vertex-substitution search, in its fast-interchange form (Resende &amp; Werneck 2007). Each swap is accepted only if the exact travel delta improves — cost strictly decreases, ≤ 12 rounds per seed.</a:t>
            </a:r>
            <a:endParaRPr lang="en-US" sz="1050" dirty="0"/>
          </a:p>
        </p:txBody>
      </p:sp>
      <p:sp>
        <p:nvSpPr>
          <p:cNvPr id="16" name="Shape 14"/>
          <p:cNvSpPr/>
          <p:nvPr/>
        </p:nvSpPr>
        <p:spPr>
          <a:xfrm>
            <a:off x="457200" y="3986784"/>
            <a:ext cx="402336" cy="402336"/>
          </a:xfrm>
          <a:prstGeom prst="roundRect">
            <a:avLst>
              <a:gd name="adj" fmla="val 50000"/>
            </a:avLst>
          </a:prstGeom>
          <a:solidFill>
            <a:srgbClr val="1C3D5A"/>
          </a:solidFill>
          <a:ln w="12700">
            <a:solidFill>
              <a:srgbClr val="333333"/>
            </a:solidFill>
            <a:prstDash val="solid"/>
          </a:ln>
        </p:spPr>
        <p:txBody>
          <a:bodyPr/>
          <a:lstStyle/>
          <a:p>
            <a:endParaRPr lang="en-GB"/>
          </a:p>
        </p:txBody>
      </p:sp>
      <p:sp>
        <p:nvSpPr>
          <p:cNvPr id="17" name="Text 15"/>
          <p:cNvSpPr/>
          <p:nvPr/>
        </p:nvSpPr>
        <p:spPr>
          <a:xfrm>
            <a:off x="457200" y="3986784"/>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024128" y="3968496"/>
            <a:ext cx="5852160" cy="274320"/>
          </a:xfrm>
          <a:prstGeom prst="rect">
            <a:avLst/>
          </a:prstGeom>
          <a:noFill/>
          <a:ln/>
        </p:spPr>
        <p:txBody>
          <a:bodyPr wrap="square"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Score coverage-honestly, keep the best</a:t>
            </a:r>
            <a:endParaRPr lang="en-US" sz="1400" dirty="0"/>
          </a:p>
        </p:txBody>
      </p:sp>
      <p:sp>
        <p:nvSpPr>
          <p:cNvPr id="19" name="Text 17"/>
          <p:cNvSpPr/>
          <p:nvPr/>
        </p:nvSpPr>
        <p:spPr>
          <a:xfrm>
            <a:off x="1024128" y="4233672"/>
            <a:ext cx="5989320" cy="621792"/>
          </a:xfrm>
          <a:prstGeom prst="rect">
            <a:avLst/>
          </a:prstGeom>
          <a:noFill/>
          <a:ln/>
        </p:spPr>
        <p:txBody>
          <a:bodyPr wrap="square" rtlCol="0" anchor="t"/>
          <a:lstStyle/>
          <a:p>
            <a:pPr marL="0" indent="0">
              <a:buNone/>
            </a:pPr>
            <a:r>
              <a:rPr lang="en-US" sz="1050" dirty="0">
                <a:solidFill>
                  <a:srgbClr val="5B6B7B"/>
                </a:solidFill>
                <a:latin typeface="Calibri" pitchFamily="34" charset="0"/>
                <a:ea typeface="Calibri" pitchFamily="34" charset="-122"/>
                <a:cs typeface="Calibri" pitchFamily="34" charset="-120"/>
              </a:rPr>
              <a:t>every client priced at its nearest open pharmacy, c(t); a client left with no open pharmacy in the OD (stranded) is priced at BIG — 120 min (linear) / 1.0 (logistic), the same price as in the LP and the baseline, so abandoning remote clusters is never free. Lowest total wins.</a:t>
            </a:r>
            <a:endParaRPr lang="en-US" sz="1050" dirty="0"/>
          </a:p>
        </p:txBody>
      </p:sp>
      <p:sp>
        <p:nvSpPr>
          <p:cNvPr id="20" name="Shape 18"/>
          <p:cNvSpPr/>
          <p:nvPr/>
        </p:nvSpPr>
        <p:spPr>
          <a:xfrm>
            <a:off x="7315200" y="1298448"/>
            <a:ext cx="4416552" cy="3566160"/>
          </a:xfrm>
          <a:prstGeom prst="roundRect">
            <a:avLst>
              <a:gd name="adj" fmla="val 1538"/>
            </a:avLst>
          </a:prstGeom>
          <a:solidFill>
            <a:srgbClr val="F0F6F2"/>
          </a:solidFill>
          <a:ln w="12700">
            <a:solidFill>
              <a:srgbClr val="1E7A52"/>
            </a:solidFill>
            <a:prstDash val="solid"/>
          </a:ln>
        </p:spPr>
        <p:txBody>
          <a:bodyPr/>
          <a:lstStyle/>
          <a:p>
            <a:endParaRPr lang="en-GB"/>
          </a:p>
        </p:txBody>
      </p:sp>
      <p:sp>
        <p:nvSpPr>
          <p:cNvPr id="21" name="Text 19"/>
          <p:cNvSpPr/>
          <p:nvPr/>
        </p:nvSpPr>
        <p:spPr>
          <a:xfrm>
            <a:off x="7498080" y="1408176"/>
            <a:ext cx="4069080" cy="274320"/>
          </a:xfrm>
          <a:prstGeom prst="rect">
            <a:avLst/>
          </a:prstGeom>
          <a:noFill/>
          <a:ln/>
        </p:spPr>
        <p:txBody>
          <a:bodyPr wrap="square" rtlCol="0" anchor="ctr"/>
          <a:lstStyle/>
          <a:p>
            <a:pPr marL="0" indent="0">
              <a:buNone/>
            </a:pPr>
            <a:r>
              <a:rPr lang="en-US" sz="1300" b="1" dirty="0">
                <a:solidFill>
                  <a:srgbClr val="1E7A52"/>
                </a:solidFill>
                <a:latin typeface="Calibri" pitchFamily="34" charset="0"/>
                <a:ea typeface="Calibri" pitchFamily="34" charset="-122"/>
                <a:cs typeface="Calibri" pitchFamily="34" charset="-120"/>
              </a:rPr>
              <a:t>Why this is an upper bound ✓</a:t>
            </a:r>
            <a:endParaRPr lang="en-US" sz="1300" dirty="0"/>
          </a:p>
        </p:txBody>
      </p:sp>
      <p:sp>
        <p:nvSpPr>
          <p:cNvPr id="22" name="Text 20"/>
          <p:cNvSpPr/>
          <p:nvPr/>
        </p:nvSpPr>
        <p:spPr>
          <a:xfrm>
            <a:off x="7498080" y="1719072"/>
            <a:ext cx="4069080" cy="3090672"/>
          </a:xfrm>
          <a:prstGeom prst="rect">
            <a:avLst/>
          </a:prstGeom>
          <a:noFill/>
          <a:ln/>
        </p:spPr>
        <p:txBody>
          <a:bodyPr wrap="square" rtlCol="0" anchor="t"/>
          <a:lstStyle/>
          <a:p>
            <a:pPr marL="0" indent="0">
              <a:lnSpc>
                <a:spcPct val="100000"/>
              </a:lnSpc>
              <a:buNone/>
            </a:pPr>
            <a:r>
              <a:rPr lang="en-US" sz="960" dirty="0">
                <a:solidFill>
                  <a:srgbClr val="12233A"/>
                </a:solidFill>
                <a:latin typeface="Calibri" pitchFamily="34" charset="0"/>
                <a:ea typeface="Calibri" pitchFamily="34" charset="-122"/>
                <a:cs typeface="Calibri" pitchFamily="34" charset="-120"/>
              </a:rPr>
              <a:t>The rounded set is a feasible point of the same (soft-coverage) problem with p = n_open pharmacies actually open: every client is assigned to its nearest open pharmacy or explicitly left unserved at BIG. Feasible ⟹ its travel is ≥ the optimum with p pharmacies, which by weak duality on the priced count is ≥ the LP value moved to that integer count:</a:t>
            </a:r>
            <a:endParaRPr lang="en-US" sz="960" dirty="0"/>
          </a:p>
          <a:p>
            <a:pPr marL="0" indent="0">
              <a:lnSpc>
                <a:spcPct val="100000"/>
              </a:lnSpc>
              <a:buNone/>
            </a:pPr>
            <a:endParaRPr lang="en-US" sz="960" dirty="0"/>
          </a:p>
          <a:p>
            <a:pPr marL="0" indent="0" algn="ctr">
              <a:lnSpc>
                <a:spcPct val="100000"/>
              </a:lnSpc>
              <a:buNone/>
            </a:pPr>
            <a:r>
              <a:rPr lang="en-US" sz="960" b="1" dirty="0">
                <a:solidFill>
                  <a:srgbClr val="1E7A52"/>
                </a:solidFill>
                <a:latin typeface="Calibri" pitchFamily="34" charset="0"/>
                <a:ea typeface="Calibri" pitchFamily="34" charset="-122"/>
                <a:cs typeface="Calibri" pitchFamily="34" charset="-120"/>
              </a:rPr>
              <a:t>relax + λ·(Σy* − p)  ≤  optimum with p  ≤  multistart</a:t>
            </a:r>
            <a:endParaRPr lang="en-US" sz="960" dirty="0"/>
          </a:p>
          <a:p>
            <a:pPr marL="0" indent="0">
              <a:lnSpc>
                <a:spcPct val="100000"/>
              </a:lnSpc>
              <a:buNone/>
            </a:pPr>
            <a:endParaRPr lang="en-US" sz="960" dirty="0"/>
          </a:p>
          <a:p>
            <a:pPr marL="0" indent="0">
              <a:lnSpc>
                <a:spcPct val="100000"/>
              </a:lnSpc>
              <a:buNone/>
            </a:pPr>
            <a:r>
              <a:rPr lang="en-US" sz="960" dirty="0">
                <a:solidFill>
                  <a:srgbClr val="5B6B7B"/>
                </a:solidFill>
                <a:latin typeface="Calibri" pitchFamily="34" charset="0"/>
                <a:ea typeface="Calibri" pitchFamily="34" charset="-122"/>
                <a:cs typeface="Calibri" pitchFamily="34" charset="-120"/>
              </a:rPr>
              <a:t>Rigorous throughout — no caveat needed. Under soft coverage leaving a client unserved is part of the feasible space, and it is priced at the same BIG in the LP bound, in the rounding and in the baseline. The unserved count is reported next to every figure.</a:t>
            </a:r>
            <a:endParaRPr lang="en-US" sz="960" dirty="0"/>
          </a:p>
          <a:p>
            <a:pPr marL="0" indent="0">
              <a:lnSpc>
                <a:spcPct val="100000"/>
              </a:lnSpc>
              <a:buNone/>
            </a:pPr>
            <a:endParaRPr lang="en-US" sz="960" dirty="0"/>
          </a:p>
          <a:p>
            <a:pPr marL="0" indent="0">
              <a:lnSpc>
                <a:spcPct val="100000"/>
              </a:lnSpc>
              <a:buNone/>
            </a:pPr>
            <a:r>
              <a:rPr lang="en-US" sz="960" i="1" dirty="0">
                <a:solidFill>
                  <a:srgbClr val="12233A"/>
                </a:solidFill>
                <a:latin typeface="Calibri" pitchFamily="34" charset="0"/>
                <a:ea typeface="Calibri" pitchFamily="34" charset="-122"/>
                <a:cs typeface="Calibri" pitchFamily="34" charset="-120"/>
              </a:rPr>
              <a:t>The multi-vs-relax column in the end tables is therefore a certified optimality gap on travel at that pharmacy count: the integer optimum lies inside it. </a:t>
            </a:r>
            <a:r>
              <a:rPr lang="en-US" sz="960" i="1" dirty="0">
                <a:solidFill>
                  <a:srgbClr val="5B6B7B"/>
                </a:solidFill>
                <a:latin typeface="Calibri" pitchFamily="34" charset="0"/>
                <a:ea typeface="Calibri" pitchFamily="34" charset="-122"/>
                <a:cs typeface="Calibri" pitchFamily="34" charset="-120"/>
              </a:rPr>
              <a:t>The shift λ·(Σy* − p) is at most λ/2; it matters only where rounding opens more pharmacies than Σy*, which made a few gaps slightly negative before (#55). For the logistic variant the bound is on the transformed cost c(t), not on minutes; mean_t is reported alongside and carries no bound.</a:t>
            </a:r>
            <a:endParaRPr lang="en-US" sz="960" dirty="0"/>
          </a:p>
        </p:txBody>
      </p:sp>
      <p:sp>
        <p:nvSpPr>
          <p:cNvPr id="23" name="Shape 21"/>
          <p:cNvSpPr/>
          <p:nvPr/>
        </p:nvSpPr>
        <p:spPr>
          <a:xfrm>
            <a:off x="457200" y="5029200"/>
            <a:ext cx="11274552" cy="1143000"/>
          </a:xfrm>
          <a:prstGeom prst="roundRect">
            <a:avLst>
              <a:gd name="adj" fmla="val 4800"/>
            </a:avLst>
          </a:prstGeom>
          <a:solidFill>
            <a:srgbClr val="F2F5F8"/>
          </a:solidFill>
          <a:ln w="12700">
            <a:solidFill>
              <a:srgbClr val="D9E0E7"/>
            </a:solidFill>
            <a:prstDash val="solid"/>
          </a:ln>
        </p:spPr>
        <p:txBody>
          <a:bodyPr/>
          <a:lstStyle/>
          <a:p>
            <a:endParaRPr lang="en-GB"/>
          </a:p>
        </p:txBody>
      </p:sp>
      <p:sp>
        <p:nvSpPr>
          <p:cNvPr id="24" name="Text 22"/>
          <p:cNvSpPr/>
          <p:nvPr/>
        </p:nvSpPr>
        <p:spPr>
          <a:xfrm>
            <a:off x="685800" y="5166360"/>
            <a:ext cx="10835640" cy="914400"/>
          </a:xfrm>
          <a:prstGeom prst="rect">
            <a:avLst/>
          </a:prstGeom>
          <a:noFill/>
          <a:ln/>
        </p:spPr>
        <p:txBody>
          <a:bodyPr wrap="square" rtlCol="0" anchor="t"/>
          <a:lstStyle/>
          <a:p>
            <a:pPr marL="0" indent="0">
              <a:buNone/>
            </a:pPr>
            <a:r>
              <a:rPr lang="en-US" sz="1100" b="1" dirty="0">
                <a:solidFill>
                  <a:srgbClr val="12233A"/>
                </a:solidFill>
                <a:latin typeface="Calibri" pitchFamily="34" charset="0"/>
                <a:ea typeface="Calibri" pitchFamily="34" charset="-122"/>
                <a:cs typeface="Calibri" pitchFamily="34" charset="-120"/>
              </a:rPr>
              <a:t>Checked against the implementation (lp_run.jl).  </a:t>
            </a:r>
            <a:r>
              <a:rPr lang="en-US" sz="1100" dirty="0">
                <a:solidFill>
                  <a:srgbClr val="5B6B7B"/>
                </a:solidFill>
                <a:latin typeface="Calibri" pitchFamily="34" charset="0"/>
                <a:ea typeface="Calibri" pitchFamily="34" charset="-122"/>
                <a:cs typeface="Calibri" pitchFamily="34" charset="-120"/>
              </a:rPr>
              <a:t>An LP-guided matheuristic. The swap profit is the exact per-swap travel change (gain − loss + interaction term — verified case-by-case), so polish is monotone and multistart ≤ min(top-p, greedy) by construction; the final choice re-evaluates every polished set from scratch (travel_of). Deterministic: fixed RNG seed, so decks reproduce. Cost: seconds per point — the LP solve dominates.</a:t>
            </a:r>
            <a:endParaRPr lang="en-US" sz="1100" dirty="0"/>
          </a:p>
        </p:txBody>
      </p:sp>
      <p:sp>
        <p:nvSpPr>
          <p:cNvPr id="25" name="Text 23"/>
          <p:cNvSpPr/>
          <p:nvPr/>
        </p:nvSpPr>
        <p:spPr>
          <a:xfrm>
            <a:off x="457200" y="6355080"/>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lp_run.jl: multistart_round (seeds), swap_round! (fast interchange), travel_of (coverage-honest metric), assign_nearest (final assignment) · MS_RESTARTS=10, MS_ROUNDS=12, MS_SEED fixed.</a:t>
            </a:r>
            <a:endParaRPr lang="en-US" sz="850" dirty="0"/>
          </a:p>
        </p:txBody>
      </p:sp>
    </p:spTree>
    <p:extLst>
      <p:ext uri="{BB962C8B-B14F-4D97-AF65-F5344CB8AC3E}">
        <p14:creationId xmlns:p14="http://schemas.microsoft.com/office/powerpoint/2010/main" val="3859257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kern="0" spc="400" dirty="0">
                <a:solidFill>
                  <a:srgbClr val="1C7293"/>
                </a:solidFill>
                <a:latin typeface="Calibri" pitchFamily="34" charset="0"/>
                <a:ea typeface="Calibri" pitchFamily="34" charset="-122"/>
                <a:cs typeface="Calibri" pitchFamily="34" charset="-120"/>
              </a:rPr>
              <a:t>WHAT THE SWEEP TRACES</a:t>
            </a:r>
            <a:endParaRPr lang="en-US" sz="1100" dirty="0"/>
          </a:p>
        </p:txBody>
      </p:sp>
      <p:sp>
        <p:nvSpPr>
          <p:cNvPr id="3" name="Text 1"/>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dirty="0">
                <a:solidFill>
                  <a:srgbClr val="21295C"/>
                </a:solidFill>
                <a:latin typeface="Georgia" pitchFamily="34" charset="0"/>
                <a:ea typeface="Georgia" pitchFamily="34" charset="-122"/>
                <a:cs typeface="Georgia" pitchFamily="34" charset="-120"/>
              </a:rPr>
              <a:t>The Pareto frontier</a:t>
            </a:r>
            <a:endParaRPr lang="en-US" sz="3200" dirty="0"/>
          </a:p>
        </p:txBody>
      </p:sp>
      <p:sp>
        <p:nvSpPr>
          <p:cNvPr id="4" name="Text 2"/>
          <p:cNvSpPr/>
          <p:nvPr/>
        </p:nvSpPr>
        <p:spPr>
          <a:xfrm>
            <a:off x="548640" y="1554480"/>
            <a:ext cx="5303520" cy="457200"/>
          </a:xfrm>
          <a:prstGeom prst="rect">
            <a:avLst/>
          </a:prstGeom>
          <a:noFill/>
          <a:ln/>
        </p:spPr>
        <p:txBody>
          <a:bodyPr wrap="square" lIns="0" tIns="0" rIns="0" bIns="0" rtlCol="0" anchor="ctr"/>
          <a:lstStyle/>
          <a:p>
            <a:pPr marL="0" indent="0">
              <a:buNone/>
            </a:pPr>
            <a:r>
              <a:rPr lang="en-US" sz="2000" b="1" dirty="0">
                <a:solidFill>
                  <a:srgbClr val="21295C"/>
                </a:solidFill>
                <a:latin typeface="Georgia" pitchFamily="34" charset="0"/>
                <a:ea typeface="Georgia" pitchFamily="34" charset="-122"/>
                <a:cs typeface="Georgia" pitchFamily="34" charset="-120"/>
              </a:rPr>
              <a:t>Two competing objectives — proximity vs efficiency</a:t>
            </a:r>
            <a:endParaRPr lang="en-US" sz="2000" dirty="0"/>
          </a:p>
        </p:txBody>
      </p:sp>
      <p:sp>
        <p:nvSpPr>
          <p:cNvPr id="5" name="Text 3"/>
          <p:cNvSpPr/>
          <p:nvPr/>
        </p:nvSpPr>
        <p:spPr>
          <a:xfrm>
            <a:off x="548640" y="2011680"/>
            <a:ext cx="5303520" cy="109728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Travel cost</a:t>
            </a:r>
            <a:r>
              <a:rPr lang="en-US" sz="1400" dirty="0">
                <a:solidFill>
                  <a:srgbClr val="1F2937"/>
                </a:solidFill>
                <a:latin typeface="Calibri" pitchFamily="34" charset="0"/>
                <a:ea typeface="Calibri" pitchFamily="34" charset="-122"/>
                <a:cs typeface="Calibri" pitchFamily="34" charset="-120"/>
              </a:rPr>
              <a:t> — total person-c(t), weighted by population.</a:t>
            </a:r>
            <a:endParaRPr lang="en-US" sz="1400" dirty="0"/>
          </a:p>
          <a:p>
            <a:pPr marL="0" indent="0">
              <a:buNone/>
            </a:pPr>
            <a:r>
              <a:rPr lang="en-US" sz="1400" b="1" dirty="0">
                <a:solidFill>
                  <a:srgbClr val="065A82"/>
                </a:solidFill>
                <a:latin typeface="Calibri" pitchFamily="34" charset="0"/>
                <a:ea typeface="Calibri" pitchFamily="34" charset="-122"/>
                <a:cs typeface="Calibri" pitchFamily="34" charset="-120"/>
              </a:rPr>
              <a:t>Facility count</a:t>
            </a:r>
            <a:r>
              <a:rPr lang="en-US" sz="1400" dirty="0">
                <a:solidFill>
                  <a:srgbClr val="1F2937"/>
                </a:solidFill>
                <a:latin typeface="Calibri" pitchFamily="34" charset="0"/>
                <a:ea typeface="Calibri" pitchFamily="34" charset="-122"/>
                <a:cs typeface="Calibri" pitchFamily="34" charset="-120"/>
              </a:rPr>
              <a:t> — sum_y, the LP-relaxed number of opened pharmacies.</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 </a:t>
            </a:r>
            <a:endParaRPr lang="en-US" sz="1400" dirty="0"/>
          </a:p>
        </p:txBody>
      </p:sp>
      <p:sp>
        <p:nvSpPr>
          <p:cNvPr id="6" name="Text 4"/>
          <p:cNvSpPr/>
          <p:nvPr/>
        </p:nvSpPr>
        <p:spPr>
          <a:xfrm>
            <a:off x="548640" y="3108960"/>
            <a:ext cx="5303520" cy="411480"/>
          </a:xfrm>
          <a:prstGeom prst="rect">
            <a:avLst/>
          </a:prstGeom>
          <a:noFill/>
          <a:ln/>
        </p:spPr>
        <p:txBody>
          <a:bodyPr wrap="square" lIns="0" tIns="0" rIns="0" bIns="0" rtlCol="0" anchor="ctr"/>
          <a:lstStyle/>
          <a:p>
            <a:pPr marL="0" indent="0">
              <a:buNone/>
            </a:pPr>
            <a:r>
              <a:rPr lang="en-US" sz="1800" b="1" dirty="0">
                <a:solidFill>
                  <a:srgbClr val="21295C"/>
                </a:solidFill>
                <a:latin typeface="Georgia" pitchFamily="34" charset="0"/>
                <a:ea typeface="Georgia" pitchFamily="34" charset="-122"/>
                <a:cs typeface="Georgia" pitchFamily="34" charset="-120"/>
              </a:rPr>
              <a:t>How the sweep works</a:t>
            </a:r>
            <a:endParaRPr lang="en-US" sz="1800" dirty="0"/>
          </a:p>
        </p:txBody>
      </p:sp>
      <p:sp>
        <p:nvSpPr>
          <p:cNvPr id="7" name="Text 5"/>
          <p:cNvSpPr/>
          <p:nvPr/>
        </p:nvSpPr>
        <p:spPr>
          <a:xfrm>
            <a:off x="548640" y="3520440"/>
            <a:ext cx="5303520" cy="228600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Each λ gives one Pareto point (sum_y, travel_c).</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Low λ → many cheap facilities, low travel.</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High λ → few expensive facilities, high travel.</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S1 and S2 are two points on the same curve; the diagonal crossing between them is Lewis's cross-lambda (p72).</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The full sweep traces the curve between and beyond them.</a:t>
            </a:r>
            <a:endParaRPr lang="en-US" sz="1400" dirty="0"/>
          </a:p>
        </p:txBody>
      </p:sp>
      <p:sp>
        <p:nvSpPr>
          <p:cNvPr id="8" name="Shape 6"/>
          <p:cNvSpPr/>
          <p:nvPr/>
        </p:nvSpPr>
        <p:spPr>
          <a:xfrm>
            <a:off x="6400800" y="1691640"/>
            <a:ext cx="5120640" cy="4206240"/>
          </a:xfrm>
          <a:prstGeom prst="rect">
            <a:avLst/>
          </a:prstGeom>
          <a:solidFill>
            <a:srgbClr val="FFFFFF"/>
          </a:solidFill>
          <a:ln w="6350">
            <a:solidFill>
              <a:srgbClr val="DCE3EA"/>
            </a:solidFill>
            <a:prstDash val="solid"/>
          </a:ln>
        </p:spPr>
        <p:txBody>
          <a:bodyPr/>
          <a:lstStyle/>
          <a:p>
            <a:endParaRPr/>
          </a:p>
        </p:txBody>
      </p:sp>
      <p:sp>
        <p:nvSpPr>
          <p:cNvPr id="9" name="Text 7"/>
          <p:cNvSpPr/>
          <p:nvPr/>
        </p:nvSpPr>
        <p:spPr>
          <a:xfrm>
            <a:off x="6400800" y="1371600"/>
            <a:ext cx="512064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Pareto frontier (schematic)</a:t>
            </a:r>
            <a:endParaRPr lang="en-US" sz="1200" dirty="0"/>
          </a:p>
        </p:txBody>
      </p:sp>
      <p:sp>
        <p:nvSpPr>
          <p:cNvPr id="10" name="Shape 8"/>
          <p:cNvSpPr/>
          <p:nvPr/>
        </p:nvSpPr>
        <p:spPr>
          <a:xfrm>
            <a:off x="6949440" y="2811780"/>
            <a:ext cx="4389120" cy="0"/>
          </a:xfrm>
          <a:prstGeom prst="line">
            <a:avLst/>
          </a:prstGeom>
          <a:noFill/>
          <a:ln w="6350">
            <a:solidFill>
              <a:srgbClr val="DCE3EA"/>
            </a:solidFill>
            <a:prstDash val="solid"/>
          </a:ln>
        </p:spPr>
        <p:txBody>
          <a:bodyPr/>
          <a:lstStyle/>
          <a:p>
            <a:endParaRPr/>
          </a:p>
        </p:txBody>
      </p:sp>
      <p:sp>
        <p:nvSpPr>
          <p:cNvPr id="11" name="Shape 9"/>
          <p:cNvSpPr/>
          <p:nvPr/>
        </p:nvSpPr>
        <p:spPr>
          <a:xfrm>
            <a:off x="6949440" y="3657600"/>
            <a:ext cx="4389120" cy="0"/>
          </a:xfrm>
          <a:prstGeom prst="line">
            <a:avLst/>
          </a:prstGeom>
          <a:noFill/>
          <a:ln w="6350">
            <a:solidFill>
              <a:srgbClr val="DCE3EA"/>
            </a:solidFill>
            <a:prstDash val="solid"/>
          </a:ln>
        </p:spPr>
        <p:txBody>
          <a:bodyPr/>
          <a:lstStyle/>
          <a:p>
            <a:endParaRPr/>
          </a:p>
        </p:txBody>
      </p:sp>
      <p:sp>
        <p:nvSpPr>
          <p:cNvPr id="12" name="Shape 10"/>
          <p:cNvSpPr/>
          <p:nvPr/>
        </p:nvSpPr>
        <p:spPr>
          <a:xfrm>
            <a:off x="6949440" y="4503420"/>
            <a:ext cx="4389120" cy="0"/>
          </a:xfrm>
          <a:prstGeom prst="line">
            <a:avLst/>
          </a:prstGeom>
          <a:noFill/>
          <a:ln w="6350">
            <a:solidFill>
              <a:srgbClr val="DCE3EA"/>
            </a:solidFill>
            <a:prstDash val="solid"/>
          </a:ln>
        </p:spPr>
        <p:txBody>
          <a:bodyPr/>
          <a:lstStyle/>
          <a:p>
            <a:endParaRPr/>
          </a:p>
        </p:txBody>
      </p:sp>
      <p:sp>
        <p:nvSpPr>
          <p:cNvPr id="13" name="Shape 11"/>
          <p:cNvSpPr/>
          <p:nvPr/>
        </p:nvSpPr>
        <p:spPr>
          <a:xfrm>
            <a:off x="6949440" y="5349240"/>
            <a:ext cx="4389120" cy="0"/>
          </a:xfrm>
          <a:prstGeom prst="line">
            <a:avLst/>
          </a:prstGeom>
          <a:noFill/>
          <a:ln w="9525">
            <a:solidFill>
              <a:srgbClr val="64748B"/>
            </a:solidFill>
            <a:prstDash val="solid"/>
          </a:ln>
        </p:spPr>
        <p:txBody>
          <a:bodyPr/>
          <a:lstStyle/>
          <a:p>
            <a:endParaRPr/>
          </a:p>
        </p:txBody>
      </p:sp>
      <p:sp>
        <p:nvSpPr>
          <p:cNvPr id="14" name="Shape 12"/>
          <p:cNvSpPr/>
          <p:nvPr/>
        </p:nvSpPr>
        <p:spPr>
          <a:xfrm>
            <a:off x="6949440" y="1965960"/>
            <a:ext cx="0" cy="3383280"/>
          </a:xfrm>
          <a:prstGeom prst="line">
            <a:avLst/>
          </a:prstGeom>
          <a:noFill/>
          <a:ln w="9525">
            <a:solidFill>
              <a:srgbClr val="64748B"/>
            </a:solidFill>
            <a:prstDash val="solid"/>
          </a:ln>
        </p:spPr>
        <p:txBody>
          <a:bodyPr/>
          <a:lstStyle/>
          <a:p>
            <a:endParaRPr/>
          </a:p>
        </p:txBody>
      </p:sp>
      <p:sp>
        <p:nvSpPr>
          <p:cNvPr id="15" name="Shape 13"/>
          <p:cNvSpPr/>
          <p:nvPr/>
        </p:nvSpPr>
        <p:spPr>
          <a:xfrm>
            <a:off x="6949440" y="1965960"/>
            <a:ext cx="109728" cy="410450"/>
          </a:xfrm>
          <a:prstGeom prst="line">
            <a:avLst/>
          </a:prstGeom>
          <a:noFill/>
          <a:ln w="25400">
            <a:solidFill>
              <a:srgbClr val="065A82"/>
            </a:solidFill>
            <a:prstDash val="solid"/>
          </a:ln>
        </p:spPr>
        <p:txBody>
          <a:bodyPr/>
          <a:lstStyle/>
          <a:p>
            <a:endParaRPr/>
          </a:p>
        </p:txBody>
      </p:sp>
      <p:sp>
        <p:nvSpPr>
          <p:cNvPr id="16" name="Shape 14"/>
          <p:cNvSpPr/>
          <p:nvPr/>
        </p:nvSpPr>
        <p:spPr>
          <a:xfrm>
            <a:off x="7059168" y="2376410"/>
            <a:ext cx="109728" cy="336647"/>
          </a:xfrm>
          <a:prstGeom prst="line">
            <a:avLst/>
          </a:prstGeom>
          <a:noFill/>
          <a:ln w="25400">
            <a:solidFill>
              <a:srgbClr val="065A82"/>
            </a:solidFill>
            <a:prstDash val="solid"/>
          </a:ln>
        </p:spPr>
        <p:txBody>
          <a:bodyPr/>
          <a:lstStyle/>
          <a:p>
            <a:endParaRPr/>
          </a:p>
        </p:txBody>
      </p:sp>
      <p:sp>
        <p:nvSpPr>
          <p:cNvPr id="17" name="Shape 15"/>
          <p:cNvSpPr/>
          <p:nvPr/>
        </p:nvSpPr>
        <p:spPr>
          <a:xfrm>
            <a:off x="7168896" y="2713057"/>
            <a:ext cx="109728" cy="281107"/>
          </a:xfrm>
          <a:prstGeom prst="line">
            <a:avLst/>
          </a:prstGeom>
          <a:noFill/>
          <a:ln w="25400">
            <a:solidFill>
              <a:srgbClr val="065A82"/>
            </a:solidFill>
            <a:prstDash val="solid"/>
          </a:ln>
        </p:spPr>
        <p:txBody>
          <a:bodyPr/>
          <a:lstStyle/>
          <a:p>
            <a:endParaRPr/>
          </a:p>
        </p:txBody>
      </p:sp>
      <p:sp>
        <p:nvSpPr>
          <p:cNvPr id="18" name="Shape 16"/>
          <p:cNvSpPr/>
          <p:nvPr/>
        </p:nvSpPr>
        <p:spPr>
          <a:xfrm>
            <a:off x="7278624" y="2994164"/>
            <a:ext cx="109728" cy="238265"/>
          </a:xfrm>
          <a:prstGeom prst="line">
            <a:avLst/>
          </a:prstGeom>
          <a:noFill/>
          <a:ln w="25400">
            <a:solidFill>
              <a:srgbClr val="065A82"/>
            </a:solidFill>
            <a:prstDash val="solid"/>
          </a:ln>
        </p:spPr>
        <p:txBody>
          <a:bodyPr/>
          <a:lstStyle/>
          <a:p>
            <a:endParaRPr/>
          </a:p>
        </p:txBody>
      </p:sp>
      <p:sp>
        <p:nvSpPr>
          <p:cNvPr id="19" name="Shape 17"/>
          <p:cNvSpPr/>
          <p:nvPr/>
        </p:nvSpPr>
        <p:spPr>
          <a:xfrm>
            <a:off x="7388352" y="3232428"/>
            <a:ext cx="109728" cy="204523"/>
          </a:xfrm>
          <a:prstGeom prst="line">
            <a:avLst/>
          </a:prstGeom>
          <a:noFill/>
          <a:ln w="25400">
            <a:solidFill>
              <a:srgbClr val="065A82"/>
            </a:solidFill>
            <a:prstDash val="solid"/>
          </a:ln>
        </p:spPr>
        <p:txBody>
          <a:bodyPr/>
          <a:lstStyle/>
          <a:p>
            <a:endParaRPr/>
          </a:p>
        </p:txBody>
      </p:sp>
      <p:sp>
        <p:nvSpPr>
          <p:cNvPr id="20" name="Shape 18"/>
          <p:cNvSpPr/>
          <p:nvPr/>
        </p:nvSpPr>
        <p:spPr>
          <a:xfrm>
            <a:off x="7498080" y="3436951"/>
            <a:ext cx="109728" cy="177475"/>
          </a:xfrm>
          <a:prstGeom prst="line">
            <a:avLst/>
          </a:prstGeom>
          <a:noFill/>
          <a:ln w="25400">
            <a:solidFill>
              <a:srgbClr val="065A82"/>
            </a:solidFill>
            <a:prstDash val="solid"/>
          </a:ln>
        </p:spPr>
        <p:txBody>
          <a:bodyPr/>
          <a:lstStyle/>
          <a:p>
            <a:endParaRPr/>
          </a:p>
        </p:txBody>
      </p:sp>
      <p:sp>
        <p:nvSpPr>
          <p:cNvPr id="21" name="Shape 19"/>
          <p:cNvSpPr/>
          <p:nvPr/>
        </p:nvSpPr>
        <p:spPr>
          <a:xfrm>
            <a:off x="7607808" y="3614426"/>
            <a:ext cx="109728" cy="155459"/>
          </a:xfrm>
          <a:prstGeom prst="line">
            <a:avLst/>
          </a:prstGeom>
          <a:noFill/>
          <a:ln w="25400">
            <a:solidFill>
              <a:srgbClr val="065A82"/>
            </a:solidFill>
            <a:prstDash val="solid"/>
          </a:ln>
        </p:spPr>
        <p:txBody>
          <a:bodyPr/>
          <a:lstStyle/>
          <a:p>
            <a:endParaRPr/>
          </a:p>
        </p:txBody>
      </p:sp>
      <p:sp>
        <p:nvSpPr>
          <p:cNvPr id="22" name="Shape 20"/>
          <p:cNvSpPr/>
          <p:nvPr/>
        </p:nvSpPr>
        <p:spPr>
          <a:xfrm>
            <a:off x="7717536" y="3769885"/>
            <a:ext cx="109728" cy="137301"/>
          </a:xfrm>
          <a:prstGeom prst="line">
            <a:avLst/>
          </a:prstGeom>
          <a:noFill/>
          <a:ln w="25400">
            <a:solidFill>
              <a:srgbClr val="065A82"/>
            </a:solidFill>
            <a:prstDash val="solid"/>
          </a:ln>
        </p:spPr>
        <p:txBody>
          <a:bodyPr/>
          <a:lstStyle/>
          <a:p>
            <a:endParaRPr/>
          </a:p>
        </p:txBody>
      </p:sp>
      <p:sp>
        <p:nvSpPr>
          <p:cNvPr id="23" name="Shape 21"/>
          <p:cNvSpPr/>
          <p:nvPr/>
        </p:nvSpPr>
        <p:spPr>
          <a:xfrm>
            <a:off x="7827264" y="3907186"/>
            <a:ext cx="109728" cy="122149"/>
          </a:xfrm>
          <a:prstGeom prst="line">
            <a:avLst/>
          </a:prstGeom>
          <a:noFill/>
          <a:ln w="25400">
            <a:solidFill>
              <a:srgbClr val="065A82"/>
            </a:solidFill>
            <a:prstDash val="solid"/>
          </a:ln>
        </p:spPr>
        <p:txBody>
          <a:bodyPr/>
          <a:lstStyle/>
          <a:p>
            <a:endParaRPr/>
          </a:p>
        </p:txBody>
      </p:sp>
      <p:sp>
        <p:nvSpPr>
          <p:cNvPr id="24" name="Shape 22"/>
          <p:cNvSpPr/>
          <p:nvPr/>
        </p:nvSpPr>
        <p:spPr>
          <a:xfrm>
            <a:off x="7936992" y="4029335"/>
            <a:ext cx="109728" cy="109374"/>
          </a:xfrm>
          <a:prstGeom prst="line">
            <a:avLst/>
          </a:prstGeom>
          <a:noFill/>
          <a:ln w="25400">
            <a:solidFill>
              <a:srgbClr val="065A82"/>
            </a:solidFill>
            <a:prstDash val="solid"/>
          </a:ln>
        </p:spPr>
        <p:txBody>
          <a:bodyPr/>
          <a:lstStyle/>
          <a:p>
            <a:endParaRPr/>
          </a:p>
        </p:txBody>
      </p:sp>
      <p:sp>
        <p:nvSpPr>
          <p:cNvPr id="25" name="Shape 23"/>
          <p:cNvSpPr/>
          <p:nvPr/>
        </p:nvSpPr>
        <p:spPr>
          <a:xfrm>
            <a:off x="8046720" y="4138709"/>
            <a:ext cx="109728" cy="98503"/>
          </a:xfrm>
          <a:prstGeom prst="line">
            <a:avLst/>
          </a:prstGeom>
          <a:noFill/>
          <a:ln w="25400">
            <a:solidFill>
              <a:srgbClr val="065A82"/>
            </a:solidFill>
            <a:prstDash val="solid"/>
          </a:ln>
        </p:spPr>
        <p:txBody>
          <a:bodyPr/>
          <a:lstStyle/>
          <a:p>
            <a:endParaRPr/>
          </a:p>
        </p:txBody>
      </p:sp>
      <p:sp>
        <p:nvSpPr>
          <p:cNvPr id="26" name="Shape 24"/>
          <p:cNvSpPr/>
          <p:nvPr/>
        </p:nvSpPr>
        <p:spPr>
          <a:xfrm>
            <a:off x="8156448" y="4237212"/>
            <a:ext cx="109728" cy="89176"/>
          </a:xfrm>
          <a:prstGeom prst="line">
            <a:avLst/>
          </a:prstGeom>
          <a:noFill/>
          <a:ln w="25400">
            <a:solidFill>
              <a:srgbClr val="065A82"/>
            </a:solidFill>
            <a:prstDash val="solid"/>
          </a:ln>
        </p:spPr>
        <p:txBody>
          <a:bodyPr/>
          <a:lstStyle/>
          <a:p>
            <a:endParaRPr/>
          </a:p>
        </p:txBody>
      </p:sp>
      <p:sp>
        <p:nvSpPr>
          <p:cNvPr id="27" name="Shape 25"/>
          <p:cNvSpPr/>
          <p:nvPr/>
        </p:nvSpPr>
        <p:spPr>
          <a:xfrm>
            <a:off x="8266176" y="4326388"/>
            <a:ext cx="109728" cy="81114"/>
          </a:xfrm>
          <a:prstGeom prst="line">
            <a:avLst/>
          </a:prstGeom>
          <a:noFill/>
          <a:ln w="25400">
            <a:solidFill>
              <a:srgbClr val="065A82"/>
            </a:solidFill>
            <a:prstDash val="solid"/>
          </a:ln>
        </p:spPr>
        <p:txBody>
          <a:bodyPr/>
          <a:lstStyle/>
          <a:p>
            <a:endParaRPr/>
          </a:p>
        </p:txBody>
      </p:sp>
      <p:sp>
        <p:nvSpPr>
          <p:cNvPr id="28" name="Shape 26"/>
          <p:cNvSpPr/>
          <p:nvPr/>
        </p:nvSpPr>
        <p:spPr>
          <a:xfrm>
            <a:off x="8375904" y="4407502"/>
            <a:ext cx="109728" cy="74098"/>
          </a:xfrm>
          <a:prstGeom prst="line">
            <a:avLst/>
          </a:prstGeom>
          <a:noFill/>
          <a:ln w="25400">
            <a:solidFill>
              <a:srgbClr val="065A82"/>
            </a:solidFill>
            <a:prstDash val="solid"/>
          </a:ln>
        </p:spPr>
        <p:txBody>
          <a:bodyPr/>
          <a:lstStyle/>
          <a:p>
            <a:endParaRPr/>
          </a:p>
        </p:txBody>
      </p:sp>
      <p:sp>
        <p:nvSpPr>
          <p:cNvPr id="29" name="Shape 27"/>
          <p:cNvSpPr/>
          <p:nvPr/>
        </p:nvSpPr>
        <p:spPr>
          <a:xfrm>
            <a:off x="8485632" y="4481601"/>
            <a:ext cx="109728" cy="67955"/>
          </a:xfrm>
          <a:prstGeom prst="line">
            <a:avLst/>
          </a:prstGeom>
          <a:noFill/>
          <a:ln w="25400">
            <a:solidFill>
              <a:srgbClr val="065A82"/>
            </a:solidFill>
            <a:prstDash val="solid"/>
          </a:ln>
        </p:spPr>
        <p:txBody>
          <a:bodyPr/>
          <a:lstStyle/>
          <a:p>
            <a:endParaRPr/>
          </a:p>
        </p:txBody>
      </p:sp>
      <p:sp>
        <p:nvSpPr>
          <p:cNvPr id="30" name="Shape 28"/>
          <p:cNvSpPr/>
          <p:nvPr/>
        </p:nvSpPr>
        <p:spPr>
          <a:xfrm>
            <a:off x="8595360" y="4549556"/>
            <a:ext cx="109728" cy="62545"/>
          </a:xfrm>
          <a:prstGeom prst="line">
            <a:avLst/>
          </a:prstGeom>
          <a:noFill/>
          <a:ln w="25400">
            <a:solidFill>
              <a:srgbClr val="065A82"/>
            </a:solidFill>
            <a:prstDash val="solid"/>
          </a:ln>
        </p:spPr>
        <p:txBody>
          <a:bodyPr/>
          <a:lstStyle/>
          <a:p>
            <a:endParaRPr/>
          </a:p>
        </p:txBody>
      </p:sp>
      <p:sp>
        <p:nvSpPr>
          <p:cNvPr id="31" name="Shape 29"/>
          <p:cNvSpPr/>
          <p:nvPr/>
        </p:nvSpPr>
        <p:spPr>
          <a:xfrm>
            <a:off x="8705088" y="4612101"/>
            <a:ext cx="109728" cy="57757"/>
          </a:xfrm>
          <a:prstGeom prst="line">
            <a:avLst/>
          </a:prstGeom>
          <a:noFill/>
          <a:ln w="25400">
            <a:solidFill>
              <a:srgbClr val="065A82"/>
            </a:solidFill>
            <a:prstDash val="solid"/>
          </a:ln>
        </p:spPr>
        <p:txBody>
          <a:bodyPr/>
          <a:lstStyle/>
          <a:p>
            <a:endParaRPr/>
          </a:p>
        </p:txBody>
      </p:sp>
      <p:sp>
        <p:nvSpPr>
          <p:cNvPr id="32" name="Shape 30"/>
          <p:cNvSpPr/>
          <p:nvPr/>
        </p:nvSpPr>
        <p:spPr>
          <a:xfrm>
            <a:off x="8814816" y="4669857"/>
            <a:ext cx="109728" cy="53498"/>
          </a:xfrm>
          <a:prstGeom prst="line">
            <a:avLst/>
          </a:prstGeom>
          <a:noFill/>
          <a:ln w="25400">
            <a:solidFill>
              <a:srgbClr val="065A82"/>
            </a:solidFill>
            <a:prstDash val="solid"/>
          </a:ln>
        </p:spPr>
        <p:txBody>
          <a:bodyPr/>
          <a:lstStyle/>
          <a:p>
            <a:endParaRPr/>
          </a:p>
        </p:txBody>
      </p:sp>
      <p:sp>
        <p:nvSpPr>
          <p:cNvPr id="33" name="Shape 31"/>
          <p:cNvSpPr/>
          <p:nvPr/>
        </p:nvSpPr>
        <p:spPr>
          <a:xfrm>
            <a:off x="8924544" y="4723355"/>
            <a:ext cx="109728" cy="49693"/>
          </a:xfrm>
          <a:prstGeom prst="line">
            <a:avLst/>
          </a:prstGeom>
          <a:noFill/>
          <a:ln w="25400">
            <a:solidFill>
              <a:srgbClr val="065A82"/>
            </a:solidFill>
            <a:prstDash val="solid"/>
          </a:ln>
        </p:spPr>
        <p:txBody>
          <a:bodyPr/>
          <a:lstStyle/>
          <a:p>
            <a:endParaRPr/>
          </a:p>
        </p:txBody>
      </p:sp>
      <p:sp>
        <p:nvSpPr>
          <p:cNvPr id="34" name="Shape 32"/>
          <p:cNvSpPr/>
          <p:nvPr/>
        </p:nvSpPr>
        <p:spPr>
          <a:xfrm>
            <a:off x="9034272" y="4773048"/>
            <a:ext cx="109728" cy="46280"/>
          </a:xfrm>
          <a:prstGeom prst="line">
            <a:avLst/>
          </a:prstGeom>
          <a:noFill/>
          <a:ln w="25400">
            <a:solidFill>
              <a:srgbClr val="065A82"/>
            </a:solidFill>
            <a:prstDash val="solid"/>
          </a:ln>
        </p:spPr>
        <p:txBody>
          <a:bodyPr/>
          <a:lstStyle/>
          <a:p>
            <a:endParaRPr/>
          </a:p>
        </p:txBody>
      </p:sp>
      <p:sp>
        <p:nvSpPr>
          <p:cNvPr id="35" name="Shape 33"/>
          <p:cNvSpPr/>
          <p:nvPr/>
        </p:nvSpPr>
        <p:spPr>
          <a:xfrm>
            <a:off x="9144000" y="4819329"/>
            <a:ext cx="109728" cy="43208"/>
          </a:xfrm>
          <a:prstGeom prst="line">
            <a:avLst/>
          </a:prstGeom>
          <a:noFill/>
          <a:ln w="25400">
            <a:solidFill>
              <a:srgbClr val="065A82"/>
            </a:solidFill>
            <a:prstDash val="solid"/>
          </a:ln>
        </p:spPr>
        <p:txBody>
          <a:bodyPr/>
          <a:lstStyle/>
          <a:p>
            <a:endParaRPr/>
          </a:p>
        </p:txBody>
      </p:sp>
      <p:sp>
        <p:nvSpPr>
          <p:cNvPr id="36" name="Shape 34"/>
          <p:cNvSpPr/>
          <p:nvPr/>
        </p:nvSpPr>
        <p:spPr>
          <a:xfrm>
            <a:off x="9253728" y="4862536"/>
            <a:ext cx="109728" cy="40431"/>
          </a:xfrm>
          <a:prstGeom prst="line">
            <a:avLst/>
          </a:prstGeom>
          <a:noFill/>
          <a:ln w="25400">
            <a:solidFill>
              <a:srgbClr val="065A82"/>
            </a:solidFill>
            <a:prstDash val="solid"/>
          </a:ln>
        </p:spPr>
        <p:txBody>
          <a:bodyPr/>
          <a:lstStyle/>
          <a:p>
            <a:endParaRPr/>
          </a:p>
        </p:txBody>
      </p:sp>
      <p:sp>
        <p:nvSpPr>
          <p:cNvPr id="37" name="Shape 35"/>
          <p:cNvSpPr/>
          <p:nvPr/>
        </p:nvSpPr>
        <p:spPr>
          <a:xfrm>
            <a:off x="9363456" y="4902967"/>
            <a:ext cx="109728" cy="37914"/>
          </a:xfrm>
          <a:prstGeom prst="line">
            <a:avLst/>
          </a:prstGeom>
          <a:noFill/>
          <a:ln w="25400">
            <a:solidFill>
              <a:srgbClr val="065A82"/>
            </a:solidFill>
            <a:prstDash val="solid"/>
          </a:ln>
        </p:spPr>
        <p:txBody>
          <a:bodyPr/>
          <a:lstStyle/>
          <a:p>
            <a:endParaRPr/>
          </a:p>
        </p:txBody>
      </p:sp>
      <p:sp>
        <p:nvSpPr>
          <p:cNvPr id="38" name="Shape 36"/>
          <p:cNvSpPr/>
          <p:nvPr/>
        </p:nvSpPr>
        <p:spPr>
          <a:xfrm>
            <a:off x="9473184" y="4940881"/>
            <a:ext cx="109728" cy="35625"/>
          </a:xfrm>
          <a:prstGeom prst="line">
            <a:avLst/>
          </a:prstGeom>
          <a:noFill/>
          <a:ln w="25400">
            <a:solidFill>
              <a:srgbClr val="065A82"/>
            </a:solidFill>
            <a:prstDash val="solid"/>
          </a:ln>
        </p:spPr>
        <p:txBody>
          <a:bodyPr/>
          <a:lstStyle/>
          <a:p>
            <a:endParaRPr/>
          </a:p>
        </p:txBody>
      </p:sp>
      <p:sp>
        <p:nvSpPr>
          <p:cNvPr id="39" name="Shape 37"/>
          <p:cNvSpPr/>
          <p:nvPr/>
        </p:nvSpPr>
        <p:spPr>
          <a:xfrm>
            <a:off x="9582912" y="4976506"/>
            <a:ext cx="109728" cy="33536"/>
          </a:xfrm>
          <a:prstGeom prst="line">
            <a:avLst/>
          </a:prstGeom>
          <a:noFill/>
          <a:ln w="25400">
            <a:solidFill>
              <a:srgbClr val="065A82"/>
            </a:solidFill>
            <a:prstDash val="solid"/>
          </a:ln>
        </p:spPr>
        <p:txBody>
          <a:bodyPr/>
          <a:lstStyle/>
          <a:p>
            <a:endParaRPr/>
          </a:p>
        </p:txBody>
      </p:sp>
      <p:sp>
        <p:nvSpPr>
          <p:cNvPr id="40" name="Shape 38"/>
          <p:cNvSpPr/>
          <p:nvPr/>
        </p:nvSpPr>
        <p:spPr>
          <a:xfrm>
            <a:off x="9692640" y="5010042"/>
            <a:ext cx="109728" cy="31627"/>
          </a:xfrm>
          <a:prstGeom prst="line">
            <a:avLst/>
          </a:prstGeom>
          <a:noFill/>
          <a:ln w="25400">
            <a:solidFill>
              <a:srgbClr val="065A82"/>
            </a:solidFill>
            <a:prstDash val="solid"/>
          </a:ln>
        </p:spPr>
        <p:txBody>
          <a:bodyPr/>
          <a:lstStyle/>
          <a:p>
            <a:endParaRPr/>
          </a:p>
        </p:txBody>
      </p:sp>
      <p:sp>
        <p:nvSpPr>
          <p:cNvPr id="41" name="Shape 39"/>
          <p:cNvSpPr/>
          <p:nvPr/>
        </p:nvSpPr>
        <p:spPr>
          <a:xfrm>
            <a:off x="9802368" y="5041669"/>
            <a:ext cx="109728" cy="29876"/>
          </a:xfrm>
          <a:prstGeom prst="line">
            <a:avLst/>
          </a:prstGeom>
          <a:noFill/>
          <a:ln w="25400">
            <a:solidFill>
              <a:srgbClr val="065A82"/>
            </a:solidFill>
            <a:prstDash val="solid"/>
          </a:ln>
        </p:spPr>
        <p:txBody>
          <a:bodyPr/>
          <a:lstStyle/>
          <a:p>
            <a:endParaRPr/>
          </a:p>
        </p:txBody>
      </p:sp>
      <p:sp>
        <p:nvSpPr>
          <p:cNvPr id="42" name="Shape 40"/>
          <p:cNvSpPr/>
          <p:nvPr/>
        </p:nvSpPr>
        <p:spPr>
          <a:xfrm>
            <a:off x="9912096" y="5071545"/>
            <a:ext cx="109728" cy="28266"/>
          </a:xfrm>
          <a:prstGeom prst="line">
            <a:avLst/>
          </a:prstGeom>
          <a:noFill/>
          <a:ln w="25400">
            <a:solidFill>
              <a:srgbClr val="065A82"/>
            </a:solidFill>
            <a:prstDash val="solid"/>
          </a:ln>
        </p:spPr>
        <p:txBody>
          <a:bodyPr/>
          <a:lstStyle/>
          <a:p>
            <a:endParaRPr/>
          </a:p>
        </p:txBody>
      </p:sp>
      <p:sp>
        <p:nvSpPr>
          <p:cNvPr id="43" name="Shape 41"/>
          <p:cNvSpPr/>
          <p:nvPr/>
        </p:nvSpPr>
        <p:spPr>
          <a:xfrm>
            <a:off x="10021824" y="5099811"/>
            <a:ext cx="109728" cy="26783"/>
          </a:xfrm>
          <a:prstGeom prst="line">
            <a:avLst/>
          </a:prstGeom>
          <a:noFill/>
          <a:ln w="25400">
            <a:solidFill>
              <a:srgbClr val="065A82"/>
            </a:solidFill>
            <a:prstDash val="solid"/>
          </a:ln>
        </p:spPr>
        <p:txBody>
          <a:bodyPr/>
          <a:lstStyle/>
          <a:p>
            <a:endParaRPr/>
          </a:p>
        </p:txBody>
      </p:sp>
      <p:sp>
        <p:nvSpPr>
          <p:cNvPr id="44" name="Shape 42"/>
          <p:cNvSpPr/>
          <p:nvPr/>
        </p:nvSpPr>
        <p:spPr>
          <a:xfrm>
            <a:off x="10131552" y="5126594"/>
            <a:ext cx="109728" cy="25414"/>
          </a:xfrm>
          <a:prstGeom prst="line">
            <a:avLst/>
          </a:prstGeom>
          <a:noFill/>
          <a:ln w="25400">
            <a:solidFill>
              <a:srgbClr val="065A82"/>
            </a:solidFill>
            <a:prstDash val="solid"/>
          </a:ln>
        </p:spPr>
        <p:txBody>
          <a:bodyPr/>
          <a:lstStyle/>
          <a:p>
            <a:endParaRPr/>
          </a:p>
        </p:txBody>
      </p:sp>
      <p:sp>
        <p:nvSpPr>
          <p:cNvPr id="45" name="Shape 43"/>
          <p:cNvSpPr/>
          <p:nvPr/>
        </p:nvSpPr>
        <p:spPr>
          <a:xfrm>
            <a:off x="10241280" y="5152008"/>
            <a:ext cx="109728" cy="24147"/>
          </a:xfrm>
          <a:prstGeom prst="line">
            <a:avLst/>
          </a:prstGeom>
          <a:noFill/>
          <a:ln w="25400">
            <a:solidFill>
              <a:srgbClr val="065A82"/>
            </a:solidFill>
            <a:prstDash val="solid"/>
          </a:ln>
        </p:spPr>
        <p:txBody>
          <a:bodyPr/>
          <a:lstStyle/>
          <a:p>
            <a:endParaRPr/>
          </a:p>
        </p:txBody>
      </p:sp>
      <p:sp>
        <p:nvSpPr>
          <p:cNvPr id="46" name="Shape 44"/>
          <p:cNvSpPr/>
          <p:nvPr/>
        </p:nvSpPr>
        <p:spPr>
          <a:xfrm>
            <a:off x="10351008" y="5176156"/>
            <a:ext cx="109728" cy="22973"/>
          </a:xfrm>
          <a:prstGeom prst="line">
            <a:avLst/>
          </a:prstGeom>
          <a:noFill/>
          <a:ln w="25400">
            <a:solidFill>
              <a:srgbClr val="065A82"/>
            </a:solidFill>
            <a:prstDash val="solid"/>
          </a:ln>
        </p:spPr>
        <p:txBody>
          <a:bodyPr/>
          <a:lstStyle/>
          <a:p>
            <a:endParaRPr/>
          </a:p>
        </p:txBody>
      </p:sp>
      <p:sp>
        <p:nvSpPr>
          <p:cNvPr id="47" name="Shape 45"/>
          <p:cNvSpPr/>
          <p:nvPr/>
        </p:nvSpPr>
        <p:spPr>
          <a:xfrm>
            <a:off x="10460736" y="5199129"/>
            <a:ext cx="109728" cy="21882"/>
          </a:xfrm>
          <a:prstGeom prst="line">
            <a:avLst/>
          </a:prstGeom>
          <a:noFill/>
          <a:ln w="25400">
            <a:solidFill>
              <a:srgbClr val="065A82"/>
            </a:solidFill>
            <a:prstDash val="solid"/>
          </a:ln>
        </p:spPr>
        <p:txBody>
          <a:bodyPr/>
          <a:lstStyle/>
          <a:p>
            <a:endParaRPr/>
          </a:p>
        </p:txBody>
      </p:sp>
      <p:sp>
        <p:nvSpPr>
          <p:cNvPr id="48" name="Shape 46"/>
          <p:cNvSpPr/>
          <p:nvPr/>
        </p:nvSpPr>
        <p:spPr>
          <a:xfrm>
            <a:off x="10570464" y="5221011"/>
            <a:ext cx="109728" cy="20867"/>
          </a:xfrm>
          <a:prstGeom prst="line">
            <a:avLst/>
          </a:prstGeom>
          <a:noFill/>
          <a:ln w="25400">
            <a:solidFill>
              <a:srgbClr val="065A82"/>
            </a:solidFill>
            <a:prstDash val="solid"/>
          </a:ln>
        </p:spPr>
        <p:txBody>
          <a:bodyPr/>
          <a:lstStyle/>
          <a:p>
            <a:endParaRPr/>
          </a:p>
        </p:txBody>
      </p:sp>
      <p:sp>
        <p:nvSpPr>
          <p:cNvPr id="49" name="Shape 47"/>
          <p:cNvSpPr/>
          <p:nvPr/>
        </p:nvSpPr>
        <p:spPr>
          <a:xfrm>
            <a:off x="10680192" y="5241878"/>
            <a:ext cx="109728" cy="19921"/>
          </a:xfrm>
          <a:prstGeom prst="line">
            <a:avLst/>
          </a:prstGeom>
          <a:noFill/>
          <a:ln w="25400">
            <a:solidFill>
              <a:srgbClr val="065A82"/>
            </a:solidFill>
            <a:prstDash val="solid"/>
          </a:ln>
        </p:spPr>
        <p:txBody>
          <a:bodyPr/>
          <a:lstStyle/>
          <a:p>
            <a:endParaRPr/>
          </a:p>
        </p:txBody>
      </p:sp>
      <p:sp>
        <p:nvSpPr>
          <p:cNvPr id="50" name="Shape 48"/>
          <p:cNvSpPr/>
          <p:nvPr/>
        </p:nvSpPr>
        <p:spPr>
          <a:xfrm>
            <a:off x="10789920" y="5261799"/>
            <a:ext cx="109728" cy="19038"/>
          </a:xfrm>
          <a:prstGeom prst="line">
            <a:avLst/>
          </a:prstGeom>
          <a:noFill/>
          <a:ln w="25400">
            <a:solidFill>
              <a:srgbClr val="065A82"/>
            </a:solidFill>
            <a:prstDash val="solid"/>
          </a:ln>
        </p:spPr>
        <p:txBody>
          <a:bodyPr/>
          <a:lstStyle/>
          <a:p>
            <a:endParaRPr/>
          </a:p>
        </p:txBody>
      </p:sp>
      <p:sp>
        <p:nvSpPr>
          <p:cNvPr id="51" name="Shape 49"/>
          <p:cNvSpPr/>
          <p:nvPr/>
        </p:nvSpPr>
        <p:spPr>
          <a:xfrm>
            <a:off x="10899648" y="5280838"/>
            <a:ext cx="109728" cy="18213"/>
          </a:xfrm>
          <a:prstGeom prst="line">
            <a:avLst/>
          </a:prstGeom>
          <a:noFill/>
          <a:ln w="25400">
            <a:solidFill>
              <a:srgbClr val="065A82"/>
            </a:solidFill>
            <a:prstDash val="solid"/>
          </a:ln>
        </p:spPr>
        <p:txBody>
          <a:bodyPr/>
          <a:lstStyle/>
          <a:p>
            <a:endParaRPr/>
          </a:p>
        </p:txBody>
      </p:sp>
      <p:sp>
        <p:nvSpPr>
          <p:cNvPr id="52" name="Shape 50"/>
          <p:cNvSpPr/>
          <p:nvPr/>
        </p:nvSpPr>
        <p:spPr>
          <a:xfrm>
            <a:off x="11009376" y="5299051"/>
            <a:ext cx="109728" cy="17440"/>
          </a:xfrm>
          <a:prstGeom prst="line">
            <a:avLst/>
          </a:prstGeom>
          <a:noFill/>
          <a:ln w="25400">
            <a:solidFill>
              <a:srgbClr val="065A82"/>
            </a:solidFill>
            <a:prstDash val="solid"/>
          </a:ln>
        </p:spPr>
        <p:txBody>
          <a:bodyPr/>
          <a:lstStyle/>
          <a:p>
            <a:endParaRPr/>
          </a:p>
        </p:txBody>
      </p:sp>
      <p:sp>
        <p:nvSpPr>
          <p:cNvPr id="53" name="Shape 51"/>
          <p:cNvSpPr/>
          <p:nvPr/>
        </p:nvSpPr>
        <p:spPr>
          <a:xfrm>
            <a:off x="11119104" y="5316490"/>
            <a:ext cx="109728" cy="16715"/>
          </a:xfrm>
          <a:prstGeom prst="line">
            <a:avLst/>
          </a:prstGeom>
          <a:noFill/>
          <a:ln w="25400">
            <a:solidFill>
              <a:srgbClr val="065A82"/>
            </a:solidFill>
            <a:prstDash val="solid"/>
          </a:ln>
        </p:spPr>
        <p:txBody>
          <a:bodyPr/>
          <a:lstStyle/>
          <a:p>
            <a:endParaRPr/>
          </a:p>
        </p:txBody>
      </p:sp>
      <p:sp>
        <p:nvSpPr>
          <p:cNvPr id="54" name="Shape 52"/>
          <p:cNvSpPr/>
          <p:nvPr/>
        </p:nvSpPr>
        <p:spPr>
          <a:xfrm>
            <a:off x="11228832" y="5333205"/>
            <a:ext cx="109728" cy="16035"/>
          </a:xfrm>
          <a:prstGeom prst="line">
            <a:avLst/>
          </a:prstGeom>
          <a:noFill/>
          <a:ln w="25400">
            <a:solidFill>
              <a:srgbClr val="065A82"/>
            </a:solidFill>
            <a:prstDash val="solid"/>
          </a:ln>
        </p:spPr>
        <p:txBody>
          <a:bodyPr/>
          <a:lstStyle/>
          <a:p>
            <a:endParaRPr/>
          </a:p>
        </p:txBody>
      </p:sp>
      <p:sp>
        <p:nvSpPr>
          <p:cNvPr id="55" name="Shape 53"/>
          <p:cNvSpPr/>
          <p:nvPr/>
        </p:nvSpPr>
        <p:spPr>
          <a:xfrm>
            <a:off x="10645541" y="3665694"/>
            <a:ext cx="0" cy="1569700"/>
          </a:xfrm>
          <a:prstGeom prst="line">
            <a:avLst/>
          </a:prstGeom>
          <a:noFill/>
          <a:ln w="9525">
            <a:solidFill>
              <a:srgbClr val="64748B"/>
            </a:solidFill>
            <a:prstDash val="dash"/>
          </a:ln>
        </p:spPr>
        <p:txBody>
          <a:bodyPr/>
          <a:lstStyle/>
          <a:p>
            <a:endParaRPr/>
          </a:p>
        </p:txBody>
      </p:sp>
      <p:sp>
        <p:nvSpPr>
          <p:cNvPr id="56" name="Shape 54"/>
          <p:cNvSpPr/>
          <p:nvPr/>
        </p:nvSpPr>
        <p:spPr>
          <a:xfrm>
            <a:off x="7642459" y="3665694"/>
            <a:ext cx="3003082" cy="0"/>
          </a:xfrm>
          <a:prstGeom prst="line">
            <a:avLst/>
          </a:prstGeom>
          <a:noFill/>
          <a:ln w="9525">
            <a:solidFill>
              <a:srgbClr val="64748B"/>
            </a:solidFill>
            <a:prstDash val="dash"/>
          </a:ln>
        </p:spPr>
        <p:txBody>
          <a:bodyPr/>
          <a:lstStyle/>
          <a:p>
            <a:endParaRPr/>
          </a:p>
        </p:txBody>
      </p:sp>
      <p:sp>
        <p:nvSpPr>
          <p:cNvPr id="57" name="Shape 55"/>
          <p:cNvSpPr/>
          <p:nvPr/>
        </p:nvSpPr>
        <p:spPr>
          <a:xfrm>
            <a:off x="7532731" y="3555966"/>
            <a:ext cx="219456" cy="219456"/>
          </a:xfrm>
          <a:prstGeom prst="ellipse">
            <a:avLst/>
          </a:prstGeom>
          <a:solidFill>
            <a:srgbClr val="065A82"/>
          </a:solidFill>
          <a:ln w="9525">
            <a:solidFill>
              <a:srgbClr val="21295C"/>
            </a:solidFill>
            <a:prstDash val="solid"/>
          </a:ln>
        </p:spPr>
        <p:txBody>
          <a:bodyPr/>
          <a:lstStyle/>
          <a:p>
            <a:endParaRPr/>
          </a:p>
        </p:txBody>
      </p:sp>
      <p:sp>
        <p:nvSpPr>
          <p:cNvPr id="58" name="Text 56"/>
          <p:cNvSpPr/>
          <p:nvPr/>
        </p:nvSpPr>
        <p:spPr>
          <a:xfrm>
            <a:off x="7185259" y="3208494"/>
            <a:ext cx="914400" cy="274320"/>
          </a:xfrm>
          <a:prstGeom prst="rect">
            <a:avLst/>
          </a:prstGeom>
          <a:noFill/>
          <a:ln/>
        </p:spPr>
        <p:txBody>
          <a:bodyPr wrap="square" lIns="0" tIns="0" rIns="0" bIns="0" rtlCol="0" anchor="ctr"/>
          <a:lstStyle/>
          <a:p>
            <a:pPr marL="0" indent="0" algn="ctr">
              <a:buNone/>
            </a:pPr>
            <a:r>
              <a:rPr lang="en-US" sz="1100" b="1" dirty="0">
                <a:solidFill>
                  <a:srgbClr val="21295C"/>
                </a:solidFill>
                <a:latin typeface="Calibri" pitchFamily="34" charset="0"/>
                <a:ea typeface="Calibri" pitchFamily="34" charset="-122"/>
                <a:cs typeface="Calibri" pitchFamily="34" charset="-120"/>
              </a:rPr>
              <a:t>S2</a:t>
            </a:r>
            <a:endParaRPr lang="en-US" sz="1100" dirty="0"/>
          </a:p>
        </p:txBody>
      </p:sp>
      <p:sp>
        <p:nvSpPr>
          <p:cNvPr id="59" name="Shape 57"/>
          <p:cNvSpPr/>
          <p:nvPr/>
        </p:nvSpPr>
        <p:spPr>
          <a:xfrm>
            <a:off x="10535813" y="5125666"/>
            <a:ext cx="219456" cy="219456"/>
          </a:xfrm>
          <a:prstGeom prst="ellipse">
            <a:avLst/>
          </a:prstGeom>
          <a:solidFill>
            <a:srgbClr val="065A82"/>
          </a:solidFill>
          <a:ln w="9525">
            <a:solidFill>
              <a:srgbClr val="21295C"/>
            </a:solidFill>
            <a:prstDash val="solid"/>
          </a:ln>
        </p:spPr>
        <p:txBody>
          <a:bodyPr/>
          <a:lstStyle/>
          <a:p>
            <a:endParaRPr/>
          </a:p>
        </p:txBody>
      </p:sp>
      <p:sp>
        <p:nvSpPr>
          <p:cNvPr id="60" name="Text 58"/>
          <p:cNvSpPr/>
          <p:nvPr/>
        </p:nvSpPr>
        <p:spPr>
          <a:xfrm>
            <a:off x="10188341" y="4778194"/>
            <a:ext cx="914400" cy="274320"/>
          </a:xfrm>
          <a:prstGeom prst="rect">
            <a:avLst/>
          </a:prstGeom>
          <a:noFill/>
          <a:ln/>
        </p:spPr>
        <p:txBody>
          <a:bodyPr wrap="square" lIns="0" tIns="0" rIns="0" bIns="0" rtlCol="0" anchor="ctr"/>
          <a:lstStyle/>
          <a:p>
            <a:pPr marL="0" indent="0" algn="ctr">
              <a:buNone/>
            </a:pPr>
            <a:r>
              <a:rPr lang="en-US" sz="1100" b="1" dirty="0">
                <a:solidFill>
                  <a:srgbClr val="21295C"/>
                </a:solidFill>
                <a:latin typeface="Calibri" pitchFamily="34" charset="0"/>
                <a:ea typeface="Calibri" pitchFamily="34" charset="-122"/>
                <a:cs typeface="Calibri" pitchFamily="34" charset="-120"/>
              </a:rPr>
              <a:t>S1</a:t>
            </a:r>
            <a:endParaRPr lang="en-US" sz="1100" dirty="0"/>
          </a:p>
        </p:txBody>
      </p:sp>
      <p:sp>
        <p:nvSpPr>
          <p:cNvPr id="61" name="Shape 59"/>
          <p:cNvSpPr/>
          <p:nvPr/>
        </p:nvSpPr>
        <p:spPr>
          <a:xfrm>
            <a:off x="10535813" y="3555966"/>
            <a:ext cx="219456" cy="219456"/>
          </a:xfrm>
          <a:prstGeom prst="ellipse">
            <a:avLst/>
          </a:prstGeom>
          <a:solidFill>
            <a:srgbClr val="F2B632"/>
          </a:solidFill>
          <a:ln w="9525">
            <a:solidFill>
              <a:srgbClr val="21295C"/>
            </a:solidFill>
            <a:prstDash val="solid"/>
          </a:ln>
        </p:spPr>
        <p:txBody>
          <a:bodyPr/>
          <a:lstStyle/>
          <a:p>
            <a:endParaRPr/>
          </a:p>
        </p:txBody>
      </p:sp>
      <p:sp>
        <p:nvSpPr>
          <p:cNvPr id="62" name="Text 60"/>
          <p:cNvSpPr/>
          <p:nvPr/>
        </p:nvSpPr>
        <p:spPr>
          <a:xfrm>
            <a:off x="10188341" y="3208494"/>
            <a:ext cx="914400" cy="274320"/>
          </a:xfrm>
          <a:prstGeom prst="rect">
            <a:avLst/>
          </a:prstGeom>
          <a:noFill/>
          <a:ln/>
        </p:spPr>
        <p:txBody>
          <a:bodyPr wrap="square" lIns="0" tIns="0" rIns="0" bIns="0" rtlCol="0" anchor="ctr"/>
          <a:lstStyle/>
          <a:p>
            <a:pPr marL="0" indent="0" algn="ctr">
              <a:buNone/>
            </a:pPr>
            <a:r>
              <a:rPr lang="en-US" sz="1100" b="1" dirty="0">
                <a:solidFill>
                  <a:srgbClr val="21295C"/>
                </a:solidFill>
                <a:latin typeface="Calibri" pitchFamily="34" charset="0"/>
                <a:ea typeface="Calibri" pitchFamily="34" charset="-122"/>
                <a:cs typeface="Calibri" pitchFamily="34" charset="-120"/>
              </a:rPr>
              <a:t>baseline</a:t>
            </a:r>
            <a:endParaRPr lang="en-US" sz="1100" dirty="0"/>
          </a:p>
        </p:txBody>
      </p:sp>
      <p:sp>
        <p:nvSpPr>
          <p:cNvPr id="63" name="Text 61"/>
          <p:cNvSpPr/>
          <p:nvPr/>
        </p:nvSpPr>
        <p:spPr>
          <a:xfrm>
            <a:off x="6949440" y="5486400"/>
            <a:ext cx="438912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 fewer facilities     sum_y     more facilities →</a:t>
            </a:r>
            <a:endParaRPr lang="en-US" sz="1000" dirty="0"/>
          </a:p>
        </p:txBody>
      </p:sp>
      <p:sp>
        <p:nvSpPr>
          <p:cNvPr id="64" name="Text 62"/>
          <p:cNvSpPr/>
          <p:nvPr/>
        </p:nvSpPr>
        <p:spPr>
          <a:xfrm rot="16200000">
            <a:off x="6446520" y="3520440"/>
            <a:ext cx="45720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travel cost</a:t>
            </a:r>
            <a:endParaRPr lang="en-US" sz="1000" dirty="0"/>
          </a:p>
        </p:txBody>
      </p:sp>
      <p:sp>
        <p:nvSpPr>
          <p:cNvPr id="65" name="Text 63"/>
          <p:cNvSpPr/>
          <p:nvPr/>
        </p:nvSpPr>
        <p:spPr>
          <a:xfrm>
            <a:off x="6217920" y="6263640"/>
            <a:ext cx="5486400" cy="32004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With the strong-linking LP, sum_y is a continuous lower bound on integer facility count.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kern="0" spc="400" dirty="0">
                <a:solidFill>
                  <a:srgbClr val="1C7293"/>
                </a:solidFill>
                <a:latin typeface="Calibri" pitchFamily="34" charset="0"/>
                <a:ea typeface="Calibri" pitchFamily="34" charset="-122"/>
                <a:cs typeface="Calibri" pitchFamily="34" charset="-120"/>
              </a:rPr>
              <a:t>WHY FRACTIONAL SUM_Y IS INFORMATIVE, NOT NOISE</a:t>
            </a:r>
            <a:endParaRPr lang="en-US" sz="1100" dirty="0"/>
          </a:p>
        </p:txBody>
      </p:sp>
      <p:sp>
        <p:nvSpPr>
          <p:cNvPr id="3" name="Text 1"/>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dirty="0">
                <a:solidFill>
                  <a:srgbClr val="21295C"/>
                </a:solidFill>
                <a:latin typeface="Georgia" pitchFamily="34" charset="0"/>
                <a:ea typeface="Georgia" pitchFamily="34" charset="-122"/>
                <a:cs typeface="Georgia" pitchFamily="34" charset="-120"/>
              </a:rPr>
              <a:t>Integrality gap: LP can strictly beat IP</a:t>
            </a:r>
            <a:endParaRPr lang="en-US" sz="3200" dirty="0"/>
          </a:p>
        </p:txBody>
      </p:sp>
      <p:sp>
        <p:nvSpPr>
          <p:cNvPr id="4" name="Shape 2"/>
          <p:cNvSpPr/>
          <p:nvPr/>
        </p:nvSpPr>
        <p:spPr>
          <a:xfrm>
            <a:off x="548640" y="1554480"/>
            <a:ext cx="5029200" cy="4754880"/>
          </a:xfrm>
          <a:prstGeom prst="rect">
            <a:avLst/>
          </a:prstGeom>
          <a:solidFill>
            <a:srgbClr val="E8EEF3"/>
          </a:solidFill>
          <a:ln w="6350">
            <a:solidFill>
              <a:srgbClr val="DCE3EA"/>
            </a:solidFill>
            <a:prstDash val="solid"/>
          </a:ln>
        </p:spPr>
        <p:txBody>
          <a:bodyPr/>
          <a:lstStyle/>
          <a:p>
            <a:endParaRPr/>
          </a:p>
        </p:txBody>
      </p:sp>
      <p:sp>
        <p:nvSpPr>
          <p:cNvPr id="5" name="Shape 3"/>
          <p:cNvSpPr/>
          <p:nvPr/>
        </p:nvSpPr>
        <p:spPr>
          <a:xfrm flipH="1">
            <a:off x="1717060" y="2560320"/>
            <a:ext cx="1346180" cy="2331720"/>
          </a:xfrm>
          <a:prstGeom prst="line">
            <a:avLst/>
          </a:prstGeom>
          <a:noFill/>
          <a:ln w="19050">
            <a:solidFill>
              <a:srgbClr val="64748B"/>
            </a:solidFill>
            <a:prstDash val="solid"/>
            <a:headEnd type="none"/>
            <a:tailEnd type="none"/>
          </a:ln>
        </p:spPr>
        <p:txBody>
          <a:bodyPr/>
          <a:lstStyle/>
          <a:p>
            <a:endParaRPr/>
          </a:p>
        </p:txBody>
      </p:sp>
      <p:sp>
        <p:nvSpPr>
          <p:cNvPr id="6" name="Shape 4"/>
          <p:cNvSpPr/>
          <p:nvPr/>
        </p:nvSpPr>
        <p:spPr>
          <a:xfrm>
            <a:off x="1717060" y="4892040"/>
            <a:ext cx="2692359" cy="0"/>
          </a:xfrm>
          <a:prstGeom prst="line">
            <a:avLst/>
          </a:prstGeom>
          <a:noFill/>
          <a:ln w="19050">
            <a:solidFill>
              <a:srgbClr val="64748B"/>
            </a:solidFill>
            <a:prstDash val="solid"/>
            <a:headEnd type="none"/>
            <a:tailEnd type="none"/>
          </a:ln>
        </p:spPr>
        <p:txBody>
          <a:bodyPr/>
          <a:lstStyle/>
          <a:p>
            <a:endParaRPr/>
          </a:p>
        </p:txBody>
      </p:sp>
      <p:sp>
        <p:nvSpPr>
          <p:cNvPr id="7" name="Shape 5"/>
          <p:cNvSpPr/>
          <p:nvPr/>
        </p:nvSpPr>
        <p:spPr>
          <a:xfrm flipH="1" flipV="1">
            <a:off x="3063240" y="2560320"/>
            <a:ext cx="1346180" cy="2331720"/>
          </a:xfrm>
          <a:prstGeom prst="line">
            <a:avLst/>
          </a:prstGeom>
          <a:noFill/>
          <a:ln w="19050">
            <a:solidFill>
              <a:srgbClr val="64748B"/>
            </a:solidFill>
            <a:prstDash val="solid"/>
            <a:headEnd type="none"/>
            <a:tailEnd type="none"/>
          </a:ln>
        </p:spPr>
        <p:txBody>
          <a:bodyPr/>
          <a:lstStyle/>
          <a:p>
            <a:endParaRPr/>
          </a:p>
        </p:txBody>
      </p:sp>
      <p:sp>
        <p:nvSpPr>
          <p:cNvPr id="8" name="Shape 6"/>
          <p:cNvSpPr/>
          <p:nvPr/>
        </p:nvSpPr>
        <p:spPr>
          <a:xfrm>
            <a:off x="2880360" y="2377440"/>
            <a:ext cx="365760" cy="365760"/>
          </a:xfrm>
          <a:prstGeom prst="ellipse">
            <a:avLst/>
          </a:prstGeom>
          <a:solidFill>
            <a:srgbClr val="065A82"/>
          </a:solidFill>
          <a:ln w="6350">
            <a:solidFill>
              <a:srgbClr val="21295C"/>
            </a:solidFill>
            <a:prstDash val="solid"/>
          </a:ln>
        </p:spPr>
        <p:txBody>
          <a:bodyPr/>
          <a:lstStyle/>
          <a:p>
            <a:endParaRPr/>
          </a:p>
        </p:txBody>
      </p:sp>
      <p:sp>
        <p:nvSpPr>
          <p:cNvPr id="9" name="Text 7"/>
          <p:cNvSpPr/>
          <p:nvPr/>
        </p:nvSpPr>
        <p:spPr>
          <a:xfrm>
            <a:off x="2880360" y="2377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i₃</a:t>
            </a:r>
            <a:endParaRPr lang="en-US" sz="1300" dirty="0"/>
          </a:p>
        </p:txBody>
      </p:sp>
      <p:sp>
        <p:nvSpPr>
          <p:cNvPr id="10" name="Shape 8"/>
          <p:cNvSpPr/>
          <p:nvPr/>
        </p:nvSpPr>
        <p:spPr>
          <a:xfrm>
            <a:off x="1534180" y="4709160"/>
            <a:ext cx="365760" cy="365760"/>
          </a:xfrm>
          <a:prstGeom prst="ellipse">
            <a:avLst/>
          </a:prstGeom>
          <a:solidFill>
            <a:srgbClr val="065A82"/>
          </a:solidFill>
          <a:ln w="6350">
            <a:solidFill>
              <a:srgbClr val="21295C"/>
            </a:solidFill>
            <a:prstDash val="solid"/>
          </a:ln>
        </p:spPr>
        <p:txBody>
          <a:bodyPr/>
          <a:lstStyle/>
          <a:p>
            <a:endParaRPr/>
          </a:p>
        </p:txBody>
      </p:sp>
      <p:sp>
        <p:nvSpPr>
          <p:cNvPr id="11" name="Text 9"/>
          <p:cNvSpPr/>
          <p:nvPr/>
        </p:nvSpPr>
        <p:spPr>
          <a:xfrm>
            <a:off x="1534180" y="47091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i₁</a:t>
            </a:r>
            <a:endParaRPr lang="en-US" sz="1300" dirty="0"/>
          </a:p>
        </p:txBody>
      </p:sp>
      <p:sp>
        <p:nvSpPr>
          <p:cNvPr id="12" name="Shape 10"/>
          <p:cNvSpPr/>
          <p:nvPr/>
        </p:nvSpPr>
        <p:spPr>
          <a:xfrm>
            <a:off x="4226540" y="4709160"/>
            <a:ext cx="365760" cy="365760"/>
          </a:xfrm>
          <a:prstGeom prst="ellipse">
            <a:avLst/>
          </a:prstGeom>
          <a:solidFill>
            <a:srgbClr val="065A82"/>
          </a:solidFill>
          <a:ln w="6350">
            <a:solidFill>
              <a:srgbClr val="21295C"/>
            </a:solidFill>
            <a:prstDash val="solid"/>
          </a:ln>
        </p:spPr>
        <p:txBody>
          <a:bodyPr/>
          <a:lstStyle/>
          <a:p>
            <a:endParaRPr/>
          </a:p>
        </p:txBody>
      </p:sp>
      <p:sp>
        <p:nvSpPr>
          <p:cNvPr id="13" name="Text 11"/>
          <p:cNvSpPr/>
          <p:nvPr/>
        </p:nvSpPr>
        <p:spPr>
          <a:xfrm>
            <a:off x="4226540" y="47091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i₂</a:t>
            </a:r>
            <a:endParaRPr lang="en-US" sz="1300" dirty="0"/>
          </a:p>
        </p:txBody>
      </p:sp>
      <p:sp>
        <p:nvSpPr>
          <p:cNvPr id="14" name="Shape 12"/>
          <p:cNvSpPr/>
          <p:nvPr/>
        </p:nvSpPr>
        <p:spPr>
          <a:xfrm>
            <a:off x="2207270" y="3543300"/>
            <a:ext cx="365760" cy="365760"/>
          </a:xfrm>
          <a:prstGeom prst="rect">
            <a:avLst/>
          </a:prstGeom>
          <a:solidFill>
            <a:srgbClr val="F2B632"/>
          </a:solidFill>
          <a:ln w="6350">
            <a:solidFill>
              <a:srgbClr val="8A6510"/>
            </a:solidFill>
            <a:prstDash val="solid"/>
          </a:ln>
        </p:spPr>
        <p:txBody>
          <a:bodyPr/>
          <a:lstStyle/>
          <a:p>
            <a:endParaRPr/>
          </a:p>
        </p:txBody>
      </p:sp>
      <p:sp>
        <p:nvSpPr>
          <p:cNvPr id="15" name="Text 13"/>
          <p:cNvSpPr/>
          <p:nvPr/>
        </p:nvSpPr>
        <p:spPr>
          <a:xfrm>
            <a:off x="2207270" y="3543300"/>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j₂</a:t>
            </a:r>
            <a:endParaRPr lang="en-US" sz="1200" dirty="0"/>
          </a:p>
        </p:txBody>
      </p:sp>
      <p:sp>
        <p:nvSpPr>
          <p:cNvPr id="16" name="Shape 14"/>
          <p:cNvSpPr/>
          <p:nvPr/>
        </p:nvSpPr>
        <p:spPr>
          <a:xfrm>
            <a:off x="3553450" y="3543300"/>
            <a:ext cx="365760" cy="365760"/>
          </a:xfrm>
          <a:prstGeom prst="rect">
            <a:avLst/>
          </a:prstGeom>
          <a:solidFill>
            <a:srgbClr val="F2B632"/>
          </a:solidFill>
          <a:ln w="6350">
            <a:solidFill>
              <a:srgbClr val="8A6510"/>
            </a:solidFill>
            <a:prstDash val="solid"/>
          </a:ln>
        </p:spPr>
        <p:txBody>
          <a:bodyPr/>
          <a:lstStyle/>
          <a:p>
            <a:endParaRPr/>
          </a:p>
        </p:txBody>
      </p:sp>
      <p:sp>
        <p:nvSpPr>
          <p:cNvPr id="17" name="Text 15"/>
          <p:cNvSpPr/>
          <p:nvPr/>
        </p:nvSpPr>
        <p:spPr>
          <a:xfrm>
            <a:off x="3553450" y="3543300"/>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j₃</a:t>
            </a:r>
            <a:endParaRPr lang="en-US" sz="1200" dirty="0"/>
          </a:p>
        </p:txBody>
      </p:sp>
      <p:sp>
        <p:nvSpPr>
          <p:cNvPr id="18" name="Shape 16"/>
          <p:cNvSpPr/>
          <p:nvPr/>
        </p:nvSpPr>
        <p:spPr>
          <a:xfrm>
            <a:off x="2880360" y="4709160"/>
            <a:ext cx="365760" cy="365760"/>
          </a:xfrm>
          <a:prstGeom prst="rect">
            <a:avLst/>
          </a:prstGeom>
          <a:solidFill>
            <a:srgbClr val="F2B632"/>
          </a:solidFill>
          <a:ln w="6350">
            <a:solidFill>
              <a:srgbClr val="8A6510"/>
            </a:solidFill>
            <a:prstDash val="solid"/>
          </a:ln>
        </p:spPr>
        <p:txBody>
          <a:bodyPr/>
          <a:lstStyle/>
          <a:p>
            <a:endParaRPr/>
          </a:p>
        </p:txBody>
      </p:sp>
      <p:sp>
        <p:nvSpPr>
          <p:cNvPr id="19" name="Text 17"/>
          <p:cNvSpPr/>
          <p:nvPr/>
        </p:nvSpPr>
        <p:spPr>
          <a:xfrm>
            <a:off x="2880360" y="4709160"/>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j₁</a:t>
            </a:r>
            <a:endParaRPr lang="en-US" sz="1200" dirty="0"/>
          </a:p>
        </p:txBody>
      </p:sp>
      <p:sp>
        <p:nvSpPr>
          <p:cNvPr id="20" name="Text 18"/>
          <p:cNvSpPr/>
          <p:nvPr/>
        </p:nvSpPr>
        <p:spPr>
          <a:xfrm>
            <a:off x="2280422" y="4553712"/>
            <a:ext cx="228600" cy="22860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1</a:t>
            </a:r>
            <a:endParaRPr lang="en-US" sz="1100" dirty="0"/>
          </a:p>
        </p:txBody>
      </p:sp>
      <p:sp>
        <p:nvSpPr>
          <p:cNvPr id="21" name="Text 19"/>
          <p:cNvSpPr/>
          <p:nvPr/>
        </p:nvSpPr>
        <p:spPr>
          <a:xfrm>
            <a:off x="3626602" y="4553712"/>
            <a:ext cx="228600" cy="22860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1687845" y="4199382"/>
            <a:ext cx="228600" cy="22860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1</a:t>
            </a:r>
            <a:endParaRPr lang="en-US" sz="1100" dirty="0"/>
          </a:p>
        </p:txBody>
      </p:sp>
      <p:sp>
        <p:nvSpPr>
          <p:cNvPr id="23" name="Text 21"/>
          <p:cNvSpPr/>
          <p:nvPr/>
        </p:nvSpPr>
        <p:spPr>
          <a:xfrm>
            <a:off x="2360935" y="3033522"/>
            <a:ext cx="228600" cy="22860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1</a:t>
            </a:r>
            <a:endParaRPr lang="en-US" sz="1100" dirty="0"/>
          </a:p>
        </p:txBody>
      </p:sp>
      <p:sp>
        <p:nvSpPr>
          <p:cNvPr id="24" name="Text 22"/>
          <p:cNvSpPr/>
          <p:nvPr/>
        </p:nvSpPr>
        <p:spPr>
          <a:xfrm>
            <a:off x="4210035" y="4199382"/>
            <a:ext cx="228600" cy="22860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1</a:t>
            </a:r>
            <a:endParaRPr lang="en-US" sz="1100" dirty="0"/>
          </a:p>
        </p:txBody>
      </p:sp>
      <p:sp>
        <p:nvSpPr>
          <p:cNvPr id="25" name="Text 23"/>
          <p:cNvSpPr/>
          <p:nvPr/>
        </p:nvSpPr>
        <p:spPr>
          <a:xfrm>
            <a:off x="3536945" y="3033522"/>
            <a:ext cx="228600" cy="22860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1</a:t>
            </a:r>
            <a:endParaRPr lang="en-US" sz="1100" dirty="0"/>
          </a:p>
        </p:txBody>
      </p:sp>
      <p:sp>
        <p:nvSpPr>
          <p:cNvPr id="26" name="Text 24"/>
          <p:cNvSpPr/>
          <p:nvPr/>
        </p:nvSpPr>
        <p:spPr>
          <a:xfrm>
            <a:off x="640080" y="5943600"/>
            <a:ext cx="4846320" cy="32004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3 clients · 3 candidate pharmacies · weight = 1 each · λ = 2</a:t>
            </a:r>
            <a:endParaRPr lang="en-US" sz="1100" dirty="0"/>
          </a:p>
        </p:txBody>
      </p:sp>
      <p:sp>
        <p:nvSpPr>
          <p:cNvPr id="27" name="Text 25"/>
          <p:cNvSpPr/>
          <p:nvPr/>
        </p:nvSpPr>
        <p:spPr>
          <a:xfrm>
            <a:off x="5852160" y="1554480"/>
            <a:ext cx="5760720" cy="365760"/>
          </a:xfrm>
          <a:prstGeom prst="rect">
            <a:avLst/>
          </a:prstGeom>
          <a:noFill/>
          <a:ln/>
        </p:spPr>
        <p:txBody>
          <a:bodyPr wrap="square" lIns="0" tIns="0" rIns="0" bIns="0" rtlCol="0" anchor="ctr"/>
          <a:lstStyle/>
          <a:p>
            <a:pPr marL="0" indent="0">
              <a:buNone/>
            </a:pPr>
            <a:r>
              <a:rPr lang="en-US" sz="1800" b="1" dirty="0">
                <a:solidFill>
                  <a:srgbClr val="21295C"/>
                </a:solidFill>
                <a:latin typeface="Georgia" pitchFamily="34" charset="0"/>
                <a:ea typeface="Georgia" pitchFamily="34" charset="-122"/>
                <a:cs typeface="Georgia" pitchFamily="34" charset="-120"/>
              </a:rPr>
              <a:t>Best integer</a:t>
            </a:r>
            <a:endParaRPr lang="en-US" sz="1800" dirty="0"/>
          </a:p>
        </p:txBody>
      </p:sp>
      <p:sp>
        <p:nvSpPr>
          <p:cNvPr id="28" name="Text 26"/>
          <p:cNvSpPr/>
          <p:nvPr/>
        </p:nvSpPr>
        <p:spPr>
          <a:xfrm>
            <a:off x="5852160" y="1965960"/>
            <a:ext cx="5760720" cy="114300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Open any one pharmacy:  </a:t>
            </a:r>
            <a:r>
              <a:rPr lang="en-US" sz="1400" b="1" dirty="0">
                <a:solidFill>
                  <a:srgbClr val="21295C"/>
                </a:solidFill>
                <a:latin typeface="Calibri" pitchFamily="34" charset="0"/>
                <a:ea typeface="Calibri" pitchFamily="34" charset="-122"/>
                <a:cs typeface="Calibri" pitchFamily="34" charset="-120"/>
              </a:rPr>
              <a:t>1 + 1 + 3 + λ = 7</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Open any two:  </a:t>
            </a:r>
            <a:r>
              <a:rPr lang="en-US" sz="1400" b="1" dirty="0">
                <a:solidFill>
                  <a:srgbClr val="21295C"/>
                </a:solidFill>
                <a:latin typeface="Calibri" pitchFamily="34" charset="0"/>
                <a:ea typeface="Calibri" pitchFamily="34" charset="-122"/>
                <a:cs typeface="Calibri" pitchFamily="34" charset="-120"/>
              </a:rPr>
              <a:t>1 + 1 + 1 + 2λ = 7</a:t>
            </a:r>
            <a:endParaRPr lang="en-US" sz="1400" dirty="0"/>
          </a:p>
          <a:p>
            <a:pPr marL="0" indent="0">
              <a:buNone/>
            </a:pPr>
            <a:r>
              <a:rPr lang="en-US" sz="1400" i="1" dirty="0">
                <a:solidFill>
                  <a:srgbClr val="1C7293"/>
                </a:solidFill>
                <a:latin typeface="Calibri" pitchFamily="34" charset="0"/>
                <a:ea typeface="Calibri" pitchFamily="34" charset="-122"/>
                <a:cs typeface="Calibri" pitchFamily="34" charset="-120"/>
              </a:rPr>
              <a:t>→ IP optimum = 7   (1 or 2 facilities)</a:t>
            </a:r>
            <a:endParaRPr lang="en-US" sz="1400" dirty="0"/>
          </a:p>
        </p:txBody>
      </p:sp>
      <p:sp>
        <p:nvSpPr>
          <p:cNvPr id="29" name="Text 27"/>
          <p:cNvSpPr/>
          <p:nvPr/>
        </p:nvSpPr>
        <p:spPr>
          <a:xfrm>
            <a:off x="5852160" y="3246120"/>
            <a:ext cx="5760720" cy="365760"/>
          </a:xfrm>
          <a:prstGeom prst="rect">
            <a:avLst/>
          </a:prstGeom>
          <a:noFill/>
          <a:ln/>
        </p:spPr>
        <p:txBody>
          <a:bodyPr wrap="square" lIns="0" tIns="0" rIns="0" bIns="0" rtlCol="0" anchor="ctr"/>
          <a:lstStyle/>
          <a:p>
            <a:pPr marL="0" indent="0">
              <a:buNone/>
            </a:pPr>
            <a:r>
              <a:rPr lang="en-US" sz="1800" b="1" dirty="0">
                <a:solidFill>
                  <a:srgbClr val="21295C"/>
                </a:solidFill>
                <a:latin typeface="Georgia" pitchFamily="34" charset="0"/>
                <a:ea typeface="Georgia" pitchFamily="34" charset="-122"/>
                <a:cs typeface="Georgia" pitchFamily="34" charset="-120"/>
              </a:rPr>
              <a:t>LP fractional</a:t>
            </a:r>
            <a:endParaRPr lang="en-US" sz="1800" dirty="0"/>
          </a:p>
        </p:txBody>
      </p:sp>
      <p:sp>
        <p:nvSpPr>
          <p:cNvPr id="30" name="Text 28"/>
          <p:cNvSpPr/>
          <p:nvPr/>
        </p:nvSpPr>
        <p:spPr>
          <a:xfrm>
            <a:off x="5852160" y="3657600"/>
            <a:ext cx="5760720" cy="146304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Set </a:t>
            </a:r>
            <a:r>
              <a:rPr lang="en-US" sz="1400" b="1" dirty="0">
                <a:solidFill>
                  <a:srgbClr val="F2B632"/>
                </a:solidFill>
                <a:latin typeface="Calibri" pitchFamily="34" charset="0"/>
                <a:ea typeface="Calibri" pitchFamily="34" charset="-122"/>
                <a:cs typeface="Calibri" pitchFamily="34" charset="-120"/>
              </a:rPr>
              <a:t>y = (½, ½, ½)</a:t>
            </a:r>
            <a:r>
              <a:rPr lang="en-US" sz="1400" dirty="0">
                <a:solidFill>
                  <a:srgbClr val="1F2937"/>
                </a:solidFill>
                <a:latin typeface="Calibri" pitchFamily="34" charset="0"/>
                <a:ea typeface="Calibri" pitchFamily="34" charset="-122"/>
                <a:cs typeface="Calibri" pitchFamily="34" charset="-120"/>
              </a:rPr>
              <a:t>; each client routes ½ + ½ to its two near pharmacies (cost 1 each).</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Travel = 3, facility = 3 · ½ · 2 = 3</a:t>
            </a:r>
            <a:endParaRPr lang="en-US" sz="1400" dirty="0"/>
          </a:p>
          <a:p>
            <a:pPr marL="0" indent="0">
              <a:buNone/>
            </a:pPr>
            <a:r>
              <a:rPr lang="en-US" sz="1400" i="1" dirty="0">
                <a:solidFill>
                  <a:srgbClr val="1C7293"/>
                </a:solidFill>
                <a:latin typeface="Calibri" pitchFamily="34" charset="0"/>
                <a:ea typeface="Calibri" pitchFamily="34" charset="-122"/>
                <a:cs typeface="Calibri" pitchFamily="34" charset="-120"/>
              </a:rPr>
              <a:t>→ LP optimum = </a:t>
            </a:r>
            <a:r>
              <a:rPr lang="en-US" sz="1800" b="1" i="1" dirty="0">
                <a:solidFill>
                  <a:srgbClr val="F2B632"/>
                </a:solidFill>
                <a:latin typeface="Calibri" pitchFamily="34" charset="0"/>
                <a:ea typeface="Calibri" pitchFamily="34" charset="-122"/>
                <a:cs typeface="Calibri" pitchFamily="34" charset="-120"/>
              </a:rPr>
              <a:t>6</a:t>
            </a:r>
            <a:r>
              <a:rPr lang="en-US" sz="1400" i="1" dirty="0">
                <a:solidFill>
                  <a:srgbClr val="1C7293"/>
                </a:solidFill>
                <a:latin typeface="Calibri" pitchFamily="34" charset="0"/>
                <a:ea typeface="Calibri" pitchFamily="34" charset="-122"/>
                <a:cs typeface="Calibri" pitchFamily="34" charset="-120"/>
              </a:rPr>
              <a:t>  (sum_y = 1.5, strictly &lt; IP = 7)</a:t>
            </a:r>
            <a:endParaRPr lang="en-US" sz="1400" dirty="0"/>
          </a:p>
        </p:txBody>
      </p:sp>
      <p:sp>
        <p:nvSpPr>
          <p:cNvPr id="31" name="Shape 29"/>
          <p:cNvSpPr/>
          <p:nvPr/>
        </p:nvSpPr>
        <p:spPr>
          <a:xfrm>
            <a:off x="5852160" y="5212080"/>
            <a:ext cx="5760720" cy="1051560"/>
          </a:xfrm>
          <a:prstGeom prst="rect">
            <a:avLst/>
          </a:prstGeom>
          <a:solidFill>
            <a:srgbClr val="21295C"/>
          </a:solidFill>
          <a:ln/>
        </p:spPr>
        <p:txBody>
          <a:bodyPr/>
          <a:lstStyle/>
          <a:p>
            <a:endParaRPr/>
          </a:p>
        </p:txBody>
      </p:sp>
      <p:sp>
        <p:nvSpPr>
          <p:cNvPr id="32" name="Text 30"/>
          <p:cNvSpPr/>
          <p:nvPr/>
        </p:nvSpPr>
        <p:spPr>
          <a:xfrm>
            <a:off x="6035040" y="5303520"/>
            <a:ext cx="5486400" cy="914400"/>
          </a:xfrm>
          <a:prstGeom prst="rect">
            <a:avLst/>
          </a:prstGeom>
          <a:noFill/>
          <a:ln/>
        </p:spPr>
        <p:txBody>
          <a:bodyPr wrap="square" lIns="0" tIns="0" rIns="0" bIns="0" rtlCol="0" anchor="t"/>
          <a:lstStyle/>
          <a:p>
            <a:pPr marL="0" indent="0">
              <a:buNone/>
            </a:pPr>
            <a:r>
              <a:rPr lang="en-US" sz="1300" b="1" dirty="0">
                <a:solidFill>
                  <a:srgbClr val="F2B632"/>
                </a:solidFill>
                <a:latin typeface="Calibri" pitchFamily="34" charset="0"/>
                <a:ea typeface="Calibri" pitchFamily="34" charset="-122"/>
                <a:cs typeface="Calibri" pitchFamily="34" charset="-120"/>
              </a:rPr>
              <a:t>Takeaway</a:t>
            </a:r>
            <a:endParaRPr lang="en-US" sz="1300" dirty="0"/>
          </a:p>
          <a:p>
            <a:pPr marL="0" indent="0">
              <a:buNone/>
            </a:pPr>
            <a:r>
              <a:rPr lang="en-US" sz="1200" dirty="0">
                <a:solidFill>
                  <a:srgbClr val="FFFFFF"/>
                </a:solidFill>
                <a:latin typeface="Calibri" pitchFamily="34" charset="0"/>
                <a:ea typeface="Calibri" pitchFamily="34" charset="-122"/>
                <a:cs typeface="Calibri" pitchFamily="34" charset="-120"/>
              </a:rPr>
              <a:t>Fractional sum_y is not a solver artefact. The LP frontier is a true lower bound; geographies that resist clean integer covering show the gap.</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10972800" cy="274320"/>
          </a:xfrm>
          <a:prstGeom prst="rect">
            <a:avLst/>
          </a:prstGeom>
          <a:noFill/>
          <a:ln/>
        </p:spPr>
        <p:txBody>
          <a:bodyPr wrap="square" rtlCol="0" anchor="ctr"/>
          <a:lstStyle/>
          <a:p>
            <a:pPr marL="0" indent="0">
              <a:buNone/>
            </a:pPr>
            <a:r>
              <a:rPr lang="en-US" sz="1200" b="1" kern="0" spc="200" dirty="0">
                <a:solidFill>
                  <a:srgbClr val="E8A33D"/>
                </a:solidFill>
              </a:rPr>
              <a:t>PRELIMINARY · CATCHMENT-CAP LADDER (NO COST FUNCTION)</a:t>
            </a:r>
            <a:endParaRPr lang="en-US" sz="1200" dirty="0"/>
          </a:p>
        </p:txBody>
      </p:sp>
      <p:sp>
        <p:nvSpPr>
          <p:cNvPr id="3" name="Text 1"/>
          <p:cNvSpPr/>
          <p:nvPr/>
        </p:nvSpPr>
        <p:spPr>
          <a:xfrm>
            <a:off x="411480" y="475488"/>
            <a:ext cx="11430000" cy="457200"/>
          </a:xfrm>
          <a:prstGeom prst="rect">
            <a:avLst/>
          </a:prstGeom>
          <a:noFill/>
          <a:ln/>
        </p:spPr>
        <p:txBody>
          <a:bodyPr wrap="square" rtlCol="0" anchor="ctr"/>
          <a:lstStyle/>
          <a:p>
            <a:pPr marL="0" indent="0">
              <a:buNone/>
            </a:pPr>
            <a:r>
              <a:rPr lang="en-US" sz="1900" b="1" dirty="0">
                <a:solidFill>
                  <a:srgbClr val="12233A"/>
                </a:solidFill>
                <a:latin typeface="Georgia" pitchFamily="34" charset="0"/>
                <a:ea typeface="Georgia" pitchFamily="34" charset="-122"/>
                <a:cs typeface="Georgia" pitchFamily="34" charset="-120"/>
              </a:rPr>
              <a:t>Netherlands — five rungs, capping catchments instead of a cost function  </a:t>
            </a:r>
            <a:r>
              <a:rPr lang="en-US" sz="1900" dirty="0">
                <a:solidFill>
                  <a:srgbClr val="1C3D5A"/>
                </a:solidFill>
                <a:latin typeface="Georgia" pitchFamily="34" charset="0"/>
                <a:ea typeface="Georgia" pitchFamily="34" charset="-122"/>
                <a:cs typeface="Georgia" pitchFamily="34" charset="-120"/>
              </a:rPr>
              <a:t>— S1 fix #, ↓travel · S2 ↓#, hold travel</a:t>
            </a:r>
            <a:endParaRPr lang="en-US" sz="1900" dirty="0"/>
          </a:p>
        </p:txBody>
      </p:sp>
      <p:sp>
        <p:nvSpPr>
          <p:cNvPr id="4" name="Shape 2"/>
          <p:cNvSpPr/>
          <p:nvPr/>
        </p:nvSpPr>
        <p:spPr>
          <a:xfrm>
            <a:off x="457200" y="1325880"/>
            <a:ext cx="3721608" cy="2286000"/>
          </a:xfrm>
          <a:prstGeom prst="roundRect">
            <a:avLst>
              <a:gd name="adj" fmla="val 2400"/>
            </a:avLst>
          </a:prstGeom>
          <a:solidFill>
            <a:srgbClr val="F2F5F8"/>
          </a:solidFill>
          <a:ln w="12700">
            <a:solidFill>
              <a:srgbClr val="0B6E99"/>
            </a:solidFill>
            <a:prstDash val="solid"/>
          </a:ln>
        </p:spPr>
      </p:sp>
      <p:sp>
        <p:nvSpPr>
          <p:cNvPr id="5" name="Text 3"/>
          <p:cNvSpPr/>
          <p:nvPr/>
        </p:nvSpPr>
        <p:spPr>
          <a:xfrm>
            <a:off x="621792" y="1426464"/>
            <a:ext cx="3447288" cy="274320"/>
          </a:xfrm>
          <a:prstGeom prst="rect">
            <a:avLst/>
          </a:prstGeom>
          <a:noFill/>
          <a:ln/>
        </p:spPr>
        <p:txBody>
          <a:bodyPr wrap="square" rtlCol="0" anchor="ctr"/>
          <a:lstStyle/>
          <a:p>
            <a:pPr marL="0" indent="0">
              <a:buNone/>
            </a:pPr>
            <a:r>
              <a:rPr lang="en-US" sz="1500" b="1" dirty="0">
                <a:solidFill>
                  <a:srgbClr val="0B6E99"/>
                </a:solidFill>
                <a:latin typeface="Calibri" pitchFamily="34" charset="0"/>
                <a:ea typeface="Calibri" pitchFamily="34" charset="-122"/>
                <a:cs typeface="Calibri" pitchFamily="34" charset="-120"/>
              </a:rPr>
              <a:t>S1 · A</a:t>
            </a:r>
            <a:endParaRPr lang="en-US" sz="1500" dirty="0"/>
          </a:p>
        </p:txBody>
      </p:sp>
      <p:sp>
        <p:nvSpPr>
          <p:cNvPr id="6" name="Text 4"/>
          <p:cNvSpPr/>
          <p:nvPr/>
        </p:nvSpPr>
        <p:spPr>
          <a:xfrm>
            <a:off x="621792" y="1737360"/>
            <a:ext cx="3447288" cy="274320"/>
          </a:xfrm>
          <a:prstGeom prst="rect">
            <a:avLst/>
          </a:prstGeom>
          <a:noFill/>
          <a:ln/>
        </p:spPr>
        <p:txBody>
          <a:bodyPr wrap="square" rtlCol="0" anchor="ctr"/>
          <a:lstStyle/>
          <a:p>
            <a:pPr marL="0" indent="0">
              <a:buNone/>
            </a:pPr>
            <a:r>
              <a:rPr lang="en-US" sz="950" i="1" dirty="0">
                <a:solidFill>
                  <a:srgbClr val="5B6B7B"/>
                </a:solidFill>
                <a:latin typeface="Calibri" pitchFamily="34" charset="0"/>
                <a:ea typeface="Calibri" pitchFamily="34" charset="-122"/>
                <a:cs typeface="Calibri" pitchFamily="34" charset="-120"/>
              </a:rPr>
              <a:t>max cap · multiple per cell</a:t>
            </a:r>
            <a:endParaRPr lang="en-US" sz="950" dirty="0"/>
          </a:p>
        </p:txBody>
      </p:sp>
      <p:sp>
        <p:nvSpPr>
          <p:cNvPr id="7" name="Text 5"/>
          <p:cNvSpPr/>
          <p:nvPr/>
        </p:nvSpPr>
        <p:spPr>
          <a:xfrm>
            <a:off x="621792" y="2103120"/>
            <a:ext cx="3447288" cy="457200"/>
          </a:xfrm>
          <a:prstGeom prst="rect">
            <a:avLst/>
          </a:prstGeom>
          <a:noFill/>
          <a:ln/>
        </p:spPr>
        <p:txBody>
          <a:bodyPr wrap="square" rtlCol="0" anchor="ctr"/>
          <a:lstStyle/>
          <a:p>
            <a:pPr marL="0" indent="0">
              <a:buNone/>
            </a:pPr>
            <a:r>
              <a:rPr lang="en-US" sz="2500" b="1" dirty="0">
                <a:solidFill>
                  <a:srgbClr val="B23A2E"/>
                </a:solidFill>
                <a:latin typeface="Georgia" pitchFamily="34" charset="0"/>
                <a:ea typeface="Georgia" pitchFamily="34" charset="-122"/>
                <a:cs typeface="Georgia" pitchFamily="34" charset="-120"/>
              </a:rPr>
              <a:t>+13.3%</a:t>
            </a:r>
            <a:r>
              <a:rPr lang="en-US" sz="1050" dirty="0">
                <a:solidFill>
                  <a:srgbClr val="5B6B7B"/>
                </a:solidFill>
                <a:latin typeface="Georgia" pitchFamily="34" charset="0"/>
                <a:ea typeface="Georgia" pitchFamily="34" charset="-122"/>
                <a:cs typeface="Georgia" pitchFamily="34" charset="-120"/>
              </a:rPr>
              <a:t>  travel vs today</a:t>
            </a:r>
            <a:endParaRPr lang="en-US" sz="2500" dirty="0"/>
          </a:p>
        </p:txBody>
      </p:sp>
      <p:sp>
        <p:nvSpPr>
          <p:cNvPr id="8" name="Text 6"/>
          <p:cNvSpPr/>
          <p:nvPr/>
        </p:nvSpPr>
        <p:spPr>
          <a:xfrm>
            <a:off x="621792" y="2679192"/>
            <a:ext cx="3447288" cy="868680"/>
          </a:xfrm>
          <a:prstGeom prst="rect">
            <a:avLst/>
          </a:prstGeom>
          <a:noFill/>
          <a:ln/>
        </p:spPr>
        <p:txBody>
          <a:bodyPr wrap="square" rtlCol="0" anchor="t"/>
          <a:lstStyle/>
          <a:p>
            <a:pPr marL="0" indent="0">
              <a:lnSpc>
                <a:spcPct val="105000"/>
              </a:lnSpc>
              <a:buNone/>
            </a:pPr>
            <a:r>
              <a:rPr lang="en-US" sz="1000" dirty="0">
                <a:solidFill>
                  <a:srgbClr val="12233A"/>
                </a:solidFill>
                <a:latin typeface="Calibri" pitchFamily="34" charset="0"/>
                <a:ea typeface="Calibri" pitchFamily="34" charset="-122"/>
                <a:cs typeface="Calibri" pitchFamily="34" charset="-120"/>
              </a:rPr>
              <a:t>1,613 pharmacies · 1,593 cells</a:t>
            </a:r>
            <a:endParaRPr lang="en-US" sz="1000" dirty="0"/>
          </a:p>
          <a:p>
            <a:pPr marL="0" indent="0">
              <a:lnSpc>
                <a:spcPct val="105000"/>
              </a:lnSpc>
              <a:buNone/>
            </a:pPr>
            <a:r>
              <a:rPr lang="en-US" sz="1000" dirty="0">
                <a:solidFill>
                  <a:srgbClr val="12233A"/>
                </a:solidFill>
                <a:latin typeface="Calibri" pitchFamily="34" charset="0"/>
                <a:ea typeface="Calibri" pitchFamily="34" charset="-122"/>
                <a:cs typeface="Calibri" pitchFamily="34" charset="-120"/>
              </a:rPr>
              <a:t>1.9% stranded · cap 35,000</a:t>
            </a:r>
            <a:endParaRPr lang="en-US" sz="1000" dirty="0"/>
          </a:p>
        </p:txBody>
      </p:sp>
      <p:sp>
        <p:nvSpPr>
          <p:cNvPr id="9" name="Shape 7"/>
          <p:cNvSpPr/>
          <p:nvPr/>
        </p:nvSpPr>
        <p:spPr>
          <a:xfrm>
            <a:off x="4361688" y="1325880"/>
            <a:ext cx="3721608" cy="2286000"/>
          </a:xfrm>
          <a:prstGeom prst="roundRect">
            <a:avLst>
              <a:gd name="adj" fmla="val 2400"/>
            </a:avLst>
          </a:prstGeom>
          <a:solidFill>
            <a:srgbClr val="F2F5F8"/>
          </a:solidFill>
          <a:ln w="12700">
            <a:solidFill>
              <a:srgbClr val="0B6E99"/>
            </a:solidFill>
            <a:prstDash val="solid"/>
          </a:ln>
        </p:spPr>
      </p:sp>
      <p:sp>
        <p:nvSpPr>
          <p:cNvPr id="10" name="Text 8"/>
          <p:cNvSpPr/>
          <p:nvPr/>
        </p:nvSpPr>
        <p:spPr>
          <a:xfrm>
            <a:off x="4526280" y="1426464"/>
            <a:ext cx="3447288" cy="274320"/>
          </a:xfrm>
          <a:prstGeom prst="rect">
            <a:avLst/>
          </a:prstGeom>
          <a:noFill/>
          <a:ln/>
        </p:spPr>
        <p:txBody>
          <a:bodyPr wrap="square" rtlCol="0" anchor="ctr"/>
          <a:lstStyle/>
          <a:p>
            <a:pPr marL="0" indent="0">
              <a:buNone/>
            </a:pPr>
            <a:r>
              <a:rPr lang="en-US" sz="1500" b="1" dirty="0">
                <a:solidFill>
                  <a:srgbClr val="0B6E99"/>
                </a:solidFill>
                <a:latin typeface="Calibri" pitchFamily="34" charset="0"/>
                <a:ea typeface="Calibri" pitchFamily="34" charset="-122"/>
                <a:cs typeface="Calibri" pitchFamily="34" charset="-120"/>
              </a:rPr>
              <a:t>S1 · B</a:t>
            </a:r>
            <a:endParaRPr lang="en-US" sz="1500" dirty="0"/>
          </a:p>
        </p:txBody>
      </p:sp>
      <p:sp>
        <p:nvSpPr>
          <p:cNvPr id="11" name="Text 9"/>
          <p:cNvSpPr/>
          <p:nvPr/>
        </p:nvSpPr>
        <p:spPr>
          <a:xfrm>
            <a:off x="4526280" y="1737360"/>
            <a:ext cx="3447288" cy="274320"/>
          </a:xfrm>
          <a:prstGeom prst="rect">
            <a:avLst/>
          </a:prstGeom>
          <a:noFill/>
          <a:ln/>
        </p:spPr>
        <p:txBody>
          <a:bodyPr wrap="square" rtlCol="0" anchor="ctr"/>
          <a:lstStyle/>
          <a:p>
            <a:pPr marL="0" indent="0">
              <a:buNone/>
            </a:pPr>
            <a:r>
              <a:rPr lang="en-US" sz="950" i="1" dirty="0">
                <a:solidFill>
                  <a:srgbClr val="5B6B7B"/>
                </a:solidFill>
                <a:latin typeface="Calibri" pitchFamily="34" charset="0"/>
                <a:ea typeface="Calibri" pitchFamily="34" charset="-122"/>
                <a:cs typeface="Calibri" pitchFamily="34" charset="-120"/>
              </a:rPr>
              <a:t>max cap · one per cell</a:t>
            </a:r>
            <a:endParaRPr lang="en-US" sz="950" dirty="0"/>
          </a:p>
        </p:txBody>
      </p:sp>
      <p:sp>
        <p:nvSpPr>
          <p:cNvPr id="12" name="Text 10"/>
          <p:cNvSpPr/>
          <p:nvPr/>
        </p:nvSpPr>
        <p:spPr>
          <a:xfrm>
            <a:off x="4526280" y="2103120"/>
            <a:ext cx="3447288" cy="457200"/>
          </a:xfrm>
          <a:prstGeom prst="rect">
            <a:avLst/>
          </a:prstGeom>
          <a:noFill/>
          <a:ln/>
        </p:spPr>
        <p:txBody>
          <a:bodyPr wrap="square" rtlCol="0" anchor="ctr"/>
          <a:lstStyle/>
          <a:p>
            <a:pPr marL="0" indent="0">
              <a:buNone/>
            </a:pPr>
            <a:r>
              <a:rPr lang="en-US" sz="2500" b="1" dirty="0">
                <a:solidFill>
                  <a:srgbClr val="1E7A52"/>
                </a:solidFill>
                <a:latin typeface="Georgia" pitchFamily="34" charset="0"/>
                <a:ea typeface="Georgia" pitchFamily="34" charset="-122"/>
                <a:cs typeface="Georgia" pitchFamily="34" charset="-120"/>
              </a:rPr>
              <a:t>-6.5%</a:t>
            </a:r>
            <a:r>
              <a:rPr lang="en-US" sz="1050" dirty="0">
                <a:solidFill>
                  <a:srgbClr val="5B6B7B"/>
                </a:solidFill>
                <a:latin typeface="Georgia" pitchFamily="34" charset="0"/>
                <a:ea typeface="Georgia" pitchFamily="34" charset="-122"/>
                <a:cs typeface="Georgia" pitchFamily="34" charset="-120"/>
              </a:rPr>
              <a:t>  travel vs today</a:t>
            </a:r>
            <a:endParaRPr lang="en-US" sz="2500" dirty="0"/>
          </a:p>
        </p:txBody>
      </p:sp>
      <p:sp>
        <p:nvSpPr>
          <p:cNvPr id="13" name="Text 11"/>
          <p:cNvSpPr/>
          <p:nvPr/>
        </p:nvSpPr>
        <p:spPr>
          <a:xfrm>
            <a:off x="4526280" y="2679192"/>
            <a:ext cx="3447288" cy="868680"/>
          </a:xfrm>
          <a:prstGeom prst="rect">
            <a:avLst/>
          </a:prstGeom>
          <a:noFill/>
          <a:ln/>
        </p:spPr>
        <p:txBody>
          <a:bodyPr wrap="square" rtlCol="0" anchor="t"/>
          <a:lstStyle/>
          <a:p>
            <a:pPr marL="0" indent="0">
              <a:lnSpc>
                <a:spcPct val="105000"/>
              </a:lnSpc>
              <a:buNone/>
            </a:pPr>
            <a:r>
              <a:rPr lang="en-US" sz="1000" dirty="0">
                <a:solidFill>
                  <a:srgbClr val="12233A"/>
                </a:solidFill>
                <a:latin typeface="Calibri" pitchFamily="34" charset="0"/>
                <a:ea typeface="Calibri" pitchFamily="34" charset="-122"/>
                <a:cs typeface="Calibri" pitchFamily="34" charset="-120"/>
              </a:rPr>
              <a:t>1,613 pharmacies · 1,613 cells</a:t>
            </a:r>
            <a:endParaRPr lang="en-US" sz="1000" dirty="0"/>
          </a:p>
          <a:p>
            <a:pPr marL="0" indent="0">
              <a:lnSpc>
                <a:spcPct val="105000"/>
              </a:lnSpc>
              <a:buNone/>
            </a:pPr>
            <a:r>
              <a:rPr lang="en-US" sz="1000" dirty="0">
                <a:solidFill>
                  <a:srgbClr val="12233A"/>
                </a:solidFill>
                <a:latin typeface="Calibri" pitchFamily="34" charset="0"/>
                <a:ea typeface="Calibri" pitchFamily="34" charset="-122"/>
                <a:cs typeface="Calibri" pitchFamily="34" charset="-120"/>
              </a:rPr>
              <a:t>0.8% stranded · cap 35,000</a:t>
            </a:r>
            <a:endParaRPr lang="en-US" sz="1000" dirty="0"/>
          </a:p>
        </p:txBody>
      </p:sp>
      <p:sp>
        <p:nvSpPr>
          <p:cNvPr id="14" name="Shape 12"/>
          <p:cNvSpPr/>
          <p:nvPr/>
        </p:nvSpPr>
        <p:spPr>
          <a:xfrm>
            <a:off x="8266176" y="1325880"/>
            <a:ext cx="3721608" cy="2286000"/>
          </a:xfrm>
          <a:prstGeom prst="roundRect">
            <a:avLst>
              <a:gd name="adj" fmla="val 2400"/>
            </a:avLst>
          </a:prstGeom>
          <a:solidFill>
            <a:srgbClr val="F2F5F8"/>
          </a:solidFill>
          <a:ln w="12700">
            <a:solidFill>
              <a:srgbClr val="C9D2DB"/>
            </a:solidFill>
            <a:prstDash val="solid"/>
          </a:ln>
        </p:spPr>
      </p:sp>
      <p:sp>
        <p:nvSpPr>
          <p:cNvPr id="15" name="Text 13"/>
          <p:cNvSpPr/>
          <p:nvPr/>
        </p:nvSpPr>
        <p:spPr>
          <a:xfrm>
            <a:off x="8430768" y="1426464"/>
            <a:ext cx="3447288" cy="274320"/>
          </a:xfrm>
          <a:prstGeom prst="rect">
            <a:avLst/>
          </a:prstGeom>
          <a:noFill/>
          <a:ln/>
        </p:spPr>
        <p:txBody>
          <a:bodyPr wrap="square" rtlCol="0" anchor="ctr"/>
          <a:lstStyle/>
          <a:p>
            <a:pPr marL="0" indent="0">
              <a:buNone/>
            </a:pPr>
            <a:r>
              <a:rPr lang="en-US" sz="1500" b="1" dirty="0">
                <a:solidFill>
                  <a:srgbClr val="8A98A6"/>
                </a:solidFill>
                <a:latin typeface="Calibri" pitchFamily="34" charset="0"/>
                <a:ea typeface="Calibri" pitchFamily="34" charset="-122"/>
                <a:cs typeface="Calibri" pitchFamily="34" charset="-120"/>
              </a:rPr>
              <a:t>S1 · C</a:t>
            </a:r>
            <a:endParaRPr lang="en-US" sz="1500" dirty="0"/>
          </a:p>
        </p:txBody>
      </p:sp>
      <p:sp>
        <p:nvSpPr>
          <p:cNvPr id="16" name="Text 14"/>
          <p:cNvSpPr/>
          <p:nvPr/>
        </p:nvSpPr>
        <p:spPr>
          <a:xfrm>
            <a:off x="8430768" y="1737360"/>
            <a:ext cx="3447288" cy="274320"/>
          </a:xfrm>
          <a:prstGeom prst="rect">
            <a:avLst/>
          </a:prstGeom>
          <a:noFill/>
          <a:ln/>
        </p:spPr>
        <p:txBody>
          <a:bodyPr wrap="square" rtlCol="0" anchor="ctr"/>
          <a:lstStyle/>
          <a:p>
            <a:pPr marL="0" indent="0">
              <a:buNone/>
            </a:pPr>
            <a:r>
              <a:rPr lang="en-US" sz="950" i="1" dirty="0">
                <a:solidFill>
                  <a:srgbClr val="5B6B7B"/>
                </a:solidFill>
                <a:latin typeface="Calibri" pitchFamily="34" charset="0"/>
                <a:ea typeface="Calibri" pitchFamily="34" charset="-122"/>
                <a:cs typeface="Calibri" pitchFamily="34" charset="-120"/>
              </a:rPr>
              <a:t>urban fixed · model the rest</a:t>
            </a:r>
            <a:endParaRPr lang="en-US" sz="950" dirty="0"/>
          </a:p>
        </p:txBody>
      </p:sp>
      <p:sp>
        <p:nvSpPr>
          <p:cNvPr id="17" name="Text 15"/>
          <p:cNvSpPr/>
          <p:nvPr/>
        </p:nvSpPr>
        <p:spPr>
          <a:xfrm>
            <a:off x="8430768" y="2194560"/>
            <a:ext cx="3392424" cy="822960"/>
          </a:xfrm>
          <a:prstGeom prst="rect">
            <a:avLst/>
          </a:prstGeom>
          <a:noFill/>
          <a:ln/>
        </p:spPr>
        <p:txBody>
          <a:bodyPr wrap="square" rtlCol="0" anchor="ctr"/>
          <a:lstStyle/>
          <a:p>
            <a:pPr marL="0" indent="0" algn="ctr">
              <a:buNone/>
            </a:pPr>
            <a:r>
              <a:rPr lang="en-US" sz="1200" dirty="0">
                <a:solidFill>
                  <a:srgbClr val="8A98A6"/>
                </a:solidFill>
                <a:latin typeface="Calibri" pitchFamily="34" charset="0"/>
                <a:ea typeface="Calibri" pitchFamily="34" charset="-122"/>
                <a:cs typeface="Calibri" pitchFamily="34" charset="-120"/>
              </a:rPr>
              <a:t>full-scale run</a:t>
            </a:r>
            <a:endParaRPr lang="en-US" sz="1200" dirty="0"/>
          </a:p>
          <a:p>
            <a:pPr marL="0" indent="0" algn="ctr">
              <a:buNone/>
            </a:pPr>
            <a:r>
              <a:rPr lang="en-US" sz="1200" dirty="0">
                <a:solidFill>
                  <a:srgbClr val="8A98A6"/>
                </a:solidFill>
                <a:latin typeface="Calibri" pitchFamily="34" charset="0"/>
                <a:ea typeface="Calibri" pitchFamily="34" charset="-122"/>
                <a:cs typeface="Calibri" pitchFamily="34" charset="-120"/>
              </a:rPr>
              <a:t>pending</a:t>
            </a:r>
            <a:endParaRPr lang="en-US" sz="1200" dirty="0"/>
          </a:p>
        </p:txBody>
      </p:sp>
      <p:sp>
        <p:nvSpPr>
          <p:cNvPr id="18" name="Shape 16"/>
          <p:cNvSpPr/>
          <p:nvPr/>
        </p:nvSpPr>
        <p:spPr>
          <a:xfrm>
            <a:off x="457200" y="3794760"/>
            <a:ext cx="3721608" cy="2286000"/>
          </a:xfrm>
          <a:prstGeom prst="roundRect">
            <a:avLst>
              <a:gd name="adj" fmla="val 2400"/>
            </a:avLst>
          </a:prstGeom>
          <a:solidFill>
            <a:srgbClr val="F2F5F8"/>
          </a:solidFill>
          <a:ln w="12700">
            <a:solidFill>
              <a:srgbClr val="C9D2DB"/>
            </a:solidFill>
            <a:prstDash val="solid"/>
          </a:ln>
        </p:spPr>
      </p:sp>
      <p:sp>
        <p:nvSpPr>
          <p:cNvPr id="19" name="Text 17"/>
          <p:cNvSpPr/>
          <p:nvPr/>
        </p:nvSpPr>
        <p:spPr>
          <a:xfrm>
            <a:off x="621792" y="3895344"/>
            <a:ext cx="3447288" cy="274320"/>
          </a:xfrm>
          <a:prstGeom prst="rect">
            <a:avLst/>
          </a:prstGeom>
          <a:noFill/>
          <a:ln/>
        </p:spPr>
        <p:txBody>
          <a:bodyPr wrap="square" rtlCol="0" anchor="ctr"/>
          <a:lstStyle/>
          <a:p>
            <a:pPr marL="0" indent="0">
              <a:buNone/>
            </a:pPr>
            <a:r>
              <a:rPr lang="en-US" sz="1500" b="1" dirty="0">
                <a:solidFill>
                  <a:srgbClr val="8A98A6"/>
                </a:solidFill>
                <a:latin typeface="Calibri" pitchFamily="34" charset="0"/>
                <a:ea typeface="Calibri" pitchFamily="34" charset="-122"/>
                <a:cs typeface="Calibri" pitchFamily="34" charset="-120"/>
              </a:rPr>
              <a:t>S2 · A</a:t>
            </a:r>
            <a:endParaRPr lang="en-US" sz="1500" dirty="0"/>
          </a:p>
        </p:txBody>
      </p:sp>
      <p:sp>
        <p:nvSpPr>
          <p:cNvPr id="20" name="Text 18"/>
          <p:cNvSpPr/>
          <p:nvPr/>
        </p:nvSpPr>
        <p:spPr>
          <a:xfrm>
            <a:off x="621792" y="4206240"/>
            <a:ext cx="3447288" cy="274320"/>
          </a:xfrm>
          <a:prstGeom prst="rect">
            <a:avLst/>
          </a:prstGeom>
          <a:noFill/>
          <a:ln/>
        </p:spPr>
        <p:txBody>
          <a:bodyPr wrap="square" rtlCol="0" anchor="ctr"/>
          <a:lstStyle/>
          <a:p>
            <a:pPr marL="0" indent="0">
              <a:buNone/>
            </a:pPr>
            <a:r>
              <a:rPr lang="en-US" sz="950" i="1" dirty="0">
                <a:solidFill>
                  <a:srgbClr val="5B6B7B"/>
                </a:solidFill>
                <a:latin typeface="Calibri" pitchFamily="34" charset="0"/>
                <a:ea typeface="Calibri" pitchFamily="34" charset="-122"/>
                <a:cs typeface="Calibri" pitchFamily="34" charset="-120"/>
              </a:rPr>
              <a:t>min + max cap · all facilities</a:t>
            </a:r>
            <a:endParaRPr lang="en-US" sz="950" dirty="0"/>
          </a:p>
        </p:txBody>
      </p:sp>
      <p:sp>
        <p:nvSpPr>
          <p:cNvPr id="21" name="Text 19"/>
          <p:cNvSpPr/>
          <p:nvPr/>
        </p:nvSpPr>
        <p:spPr>
          <a:xfrm>
            <a:off x="621792" y="4663440"/>
            <a:ext cx="3392424" cy="822960"/>
          </a:xfrm>
          <a:prstGeom prst="rect">
            <a:avLst/>
          </a:prstGeom>
          <a:noFill/>
          <a:ln/>
        </p:spPr>
        <p:txBody>
          <a:bodyPr wrap="square" rtlCol="0" anchor="ctr"/>
          <a:lstStyle/>
          <a:p>
            <a:pPr marL="0" indent="0" algn="ctr">
              <a:buNone/>
            </a:pPr>
            <a:r>
              <a:rPr lang="en-US" sz="1200" dirty="0">
                <a:solidFill>
                  <a:srgbClr val="8A98A6"/>
                </a:solidFill>
                <a:latin typeface="Calibri" pitchFamily="34" charset="0"/>
                <a:ea typeface="Calibri" pitchFamily="34" charset="-122"/>
                <a:cs typeface="Calibri" pitchFamily="34" charset="-120"/>
              </a:rPr>
              <a:t>full-scale run</a:t>
            </a:r>
            <a:endParaRPr lang="en-US" sz="1200" dirty="0"/>
          </a:p>
          <a:p>
            <a:pPr marL="0" indent="0" algn="ctr">
              <a:buNone/>
            </a:pPr>
            <a:r>
              <a:rPr lang="en-US" sz="1200" dirty="0">
                <a:solidFill>
                  <a:srgbClr val="8A98A6"/>
                </a:solidFill>
                <a:latin typeface="Calibri" pitchFamily="34" charset="0"/>
                <a:ea typeface="Calibri" pitchFamily="34" charset="-122"/>
                <a:cs typeface="Calibri" pitchFamily="34" charset="-120"/>
              </a:rPr>
              <a:t>pending</a:t>
            </a:r>
            <a:endParaRPr lang="en-US" sz="1200" dirty="0"/>
          </a:p>
        </p:txBody>
      </p:sp>
      <p:sp>
        <p:nvSpPr>
          <p:cNvPr id="22" name="Shape 20"/>
          <p:cNvSpPr/>
          <p:nvPr/>
        </p:nvSpPr>
        <p:spPr>
          <a:xfrm>
            <a:off x="4361688" y="3794760"/>
            <a:ext cx="3721608" cy="2286000"/>
          </a:xfrm>
          <a:prstGeom prst="roundRect">
            <a:avLst>
              <a:gd name="adj" fmla="val 2400"/>
            </a:avLst>
          </a:prstGeom>
          <a:solidFill>
            <a:srgbClr val="F2F5F8"/>
          </a:solidFill>
          <a:ln w="12700">
            <a:solidFill>
              <a:srgbClr val="C9D2DB"/>
            </a:solidFill>
            <a:prstDash val="solid"/>
          </a:ln>
        </p:spPr>
      </p:sp>
      <p:sp>
        <p:nvSpPr>
          <p:cNvPr id="23" name="Text 21"/>
          <p:cNvSpPr/>
          <p:nvPr/>
        </p:nvSpPr>
        <p:spPr>
          <a:xfrm>
            <a:off x="4526280" y="3895344"/>
            <a:ext cx="3447288" cy="274320"/>
          </a:xfrm>
          <a:prstGeom prst="rect">
            <a:avLst/>
          </a:prstGeom>
          <a:noFill/>
          <a:ln/>
        </p:spPr>
        <p:txBody>
          <a:bodyPr wrap="square" rtlCol="0" anchor="ctr"/>
          <a:lstStyle/>
          <a:p>
            <a:pPr marL="0" indent="0">
              <a:buNone/>
            </a:pPr>
            <a:r>
              <a:rPr lang="en-US" sz="1500" b="1" dirty="0">
                <a:solidFill>
                  <a:srgbClr val="8A98A6"/>
                </a:solidFill>
                <a:latin typeface="Calibri" pitchFamily="34" charset="0"/>
                <a:ea typeface="Calibri" pitchFamily="34" charset="-122"/>
                <a:cs typeface="Calibri" pitchFamily="34" charset="-120"/>
              </a:rPr>
              <a:t>S2 · B</a:t>
            </a:r>
            <a:endParaRPr lang="en-US" sz="1500" dirty="0"/>
          </a:p>
        </p:txBody>
      </p:sp>
      <p:sp>
        <p:nvSpPr>
          <p:cNvPr id="24" name="Text 22"/>
          <p:cNvSpPr/>
          <p:nvPr/>
        </p:nvSpPr>
        <p:spPr>
          <a:xfrm>
            <a:off x="4526280" y="4206240"/>
            <a:ext cx="3447288" cy="274320"/>
          </a:xfrm>
          <a:prstGeom prst="rect">
            <a:avLst/>
          </a:prstGeom>
          <a:noFill/>
          <a:ln/>
        </p:spPr>
        <p:txBody>
          <a:bodyPr wrap="square" rtlCol="0" anchor="ctr"/>
          <a:lstStyle/>
          <a:p>
            <a:pPr marL="0" indent="0">
              <a:buNone/>
            </a:pPr>
            <a:r>
              <a:rPr lang="en-US" sz="950" i="1" dirty="0">
                <a:solidFill>
                  <a:srgbClr val="5B6B7B"/>
                </a:solidFill>
                <a:latin typeface="Calibri" pitchFamily="34" charset="0"/>
                <a:ea typeface="Calibri" pitchFamily="34" charset="-122"/>
                <a:cs typeface="Calibri" pitchFamily="34" charset="-120"/>
              </a:rPr>
              <a:t>min + max cap · outside urban</a:t>
            </a:r>
            <a:endParaRPr lang="en-US" sz="950" dirty="0"/>
          </a:p>
        </p:txBody>
      </p:sp>
      <p:sp>
        <p:nvSpPr>
          <p:cNvPr id="25" name="Text 23"/>
          <p:cNvSpPr/>
          <p:nvPr/>
        </p:nvSpPr>
        <p:spPr>
          <a:xfrm>
            <a:off x="4526280" y="4663440"/>
            <a:ext cx="3392424" cy="822960"/>
          </a:xfrm>
          <a:prstGeom prst="rect">
            <a:avLst/>
          </a:prstGeom>
          <a:noFill/>
          <a:ln/>
        </p:spPr>
        <p:txBody>
          <a:bodyPr wrap="square" rtlCol="0" anchor="ctr"/>
          <a:lstStyle/>
          <a:p>
            <a:pPr marL="0" indent="0" algn="ctr">
              <a:buNone/>
            </a:pPr>
            <a:r>
              <a:rPr lang="en-US" sz="1200" dirty="0">
                <a:solidFill>
                  <a:srgbClr val="8A98A6"/>
                </a:solidFill>
                <a:latin typeface="Calibri" pitchFamily="34" charset="0"/>
                <a:ea typeface="Calibri" pitchFamily="34" charset="-122"/>
                <a:cs typeface="Calibri" pitchFamily="34" charset="-120"/>
              </a:rPr>
              <a:t>full-scale run</a:t>
            </a:r>
            <a:endParaRPr lang="en-US" sz="1200" dirty="0"/>
          </a:p>
          <a:p>
            <a:pPr marL="0" indent="0" algn="ctr">
              <a:buNone/>
            </a:pPr>
            <a:r>
              <a:rPr lang="en-US" sz="1200" dirty="0">
                <a:solidFill>
                  <a:srgbClr val="8A98A6"/>
                </a:solidFill>
                <a:latin typeface="Calibri" pitchFamily="34" charset="0"/>
                <a:ea typeface="Calibri" pitchFamily="34" charset="-122"/>
                <a:cs typeface="Calibri" pitchFamily="34" charset="-120"/>
              </a:rPr>
              <a:t>pending</a:t>
            </a:r>
            <a:endParaRPr lang="en-US" sz="1200" dirty="0"/>
          </a:p>
        </p:txBody>
      </p:sp>
      <p:sp>
        <p:nvSpPr>
          <p:cNvPr id="26" name="Text 24"/>
          <p:cNvSpPr/>
          <p:nvPr/>
        </p:nvSpPr>
        <p:spPr>
          <a:xfrm>
            <a:off x="8019288" y="3794760"/>
            <a:ext cx="3703320" cy="2286000"/>
          </a:xfrm>
          <a:prstGeom prst="rect">
            <a:avLst/>
          </a:prstGeom>
          <a:noFill/>
          <a:ln/>
        </p:spPr>
        <p:txBody>
          <a:bodyPr wrap="square" rtlCol="0" anchor="t"/>
          <a:lstStyle/>
          <a:p>
            <a:pPr marL="0" indent="0">
              <a:buNone/>
            </a:pPr>
            <a:r>
              <a:rPr lang="en-US" sz="1100" b="1" dirty="0">
                <a:solidFill>
                  <a:srgbClr val="0B6E99"/>
                </a:solidFill>
                <a:latin typeface="Calibri" pitchFamily="34" charset="0"/>
                <a:ea typeface="Calibri" pitchFamily="34" charset="-122"/>
                <a:cs typeface="Calibri" pitchFamily="34" charset="-120"/>
              </a:rPr>
              <a:t>S1 </a:t>
            </a:r>
            <a:r>
              <a:rPr lang="en-US" sz="1100" dirty="0">
                <a:solidFill>
                  <a:srgbClr val="12233A"/>
                </a:solidFill>
                <a:latin typeface="Calibri" pitchFamily="34" charset="0"/>
                <a:ea typeface="Calibri" pitchFamily="34" charset="-122"/>
                <a:cs typeface="Calibri" pitchFamily="34" charset="-120"/>
              </a:rPr>
              <a:t>keeps today's count, minimises travel under a max catchment cap.  </a:t>
            </a:r>
            <a:r>
              <a:rPr lang="en-US" sz="1100" b="1" dirty="0">
                <a:solidFill>
                  <a:srgbClr val="0B6E99"/>
                </a:solidFill>
                <a:latin typeface="Calibri" pitchFamily="34" charset="0"/>
                <a:ea typeface="Calibri" pitchFamily="34" charset="-122"/>
                <a:cs typeface="Calibri" pitchFamily="34" charset="-120"/>
              </a:rPr>
              <a:t>S2 </a:t>
            </a:r>
            <a:r>
              <a:rPr lang="en-US" sz="1100" dirty="0">
                <a:solidFill>
                  <a:srgbClr val="12233A"/>
                </a:solidFill>
                <a:latin typeface="Calibri" pitchFamily="34" charset="0"/>
                <a:ea typeface="Calibri" pitchFamily="34" charset="-122"/>
                <a:cs typeface="Calibri" pitchFamily="34" charset="-120"/>
              </a:rPr>
              <a:t>minimises the count under a min (viability) + max catchment, holding travel ≈ today.  Cost-function rung (S1-D / S2-C) = the λ-sweep that follows.</a:t>
            </a:r>
            <a:endParaRPr lang="en-US" sz="1100" dirty="0"/>
          </a:p>
        </p:txBody>
      </p:sp>
      <p:sp>
        <p:nvSpPr>
          <p:cNvPr id="27" name="Text 25"/>
          <p:cNvSpPr/>
          <p:nvPr/>
        </p:nvSpPr>
        <p:spPr>
          <a:xfrm>
            <a:off x="411480" y="6144768"/>
            <a:ext cx="11430000" cy="502920"/>
          </a:xfrm>
          <a:prstGeom prst="rect">
            <a:avLst/>
          </a:prstGeom>
          <a:noFill/>
          <a:ln/>
        </p:spPr>
        <p:txBody>
          <a:bodyPr wrap="square" rtlCol="0" anchor="t"/>
          <a:lstStyle/>
          <a:p>
            <a:pPr marL="0" indent="0">
              <a:buNone/>
            </a:pPr>
            <a:r>
              <a:rPr lang="en-US" sz="850" b="1" i="1" dirty="0">
                <a:solidFill>
                  <a:srgbClr val="B23A2E"/>
                </a:solidFill>
                <a:latin typeface="Calibri" pitchFamily="34" charset="0"/>
                <a:ea typeface="Calibri" pitchFamily="34" charset="-122"/>
                <a:cs typeface="Calibri" pitchFamily="34" charset="-120"/>
              </a:rPr>
              <a:t>PRELIMINARY — INDICATIVE ONLY. </a:t>
            </a:r>
            <a:r>
              <a:rPr lang="en-US" sz="850" i="1" dirty="0">
                <a:solidFill>
                  <a:srgbClr val="5B6B7B"/>
                </a:solidFill>
                <a:latin typeface="Calibri" pitchFamily="34" charset="0"/>
                <a:ea typeface="Calibri" pitchFamily="34" charset="-122"/>
                <a:cs typeface="Calibri" pitchFamily="34" charset="-120"/>
              </a:rPr>
              <a:t>Full-scale ladder run incomplete; S1 (fixed-count) figures are sensitive to LP-relaxation rounding and can shift on re-run (robust multistart rounding still to be ported) — read the direction, not the exact %. LINEAR travel cost; max cap = NL observed cell-catchment max (~35k). 'stranded' = demand the cap can't serve within reach, priced at that run's c(t_max) (the λ-sweep now prices stranding at BIG).</a:t>
            </a:r>
            <a:endParaRPr lang="en-US" sz="850" dirty="0"/>
          </a:p>
        </p:txBody>
      </p:sp>
    </p:spTree>
    <p:extLst>
      <p:ext uri="{BB962C8B-B14F-4D97-AF65-F5344CB8AC3E}">
        <p14:creationId xmlns:p14="http://schemas.microsoft.com/office/powerpoint/2010/main" val="2634188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NETHERLANDS</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Netherlands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1,615 cells · 3.48 min mean · </a:t>
            </a:r>
            <a:r>
              <a:rPr lang="en-US" sz="1000" dirty="0">
                <a:solidFill>
                  <a:srgbClr val="5B6B7B"/>
                </a:solidFill>
                <a:latin typeface="Calibri" pitchFamily="34" charset="0"/>
                <a:ea typeface="Calibri" pitchFamily="34" charset="-122"/>
                <a:cs typeface="Calibri" pitchFamily="34" charset="-120"/>
              </a:rPr>
              <a:t>travel (stranded at BIG)  LIN 60.7M · LOG 1.9M</a:t>
            </a:r>
            <a:endParaRPr lang="en-US" sz="1000" dirty="0"/>
          </a:p>
        </p:txBody>
      </p:sp>
      <p:pic>
        <p:nvPicPr>
          <p:cNvPr id="5" name="Image 0" descr="E:\prj\JRC\NetworkModel_EU\doc\charts\Netherlands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Netherlands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0.243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0.342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1174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1613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0.00372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922097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NETHERLANDS</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Netherlands  </a:t>
            </a:r>
            <a:r>
              <a:rPr lang="en-US" sz="2200" dirty="0">
                <a:solidFill>
                  <a:srgbClr val="1C3D5A"/>
                </a:solidFill>
                <a:latin typeface="Georgia" pitchFamily="34" charset="0"/>
                <a:ea typeface="Georgia" pitchFamily="34" charset="-122"/>
                <a:cs typeface="Georgia" pitchFamily="34" charset="-120"/>
              </a:rPr>
              <a:t>— travel time to the nearest open pharmacy: today, S1, S2</a:t>
            </a:r>
            <a:endParaRPr lang="en-US" sz="2200" dirty="0"/>
          </a:p>
        </p:txBody>
      </p:sp>
      <p:sp>
        <p:nvSpPr>
          <p:cNvPr id="4" name="Text 2"/>
          <p:cNvSpPr/>
          <p:nvPr/>
        </p:nvSpPr>
        <p:spPr>
          <a:xfrm>
            <a:off x="411480" y="960120"/>
            <a:ext cx="11338560" cy="457200"/>
          </a:xfrm>
          <a:prstGeom prst="rect">
            <a:avLst/>
          </a:prstGeom>
          <a:noFill/>
          <a:ln/>
        </p:spPr>
        <p:txBody>
          <a:bodyPr wrap="square" rtlCol="0" anchor="t"/>
          <a:lstStyle/>
          <a:p>
            <a:pPr marL="0" indent="0">
              <a:buNone/>
            </a:pPr>
            <a:r>
              <a:rPr lang="en-US" sz="950" b="1" dirty="0">
                <a:solidFill>
                  <a:srgbClr val="1C3D5A"/>
                </a:solidFill>
                <a:latin typeface="Calibri" pitchFamily="34" charset="0"/>
                <a:ea typeface="Calibri" pitchFamily="34" charset="-122"/>
                <a:cs typeface="Calibri" pitchFamily="34" charset="-120"/>
              </a:rPr>
              <a:t>LINEAR cost, pinned scenarios (#52).  </a:t>
            </a:r>
            <a:r>
              <a:rPr lang="en-US" sz="950" dirty="0">
                <a:solidFill>
                  <a:srgbClr val="5B6B7B"/>
                </a:solidFill>
                <a:latin typeface="Calibri" pitchFamily="34" charset="0"/>
                <a:ea typeface="Calibri" pitchFamily="34" charset="-122"/>
                <a:cs typeface="Calibri" pitchFamily="34" charset="-120"/>
              </a:rPr>
              <a:t>Each 1-km client cell coloured by its road travel time to the nearest OPEN pharmacy, in the classes of the model's own classification (0–2 … 30–60, &gt; 60 min). S1 keeps today's count (1,618 open) and moves pharmacies where they cut travel most; S2 keeps today's travel with 1,174 open. A cell with no open pharmacy among its five nearest candidates is stranded (marked) and priced at BIG in the sweep.</a:t>
            </a:r>
            <a:endParaRPr lang="en-US" sz="950" dirty="0"/>
          </a:p>
        </p:txBody>
      </p:sp>
      <p:pic>
        <p:nvPicPr>
          <p:cNvPr id="5" name="Image 0" descr="E:\prj\JRC\NetworkModel_EU\doc\charts\maps_Netherlands_LINEAR.png"/>
          <p:cNvPicPr>
            <a:picLocks noChangeAspect="1"/>
          </p:cNvPicPr>
          <p:nvPr/>
        </p:nvPicPr>
        <p:blipFill>
          <a:blip r:embed="rId3"/>
          <a:stretch>
            <a:fillRect/>
          </a:stretch>
        </p:blipFill>
        <p:spPr>
          <a:xfrm>
            <a:off x="411480" y="1463040"/>
            <a:ext cx="11338560" cy="4572000"/>
          </a:xfrm>
          <a:prstGeom prst="rect">
            <a:avLst/>
          </a:prstGeom>
        </p:spPr>
      </p:pic>
      <p:sp>
        <p:nvSpPr>
          <p:cNvPr id="6" name="Text 3"/>
          <p:cNvSpPr/>
          <p:nvPr/>
        </p:nvSpPr>
        <p:spPr>
          <a:xfrm>
            <a:off x="411480" y="6172200"/>
            <a:ext cx="11338560"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Means are population-weighted, a stranded cell at the 120-min cutoff. From the arrows the sweep writes for the baseline and the pinned S1/S2 (lambda_sweep/LINEAR/{baseline,S1,S2}/traveltime.arrow); doc/nl_maps.jl → doc/nl_maps.py.</a:t>
            </a:r>
            <a:endParaRPr lang="en-US" sz="850" dirty="0"/>
          </a:p>
        </p:txBody>
      </p:sp>
    </p:spTree>
    <p:extLst>
      <p:ext uri="{BB962C8B-B14F-4D97-AF65-F5344CB8AC3E}">
        <p14:creationId xmlns:p14="http://schemas.microsoft.com/office/powerpoint/2010/main" val="3301799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LUXEMBOURG</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Luxembourg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86 cells · 3.79 min mean · </a:t>
            </a:r>
            <a:r>
              <a:rPr lang="en-US" sz="1000" dirty="0">
                <a:solidFill>
                  <a:srgbClr val="5B6B7B"/>
                </a:solidFill>
                <a:latin typeface="Calibri" pitchFamily="34" charset="0"/>
                <a:ea typeface="Calibri" pitchFamily="34" charset="-122"/>
                <a:cs typeface="Calibri" pitchFamily="34" charset="-120"/>
              </a:rPr>
              <a:t>travel (stranded at BIG)  LIN 2.4M · LOG 71k</a:t>
            </a:r>
            <a:endParaRPr lang="en-US" sz="1000" dirty="0"/>
          </a:p>
        </p:txBody>
      </p:sp>
      <p:pic>
        <p:nvPicPr>
          <p:cNvPr id="5" name="Image 0" descr="E:\prj\JRC\NetworkModel_EU\doc\charts\Luxembourg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Luxembourg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0.154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0.251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0.00145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0.00265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202178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ESTONIA</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Estonia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292 cells · 4.51 min mean · </a:t>
            </a:r>
            <a:r>
              <a:rPr lang="en-US" sz="1000" dirty="0">
                <a:solidFill>
                  <a:srgbClr val="5B6B7B"/>
                </a:solidFill>
                <a:latin typeface="Calibri" pitchFamily="34" charset="0"/>
                <a:ea typeface="Calibri" pitchFamily="34" charset="-122"/>
                <a:cs typeface="Calibri" pitchFamily="34" charset="-120"/>
              </a:rPr>
              <a:t>travel (stranded at BIG)  LIN 5.9M · LOG 174k</a:t>
            </a:r>
            <a:endParaRPr lang="en-US" sz="1000" dirty="0"/>
          </a:p>
        </p:txBody>
      </p:sp>
      <p:pic>
        <p:nvPicPr>
          <p:cNvPr id="5" name="Image 0" descr="E:\prj\JRC\NetworkModel_EU\doc\charts\Estonia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Estonia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0.198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198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0.00299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884846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LATVIA</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Latvia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496 cells · 3.96 min mean · </a:t>
            </a:r>
            <a:r>
              <a:rPr lang="en-US" sz="1000" dirty="0">
                <a:solidFill>
                  <a:srgbClr val="5B6B7B"/>
                </a:solidFill>
                <a:latin typeface="Calibri" pitchFamily="34" charset="0"/>
                <a:ea typeface="Calibri" pitchFamily="34" charset="-122"/>
                <a:cs typeface="Calibri" pitchFamily="34" charset="-120"/>
              </a:rPr>
              <a:t>travel (stranded at BIG)  LIN 7.5M · LOG 230k</a:t>
            </a:r>
            <a:endParaRPr lang="en-US" sz="1000" dirty="0"/>
          </a:p>
        </p:txBody>
      </p:sp>
      <p:pic>
        <p:nvPicPr>
          <p:cNvPr id="5" name="Image 0" descr="E:\prj\JRC\NetworkModel_EU\doc\charts\Latvia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Latvia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0.0864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496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352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496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0.00205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315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048319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SLOVENIA</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Slovenia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306 cells · 5.58 min mean · </a:t>
            </a:r>
            <a:r>
              <a:rPr lang="en-US" sz="1000" dirty="0">
                <a:solidFill>
                  <a:srgbClr val="5B6B7B"/>
                </a:solidFill>
                <a:latin typeface="Calibri" pitchFamily="34" charset="0"/>
                <a:ea typeface="Calibri" pitchFamily="34" charset="-122"/>
                <a:cs typeface="Calibri" pitchFamily="34" charset="-120"/>
              </a:rPr>
              <a:t>travel (stranded at BIG)  LIN 11.7M · LOG 284k</a:t>
            </a:r>
            <a:endParaRPr lang="en-US" sz="1000" dirty="0"/>
          </a:p>
        </p:txBody>
      </p:sp>
      <p:pic>
        <p:nvPicPr>
          <p:cNvPr id="5" name="Image 0" descr="E:\prj\JRC\NetworkModel_EU\doc\charts\Slovenia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Slovenia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0.163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306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0.256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0.00194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305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0.00355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594960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LITHUANIA</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Lithuania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582 cells · 4.39 min mean · </a:t>
            </a:r>
            <a:r>
              <a:rPr lang="en-US" sz="1000" dirty="0">
                <a:solidFill>
                  <a:srgbClr val="5B6B7B"/>
                </a:solidFill>
                <a:latin typeface="Calibri" pitchFamily="34" charset="0"/>
                <a:ea typeface="Calibri" pitchFamily="34" charset="-122"/>
                <a:cs typeface="Calibri" pitchFamily="34" charset="-120"/>
              </a:rPr>
              <a:t>travel (stranded at BIG)  LIN 12.3M · LOG 361k</a:t>
            </a:r>
            <a:endParaRPr lang="en-US" sz="1000" dirty="0"/>
          </a:p>
        </p:txBody>
      </p:sp>
      <p:pic>
        <p:nvPicPr>
          <p:cNvPr id="5" name="Image 0" descr="E:\prj\JRC\NetworkModel_EU\doc\charts\Lithuania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Lithuania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581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0.198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0.00127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582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0.00313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401465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IRELAND</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Ireland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862 cells · 4.71 min mean · </a:t>
            </a:r>
            <a:r>
              <a:rPr lang="en-US" sz="1000" dirty="0">
                <a:solidFill>
                  <a:srgbClr val="5B6B7B"/>
                </a:solidFill>
                <a:latin typeface="Calibri" pitchFamily="34" charset="0"/>
                <a:ea typeface="Calibri" pitchFamily="34" charset="-122"/>
                <a:cs typeface="Calibri" pitchFamily="34" charset="-120"/>
              </a:rPr>
              <a:t>travel (stranded at BIG)  LIN 23.6M · LOG 630k</a:t>
            </a:r>
            <a:endParaRPr lang="en-US" sz="1000" dirty="0"/>
          </a:p>
        </p:txBody>
      </p:sp>
      <p:pic>
        <p:nvPicPr>
          <p:cNvPr id="5" name="Image 0" descr="E:\prj\JRC\NetworkModel_EU\doc\charts\Ireland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Ireland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0.00153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0.00270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564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110033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NORWAY</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Norway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755 cells · 7.99 min mean · </a:t>
            </a:r>
            <a:r>
              <a:rPr lang="en-US" sz="1000" dirty="0">
                <a:solidFill>
                  <a:srgbClr val="5B6B7B"/>
                </a:solidFill>
                <a:latin typeface="Calibri" pitchFamily="34" charset="0"/>
                <a:ea typeface="Calibri" pitchFamily="34" charset="-122"/>
                <a:cs typeface="Calibri" pitchFamily="34" charset="-120"/>
              </a:rPr>
              <a:t>travel (stranded at BIG)  LIN 40.8M · LOG 896k</a:t>
            </a:r>
            <a:endParaRPr lang="en-US" sz="1000" dirty="0"/>
          </a:p>
        </p:txBody>
      </p:sp>
      <p:pic>
        <p:nvPicPr>
          <p:cNvPr id="5" name="Image 0" descr="E:\prj\JRC\NetworkModel_EU\doc\charts\Norway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Norway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0.226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757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429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0.00301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754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0.00845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394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842268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DENMARK</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Denmark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466 cells · 6.52 min mean · </a:t>
            </a:r>
            <a:r>
              <a:rPr lang="en-US" sz="1000" dirty="0">
                <a:solidFill>
                  <a:srgbClr val="5B6B7B"/>
                </a:solidFill>
                <a:latin typeface="Calibri" pitchFamily="34" charset="0"/>
                <a:ea typeface="Calibri" pitchFamily="34" charset="-122"/>
                <a:cs typeface="Calibri" pitchFamily="34" charset="-120"/>
              </a:rPr>
              <a:t>travel (stranded at BIG)  LIN 37.5M · LOG 860k</a:t>
            </a:r>
            <a:endParaRPr lang="en-US" sz="1000" dirty="0"/>
          </a:p>
        </p:txBody>
      </p:sp>
      <p:pic>
        <p:nvPicPr>
          <p:cNvPr id="5" name="Image 0" descr="E:\prj\JRC\NetworkModel_EU\doc\charts\Denmark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Denmark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0.356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0.557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334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0.00440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0.00875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377627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AUSTRIA</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Austria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1,129 cells · 4.82 min mean · </a:t>
            </a:r>
            <a:r>
              <a:rPr lang="en-US" sz="1000" dirty="0">
                <a:solidFill>
                  <a:srgbClr val="5B6B7B"/>
                </a:solidFill>
                <a:latin typeface="Calibri" pitchFamily="34" charset="0"/>
                <a:ea typeface="Calibri" pitchFamily="34" charset="-122"/>
                <a:cs typeface="Calibri" pitchFamily="34" charset="-120"/>
              </a:rPr>
              <a:t>travel (stranded at BIG)  LIN 43.1M · LOG 1.2M</a:t>
            </a:r>
            <a:endParaRPr lang="en-US" sz="1000" dirty="0"/>
          </a:p>
        </p:txBody>
      </p:sp>
      <p:pic>
        <p:nvPicPr>
          <p:cNvPr id="5" name="Image 0" descr="E:\prj\JRC\NetworkModel_EU\doc\charts\Austria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Austria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0.183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1127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0.312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0.00204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1126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0.00495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632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921877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PORTUGAL</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Portugal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1,882 cells · 3.47 min mean · </a:t>
            </a:r>
            <a:r>
              <a:rPr lang="en-US" sz="1000" dirty="0">
                <a:solidFill>
                  <a:srgbClr val="5B6B7B"/>
                </a:solidFill>
                <a:latin typeface="Calibri" pitchFamily="34" charset="0"/>
                <a:ea typeface="Calibri" pitchFamily="34" charset="-122"/>
                <a:cs typeface="Calibri" pitchFamily="34" charset="-120"/>
              </a:rPr>
              <a:t>travel (stranded at BIG)  LIN 34.2M · LOG 1.1M</a:t>
            </a:r>
            <a:endParaRPr lang="en-US" sz="1000" dirty="0"/>
          </a:p>
        </p:txBody>
      </p:sp>
      <p:pic>
        <p:nvPicPr>
          <p:cNvPr id="5" name="Image 0" descr="E:\prj\JRC\NetworkModel_EU\doc\charts\Portugal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ortugal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1886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0.172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1885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0.00196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1256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490887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CZECHIA</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Czechia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1,624 cells · 4.23 min mean · </a:t>
            </a:r>
            <a:r>
              <a:rPr lang="en-US" sz="1000" dirty="0">
                <a:solidFill>
                  <a:srgbClr val="5B6B7B"/>
                </a:solidFill>
                <a:latin typeface="Calibri" pitchFamily="34" charset="0"/>
                <a:ea typeface="Calibri" pitchFamily="34" charset="-122"/>
                <a:cs typeface="Calibri" pitchFamily="34" charset="-120"/>
              </a:rPr>
              <a:t>travel (stranded at BIG)  LIN 44.4M · LOG 1.3M</a:t>
            </a:r>
            <a:endParaRPr lang="en-US" sz="1000" dirty="0"/>
          </a:p>
        </p:txBody>
      </p:sp>
      <p:pic>
        <p:nvPicPr>
          <p:cNvPr id="5" name="Image 0" descr="E:\prj\JRC\NetworkModel_EU\doc\charts\Czechia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Czechia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1621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0.00149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1627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1040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211833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BELGIUM</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Belgium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2,958 cells · 1.87 min mean · </a:t>
            </a:r>
            <a:r>
              <a:rPr lang="en-US" sz="1000" dirty="0">
                <a:solidFill>
                  <a:srgbClr val="5B6B7B"/>
                </a:solidFill>
                <a:latin typeface="Calibri" pitchFamily="34" charset="0"/>
                <a:ea typeface="Calibri" pitchFamily="34" charset="-122"/>
                <a:cs typeface="Calibri" pitchFamily="34" charset="-120"/>
              </a:rPr>
              <a:t>travel (stranded at BIG)  LIN 21.5M · LOG 1.1M</a:t>
            </a:r>
            <a:endParaRPr lang="en-US" sz="1000" dirty="0"/>
          </a:p>
        </p:txBody>
      </p:sp>
      <p:pic>
        <p:nvPicPr>
          <p:cNvPr id="5" name="Image 0" descr="E:\prj\JRC\NetworkModel_EU\doc\charts\Belgium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Belgium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0.0566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2953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0.0736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2435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0.000493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0.000662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2422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490783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DIRECT COUNTRY SWEEP</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Poland (country-level sweep)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7,027 cells · 3.59 min mean · </a:t>
            </a:r>
            <a:r>
              <a:rPr lang="en-US" sz="1000" dirty="0">
                <a:solidFill>
                  <a:srgbClr val="5B6B7B"/>
                </a:solidFill>
                <a:latin typeface="Calibri" pitchFamily="34" charset="0"/>
                <a:ea typeface="Calibri" pitchFamily="34" charset="-122"/>
                <a:cs typeface="Calibri" pitchFamily="34" charset="-120"/>
              </a:rPr>
              <a:t>travel (stranded at BIG)  LIN 133M · LOG 4.1M</a:t>
            </a:r>
            <a:endParaRPr lang="en-US" sz="1000" dirty="0"/>
          </a:p>
        </p:txBody>
      </p:sp>
      <p:pic>
        <p:nvPicPr>
          <p:cNvPr id="5" name="Image 0" descr="E:\prj\JRC\NetworkModel_EU\doc\charts\Poland_sweep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oland_sweep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7139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663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0.158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5156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430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7023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1043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0.00186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4842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1211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318975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HUNGARY</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Hungary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1,864 cells · 3.61 min mean · </a:t>
            </a:r>
            <a:r>
              <a:rPr lang="en-US" sz="1000" dirty="0">
                <a:solidFill>
                  <a:srgbClr val="5B6B7B"/>
                </a:solidFill>
                <a:latin typeface="Calibri" pitchFamily="34" charset="0"/>
                <a:ea typeface="Calibri" pitchFamily="34" charset="-122"/>
                <a:cs typeface="Calibri" pitchFamily="34" charset="-120"/>
              </a:rPr>
              <a:t>travel (stranded at BIG)  LIN 34.9M · LOG 1.1M</a:t>
            </a:r>
            <a:endParaRPr lang="en-US" sz="1000" dirty="0"/>
          </a:p>
        </p:txBody>
      </p:sp>
      <p:pic>
        <p:nvPicPr>
          <p:cNvPr id="5" name="Image 0" descr="E:\prj\JRC\NetworkModel_EU\doc\charts\Hungary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Hungary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1862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0.172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1862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0.00206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33681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FINLAND</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Finland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719 cells · 6.40 min mean · </a:t>
            </a:r>
            <a:r>
              <a:rPr lang="en-US" sz="1000" dirty="0">
                <a:solidFill>
                  <a:srgbClr val="5B6B7B"/>
                </a:solidFill>
                <a:latin typeface="Calibri" pitchFamily="34" charset="0"/>
                <a:ea typeface="Calibri" pitchFamily="34" charset="-122"/>
                <a:cs typeface="Calibri" pitchFamily="34" charset="-120"/>
              </a:rPr>
              <a:t>travel (stranded at BIG)  LIN 35.1M · LOG 815k</a:t>
            </a:r>
            <a:endParaRPr lang="en-US" sz="1000" dirty="0"/>
          </a:p>
        </p:txBody>
      </p:sp>
      <p:pic>
        <p:nvPicPr>
          <p:cNvPr id="5" name="Image 0" descr="E:\prj\JRC\NetworkModel_EU\doc\charts\Finland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inland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0.330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541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719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0.00446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534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030982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FR1</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Île-de-France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1,449 cells · 1.03 min mean · </a:t>
            </a:r>
            <a:r>
              <a:rPr lang="en-US" sz="1000" dirty="0">
                <a:solidFill>
                  <a:srgbClr val="5B6B7B"/>
                </a:solidFill>
                <a:latin typeface="Calibri" pitchFamily="34" charset="0"/>
                <a:ea typeface="Calibri" pitchFamily="34" charset="-122"/>
                <a:cs typeface="Calibri" pitchFamily="34" charset="-120"/>
              </a:rPr>
              <a:t>travel (stranded at BIG)  LIN 12.7M · LOG 1.0M</a:t>
            </a:r>
            <a:endParaRPr lang="en-US" sz="1000" dirty="0"/>
          </a:p>
        </p:txBody>
      </p:sp>
      <p:pic>
        <p:nvPicPr>
          <p:cNvPr id="5" name="Image 0" descr="E:\prj\JRC\NetworkModel_EU\doc\charts\FR1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1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1450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0.165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1230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0.00148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1217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934866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FRB</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Centre-Val de Loire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613 cells · 4.36 min mean · </a:t>
            </a:r>
            <a:r>
              <a:rPr lang="en-US" sz="1000" dirty="0">
                <a:solidFill>
                  <a:srgbClr val="5B6B7B"/>
                </a:solidFill>
                <a:latin typeface="Calibri" pitchFamily="34" charset="0"/>
                <a:ea typeface="Calibri" pitchFamily="34" charset="-122"/>
                <a:cs typeface="Calibri" pitchFamily="34" charset="-120"/>
              </a:rPr>
              <a:t>travel (stranded at BIG)  LIN 11.2M · LOG 309k</a:t>
            </a:r>
            <a:endParaRPr lang="en-US" sz="1000" dirty="0"/>
          </a:p>
        </p:txBody>
      </p:sp>
      <p:pic>
        <p:nvPicPr>
          <p:cNvPr id="5" name="Image 0" descr="E:\prj\JRC\NetworkModel_EU\doc\charts\FRB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B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613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4080566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FRC</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Bourgogne-Franche-Comté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723 cells · 4.78 min mean · </a:t>
            </a:r>
            <a:r>
              <a:rPr lang="en-US" sz="1000" dirty="0">
                <a:solidFill>
                  <a:srgbClr val="5B6B7B"/>
                </a:solidFill>
                <a:latin typeface="Calibri" pitchFamily="34" charset="0"/>
                <a:ea typeface="Calibri" pitchFamily="34" charset="-122"/>
                <a:cs typeface="Calibri" pitchFamily="34" charset="-120"/>
              </a:rPr>
              <a:t>travel (stranded at BIG)  LIN 13.4M · LOG 351k</a:t>
            </a:r>
            <a:endParaRPr lang="en-US" sz="1000" dirty="0"/>
          </a:p>
        </p:txBody>
      </p:sp>
      <p:pic>
        <p:nvPicPr>
          <p:cNvPr id="5" name="Image 0" descr="E:\prj\JRC\NetworkModel_EU\doc\charts\FRC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C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0.0979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0.133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97852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FRD</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Normandie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678 cells · 4.31 min mean · </a:t>
            </a:r>
            <a:r>
              <a:rPr lang="en-US" sz="1000" dirty="0">
                <a:solidFill>
                  <a:srgbClr val="5B6B7B"/>
                </a:solidFill>
                <a:latin typeface="Calibri" pitchFamily="34" charset="0"/>
                <a:ea typeface="Calibri" pitchFamily="34" charset="-122"/>
                <a:cs typeface="Calibri" pitchFamily="34" charset="-120"/>
              </a:rPr>
              <a:t>travel (stranded at BIG)  LIN 14.2M · LOG 391k</a:t>
            </a:r>
            <a:endParaRPr lang="en-US" sz="1000" dirty="0"/>
          </a:p>
        </p:txBody>
      </p:sp>
      <p:pic>
        <p:nvPicPr>
          <p:cNvPr id="5" name="Image 0" descr="E:\prj\JRC\NetworkModel_EU\doc\charts\FRD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D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0.151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681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579155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FRE</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Hauts-de-France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1,333 cells · 2.92 min mean · </a:t>
            </a:r>
            <a:r>
              <a:rPr lang="en-US" sz="1000" dirty="0">
                <a:solidFill>
                  <a:srgbClr val="5B6B7B"/>
                </a:solidFill>
                <a:latin typeface="Calibri" pitchFamily="34" charset="0"/>
                <a:ea typeface="Calibri" pitchFamily="34" charset="-122"/>
                <a:cs typeface="Calibri" pitchFamily="34" charset="-120"/>
              </a:rPr>
              <a:t>travel (stranded at BIG)  LIN 17.4M · LOG 619k</a:t>
            </a:r>
            <a:endParaRPr lang="en-US" sz="1000" dirty="0"/>
          </a:p>
        </p:txBody>
      </p:sp>
      <p:pic>
        <p:nvPicPr>
          <p:cNvPr id="5" name="Image 0" descr="E:\prj\JRC\NetworkModel_EU\doc\charts\FRE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E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0.0893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1332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1077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0.000859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332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007421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FRF</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Grand Est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1,167 cells · 3.85 min mean · </a:t>
            </a:r>
            <a:r>
              <a:rPr lang="en-US" sz="1000" dirty="0">
                <a:solidFill>
                  <a:srgbClr val="5B6B7B"/>
                </a:solidFill>
                <a:latin typeface="Calibri" pitchFamily="34" charset="0"/>
                <a:ea typeface="Calibri" pitchFamily="34" charset="-122"/>
                <a:cs typeface="Calibri" pitchFamily="34" charset="-120"/>
              </a:rPr>
              <a:t>travel (stranded at BIG)  LIN 21.4M · LOG 636k</a:t>
            </a:r>
            <a:endParaRPr lang="en-US" sz="1000" dirty="0"/>
          </a:p>
        </p:txBody>
      </p:sp>
      <p:pic>
        <p:nvPicPr>
          <p:cNvPr id="5" name="Image 0" descr="E:\prj\JRC\NetworkModel_EU\doc\charts\FRF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F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864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698083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FRG</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Pays de la Loire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850 cells · 3.98 min mean · </a:t>
            </a:r>
            <a:r>
              <a:rPr lang="en-US" sz="1000" dirty="0">
                <a:solidFill>
                  <a:srgbClr val="5B6B7B"/>
                </a:solidFill>
                <a:latin typeface="Calibri" pitchFamily="34" charset="0"/>
                <a:ea typeface="Calibri" pitchFamily="34" charset="-122"/>
                <a:cs typeface="Calibri" pitchFamily="34" charset="-120"/>
              </a:rPr>
              <a:t>travel (stranded at BIG)  LIN 15.2M · LOG 440k</a:t>
            </a:r>
            <a:endParaRPr lang="en-US" sz="1000" dirty="0"/>
          </a:p>
        </p:txBody>
      </p:sp>
      <p:pic>
        <p:nvPicPr>
          <p:cNvPr id="5" name="Image 0" descr="E:\prj\JRC\NetworkModel_EU\doc\charts\FRG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G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850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851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645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41056513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FRH</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Bretagne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792 cells · 4.30 min mean · </a:t>
            </a:r>
            <a:r>
              <a:rPr lang="en-US" sz="1000" dirty="0">
                <a:solidFill>
                  <a:srgbClr val="5B6B7B"/>
                </a:solidFill>
                <a:latin typeface="Calibri" pitchFamily="34" charset="0"/>
                <a:ea typeface="Calibri" pitchFamily="34" charset="-122"/>
                <a:cs typeface="Calibri" pitchFamily="34" charset="-120"/>
              </a:rPr>
              <a:t>travel (stranded at BIG)  LIN 14.4M · LOG 393k</a:t>
            </a:r>
            <a:endParaRPr lang="en-US" sz="1000" dirty="0"/>
          </a:p>
        </p:txBody>
      </p:sp>
      <p:pic>
        <p:nvPicPr>
          <p:cNvPr id="5" name="Image 0" descr="E:\prj\JRC\NetworkModel_EU\doc\charts\FRH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H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0.0984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795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602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0.00165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6633907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FRI</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Nouvelle-Aquitaine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1,583 cells · 4.44 min mean · </a:t>
            </a:r>
            <a:r>
              <a:rPr lang="en-US" sz="1000" dirty="0">
                <a:solidFill>
                  <a:srgbClr val="5B6B7B"/>
                </a:solidFill>
                <a:latin typeface="Calibri" pitchFamily="34" charset="0"/>
                <a:ea typeface="Calibri" pitchFamily="34" charset="-122"/>
                <a:cs typeface="Calibri" pitchFamily="34" charset="-120"/>
              </a:rPr>
              <a:t>travel (stranded at BIG)  LIN 26.8M · LOG 728k</a:t>
            </a:r>
            <a:endParaRPr lang="en-US" sz="1000" dirty="0"/>
          </a:p>
        </p:txBody>
      </p:sp>
      <p:pic>
        <p:nvPicPr>
          <p:cNvPr id="5" name="Image 0" descr="E:\prj\JRC\NetworkModel_EU\doc\charts\FRI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I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0.0883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1582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271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0.000937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1581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0.00148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320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065188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FRJ</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Occitanie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1,424 cells · 3.90 min mean · </a:t>
            </a:r>
            <a:r>
              <a:rPr lang="en-US" sz="1000" dirty="0">
                <a:solidFill>
                  <a:srgbClr val="5B6B7B"/>
                </a:solidFill>
                <a:latin typeface="Calibri" pitchFamily="34" charset="0"/>
                <a:ea typeface="Calibri" pitchFamily="34" charset="-122"/>
                <a:cs typeface="Calibri" pitchFamily="34" charset="-120"/>
              </a:rPr>
              <a:t>travel (stranded at BIG)  LIN 23.5M · LOG 694k</a:t>
            </a:r>
            <a:endParaRPr lang="en-US" sz="1000" dirty="0"/>
          </a:p>
        </p:txBody>
      </p:sp>
      <p:pic>
        <p:nvPicPr>
          <p:cNvPr id="5" name="Image 0" descr="E:\prj\JRC\NetworkModel_EU\doc\charts\FRJ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J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0.0963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1425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170489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FRK</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Auvergne-Rhône-Alpes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1,685 cells · 3.62 min mean · </a:t>
            </a:r>
            <a:r>
              <a:rPr lang="en-US" sz="1000" dirty="0">
                <a:solidFill>
                  <a:srgbClr val="5B6B7B"/>
                </a:solidFill>
                <a:latin typeface="Calibri" pitchFamily="34" charset="0"/>
                <a:ea typeface="Calibri" pitchFamily="34" charset="-122"/>
                <a:cs typeface="Calibri" pitchFamily="34" charset="-120"/>
              </a:rPr>
              <a:t>travel (stranded at BIG)  LIN 29.4M · LOG 912k</a:t>
            </a:r>
            <a:endParaRPr lang="en-US" sz="1000" dirty="0"/>
          </a:p>
        </p:txBody>
      </p:sp>
      <p:pic>
        <p:nvPicPr>
          <p:cNvPr id="5" name="Image 0" descr="E:\prj\JRC\NetworkModel_EU\doc\charts\FRK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K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1326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1238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963993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FRL</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Provence-Alpes-Côte d'Azur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1,024 cells · 2.61 min mean · </a:t>
            </a:r>
            <a:r>
              <a:rPr lang="en-US" sz="1000" dirty="0">
                <a:solidFill>
                  <a:srgbClr val="5B6B7B"/>
                </a:solidFill>
                <a:latin typeface="Calibri" pitchFamily="34" charset="0"/>
                <a:ea typeface="Calibri" pitchFamily="34" charset="-122"/>
                <a:cs typeface="Calibri" pitchFamily="34" charset="-120"/>
              </a:rPr>
              <a:t>travel (stranded at BIG)  LIN 13.1M · LOG 514k</a:t>
            </a:r>
            <a:endParaRPr lang="en-US" sz="1000" dirty="0"/>
          </a:p>
        </p:txBody>
      </p:sp>
      <p:pic>
        <p:nvPicPr>
          <p:cNvPr id="5" name="Image 0" descr="E:\prj\JRC\NetworkModel_EU\doc\charts\FRL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L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0.0979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784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0.000968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1026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0.00158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736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929158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FRANCE · FRM</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Corse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87 cells · 5.12 min mean · </a:t>
            </a:r>
            <a:r>
              <a:rPr lang="en-US" sz="1000" dirty="0">
                <a:solidFill>
                  <a:srgbClr val="5B6B7B"/>
                </a:solidFill>
                <a:latin typeface="Calibri" pitchFamily="34" charset="0"/>
                <a:ea typeface="Calibri" pitchFamily="34" charset="-122"/>
                <a:cs typeface="Calibri" pitchFamily="34" charset="-120"/>
              </a:rPr>
              <a:t>travel (stranded at BIG)  LIN 1.7M · LOG 45k</a:t>
            </a:r>
            <a:endParaRPr lang="en-US" sz="1000" dirty="0"/>
          </a:p>
        </p:txBody>
      </p:sp>
      <p:pic>
        <p:nvPicPr>
          <p:cNvPr id="5" name="Image 0" descr="E:\prj\JRC\NetworkModel_EU\doc\charts\FRM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FRM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0.165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0.00130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0.00244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707369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ITALY · ITC</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Nord-Ovest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3,875 cells · 1.89 min mean · </a:t>
            </a:r>
            <a:r>
              <a:rPr lang="en-US" sz="1000" dirty="0">
                <a:solidFill>
                  <a:srgbClr val="5B6B7B"/>
                </a:solidFill>
                <a:latin typeface="Calibri" pitchFamily="34" charset="0"/>
                <a:ea typeface="Calibri" pitchFamily="34" charset="-122"/>
                <a:cs typeface="Calibri" pitchFamily="34" charset="-120"/>
              </a:rPr>
              <a:t>travel (stranded at BIG)  LIN 29.8M · LOG 1.5M</a:t>
            </a:r>
            <a:endParaRPr lang="en-US" sz="1000" dirty="0"/>
          </a:p>
        </p:txBody>
      </p:sp>
      <p:pic>
        <p:nvPicPr>
          <p:cNvPr id="5" name="Image 0" descr="E:\prj\JRC\NetworkModel_EU\doc\charts\ITC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ITC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0.0677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3875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2944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0.000624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3880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0.000958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5446591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ITALY · ITF</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Sud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3,187 cells · 2.02 min mean · </a:t>
            </a:r>
            <a:r>
              <a:rPr lang="en-US" sz="1000" dirty="0">
                <a:solidFill>
                  <a:srgbClr val="5B6B7B"/>
                </a:solidFill>
                <a:latin typeface="Calibri" pitchFamily="34" charset="0"/>
                <a:ea typeface="Calibri" pitchFamily="34" charset="-122"/>
                <a:cs typeface="Calibri" pitchFamily="34" charset="-120"/>
              </a:rPr>
              <a:t>travel (stranded at BIG)  LIN 26.8M · LOG 1.3M</a:t>
            </a:r>
            <a:endParaRPr lang="en-US" sz="1000" dirty="0"/>
          </a:p>
        </p:txBody>
      </p:sp>
      <p:pic>
        <p:nvPicPr>
          <p:cNvPr id="5" name="Image 0" descr="E:\prj\JRC\NetworkModel_EU\doc\charts\ITF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ITF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0.0715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3191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2366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0.000692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3192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2373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5836117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ITALY · ITG</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Isole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1,431 cells · 2.01 min mean · </a:t>
            </a:r>
            <a:r>
              <a:rPr lang="en-US" sz="1000" dirty="0">
                <a:solidFill>
                  <a:srgbClr val="5B6B7B"/>
                </a:solidFill>
                <a:latin typeface="Calibri" pitchFamily="34" charset="0"/>
                <a:ea typeface="Calibri" pitchFamily="34" charset="-122"/>
                <a:cs typeface="Calibri" pitchFamily="34" charset="-120"/>
              </a:rPr>
              <a:t>travel (stranded at BIG)  LIN 12.6M · LOG 595k</a:t>
            </a:r>
            <a:endParaRPr lang="en-US" sz="1000" dirty="0"/>
          </a:p>
        </p:txBody>
      </p:sp>
      <p:pic>
        <p:nvPicPr>
          <p:cNvPr id="5" name="Image 0" descr="E:\prj\JRC\NetworkModel_EU\doc\charts\ITG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ITG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0.0814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1432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0.131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1074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0.000771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1434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0.00133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1065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333704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ITALY · ITH</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Nord-Est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2,993 cells · 2.78 min mean · </a:t>
            </a:r>
            <a:r>
              <a:rPr lang="en-US" sz="1000" dirty="0">
                <a:solidFill>
                  <a:srgbClr val="5B6B7B"/>
                </a:solidFill>
                <a:latin typeface="Calibri" pitchFamily="34" charset="0"/>
                <a:ea typeface="Calibri" pitchFamily="34" charset="-122"/>
                <a:cs typeface="Calibri" pitchFamily="34" charset="-120"/>
              </a:rPr>
              <a:t>travel (stranded at BIG)  LIN 32.0M · LOG 1.2M</a:t>
            </a:r>
            <a:endParaRPr lang="en-US" sz="1000" dirty="0"/>
          </a:p>
        </p:txBody>
      </p:sp>
      <p:pic>
        <p:nvPicPr>
          <p:cNvPr id="5" name="Image 0" descr="E:\prj\JRC\NetworkModel_EU\doc\charts\ITH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ITH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0.0751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2989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2281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0.000723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2992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2259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40294804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ITALY · ITI</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Centro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2,709 cells · 2.32 min mean · </a:t>
            </a:r>
            <a:r>
              <a:rPr lang="en-US" sz="1000" dirty="0">
                <a:solidFill>
                  <a:srgbClr val="5B6B7B"/>
                </a:solidFill>
                <a:latin typeface="Calibri" pitchFamily="34" charset="0"/>
                <a:ea typeface="Calibri" pitchFamily="34" charset="-122"/>
                <a:cs typeface="Calibri" pitchFamily="34" charset="-120"/>
              </a:rPr>
              <a:t>travel (stranded at BIG)  LIN 27.1M · LOG 1.1M</a:t>
            </a:r>
            <a:endParaRPr lang="en-US" sz="1000" dirty="0"/>
          </a:p>
        </p:txBody>
      </p:sp>
      <p:pic>
        <p:nvPicPr>
          <p:cNvPr id="5" name="Image 0" descr="E:\prj\JRC\NetworkModel_EU\doc\charts\ITI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ITI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0.0755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2713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2050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0.000723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2708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2049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6161749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SWEDEN · SE1</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Östra Sverige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387 cells · 5.72 min mean · </a:t>
            </a:r>
            <a:r>
              <a:rPr lang="en-US" sz="1000" dirty="0">
                <a:solidFill>
                  <a:srgbClr val="5B6B7B"/>
                </a:solidFill>
                <a:latin typeface="Calibri" pitchFamily="34" charset="0"/>
                <a:ea typeface="Calibri" pitchFamily="34" charset="-122"/>
                <a:cs typeface="Calibri" pitchFamily="34" charset="-120"/>
              </a:rPr>
              <a:t>travel (stranded at BIG)  LIN 23.3M · LOG 572k</a:t>
            </a:r>
            <a:endParaRPr lang="en-US" sz="1000" dirty="0"/>
          </a:p>
        </p:txBody>
      </p:sp>
      <p:pic>
        <p:nvPicPr>
          <p:cNvPr id="5" name="Image 0" descr="E:\prj\JRC\NetworkModel_EU\doc\charts\SE1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SE1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0.539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221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0.00305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0.00755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199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225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1099940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SWEDEN · SE2</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Södra Sverige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452 cells · 7.36 min mean · </a:t>
            </a:r>
            <a:r>
              <a:rPr lang="en-US" sz="1000" dirty="0">
                <a:solidFill>
                  <a:srgbClr val="5B6B7B"/>
                </a:solidFill>
                <a:latin typeface="Calibri" pitchFamily="34" charset="0"/>
                <a:ea typeface="Calibri" pitchFamily="34" charset="-122"/>
                <a:cs typeface="Calibri" pitchFamily="34" charset="-120"/>
              </a:rPr>
              <a:t>travel (stranded at BIG)  LIN 32.4M · LOG 716k</a:t>
            </a:r>
            <a:endParaRPr lang="en-US" sz="1000" dirty="0"/>
          </a:p>
        </p:txBody>
      </p:sp>
      <p:pic>
        <p:nvPicPr>
          <p:cNvPr id="5" name="Image 0" descr="E:\prj\JRC\NetworkModel_EU\doc\charts\SE2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SE2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0.303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451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0.556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0.00386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454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0.00952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259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478214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SWEDEN · SE3</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Norra Sverige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246 cells · 9.48 min mean · </a:t>
            </a:r>
            <a:r>
              <a:rPr lang="en-US" sz="1000" dirty="0">
                <a:solidFill>
                  <a:srgbClr val="5B6B7B"/>
                </a:solidFill>
                <a:latin typeface="Calibri" pitchFamily="34" charset="0"/>
                <a:ea typeface="Calibri" pitchFamily="34" charset="-122"/>
                <a:cs typeface="Calibri" pitchFamily="34" charset="-120"/>
              </a:rPr>
              <a:t>travel (stranded at BIG)  LIN 16.4M · LOG 349k</a:t>
            </a:r>
            <a:endParaRPr lang="en-US" sz="1000" dirty="0"/>
          </a:p>
        </p:txBody>
      </p:sp>
      <p:pic>
        <p:nvPicPr>
          <p:cNvPr id="5" name="Image 0" descr="E:\prj\JRC\NetworkModel_EU\doc\charts\SE3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SE3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0.278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0.527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0.00421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247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0.00918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158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3615644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PL2</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Południowy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1,442 cells · 3.21 min mean · </a:t>
            </a:r>
            <a:r>
              <a:rPr lang="en-US" sz="1000" dirty="0">
                <a:solidFill>
                  <a:srgbClr val="5B6B7B"/>
                </a:solidFill>
                <a:latin typeface="Calibri" pitchFamily="34" charset="0"/>
                <a:ea typeface="Calibri" pitchFamily="34" charset="-122"/>
                <a:cs typeface="Calibri" pitchFamily="34" charset="-120"/>
              </a:rPr>
              <a:t>travel (stranded at BIG)  LIN 24.5M · LOG 811k</a:t>
            </a:r>
            <a:endParaRPr lang="en-US" sz="1000" dirty="0"/>
          </a:p>
        </p:txBody>
      </p:sp>
      <p:pic>
        <p:nvPicPr>
          <p:cNvPr id="5" name="Image 0" descr="E:\prj\JRC\NetworkModel_EU\doc\charts\PL2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L2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0.0947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1443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0.154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0.000937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1441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0.00172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971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15796268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PL4</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Północno-Zachodni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1,200 cells · 3.57 min mean · </a:t>
            </a:r>
            <a:r>
              <a:rPr lang="en-US" sz="1000" dirty="0">
                <a:solidFill>
                  <a:srgbClr val="5B6B7B"/>
                </a:solidFill>
                <a:latin typeface="Calibri" pitchFamily="34" charset="0"/>
                <a:ea typeface="Calibri" pitchFamily="34" charset="-122"/>
                <a:cs typeface="Calibri" pitchFamily="34" charset="-120"/>
              </a:rPr>
              <a:t>travel (stranded at BIG)  LIN 21.5M · LOG 676k</a:t>
            </a:r>
            <a:endParaRPr lang="en-US" sz="1000" dirty="0"/>
          </a:p>
        </p:txBody>
      </p:sp>
      <p:pic>
        <p:nvPicPr>
          <p:cNvPr id="5" name="Image 0" descr="E:\prj\JRC\NetworkModel_EU\doc\charts\PL4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L4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0.0989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0.146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907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1197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0.00176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39919777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PL5</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Południowo-Zachodni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688 cells · 3.41 min mean · </a:t>
            </a:r>
            <a:r>
              <a:rPr lang="en-US" sz="1000" dirty="0">
                <a:solidFill>
                  <a:srgbClr val="5B6B7B"/>
                </a:solidFill>
                <a:latin typeface="Calibri" pitchFamily="34" charset="0"/>
                <a:ea typeface="Calibri" pitchFamily="34" charset="-122"/>
                <a:cs typeface="Calibri" pitchFamily="34" charset="-120"/>
              </a:rPr>
              <a:t>travel (stranded at BIG)  LIN 12.8M · LOG 411k</a:t>
            </a:r>
            <a:endParaRPr lang="en-US" sz="1000" dirty="0"/>
          </a:p>
        </p:txBody>
      </p:sp>
      <p:pic>
        <p:nvPicPr>
          <p:cNvPr id="5" name="Image 0" descr="E:\prj\JRC\NetworkModel_EU\doc\charts\PL5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L5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0.156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509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0.00189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469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5465068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PL6</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Północny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1,023 cells · 3.78 min mean · </a:t>
            </a:r>
            <a:r>
              <a:rPr lang="en-US" sz="1000" dirty="0">
                <a:solidFill>
                  <a:srgbClr val="5B6B7B"/>
                </a:solidFill>
                <a:latin typeface="Calibri" pitchFamily="34" charset="0"/>
                <a:ea typeface="Calibri" pitchFamily="34" charset="-122"/>
                <a:cs typeface="Calibri" pitchFamily="34" charset="-120"/>
              </a:rPr>
              <a:t>travel (stranded at BIG)  LIN 21.1M · LOG 642k</a:t>
            </a:r>
            <a:endParaRPr lang="en-US" sz="1000" dirty="0"/>
          </a:p>
        </p:txBody>
      </p:sp>
      <p:pic>
        <p:nvPicPr>
          <p:cNvPr id="5" name="Image 0" descr="E:\prj\JRC\NetworkModel_EU\doc\charts\PL6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L6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0.113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1025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753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1022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0.00218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703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7789783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PL7</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Centralny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675 cells · 3.84 min mean · </a:t>
            </a:r>
            <a:r>
              <a:rPr lang="en-US" sz="1000" dirty="0">
                <a:solidFill>
                  <a:srgbClr val="5B6B7B"/>
                </a:solidFill>
                <a:latin typeface="Calibri" pitchFamily="34" charset="0"/>
                <a:ea typeface="Calibri" pitchFamily="34" charset="-122"/>
                <a:cs typeface="Calibri" pitchFamily="34" charset="-120"/>
              </a:rPr>
              <a:t>travel (stranded at BIG)  LIN 13.6M · LOG 405k</a:t>
            </a:r>
            <a:endParaRPr lang="en-US" sz="1000" dirty="0"/>
          </a:p>
        </p:txBody>
      </p:sp>
      <p:pic>
        <p:nvPicPr>
          <p:cNvPr id="5" name="Image 0" descr="E:\prj\JRC\NetworkModel_EU\doc\charts\PL7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L7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676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0.151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506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0.00106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676</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143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0.00192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468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9595430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PL8</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Wschodni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1,065 cells · 4.53 min mean · </a:t>
            </a:r>
            <a:r>
              <a:rPr lang="en-US" sz="1000" dirty="0">
                <a:solidFill>
                  <a:srgbClr val="5B6B7B"/>
                </a:solidFill>
                <a:latin typeface="Calibri" pitchFamily="34" charset="0"/>
                <a:ea typeface="Calibri" pitchFamily="34" charset="-122"/>
                <a:cs typeface="Calibri" pitchFamily="34" charset="-120"/>
              </a:rPr>
              <a:t>travel (stranded at BIG)  LIN 22.9M · LOG 619k</a:t>
            </a:r>
            <a:endParaRPr lang="en-US" sz="1000" dirty="0"/>
          </a:p>
        </p:txBody>
      </p:sp>
      <p:pic>
        <p:nvPicPr>
          <p:cNvPr id="5" name="Image 0" descr="E:\prj\JRC\NetworkModel_EU\doc\charts\PL8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L8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1067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0.164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755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1063</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0.00212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697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139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2071364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POLAND · PL9</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Mazowiecki  </a:t>
            </a:r>
            <a:r>
              <a:rPr lang="en-US" sz="2200" dirty="0">
                <a:solidFill>
                  <a:srgbClr val="1C3D5A"/>
                </a:solidFill>
                <a:latin typeface="Georgia" pitchFamily="34" charset="0"/>
                <a:ea typeface="Georgia" pitchFamily="34" charset="-122"/>
                <a:cs typeface="Georgia" pitchFamily="34" charset="-120"/>
              </a:rPr>
              <a:t>— multistart vs the LP-relax frontier</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baseline (current)  </a:t>
            </a:r>
            <a:r>
              <a:rPr lang="en-US" sz="1000" dirty="0">
                <a:solidFill>
                  <a:srgbClr val="12233A"/>
                </a:solidFill>
                <a:latin typeface="Calibri" pitchFamily="34" charset="0"/>
                <a:ea typeface="Calibri" pitchFamily="34" charset="-122"/>
                <a:cs typeface="Calibri" pitchFamily="34" charset="-120"/>
              </a:rPr>
              <a:t>933 cells · 3.20 min mean · </a:t>
            </a:r>
            <a:r>
              <a:rPr lang="en-US" sz="1000" dirty="0">
                <a:solidFill>
                  <a:srgbClr val="5B6B7B"/>
                </a:solidFill>
                <a:latin typeface="Calibri" pitchFamily="34" charset="0"/>
                <a:ea typeface="Calibri" pitchFamily="34" charset="-122"/>
                <a:cs typeface="Calibri" pitchFamily="34" charset="-120"/>
              </a:rPr>
              <a:t>travel (stranded at BIG)  LIN 17.5M · LOG 591k</a:t>
            </a:r>
            <a:endParaRPr lang="en-US" sz="1000" dirty="0"/>
          </a:p>
        </p:txBody>
      </p:sp>
      <p:pic>
        <p:nvPicPr>
          <p:cNvPr id="5" name="Image 0" descr="E:\prj\JRC\NetworkModel_EU\doc\charts\PL9_LINEAR.png"/>
          <p:cNvPicPr>
            <a:picLocks noChangeAspect="1"/>
          </p:cNvPicPr>
          <p:nvPr/>
        </p:nvPicPr>
        <p:blipFill>
          <a:blip r:embed="rId3"/>
          <a:stretch>
            <a:fillRect/>
          </a:stretch>
        </p:blipFill>
        <p:spPr>
          <a:xfrm>
            <a:off x="292608" y="1463040"/>
            <a:ext cx="5349240" cy="3145536"/>
          </a:xfrm>
          <a:prstGeom prst="rect">
            <a:avLst/>
          </a:prstGeom>
        </p:spPr>
      </p:pic>
      <p:pic>
        <p:nvPicPr>
          <p:cNvPr id="6" name="Image 1" descr="E:\prj\JRC\NetworkModel_EU\doc\charts\PL9_LOGISTIC.png"/>
          <p:cNvPicPr>
            <a:picLocks noChangeAspect="1"/>
          </p:cNvPicPr>
          <p:nvPr/>
        </p:nvPicPr>
        <p:blipFill>
          <a:blip r:embed="rId4"/>
          <a:stretch>
            <a:fillRect/>
          </a:stretch>
        </p:blipFill>
        <p:spPr>
          <a:xfrm>
            <a:off x="5870448" y="1463040"/>
            <a:ext cx="5349240" cy="3145536"/>
          </a:xfrm>
          <a:prstGeom prst="rect">
            <a:avLst/>
          </a:prstGeom>
        </p:spPr>
      </p:pic>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2404872">
                  <a:extLst>
                    <a:ext uri="{9D8B030D-6E8A-4147-A177-3AD203B41FA5}">
                      <a16:colId xmlns:a16="http://schemas.microsoft.com/office/drawing/2014/main" val="20006"/>
                    </a:ext>
                  </a:extLst>
                </a:gridCol>
              </a:tblGrid>
              <a:tr h="274320">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scenario</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n_open</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frac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multi vs relax</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stranded (multi)</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0.108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0.170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690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LOGISTIC</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0.00111</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935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114</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233A"/>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0.00200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645</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179</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223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3"/>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Charts: cost lowerbound (LP relaxation, dashed grey — drawn on top) &amp; cost upperbound (multistart integer solution, solid blue) on the left; log₁₀(facility cost weight €) on the right, vs sum_y; ★ baseline, ◆ S1, ■ S2.  Lower ≤ integer optimum ≤ upper; stranded clients priced at BIG (120 min linear / 1.0 logistic) — in the baseline too (coverage-consistent).</a:t>
            </a:r>
            <a:endParaRPr lang="en-US" sz="850" dirty="0"/>
          </a:p>
        </p:txBody>
      </p:sp>
    </p:spTree>
    <p:extLst>
      <p:ext uri="{BB962C8B-B14F-4D97-AF65-F5344CB8AC3E}">
        <p14:creationId xmlns:p14="http://schemas.microsoft.com/office/powerpoint/2010/main" val="9213147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7744"/>
            <a:ext cx="8229600" cy="274320"/>
          </a:xfrm>
          <a:prstGeom prst="rect">
            <a:avLst/>
          </a:prstGeom>
          <a:noFill/>
          <a:ln/>
        </p:spPr>
        <p:txBody>
          <a:bodyPr wrap="square" rtlCol="0" anchor="ctr"/>
          <a:lstStyle/>
          <a:p>
            <a:pPr marL="0" indent="0">
              <a:buNone/>
            </a:pPr>
            <a:r>
              <a:rPr lang="en-US" sz="1200" b="1" kern="0" spc="200" dirty="0">
                <a:solidFill>
                  <a:srgbClr val="0B6E99"/>
                </a:solidFill>
              </a:rPr>
              <a:t>ALL AREAS COMBINED · 43 DISJOINT AREAS</a:t>
            </a:r>
            <a:endParaRPr lang="en-US" sz="1200" dirty="0"/>
          </a:p>
        </p:txBody>
      </p:sp>
      <p:sp>
        <p:nvSpPr>
          <p:cNvPr id="3" name="Text 1"/>
          <p:cNvSpPr/>
          <p:nvPr/>
        </p:nvSpPr>
        <p:spPr>
          <a:xfrm>
            <a:off x="411480" y="475488"/>
            <a:ext cx="1133856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The aggregated frontier  </a:t>
            </a:r>
            <a:r>
              <a:rPr lang="en-US" sz="2200" dirty="0">
                <a:solidFill>
                  <a:srgbClr val="1C3D5A"/>
                </a:solidFill>
                <a:latin typeface="Georgia" pitchFamily="34" charset="0"/>
                <a:ea typeface="Georgia" pitchFamily="34" charset="-122"/>
                <a:cs typeface="Georgia" pitchFamily="34" charset="-120"/>
              </a:rPr>
              <a:t>— facilities and travel cost summed per λ</a:t>
            </a:r>
            <a:endParaRPr lang="en-US" sz="2200" dirty="0"/>
          </a:p>
        </p:txBody>
      </p:sp>
      <p:sp>
        <p:nvSpPr>
          <p:cNvPr id="4" name="Text 2"/>
          <p:cNvSpPr/>
          <p:nvPr/>
        </p:nvSpPr>
        <p:spPr>
          <a:xfrm>
            <a:off x="411480" y="1060704"/>
            <a:ext cx="11338560" cy="274320"/>
          </a:xfrm>
          <a:prstGeom prst="rect">
            <a:avLst/>
          </a:prstGeom>
          <a:noFill/>
          <a:ln/>
        </p:spPr>
        <p:txBody>
          <a:bodyPr wrap="square" rtlCol="0" anchor="ctr"/>
          <a:lstStyle/>
          <a:p>
            <a:pPr marL="0" indent="0">
              <a:buNone/>
            </a:pPr>
            <a:r>
              <a:rPr lang="en-US" sz="1000" b="1" dirty="0">
                <a:solidFill>
                  <a:srgbClr val="1C3D5A"/>
                </a:solidFill>
                <a:latin typeface="Calibri" pitchFamily="34" charset="0"/>
                <a:ea typeface="Calibri" pitchFamily="34" charset="-122"/>
                <a:cs typeface="Calibri" pitchFamily="34" charset="-120"/>
              </a:rPr>
              <a:t>aggregate baseline (current)  </a:t>
            </a:r>
            <a:r>
              <a:rPr lang="en-US" sz="1000" dirty="0">
                <a:solidFill>
                  <a:srgbClr val="12233A"/>
                </a:solidFill>
                <a:latin typeface="Calibri" pitchFamily="34" charset="0"/>
                <a:ea typeface="Calibri" pitchFamily="34" charset="-122"/>
                <a:cs typeface="Calibri" pitchFamily="34" charset="-120"/>
              </a:rPr>
              <a:t>51,350 pharmacy cells · </a:t>
            </a:r>
            <a:r>
              <a:rPr lang="en-US" sz="1000" dirty="0">
                <a:solidFill>
                  <a:srgbClr val="5B6B7B"/>
                </a:solidFill>
                <a:latin typeface="Calibri" pitchFamily="34" charset="0"/>
                <a:ea typeface="Calibri" pitchFamily="34" charset="-122"/>
                <a:cs typeface="Calibri" pitchFamily="34" charset="-120"/>
              </a:rPr>
              <a:t>travel  LIN 965M · LOG 30.4M</a:t>
            </a:r>
            <a:endParaRPr lang="en-US" sz="1000" dirty="0"/>
          </a:p>
        </p:txBody>
      </p:sp>
      <p:pic>
        <p:nvPicPr>
          <p:cNvPr id="5" name="Image 0" descr="E:\prj\JRC\NetworkModel_EU\doc\charts\AGGREGATE_LINEAR.png"/>
          <p:cNvPicPr>
            <a:picLocks noChangeAspect="1"/>
          </p:cNvPicPr>
          <p:nvPr/>
        </p:nvPicPr>
        <p:blipFill>
          <a:blip r:embed="rId3"/>
          <a:stretch>
            <a:fillRect/>
          </a:stretch>
        </p:blipFill>
        <p:spPr>
          <a:xfrm>
            <a:off x="566928" y="1371600"/>
            <a:ext cx="4745736" cy="2788920"/>
          </a:xfrm>
          <a:prstGeom prst="rect">
            <a:avLst/>
          </a:prstGeom>
        </p:spPr>
      </p:pic>
      <p:pic>
        <p:nvPicPr>
          <p:cNvPr id="6" name="Image 1" descr="E:\prj\JRC\NetworkModel_EU\doc\charts\AGGREGATE_LOGISTIC.png"/>
          <p:cNvPicPr>
            <a:picLocks noChangeAspect="1"/>
          </p:cNvPicPr>
          <p:nvPr/>
        </p:nvPicPr>
        <p:blipFill>
          <a:blip r:embed="rId4"/>
          <a:stretch>
            <a:fillRect/>
          </a:stretch>
        </p:blipFill>
        <p:spPr>
          <a:xfrm>
            <a:off x="6309360" y="1371600"/>
            <a:ext cx="4745736" cy="2788920"/>
          </a:xfrm>
          <a:prstGeom prst="rect">
            <a:avLst/>
          </a:prstGeom>
        </p:spPr>
      </p:pic>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11274552"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947672">
                  <a:extLst>
                    <a:ext uri="{9D8B030D-6E8A-4147-A177-3AD203B41FA5}">
                      <a16:colId xmlns:a16="http://schemas.microsoft.com/office/drawing/2014/main" val="20006"/>
                    </a:ext>
                  </a:extLst>
                </a:gridCol>
              </a:tblGrid>
              <a:tr h="214884">
                <a:tc>
                  <a:txBody>
                    <a:bodyPr/>
                    <a:lstStyle/>
                    <a:p>
                      <a:pPr marL="0" indent="0" algn="l">
                        <a:buNone/>
                      </a:pPr>
                      <a:endParaRPr lang="en-US" sz="85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point</a:t>
                      </a:r>
                      <a:endParaRPr lang="en-US" sz="85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w</a:t>
                      </a:r>
                      <a:endParaRPr lang="en-US" sz="85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n_open</a:t>
                      </a:r>
                      <a:endParaRPr lang="en-US" sz="85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Δ facilities</a:t>
                      </a:r>
                      <a:endParaRPr lang="en-US" sz="85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multi vs relax</a:t>
                      </a:r>
                      <a:endParaRPr lang="en-US" sz="85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Δ travel (multi)</a:t>
                      </a:r>
                      <a:endParaRPr lang="en-US" sz="85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14884">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LINEAR</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S1 (same count)</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0.109</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51,640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14884">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S2 (same travel)</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0.182</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35,560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4884">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fewest facilities swept</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0.200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32,995</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14884">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most facilities swept</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0.000100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469,290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+814%</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-93%</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4884">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LOGISTIC</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S1 (same count)</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0.00113</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51,362</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5"/>
                  </a:ext>
                </a:extLst>
              </a:tr>
              <a:tr h="214884">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S2 (same travel)</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0.00219</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32,933</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4884">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fewest facilities swept</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0.00500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19,451</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7"/>
                  </a:ext>
                </a:extLst>
              </a:tr>
              <a:tr h="214884">
                <a:tc>
                  <a:txBody>
                    <a:bodyPr/>
                    <a:lstStyle/>
                    <a:p>
                      <a:pPr marL="0" indent="0" algn="l">
                        <a:buNone/>
                      </a:pP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900" dirty="0">
                          <a:solidFill>
                            <a:srgbClr val="12233A"/>
                          </a:solidFill>
                          <a:latin typeface="Calibri" pitchFamily="34" charset="0"/>
                          <a:ea typeface="Calibri" pitchFamily="34" charset="-122"/>
                          <a:cs typeface="Calibri" pitchFamily="34" charset="-120"/>
                        </a:rPr>
                        <a:t>most facilities swept</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0.000100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204,245</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+298%</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2233A"/>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Text 3"/>
          <p:cNvSpPr/>
          <p:nvPr/>
        </p:nvSpPr>
        <p:spPr>
          <a:xfrm>
            <a:off x="457200" y="6309360"/>
            <a:ext cx="11274552" cy="502920"/>
          </a:xfrm>
          <a:prstGeom prst="rect">
            <a:avLst/>
          </a:prstGeom>
          <a:noFill/>
          <a:ln/>
        </p:spPr>
        <p:txBody>
          <a:bodyPr wrap="square" rtlCol="0" anchor="ctr"/>
          <a:lstStyle/>
          <a:p>
            <a:pPr marL="0" indent="0">
              <a:buNone/>
            </a:pPr>
            <a:r>
              <a:rPr lang="en-US" sz="830" i="1" dirty="0">
                <a:solidFill>
                  <a:srgbClr val="5B6B7B"/>
                </a:solidFill>
                <a:latin typeface="Calibri" pitchFamily="34" charset="0"/>
                <a:ea typeface="Calibri" pitchFamily="34" charset="-122"/>
                <a:cs typeface="Calibri" pitchFamily="34" charset="-120"/>
              </a:rPr>
              <a:t>Exact-by-separability aggregation over 43 disjoint areas (15 countries + FR/IT/SE/PL NUTS-1; country-level Poland excluded in favour of its 7 NUTS-1): at a common λ the sum of the regional optima IS the combined optimum. Summed at the union of swept w-values inside the range every area covers (141 points; an area without that exact λ is log-interpolated between its adjacent sweep points — the λ-table rule). The Δ columns state the aggregate S1/S2 gain in native units and need no λ; λ only prices them (placeholder €100,000 per location).</a:t>
            </a:r>
            <a:endParaRPr lang="en-US" sz="830" dirty="0"/>
          </a:p>
        </p:txBody>
      </p:sp>
    </p:spTree>
    <p:extLst>
      <p:ext uri="{BB962C8B-B14F-4D97-AF65-F5344CB8AC3E}">
        <p14:creationId xmlns:p14="http://schemas.microsoft.com/office/powerpoint/2010/main" val="31106497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56032"/>
            <a:ext cx="8229600" cy="274320"/>
          </a:xfrm>
          <a:prstGeom prst="rect">
            <a:avLst/>
          </a:prstGeom>
          <a:noFill/>
          <a:ln/>
        </p:spPr>
        <p:txBody>
          <a:bodyPr wrap="square" rtlCol="0" anchor="ctr"/>
          <a:lstStyle/>
          <a:p>
            <a:pPr marL="0" indent="0">
              <a:buNone/>
            </a:pPr>
            <a:r>
              <a:rPr lang="en-US" sz="1200" b="1" kern="0" spc="200" dirty="0">
                <a:solidFill>
                  <a:srgbClr val="0B6E99"/>
                </a:solidFill>
              </a:rPr>
              <a:t>SCENARIOS · PER COUNTRY</a:t>
            </a:r>
            <a:endParaRPr lang="en-US" sz="1200" dirty="0"/>
          </a:p>
        </p:txBody>
      </p:sp>
      <p:sp>
        <p:nvSpPr>
          <p:cNvPr id="3" name="Text 1"/>
          <p:cNvSpPr/>
          <p:nvPr/>
        </p:nvSpPr>
        <p:spPr>
          <a:xfrm>
            <a:off x="411480" y="493776"/>
            <a:ext cx="1143000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By how much: S1 and S2  </a:t>
            </a:r>
            <a:r>
              <a:rPr lang="en-US" sz="2200" dirty="0">
                <a:solidFill>
                  <a:srgbClr val="1C3D5A"/>
                </a:solidFill>
                <a:latin typeface="Georgia" pitchFamily="34" charset="0"/>
                <a:ea typeface="Georgia" pitchFamily="34" charset="-122"/>
                <a:cs typeface="Georgia" pitchFamily="34" charset="-120"/>
              </a:rPr>
              <a:t>— per country, by travel-cost function</a:t>
            </a:r>
            <a:endParaRPr lang="en-US" sz="2200" dirty="0"/>
          </a:p>
        </p:txBody>
      </p:sp>
      <p:sp>
        <p:nvSpPr>
          <p:cNvPr id="4" name="Text 2"/>
          <p:cNvSpPr/>
          <p:nvPr/>
        </p:nvSpPr>
        <p:spPr>
          <a:xfrm>
            <a:off x="411480" y="914400"/>
            <a:ext cx="11430000" cy="274320"/>
          </a:xfrm>
          <a:prstGeom prst="rect">
            <a:avLst/>
          </a:prstGeom>
          <a:noFill/>
          <a:ln/>
        </p:spPr>
        <p:txBody>
          <a:bodyPr wrap="square" rtlCol="0" anchor="ctr"/>
          <a:lstStyle/>
          <a:p>
            <a:pPr marL="0" indent="0">
              <a:buNone/>
            </a:pPr>
            <a:r>
              <a:rPr lang="en-US" sz="1000" dirty="0">
                <a:solidFill>
                  <a:srgbClr val="5B6B7B"/>
                </a:solidFill>
                <a:latin typeface="Calibri" pitchFamily="34" charset="0"/>
                <a:ea typeface="Calibri" pitchFamily="34" charset="-122"/>
                <a:cs typeface="Calibri" pitchFamily="34" charset="-120"/>
              </a:rPr>
              <a:t>Gains in native units first — person-minutes and locations, read off the frontier and independent of any λ — then the λ at which the sweep reaches each point.</a:t>
            </a:r>
            <a:endParaRPr lang="en-US" sz="1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624840">
                  <a:extLst>
                    <a:ext uri="{9D8B030D-6E8A-4147-A177-3AD203B41FA5}">
                      <a16:colId xmlns:a16="http://schemas.microsoft.com/office/drawing/2014/main" val="20006"/>
                    </a:ext>
                  </a:extLst>
                </a:gridCol>
                <a:gridCol w="624840">
                  <a:extLst>
                    <a:ext uri="{9D8B030D-6E8A-4147-A177-3AD203B41FA5}">
                      <a16:colId xmlns:a16="http://schemas.microsoft.com/office/drawing/2014/main" val="20007"/>
                    </a:ext>
                  </a:extLst>
                </a:gridCol>
                <a:gridCol w="624840">
                  <a:extLst>
                    <a:ext uri="{9D8B030D-6E8A-4147-A177-3AD203B41FA5}">
                      <a16:colId xmlns:a16="http://schemas.microsoft.com/office/drawing/2014/main" val="20008"/>
                    </a:ext>
                  </a:extLst>
                </a:gridCol>
                <a:gridCol w="624840">
                  <a:extLst>
                    <a:ext uri="{9D8B030D-6E8A-4147-A177-3AD203B41FA5}">
                      <a16:colId xmlns:a16="http://schemas.microsoft.com/office/drawing/2014/main" val="20009"/>
                    </a:ext>
                  </a:extLst>
                </a:gridCol>
                <a:gridCol w="624840">
                  <a:extLst>
                    <a:ext uri="{9D8B030D-6E8A-4147-A177-3AD203B41FA5}">
                      <a16:colId xmlns:a16="http://schemas.microsoft.com/office/drawing/2014/main" val="20010"/>
                    </a:ext>
                  </a:extLst>
                </a:gridCol>
                <a:gridCol w="624840">
                  <a:extLst>
                    <a:ext uri="{9D8B030D-6E8A-4147-A177-3AD203B41FA5}">
                      <a16:colId xmlns:a16="http://schemas.microsoft.com/office/drawing/2014/main" val="20011"/>
                    </a:ext>
                  </a:extLst>
                </a:gridCol>
              </a:tblGrid>
              <a:tr h="228600">
                <a:tc>
                  <a:txBody>
                    <a:bodyPr/>
                    <a:lstStyle/>
                    <a:p>
                      <a:pPr marL="0" indent="0" algn="l">
                        <a:buNone/>
                      </a:pPr>
                      <a:r>
                        <a:rPr lang="en-US" sz="860" b="1" dirty="0">
                          <a:solidFill>
                            <a:srgbClr val="FFFFFF"/>
                          </a:solidFill>
                          <a:latin typeface="Calibri" pitchFamily="34" charset="0"/>
                          <a:ea typeface="Calibri" pitchFamily="34" charset="-122"/>
                          <a:cs typeface="Calibri" pitchFamily="34" charset="-120"/>
                        </a:rPr>
                        <a:t>country</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today #</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S1 · Δ travel (lin)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S2 · Δ # (lin)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S1 · Δ cost · Δ mean t (log)</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S2 · Δ # (log)</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λ S1 lin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cross-λ lin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λ S2 lin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λ S1 log</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cross-λ log</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860" b="1" dirty="0">
                          <a:solidFill>
                            <a:srgbClr val="FFFFFF"/>
                          </a:solidFill>
                          <a:latin typeface="Calibri" pitchFamily="34" charset="0"/>
                          <a:ea typeface="Calibri" pitchFamily="34" charset="-122"/>
                          <a:cs typeface="Calibri" pitchFamily="34" charset="-120"/>
                        </a:rPr>
                        <a:t>λ S2 log</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extLst>
                  <a:ext uri="{0D108BD9-81ED-4DB2-BD59-A6C34878D82A}">
                    <a16:rowId xmlns:a16="http://schemas.microsoft.com/office/drawing/2014/main" val="10000"/>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Netherlands</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1,615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−12.8 M min · −21.1%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−443 · −27.4%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−8.3% · −0.7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−551 · −34.1%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24,319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28,969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34,297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227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286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373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Luxembourg</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−483 k min · −20.1%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−26 · −29.9%</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−8.3% · −0.7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−30 · −35.1%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15,590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18,914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25,576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193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264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2"/>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Estonia</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292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−1.4 M min · −23.1%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−94 · −32.3%</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−14.3% · −1.0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−121 · −41.4%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11,637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14,518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19,806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136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302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Latvia</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496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−1.6 M min · −21.4%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−145 · −29.1%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−11.4% · −0.8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−183 · −36.8%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8,652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11,136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14,258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103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4"/>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Slovenia</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306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−1.7 M min · −14.4%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−82 · −26.8%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−9.2% · −0.8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−99 · −32.4%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16,259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20,881</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25,560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193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262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356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Lithuania</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582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−3.0 M min · −24.4%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−205 · −35.2%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−15.0% · −1.0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−269 · −46.2%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10,770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14,695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19,856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127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313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Ireland</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862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−4.1 M min · −17.2%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−235 · −27.2%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−9.6% · −0.8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−297 · −34.5%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14,248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17,438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21,034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153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270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Norway</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755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−10.6 M min · −26.0%</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−326 · −43.2%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−19.8% · −2.0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−359 · −47.6%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22,633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31,992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49,999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300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493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841</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8"/>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Denmark</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466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−5.9 M min · −15.8%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−133 · −28.6%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−11.8% · −1.0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−166 · −35.7%</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35,580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44,662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55,947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440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618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865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Austria</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1,129</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−8.9 M min · −20.7%</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−373 · −33.1%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−13.4% · −1.0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−496 · −43.9%</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18,294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23,958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31,095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305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494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0"/>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Portugal</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1,882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−7.6 M min · −22.1%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−571 · −30.3%</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−8.4% · −0.7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−624 · −33.1%</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10,355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13,147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17,150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107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195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Czechia</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1,624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−8.9 M min · −20.0%</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−487 · −30.0%</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−9.7% · −0.8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−588 · −36.2%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14,499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18,282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22,819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150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279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2"/>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Belgium</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2,958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−3.4 M min · −15.6%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−520 · −17.6%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−3.0% · −0.3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−553 · −18.7%</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5,652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6,481</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7,353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49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58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67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Hungary</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1,864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−6.8 M min · −19.5%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−481 · −25.8%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−8.5% · −0.7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−585 · −31.4%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11,682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14,204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17,208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118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159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207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4"/>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Finland</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719</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−4.7 M min · −13.5%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−178 · −24.7%</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−8.0% · −0.8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−188 · −26.2%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21,768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26,625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33,003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266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348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452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France</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13,408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−33.5 M min · −15.6%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−2,839 · −21.2%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−6.1% · −0.5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−3,380 · −25.2%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9,991</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11,714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13,844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103</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127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158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6"/>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Italy</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14,195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−31.4 M min · −24.4%</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−3,491 · −24.6%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−5.5% · −0.5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−3,480 · −24.5%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7,280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9,026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11,188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69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88</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110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Sweden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1,085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−16.4 M min · −22.8%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−418 · −38.5%</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−15.6% · −1.5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−469 · −43.2%</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28,776</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39,325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54,229</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361</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545</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870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8"/>
                  </a:ext>
                </a:extLst>
              </a:tr>
              <a:tr h="228600">
                <a:tc>
                  <a:txBody>
                    <a:bodyPr/>
                    <a:lstStyle/>
                    <a:p>
                      <a:pPr marL="0" indent="0" algn="l">
                        <a:buNone/>
                      </a:pPr>
                      <a:r>
                        <a:rPr lang="en-US" sz="860" dirty="0">
                          <a:solidFill>
                            <a:srgbClr val="12233A"/>
                          </a:solidFill>
                          <a:latin typeface="Calibri" pitchFamily="34" charset="0"/>
                          <a:ea typeface="Calibri" pitchFamily="34" charset="-122"/>
                          <a:cs typeface="Calibri" pitchFamily="34" charset="-120"/>
                        </a:rPr>
                        <a:t>Poland</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7,026</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−24.1 M min · −18.0%</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−1,886 · −26.8%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−7.7% · −0.6 min</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60" dirty="0">
                          <a:solidFill>
                            <a:srgbClr val="12233A"/>
                          </a:solidFill>
                          <a:latin typeface="Calibri" pitchFamily="34" charset="0"/>
                          <a:ea typeface="Calibri" pitchFamily="34" charset="-122"/>
                          <a:cs typeface="Calibri" pitchFamily="34" charset="-120"/>
                        </a:rPr>
                        <a:t>−2,235 · −31.8%</a:t>
                      </a:r>
                      <a:endParaRPr lang="en-US" sz="8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10,280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12,810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15,970</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107</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144</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B6B7B"/>
                          </a:solidFill>
                          <a:latin typeface="Calibri" pitchFamily="34" charset="0"/>
                          <a:ea typeface="Calibri" pitchFamily="34" charset="-122"/>
                          <a:cs typeface="Calibri" pitchFamily="34" charset="-120"/>
                        </a:rPr>
                        <a:t>192</a:t>
                      </a:r>
                      <a:endParaRPr lang="en-US" sz="80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bl>
          </a:graphicData>
        </a:graphic>
      </p:graphicFrame>
      <p:sp>
        <p:nvSpPr>
          <p:cNvPr id="6" name="Text 3"/>
          <p:cNvSpPr/>
          <p:nvPr/>
        </p:nvSpPr>
        <p:spPr>
          <a:xfrm>
            <a:off x="640080" y="6144768"/>
            <a:ext cx="10881360" cy="603504"/>
          </a:xfrm>
          <a:prstGeom prst="rect">
            <a:avLst/>
          </a:prstGeom>
          <a:noFill/>
          <a:ln/>
        </p:spPr>
        <p:txBody>
          <a:bodyPr wrap="square" rtlCol="0" anchor="t"/>
          <a:lstStyle/>
          <a:p>
            <a:pPr marL="0" indent="0">
              <a:buNone/>
            </a:pPr>
            <a:r>
              <a:rPr lang="en-US" sz="860" b="1" i="1" dirty="0">
                <a:solidFill>
                  <a:srgbClr val="1C3D5A"/>
                </a:solidFill>
                <a:latin typeface="Calibri" pitchFamily="34" charset="0"/>
                <a:ea typeface="Calibri" pitchFamily="34" charset="-122"/>
                <a:cs typeface="Calibri" pitchFamily="34" charset="-120"/>
              </a:rPr>
              <a:t>S1 = today's number of locations, travel minimised; S2 = today's travel, fewer locations. </a:t>
            </a:r>
            <a:r>
              <a:rPr lang="en-US" sz="860" i="1" dirty="0">
                <a:solidFill>
                  <a:srgbClr val="5B6B7B"/>
                </a:solidFill>
                <a:latin typeface="Calibri" pitchFamily="34" charset="0"/>
                <a:ea typeface="Calibri" pitchFamily="34" charset="-122"/>
                <a:cs typeface="Calibri" pitchFamily="34" charset="-120"/>
              </a:rPr>
              <a:t>Δ columns are read off the multistart frontier by interpolation between adjacent sweep points — person-minutes (linear), dimensionless logistic cost with the mean minutes beside it, and locations — and need no λ. λ = w · €100,000 is the price per location at which the sweep reaches that point; the €100,000 is a placeholder, not an estimate — the frontier, the Δs and the ranking of areas do not depend on it, only these € figures do. cross-λ = the λ at the balanced-improvement crossing of the frontier — where the diagonal from today's point to the S1/S2 corner meets it (ranked on p72–73, mapped on p74–75); it lies between λ S1 and λ S2. “—” = the target lies outside the swept λ range. France, Italy, Sweden and Poland are the sums of their NUTS-1 regions at common λ (exact by separability, as the aggregate slide); Poland's direct country sweep has its own slide and is not in this table.</a:t>
            </a:r>
            <a:endParaRPr lang="en-US" sz="860" dirty="0"/>
          </a:p>
        </p:txBody>
      </p:sp>
    </p:spTree>
    <p:extLst>
      <p:ext uri="{BB962C8B-B14F-4D97-AF65-F5344CB8AC3E}">
        <p14:creationId xmlns:p14="http://schemas.microsoft.com/office/powerpoint/2010/main" val="36288355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56032"/>
            <a:ext cx="8229600" cy="274320"/>
          </a:xfrm>
          <a:prstGeom prst="rect">
            <a:avLst/>
          </a:prstGeom>
          <a:noFill/>
          <a:ln/>
        </p:spPr>
        <p:txBody>
          <a:bodyPr wrap="square" rtlCol="0" anchor="ctr"/>
          <a:lstStyle/>
          <a:p>
            <a:pPr marL="0" indent="0">
              <a:buNone/>
            </a:pPr>
            <a:r>
              <a:rPr lang="en-US" sz="1200" b="1" kern="0" spc="200" dirty="0">
                <a:solidFill>
                  <a:srgbClr val="0B6E99"/>
                </a:solidFill>
              </a:rPr>
              <a:t>SCENARIOS · NUTS-1</a:t>
            </a:r>
            <a:endParaRPr lang="en-US" sz="1200" dirty="0"/>
          </a:p>
        </p:txBody>
      </p:sp>
      <p:sp>
        <p:nvSpPr>
          <p:cNvPr id="3" name="Text 1"/>
          <p:cNvSpPr/>
          <p:nvPr/>
        </p:nvSpPr>
        <p:spPr>
          <a:xfrm>
            <a:off x="411480" y="493776"/>
            <a:ext cx="1143000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By how much: S1 and S2  </a:t>
            </a:r>
            <a:r>
              <a:rPr lang="en-US" sz="2200" dirty="0">
                <a:solidFill>
                  <a:srgbClr val="1C3D5A"/>
                </a:solidFill>
                <a:latin typeface="Georgia" pitchFamily="34" charset="0"/>
                <a:ea typeface="Georgia" pitchFamily="34" charset="-122"/>
                <a:cs typeface="Georgia" pitchFamily="34" charset="-120"/>
              </a:rPr>
              <a:t>— FR / IT / SE / PL NUTS-1 regions</a:t>
            </a:r>
            <a:endParaRPr lang="en-US" sz="2200" dirty="0"/>
          </a:p>
        </p:txBody>
      </p:sp>
      <p:sp>
        <p:nvSpPr>
          <p:cNvPr id="4" name="Text 2"/>
          <p:cNvSpPr/>
          <p:nvPr/>
        </p:nvSpPr>
        <p:spPr>
          <a:xfrm>
            <a:off x="411480" y="914400"/>
            <a:ext cx="11430000" cy="274320"/>
          </a:xfrm>
          <a:prstGeom prst="rect">
            <a:avLst/>
          </a:prstGeom>
          <a:noFill/>
          <a:ln/>
        </p:spPr>
        <p:txBody>
          <a:bodyPr wrap="square" rtlCol="0" anchor="ctr"/>
          <a:lstStyle/>
          <a:p>
            <a:pPr marL="0" indent="0">
              <a:buNone/>
            </a:pPr>
            <a:r>
              <a:rPr lang="en-US" sz="1000" dirty="0">
                <a:solidFill>
                  <a:srgbClr val="5B6B7B"/>
                </a:solidFill>
                <a:latin typeface="Calibri" pitchFamily="34" charset="0"/>
                <a:ea typeface="Calibri" pitchFamily="34" charset="-122"/>
                <a:cs typeface="Calibri" pitchFamily="34" charset="-120"/>
              </a:rPr>
              <a:t>Gains in native units first — person-minutes and locations, read off the frontier and independent of any λ — then the λ at which the sweep reaches each point.</a:t>
            </a:r>
            <a:endParaRPr lang="en-US" sz="1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518160">
                  <a:extLst>
                    <a:ext uri="{9D8B030D-6E8A-4147-A177-3AD203B41FA5}">
                      <a16:colId xmlns:a16="http://schemas.microsoft.com/office/drawing/2014/main" val="20006"/>
                    </a:ext>
                  </a:extLst>
                </a:gridCol>
                <a:gridCol w="518160">
                  <a:extLst>
                    <a:ext uri="{9D8B030D-6E8A-4147-A177-3AD203B41FA5}">
                      <a16:colId xmlns:a16="http://schemas.microsoft.com/office/drawing/2014/main" val="20007"/>
                    </a:ext>
                  </a:extLst>
                </a:gridCol>
                <a:gridCol w="518160">
                  <a:extLst>
                    <a:ext uri="{9D8B030D-6E8A-4147-A177-3AD203B41FA5}">
                      <a16:colId xmlns:a16="http://schemas.microsoft.com/office/drawing/2014/main" val="20008"/>
                    </a:ext>
                  </a:extLst>
                </a:gridCol>
                <a:gridCol w="518160">
                  <a:extLst>
                    <a:ext uri="{9D8B030D-6E8A-4147-A177-3AD203B41FA5}">
                      <a16:colId xmlns:a16="http://schemas.microsoft.com/office/drawing/2014/main" val="20009"/>
                    </a:ext>
                  </a:extLst>
                </a:gridCol>
                <a:gridCol w="518160">
                  <a:extLst>
                    <a:ext uri="{9D8B030D-6E8A-4147-A177-3AD203B41FA5}">
                      <a16:colId xmlns:a16="http://schemas.microsoft.com/office/drawing/2014/main" val="20010"/>
                    </a:ext>
                  </a:extLst>
                </a:gridCol>
                <a:gridCol w="518160">
                  <a:extLst>
                    <a:ext uri="{9D8B030D-6E8A-4147-A177-3AD203B41FA5}">
                      <a16:colId xmlns:a16="http://schemas.microsoft.com/office/drawing/2014/main" val="20011"/>
                    </a:ext>
                  </a:extLst>
                </a:gridCol>
              </a:tblGrid>
              <a:tr h="157655">
                <a:tc>
                  <a:txBody>
                    <a:bodyPr/>
                    <a:lstStyle/>
                    <a:p>
                      <a:pPr marL="0" indent="0" algn="l">
                        <a:buNone/>
                      </a:pPr>
                      <a:r>
                        <a:rPr lang="en-US" sz="760" b="1" dirty="0">
                          <a:solidFill>
                            <a:srgbClr val="FFFFFF"/>
                          </a:solidFill>
                          <a:latin typeface="Calibri" pitchFamily="34" charset="0"/>
                          <a:ea typeface="Calibri" pitchFamily="34" charset="-122"/>
                          <a:cs typeface="Calibri" pitchFamily="34" charset="-120"/>
                        </a:rPr>
                        <a:t>NUTS-1 region</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today #</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S1 · Δ travel (lin)</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S2 · Δ # (lin)</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S1 · Δ cost · Δ mean t (log)</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S2 · Δ # (log)</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λ S1 lin</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cross-λ lin</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λ S2 lin</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λ S1 log</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cross-λ log</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tc>
                  <a:txBody>
                    <a:bodyPr/>
                    <a:lstStyle/>
                    <a:p>
                      <a:pPr marL="0" indent="0" algn="ctr">
                        <a:buNone/>
                      </a:pPr>
                      <a:r>
                        <a:rPr lang="en-US" sz="760" b="1" dirty="0">
                          <a:solidFill>
                            <a:srgbClr val="FFFFFF"/>
                          </a:solidFill>
                          <a:latin typeface="Calibri" pitchFamily="34" charset="0"/>
                          <a:ea typeface="Calibri" pitchFamily="34" charset="-122"/>
                          <a:cs typeface="Calibri" pitchFamily="34" charset="-120"/>
                        </a:rPr>
                        <a:t>λ S2 log</a:t>
                      </a:r>
                      <a:endParaRPr lang="en-US" sz="760" dirty="0">
                        <a:latin typeface="Calibri" charset="0"/>
                        <a:ea typeface="Calibri" charset="0"/>
                        <a:cs typeface="Calibri" charset="0"/>
                      </a:endParaRPr>
                    </a:p>
                  </a:txBody>
                  <a:tcPr marL="50800" marR="25400" marT="25400" marB="254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5B6B7B"/>
                    </a:solidFill>
                  </a:tcPr>
                </a:tc>
                <a:extLst>
                  <a:ext uri="{0D108BD9-81ED-4DB2-BD59-A6C34878D82A}">
                    <a16:rowId xmlns:a16="http://schemas.microsoft.com/office/drawing/2014/main" val="10000"/>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FR1 · Île-de-France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1,449</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−3.1 M min · −24.0%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−218 · −15.1%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−2.9% · −0.2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−238 · −16.4%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11,841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13,940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16,444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FRB · Centre-Val de Loire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613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−1.5 M min · −13.6%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−130 · −21.2%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−6.9%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−159 · −26.0%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10,000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11,649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13,715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2"/>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FRC · Bourgogne-Franche-Comté</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723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−1.8 M min · −13.1%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−154 · −21.4%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−7.5%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−197 · −27.2%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9,764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11,310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13,230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FRD · Normandie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678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−1.9 M min · −13.3%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−144 · −21.3%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−6.5%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−174 · −25.7%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11,163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13,112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15,139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179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4"/>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FRE · Hauts-de-France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1,333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−2.6 M min · −14.9%</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−254 · −19.1%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−5.2% · −0.4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−307 · −23.1%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8,915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10,212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11,678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86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FRF · Grand Est</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1,167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−3.1 M min · −14.6%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−248 · −21.2%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−6.7%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−309 · −26.5%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10,723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12,660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14,813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170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FRG · Pays de la Loire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850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−2.1 M min · −14.1%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−173 · −20.3%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−6.3%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−205 · −24.1%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10,681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12,411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14,197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FRH · Bretagne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792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−2.2 M min · −15.6%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−188 · −23.8%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−7.0%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−210 · −26.5%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9,866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12,079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14,390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8"/>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FRI · Nouvelle-Aquitaine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1,583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−3.8 M min · −14.2%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−364 · −23.0%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−7.0%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−428 · −27.0%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8,824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10,535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12,369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FRJ · Occitanie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1,424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−3.6 M min · −15.2%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−315 · −22.1%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−6.9%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−376 · −26.4%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9,624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11,327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13,552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0"/>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FRK · Auvergne-Rhône-Alpes</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1,685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−4.3 M min · −14.6%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−362 · −21.5%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−6.4%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−440 · −26.1%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10,154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11,777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14,042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FRL · Provence-Alpes-Côte d'Azur</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1,024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−2.8 M min · −21.6%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−240 · −23.5%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−6.8%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−286 · −27.9%</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9,759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11,912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14,151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157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2"/>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FRM · Corse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87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−321 k min · −18.9%</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−26 · −29.6%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−12.0% · −0.9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−30 · −34.8%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10,054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12,685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16,435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182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247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ITC · Nord-Ovest</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3,875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−7.7 M min · −25.7%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−929 · −24.0%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−4.8%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−911 · −23.5%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6,771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8,386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10,207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63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4"/>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ITF · Sud</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3,187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−7.5 M min · −27.8%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−818 · −25.7%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−5.8%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−810 · −25.4%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7,159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9,178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11,618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69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ITG · Isole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1,431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−3.7 M min · −29.3%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−359 · −25.1%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−6.3%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−367 · −25.6%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8,157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10,255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13,131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6"/>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ITH · Nord-Est</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2,993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−6.4 M min · −20.0%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−711 · −23.8%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−5.6%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−742 · −24.8%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7,491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9,042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10,784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89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ITI · Centro</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2,709</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−6.1 M min · −22.6%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−660 · −24.3%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−5.4% · −0.5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−670 · −24.7%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7,561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9,286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11,516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8"/>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SE1 · Östra Sverige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387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−6.3 M min · −27.2%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−166 · −43.0%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−15.6% · −1.5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−189 · −48.8%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27,899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39,083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53,985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306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478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759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SE2 · Södra Sverige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452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−7.1 M min · −22.0%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−174 · −38.4%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−15.6% · −1.5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−192 · −42.5%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30,197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41,546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55,447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390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579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946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0"/>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SE3 · Norra Sverige</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246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−2.9 M min · −17.8%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−78 · −31.8%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−15.4% · −1.6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−87 · −35.4%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27,700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37,624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52,816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426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626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914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PL2 · Południowy</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1,442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−5.1 M min · −20.7%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−419 · −29.1%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−7.2% · −0.7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−463 · −32.1%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9,488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12,297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15,456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171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2"/>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PL4 · Północno-Zachodni</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1,200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−3.5 M min · −16.4%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−294 · −24.5%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−7.4%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−366 · −30.5%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9,888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12,138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14,638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177</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3"/>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PL5 · Południowo-Zachodni</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688</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−2.3 M min · −18.2%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−180 · −26.1%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−7.6%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−218 · −31.7%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10,443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12,999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15,613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189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4"/>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PL6 · Północny</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1,023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−3.8 M min · −18.1%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−268 · −26.2%</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−8.4% · −0.7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−324 · −31.7%</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11,285</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14,084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17,906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220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5"/>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PL7 · Centralny</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675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−2.1 M min · −15.5%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−169 · −25.0%</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−7.2%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−205 · −30.4%</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10,008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12,549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15,091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190</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6"/>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PL8 · Wschodni</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1,065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−4.0 M min · −17.6%</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−310 · −29.1%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−9.1% · −0.8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−364 · −34.1%</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10,239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13,053</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16,432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154</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211</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27"/>
                  </a:ext>
                </a:extLst>
              </a:tr>
              <a:tr h="157655">
                <a:tc>
                  <a:txBody>
                    <a:bodyPr/>
                    <a:lstStyle/>
                    <a:p>
                      <a:pPr marL="0" indent="0" algn="l">
                        <a:buNone/>
                      </a:pPr>
                      <a:r>
                        <a:rPr lang="en-US" sz="760" dirty="0">
                          <a:solidFill>
                            <a:srgbClr val="12233A"/>
                          </a:solidFill>
                          <a:latin typeface="Calibri" pitchFamily="34" charset="0"/>
                          <a:ea typeface="Calibri" pitchFamily="34" charset="-122"/>
                          <a:cs typeface="Calibri" pitchFamily="34" charset="-120"/>
                        </a:rPr>
                        <a:t>PL9 · Mazowiecki</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933</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−3.2 M min · −18.5%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−241 · −25.9%</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−7.2% · −0.6 min</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60" dirty="0">
                          <a:solidFill>
                            <a:srgbClr val="12233A"/>
                          </a:solidFill>
                          <a:latin typeface="Calibri" pitchFamily="34" charset="0"/>
                          <a:ea typeface="Calibri" pitchFamily="34" charset="-122"/>
                          <a:cs typeface="Calibri" pitchFamily="34" charset="-120"/>
                        </a:rPr>
                        <a:t>−284 · −30.5%</a:t>
                      </a:r>
                      <a:endParaRPr lang="en-US" sz="76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10,858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13,476</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16,929</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112</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148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700" dirty="0">
                          <a:solidFill>
                            <a:srgbClr val="5B6B7B"/>
                          </a:solidFill>
                          <a:latin typeface="Calibri" pitchFamily="34" charset="0"/>
                          <a:ea typeface="Calibri" pitchFamily="34" charset="-122"/>
                          <a:cs typeface="Calibri" pitchFamily="34" charset="-120"/>
                        </a:rPr>
                        <a:t>198</a:t>
                      </a:r>
                      <a:endParaRPr lang="en-US" sz="700" dirty="0">
                        <a:latin typeface="Calibri" charset="0"/>
                        <a:ea typeface="Calibri" charset="0"/>
                        <a:cs typeface="Calibri" charset="0"/>
                      </a:endParaRPr>
                    </a:p>
                  </a:txBody>
                  <a:tcPr marL="38100" marR="254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28"/>
                  </a:ext>
                </a:extLst>
              </a:tr>
            </a:tbl>
          </a:graphicData>
        </a:graphic>
      </p:graphicFrame>
      <p:sp>
        <p:nvSpPr>
          <p:cNvPr id="6" name="Text 3"/>
          <p:cNvSpPr/>
          <p:nvPr/>
        </p:nvSpPr>
        <p:spPr>
          <a:xfrm>
            <a:off x="640080" y="6144768"/>
            <a:ext cx="10881360" cy="603504"/>
          </a:xfrm>
          <a:prstGeom prst="rect">
            <a:avLst/>
          </a:prstGeom>
          <a:noFill/>
          <a:ln/>
        </p:spPr>
        <p:txBody>
          <a:bodyPr wrap="square" rtlCol="0" anchor="t"/>
          <a:lstStyle/>
          <a:p>
            <a:pPr marL="0" indent="0">
              <a:buNone/>
            </a:pPr>
            <a:r>
              <a:rPr lang="en-US" sz="860" b="1" i="1" dirty="0">
                <a:solidFill>
                  <a:srgbClr val="1C3D5A"/>
                </a:solidFill>
                <a:latin typeface="Calibri" pitchFamily="34" charset="0"/>
                <a:ea typeface="Calibri" pitchFamily="34" charset="-122"/>
                <a:cs typeface="Calibri" pitchFamily="34" charset="-120"/>
              </a:rPr>
              <a:t>S1 = today's number of locations, travel minimised; S2 = today's travel, fewer locations. </a:t>
            </a:r>
            <a:r>
              <a:rPr lang="en-US" sz="860" i="1" dirty="0">
                <a:solidFill>
                  <a:srgbClr val="5B6B7B"/>
                </a:solidFill>
                <a:latin typeface="Calibri" pitchFamily="34" charset="0"/>
                <a:ea typeface="Calibri" pitchFamily="34" charset="-122"/>
                <a:cs typeface="Calibri" pitchFamily="34" charset="-120"/>
              </a:rPr>
              <a:t>Δ columns are read off the multistart frontier by interpolation between adjacent sweep points — person-minutes (linear), dimensionless logistic cost with the mean minutes beside it, and locations — and need no λ. λ = w · €100,000 is the price per location at which the sweep reaches that point; the €100,000 is a placeholder, not an estimate — the frontier, the Δs and the ranking of areas do not depend on it, only these € figures do. cross-λ = the λ at the balanced-improvement crossing of the frontier — where the diagonal from today's point to the S1/S2 corner meets it (ranked on p72–73, mapped on p74–75); it lies between λ S1 and λ S2. “—” = the target lies outside the swept λ range. France, Italy, Sweden and Poland are the sums of their NUTS-1 regions at common λ (exact by separability, as the aggregate slide); Poland's direct country sweep has its own slide and is not in this table.</a:t>
            </a:r>
            <a:endParaRPr lang="en-US" sz="860" dirty="0"/>
          </a:p>
        </p:txBody>
      </p:sp>
    </p:spTree>
    <p:extLst>
      <p:ext uri="{BB962C8B-B14F-4D97-AF65-F5344CB8AC3E}">
        <p14:creationId xmlns:p14="http://schemas.microsoft.com/office/powerpoint/2010/main" val="18021349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marL="0" indent="0">
              <a:buNone/>
            </a:pPr>
            <a:r>
              <a:rPr lang="en-US" sz="1200" b="1" kern="0" spc="200" dirty="0">
                <a:solidFill>
                  <a:srgbClr val="E8A33D"/>
                </a:solidFill>
              </a:rPr>
              <a:t>LINEAR vs LOGISTIC</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2400" dirty="0">
                <a:solidFill>
                  <a:srgbClr val="FFFFFF"/>
                </a:solidFill>
                <a:latin typeface="Georgia" pitchFamily="34" charset="0"/>
                <a:ea typeface="Georgia" pitchFamily="34" charset="-122"/>
                <a:cs typeface="Georgia" pitchFamily="34" charset="-120"/>
              </a:rPr>
              <a:t>multistart tracks the LP-relax lower bound — the gap is tightest under LOGISTIC</a:t>
            </a:r>
            <a:endParaRPr lang="en-US" sz="2400" dirty="0"/>
          </a:p>
        </p:txBody>
      </p:sp>
      <p:sp>
        <p:nvSpPr>
          <p:cNvPr id="4" name="Shape 2"/>
          <p:cNvSpPr/>
          <p:nvPr/>
        </p:nvSpPr>
        <p:spPr>
          <a:xfrm>
            <a:off x="457200" y="1371600"/>
            <a:ext cx="5486400" cy="1234440"/>
          </a:xfrm>
          <a:prstGeom prst="roundRect">
            <a:avLst>
              <a:gd name="adj" fmla="val 4444"/>
            </a:avLst>
          </a:prstGeom>
          <a:solidFill>
            <a:srgbClr val="1B3350"/>
          </a:solidFill>
          <a:ln w="12700">
            <a:solidFill>
              <a:srgbClr val="E8A33D"/>
            </a:solidFill>
            <a:prstDash val="solid"/>
          </a:ln>
        </p:spPr>
      </p:sp>
      <p:sp>
        <p:nvSpPr>
          <p:cNvPr id="5" name="Text 3"/>
          <p:cNvSpPr/>
          <p:nvPr/>
        </p:nvSpPr>
        <p:spPr>
          <a:xfrm>
            <a:off x="685800" y="1481328"/>
            <a:ext cx="5029200" cy="274320"/>
          </a:xfrm>
          <a:prstGeom prst="rect">
            <a:avLst/>
          </a:prstGeom>
          <a:noFill/>
          <a:ln/>
        </p:spPr>
        <p:txBody>
          <a:bodyPr wrap="square"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LINEAR  c(t) — unbounded, stranding expensive</a:t>
            </a:r>
            <a:endParaRPr lang="en-US" sz="1300" dirty="0"/>
          </a:p>
        </p:txBody>
      </p:sp>
      <p:sp>
        <p:nvSpPr>
          <p:cNvPr id="6" name="Text 4"/>
          <p:cNvSpPr/>
          <p:nvPr/>
        </p:nvSpPr>
        <p:spPr>
          <a:xfrm>
            <a:off x="685800" y="1755648"/>
            <a:ext cx="5029200" cy="457200"/>
          </a:xfrm>
          <a:prstGeom prst="rect">
            <a:avLst/>
          </a:prstGeom>
          <a:noFill/>
          <a:ln/>
        </p:spPr>
        <p:txBody>
          <a:bodyPr wrap="square"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multistart sits +0–18% over the LP bound</a:t>
            </a:r>
            <a:endParaRPr lang="en-US" sz="1900" dirty="0"/>
          </a:p>
        </p:txBody>
      </p:sp>
      <p:sp>
        <p:nvSpPr>
          <p:cNvPr id="7" name="Text 5"/>
          <p:cNvSpPr/>
          <p:nvPr/>
        </p:nvSpPr>
        <p:spPr>
          <a:xfrm>
            <a:off x="685800" y="2194560"/>
            <a:ext cx="5074920" cy="365760"/>
          </a:xfrm>
          <a:prstGeom prst="rect">
            <a:avLst/>
          </a:prstGeom>
          <a:noFill/>
          <a:ln/>
        </p:spPr>
        <p:txBody>
          <a:bodyPr wrap="square" rtlCol="0" anchor="ctr"/>
          <a:lstStyle/>
          <a:p>
            <a:pPr marL="0" indent="0">
              <a:buNone/>
            </a:pPr>
            <a:r>
              <a:rPr lang="en-US" sz="1050" dirty="0">
                <a:solidFill>
                  <a:srgbClr val="C7D2DD"/>
                </a:solidFill>
                <a:latin typeface="Calibri" pitchFamily="34" charset="0"/>
                <a:ea typeface="Calibri" pitchFamily="34" charset="-122"/>
                <a:cs typeface="Calibri" pitchFamily="34" charset="-120"/>
              </a:rPr>
              <a:t>integer rounding costs more where stranding is dear</a:t>
            </a:r>
            <a:endParaRPr lang="en-US" sz="1050" dirty="0"/>
          </a:p>
        </p:txBody>
      </p:sp>
      <p:sp>
        <p:nvSpPr>
          <p:cNvPr id="8" name="Shape 6"/>
          <p:cNvSpPr/>
          <p:nvPr/>
        </p:nvSpPr>
        <p:spPr>
          <a:xfrm>
            <a:off x="6245352" y="1371600"/>
            <a:ext cx="5486400" cy="1234440"/>
          </a:xfrm>
          <a:prstGeom prst="roundRect">
            <a:avLst>
              <a:gd name="adj" fmla="val 4444"/>
            </a:avLst>
          </a:prstGeom>
          <a:solidFill>
            <a:srgbClr val="1B3350"/>
          </a:solidFill>
          <a:ln w="12700">
            <a:solidFill>
              <a:srgbClr val="0B6E99"/>
            </a:solidFill>
            <a:prstDash val="solid"/>
          </a:ln>
        </p:spPr>
      </p:sp>
      <p:sp>
        <p:nvSpPr>
          <p:cNvPr id="9" name="Text 7"/>
          <p:cNvSpPr/>
          <p:nvPr/>
        </p:nvSpPr>
        <p:spPr>
          <a:xfrm>
            <a:off x="6473952" y="1481328"/>
            <a:ext cx="5029200" cy="274320"/>
          </a:xfrm>
          <a:prstGeom prst="rect">
            <a:avLst/>
          </a:prstGeom>
          <a:noFill/>
          <a:ln/>
        </p:spPr>
        <p:txBody>
          <a:bodyPr wrap="square" rtlCol="0" anchor="ctr"/>
          <a:lstStyle/>
          <a:p>
            <a:pPr marL="0" indent="0">
              <a:buNone/>
            </a:pPr>
            <a:r>
              <a:rPr lang="en-US" sz="1300" b="1" dirty="0">
                <a:solidFill>
                  <a:srgbClr val="0B6E99"/>
                </a:solidFill>
                <a:latin typeface="Calibri" pitchFamily="34" charset="0"/>
                <a:ea typeface="Calibri" pitchFamily="34" charset="-122"/>
                <a:cs typeface="Calibri" pitchFamily="34" charset="-120"/>
              </a:rPr>
              <a:t>LOGISTIC  c(t) — saturates ≈1, stranding cheap</a:t>
            </a:r>
            <a:endParaRPr lang="en-US" sz="1300" dirty="0"/>
          </a:p>
        </p:txBody>
      </p:sp>
      <p:sp>
        <p:nvSpPr>
          <p:cNvPr id="10" name="Text 8"/>
          <p:cNvSpPr/>
          <p:nvPr/>
        </p:nvSpPr>
        <p:spPr>
          <a:xfrm>
            <a:off x="6473952" y="1755648"/>
            <a:ext cx="5029200" cy="457200"/>
          </a:xfrm>
          <a:prstGeom prst="rect">
            <a:avLst/>
          </a:prstGeom>
          <a:noFill/>
          <a:ln/>
        </p:spPr>
        <p:txBody>
          <a:bodyPr wrap="square"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multistart sits +0–4.7% over the LP bound</a:t>
            </a:r>
            <a:endParaRPr lang="en-US" sz="1900" dirty="0"/>
          </a:p>
        </p:txBody>
      </p:sp>
      <p:sp>
        <p:nvSpPr>
          <p:cNvPr id="11" name="Text 9"/>
          <p:cNvSpPr/>
          <p:nvPr/>
        </p:nvSpPr>
        <p:spPr>
          <a:xfrm>
            <a:off x="6473952" y="2194560"/>
            <a:ext cx="5074920" cy="365760"/>
          </a:xfrm>
          <a:prstGeom prst="rect">
            <a:avLst/>
          </a:prstGeom>
          <a:noFill/>
          <a:ln/>
        </p:spPr>
        <p:txBody>
          <a:bodyPr wrap="square" rtlCol="0" anchor="ctr"/>
          <a:lstStyle/>
          <a:p>
            <a:pPr marL="0" indent="0">
              <a:buNone/>
            </a:pPr>
            <a:r>
              <a:rPr lang="en-US" sz="1050" dirty="0">
                <a:solidFill>
                  <a:srgbClr val="C7D2DD"/>
                </a:solidFill>
                <a:latin typeface="Calibri" pitchFamily="34" charset="0"/>
                <a:ea typeface="Calibri" pitchFamily="34" charset="-122"/>
                <a:cs typeface="Calibri" pitchFamily="34" charset="-120"/>
              </a:rPr>
              <a:t>rounding is nearly free; the frontier is almost integral</a:t>
            </a:r>
            <a:endParaRPr lang="en-US" sz="105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5513832" cy="914400"/>
        </p:xfrm>
        <a:graphic>
          <a:graphicData uri="http://schemas.openxmlformats.org/drawingml/2006/table">
            <a:tbl>
              <a:tblPr/>
              <a:tblGrid>
                <a:gridCol w="868680">
                  <a:extLst>
                    <a:ext uri="{9D8B030D-6E8A-4147-A177-3AD203B41FA5}">
                      <a16:colId xmlns:a16="http://schemas.microsoft.com/office/drawing/2014/main" val="20000"/>
                    </a:ext>
                  </a:extLst>
                </a:gridCol>
                <a:gridCol w="1161288">
                  <a:extLst>
                    <a:ext uri="{9D8B030D-6E8A-4147-A177-3AD203B41FA5}">
                      <a16:colId xmlns:a16="http://schemas.microsoft.com/office/drawing/2014/main" val="20001"/>
                    </a:ext>
                  </a:extLst>
                </a:gridCol>
                <a:gridCol w="1161288">
                  <a:extLst>
                    <a:ext uri="{9D8B030D-6E8A-4147-A177-3AD203B41FA5}">
                      <a16:colId xmlns:a16="http://schemas.microsoft.com/office/drawing/2014/main" val="20002"/>
                    </a:ext>
                  </a:extLst>
                </a:gridCol>
                <a:gridCol w="1161288">
                  <a:extLst>
                    <a:ext uri="{9D8B030D-6E8A-4147-A177-3AD203B41FA5}">
                      <a16:colId xmlns:a16="http://schemas.microsoft.com/office/drawing/2014/main" val="20003"/>
                    </a:ext>
                  </a:extLst>
                </a:gridCol>
                <a:gridCol w="1161288">
                  <a:extLst>
                    <a:ext uri="{9D8B030D-6E8A-4147-A177-3AD203B41FA5}">
                      <a16:colId xmlns:a16="http://schemas.microsoft.com/office/drawing/2014/main" val="20004"/>
                    </a:ext>
                  </a:extLst>
                </a:gridCol>
              </a:tblGrid>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reg</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LIN S1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LIN S2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LOG S1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LOG S2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Netherlands</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(7)</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1"/>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Luxembourg</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2"/>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Estonia</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3"/>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Latvia</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4"/>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Slovenia</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5"/>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Lithuania</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6"/>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Ireland</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7"/>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Norway</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(54)</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8"/>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Denmark</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9"/>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Austria</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0"/>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Portugal</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1"/>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Czechia</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2"/>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Belgium</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3"/>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Poland_sweep</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4"/>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Hungary</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5"/>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Finland</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(16)</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(14)</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(15)</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6"/>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7"/>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FRB</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8"/>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FRC</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9"/>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FRD</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20"/>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FRE</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21"/>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FRF</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22"/>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FRG</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23"/>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FRH</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24"/>
                  </a:ext>
                </a:extLst>
              </a:tr>
            </a:tbl>
          </a:graphicData>
        </a:graphic>
      </p:graphicFrame>
      <p:graphicFrame>
        <p:nvGraphicFramePr>
          <p:cNvPr id="123" name="Table 1"/>
          <p:cNvGraphicFramePr>
            <a:graphicFrameLocks noGrp="1"/>
          </p:cNvGraphicFramePr>
          <p:nvPr>
            <p:extLst>
              <p:ext uri="{D42A27DB-BD31-4B8C-83A1-F6EECF244321}">
                <p14:modId xmlns:p14="http://schemas.microsoft.com/office/powerpoint/2010/main" val="1579011935"/>
              </p:ext>
            </p:extLst>
          </p:nvPr>
        </p:nvGraphicFramePr>
        <p:xfrm>
          <a:off x="6217920" y="3200400"/>
          <a:ext cx="5513832" cy="914400"/>
        </p:xfrm>
        <a:graphic>
          <a:graphicData uri="http://schemas.openxmlformats.org/drawingml/2006/table">
            <a:tbl>
              <a:tblPr/>
              <a:tblGrid>
                <a:gridCol w="868680">
                  <a:extLst>
                    <a:ext uri="{9D8B030D-6E8A-4147-A177-3AD203B41FA5}">
                      <a16:colId xmlns:a16="http://schemas.microsoft.com/office/drawing/2014/main" val="20000"/>
                    </a:ext>
                  </a:extLst>
                </a:gridCol>
                <a:gridCol w="1161288">
                  <a:extLst>
                    <a:ext uri="{9D8B030D-6E8A-4147-A177-3AD203B41FA5}">
                      <a16:colId xmlns:a16="http://schemas.microsoft.com/office/drawing/2014/main" val="20001"/>
                    </a:ext>
                  </a:extLst>
                </a:gridCol>
                <a:gridCol w="1161288">
                  <a:extLst>
                    <a:ext uri="{9D8B030D-6E8A-4147-A177-3AD203B41FA5}">
                      <a16:colId xmlns:a16="http://schemas.microsoft.com/office/drawing/2014/main" val="20002"/>
                    </a:ext>
                  </a:extLst>
                </a:gridCol>
                <a:gridCol w="1161288">
                  <a:extLst>
                    <a:ext uri="{9D8B030D-6E8A-4147-A177-3AD203B41FA5}">
                      <a16:colId xmlns:a16="http://schemas.microsoft.com/office/drawing/2014/main" val="20003"/>
                    </a:ext>
                  </a:extLst>
                </a:gridCol>
                <a:gridCol w="1161288">
                  <a:extLst>
                    <a:ext uri="{9D8B030D-6E8A-4147-A177-3AD203B41FA5}">
                      <a16:colId xmlns:a16="http://schemas.microsoft.com/office/drawing/2014/main" val="20004"/>
                    </a:ext>
                  </a:extLst>
                </a:gridCol>
              </a:tblGrid>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reg</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LIN S1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LIN S2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LOG S1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LOG S2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FRI</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1"/>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FRJ</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2"/>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FRK</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3"/>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FRL</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4"/>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FRM</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5"/>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ITC</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6"/>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ITF</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7"/>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ITG</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(4)</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08"/>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ITH</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09"/>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ITI</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(4)</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0"/>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SE1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(80)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(44)</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(225)</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1"/>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SE2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(110)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(104)</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(117)</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2"/>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SE3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(17)</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(48)</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(43)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(148)</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3"/>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PL2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4"/>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PL4</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5"/>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PL5</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6"/>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PL6</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7"/>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PL7</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18"/>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PL8</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19"/>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PL9</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20"/>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France</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(7)</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(3)</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21"/>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Italy</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22"/>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Sweden</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(68)</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(238)</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(191)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(490)</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2233A"/>
                    </a:solidFill>
                  </a:tcPr>
                </a:tc>
                <a:extLst>
                  <a:ext uri="{0D108BD9-81ED-4DB2-BD59-A6C34878D82A}">
                    <a16:rowId xmlns:a16="http://schemas.microsoft.com/office/drawing/2014/main" val="10023"/>
                  </a:ext>
                </a:extLst>
              </a:tr>
              <a:tr h="24688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Poland</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(1)</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tc>
                  <a:txBody>
                    <a:bodyPr/>
                    <a:lstStyle/>
                    <a:p>
                      <a:pPr marL="0" indent="0" algn="ctr">
                        <a:buNone/>
                      </a:pPr>
                      <a:r>
                        <a:rPr lang="en-US" sz="900" dirty="0">
                          <a:solidFill>
                            <a:srgbClr val="DDE6EF"/>
                          </a:solidFill>
                          <a:latin typeface="Calibri" pitchFamily="34" charset="0"/>
                          <a:ea typeface="Calibri" pitchFamily="34" charset="-122"/>
                          <a:cs typeface="Calibri" pitchFamily="34" charset="-120"/>
                        </a:rPr>
                        <a:t>+0% (2)</a:t>
                      </a:r>
                      <a:endParaRPr lang="en-US" sz="900" dirty="0">
                        <a:latin typeface="Calibri" charset="0"/>
                        <a:ea typeface="Calibri" charset="0"/>
                        <a:cs typeface="Calibri" charset="0"/>
                      </a:endParaRPr>
                    </a:p>
                  </a:txBody>
                  <a:tcPr marL="38100" marR="25400" marT="12700" marB="12700" anchor="ctr">
                    <a:lnL w="6350" cap="flat" cmpd="sng" algn="ctr">
                      <a:solidFill>
                        <a:srgbClr val="2A4565"/>
                      </a:solidFill>
                      <a:prstDash val="solid"/>
                      <a:round/>
                      <a:headEnd type="none" w="med" len="med"/>
                      <a:tailEnd type="none" w="med" len="med"/>
                    </a:lnL>
                    <a:lnR w="6350" cap="flat" cmpd="sng" algn="ctr">
                      <a:solidFill>
                        <a:srgbClr val="2A4565"/>
                      </a:solidFill>
                      <a:prstDash val="solid"/>
                      <a:round/>
                      <a:headEnd type="none" w="med" len="med"/>
                      <a:tailEnd type="none" w="med" len="med"/>
                    </a:lnR>
                    <a:lnT w="6350" cap="flat" cmpd="sng" algn="ctr">
                      <a:solidFill>
                        <a:srgbClr val="2A4565"/>
                      </a:solidFill>
                      <a:prstDash val="solid"/>
                      <a:round/>
                      <a:headEnd type="none" w="med" len="med"/>
                      <a:tailEnd type="none" w="med" len="med"/>
                    </a:lnT>
                    <a:lnB w="6350" cap="flat" cmpd="sng" algn="ctr">
                      <a:solidFill>
                        <a:srgbClr val="2A4565"/>
                      </a:solidFill>
                      <a:prstDash val="solid"/>
                      <a:round/>
                      <a:headEnd type="none" w="med" len="med"/>
                      <a:tailEnd type="none" w="med" len="med"/>
                    </a:lnB>
                    <a:solidFill>
                      <a:srgbClr val="163052"/>
                    </a:solidFill>
                  </a:tcPr>
                </a:tc>
                <a:extLst>
                  <a:ext uri="{0D108BD9-81ED-4DB2-BD59-A6C34878D82A}">
                    <a16:rowId xmlns:a16="http://schemas.microsoft.com/office/drawing/2014/main" val="10024"/>
                  </a:ext>
                </a:extLst>
              </a:tr>
            </a:tbl>
          </a:graphicData>
        </a:graphic>
      </p:graphicFrame>
      <p:sp>
        <p:nvSpPr>
          <p:cNvPr id="14" name="Text 10"/>
          <p:cNvSpPr/>
          <p:nvPr/>
        </p:nvSpPr>
        <p:spPr>
          <a:xfrm>
            <a:off x="457200" y="6510528"/>
            <a:ext cx="11274552" cy="274320"/>
          </a:xfrm>
          <a:prstGeom prst="rect">
            <a:avLst/>
          </a:prstGeom>
          <a:noFill/>
          <a:ln/>
        </p:spPr>
        <p:txBody>
          <a:bodyPr wrap="square" rtlCol="0" anchor="ctr"/>
          <a:lstStyle/>
          <a:p>
            <a:pPr marL="0" indent="0">
              <a:buNone/>
            </a:pPr>
            <a:r>
              <a:rPr lang="en-US" sz="850" i="1" dirty="0">
                <a:solidFill>
                  <a:srgbClr val="9FB0C2"/>
                </a:solidFill>
                <a:latin typeface="Calibri" pitchFamily="34" charset="0"/>
                <a:ea typeface="Calibri" pitchFamily="34" charset="-122"/>
                <a:cs typeface="Calibri" pitchFamily="34" charset="-120"/>
              </a:rPr>
              <a:t>cell = multistart travel above the LP-relax bound  (multistart clients stranded by rounding, priced at BIG).  Sparse Swedish regions keep the largest bound-gaps.</a:t>
            </a:r>
            <a:endParaRPr lang="en-US" sz="850" dirty="0"/>
          </a:p>
        </p:txBody>
      </p:sp>
    </p:spTree>
    <p:extLst>
      <p:ext uri="{BB962C8B-B14F-4D97-AF65-F5344CB8AC3E}">
        <p14:creationId xmlns:p14="http://schemas.microsoft.com/office/powerpoint/2010/main" val="21428154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56032"/>
            <a:ext cx="8229600" cy="274320"/>
          </a:xfrm>
          <a:prstGeom prst="rect">
            <a:avLst/>
          </a:prstGeom>
          <a:noFill/>
          <a:ln/>
        </p:spPr>
        <p:txBody>
          <a:bodyPr wrap="square" rtlCol="0" anchor="ctr"/>
          <a:lstStyle/>
          <a:p>
            <a:pPr marL="0" indent="0">
              <a:buNone/>
            </a:pPr>
            <a:r>
              <a:rPr lang="en-US" sz="1200" b="1" kern="0" spc="200" dirty="0">
                <a:solidFill>
                  <a:srgbClr val="0B6E99"/>
                </a:solidFill>
              </a:rPr>
              <a:t>ROADMAP</a:t>
            </a:r>
            <a:endParaRPr lang="en-US" sz="1200" dirty="0"/>
          </a:p>
        </p:txBody>
      </p:sp>
      <p:sp>
        <p:nvSpPr>
          <p:cNvPr id="3" name="Text 1"/>
          <p:cNvSpPr/>
          <p:nvPr/>
        </p:nvSpPr>
        <p:spPr>
          <a:xfrm>
            <a:off x="411480" y="493776"/>
            <a:ext cx="11430000" cy="384048"/>
          </a:xfrm>
          <a:prstGeom prst="rect">
            <a:avLst/>
          </a:prstGeom>
          <a:noFill/>
          <a:ln/>
        </p:spPr>
        <p:txBody>
          <a:bodyPr wrap="square" rtlCol="0" anchor="ctr"/>
          <a:lstStyle/>
          <a:p>
            <a:pPr marL="0" indent="0">
              <a:buNone/>
            </a:pPr>
            <a:r>
              <a:rPr lang="en-US" sz="2100" b="1" dirty="0">
                <a:solidFill>
                  <a:srgbClr val="12233A"/>
                </a:solidFill>
                <a:latin typeface="Georgia" pitchFamily="34" charset="0"/>
                <a:ea typeface="Georgia" pitchFamily="34" charset="-122"/>
                <a:cs typeface="Georgia" pitchFamily="34" charset="-120"/>
              </a:rPr>
              <a:t>Status against Lewis's &amp; Bernhard's framing  </a:t>
            </a:r>
            <a:r>
              <a:rPr lang="en-US" sz="2100" dirty="0">
                <a:solidFill>
                  <a:srgbClr val="1C3D5A"/>
                </a:solidFill>
                <a:latin typeface="Georgia" pitchFamily="34" charset="0"/>
                <a:ea typeface="Georgia" pitchFamily="34" charset="-122"/>
                <a:cs typeface="Georgia" pitchFamily="34" charset="-120"/>
              </a:rPr>
              <a:t>— implemented · remaining · not pursued</a:t>
            </a:r>
            <a:endParaRPr lang="en-US" sz="2100" dirty="0"/>
          </a:p>
        </p:txBody>
      </p:sp>
      <p:sp>
        <p:nvSpPr>
          <p:cNvPr id="4" name="Text 2"/>
          <p:cNvSpPr/>
          <p:nvPr/>
        </p:nvSpPr>
        <p:spPr>
          <a:xfrm>
            <a:off x="411480" y="877824"/>
            <a:ext cx="11430000" cy="402336"/>
          </a:xfrm>
          <a:prstGeom prst="rect">
            <a:avLst/>
          </a:prstGeom>
          <a:noFill/>
          <a:ln/>
        </p:spPr>
        <p:txBody>
          <a:bodyPr wrap="square" rtlCol="0" anchor="t"/>
          <a:lstStyle/>
          <a:p>
            <a:pPr marL="0" indent="0">
              <a:buNone/>
            </a:pPr>
            <a:r>
              <a:rPr lang="en-US" sz="860" b="1" dirty="0">
                <a:solidFill>
                  <a:srgbClr val="12233A"/>
                </a:solidFill>
                <a:latin typeface="Calibri" pitchFamily="34" charset="0"/>
                <a:ea typeface="Calibri" pitchFamily="34" charset="-122"/>
                <a:cs typeface="Calibri" pitchFamily="34" charset="-120"/>
              </a:rPr>
              <a:t>The λ-sweep is the working general method. </a:t>
            </a:r>
            <a:r>
              <a:rPr lang="en-US" sz="860" dirty="0">
                <a:solidFill>
                  <a:srgbClr val="5B6B7B"/>
                </a:solidFill>
                <a:latin typeface="Calibri" pitchFamily="34" charset="0"/>
                <a:ea typeface="Calibri" pitchFamily="34" charset="-122"/>
                <a:cs typeface="Calibri" pitchFamily="34" charset="-120"/>
              </a:rPr>
              <a:t>Landbody-complete networks and NUTS region exclusion make these figures NOT comparable with earlier decks. The REGIO review (Moreno Monroy, Brons, Nöbauer) is worked in where it asked for answers and listed below where it asked for work. Status confirmed 4 Sep 2026, in priority order; items marked ▸ came from the seminar decks of Lewis and Rosa (16 Sep 2026) as proposals, not results.</a:t>
            </a:r>
            <a:endParaRPr lang="en-US" sz="860" dirty="0"/>
          </a:p>
        </p:txBody>
      </p:sp>
      <p:sp>
        <p:nvSpPr>
          <p:cNvPr id="5" name="Shape 3"/>
          <p:cNvSpPr/>
          <p:nvPr/>
        </p:nvSpPr>
        <p:spPr>
          <a:xfrm>
            <a:off x="365760" y="1298448"/>
            <a:ext cx="5669280" cy="4297680"/>
          </a:xfrm>
          <a:prstGeom prst="roundRect">
            <a:avLst>
              <a:gd name="adj" fmla="val 1064"/>
            </a:avLst>
          </a:prstGeom>
          <a:solidFill>
            <a:srgbClr val="F0F6F2"/>
          </a:solidFill>
          <a:ln w="12700">
            <a:solidFill>
              <a:srgbClr val="1E7A52"/>
            </a:solidFill>
            <a:prstDash val="solid"/>
          </a:ln>
        </p:spPr>
      </p:sp>
      <p:sp>
        <p:nvSpPr>
          <p:cNvPr id="6" name="Text 4"/>
          <p:cNvSpPr/>
          <p:nvPr/>
        </p:nvSpPr>
        <p:spPr>
          <a:xfrm>
            <a:off x="530352" y="1371600"/>
            <a:ext cx="5340096" cy="274320"/>
          </a:xfrm>
          <a:prstGeom prst="rect">
            <a:avLst/>
          </a:prstGeom>
          <a:noFill/>
          <a:ln/>
        </p:spPr>
        <p:txBody>
          <a:bodyPr wrap="square" rtlCol="0" anchor="ctr"/>
          <a:lstStyle/>
          <a:p>
            <a:pPr marL="0" indent="0">
              <a:buNone/>
            </a:pPr>
            <a:r>
              <a:rPr lang="en-US" sz="1300" b="1" dirty="0">
                <a:solidFill>
                  <a:srgbClr val="1E7A52"/>
                </a:solidFill>
                <a:latin typeface="Calibri" pitchFamily="34" charset="0"/>
                <a:ea typeface="Calibri" pitchFamily="34" charset="-122"/>
                <a:cs typeface="Calibri" pitchFamily="34" charset="-120"/>
              </a:rPr>
              <a:t>Implemented ✓</a:t>
            </a:r>
            <a:endParaRPr lang="en-US" sz="1300" dirty="0"/>
          </a:p>
        </p:txBody>
      </p:sp>
      <p:sp>
        <p:nvSpPr>
          <p:cNvPr id="7" name="Text 5"/>
          <p:cNvSpPr/>
          <p:nvPr/>
        </p:nvSpPr>
        <p:spPr>
          <a:xfrm>
            <a:off x="548640" y="1700784"/>
            <a:ext cx="5303520" cy="3840480"/>
          </a:xfrm>
          <a:prstGeom prst="rect">
            <a:avLst/>
          </a:prstGeom>
          <a:noFill/>
          <a:ln/>
        </p:spPr>
        <p:txBody>
          <a:bodyPr wrap="square" rtlCol="0" anchor="t"/>
          <a:lstStyle/>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NETWORK per landbody + REGION EXCLUSION (&gt;50% of inhabitant locations unreachable → NUTS region dropped, population AND candidates): ITG mean travel 22.3 → 4.9 min; Azores/Madeira out, Portugal baseline travel −62%. A DATA gap no longer ranks as headroom (p8)</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OECD-checked pharmacy lists (7 Sep): Italy 20,635 geolocated (was ESPON 12,991; ITF 1,951 → 4,955), Hungary new (3,094), Finland back in (797; the June reader issue is gone on GeoDMS 20.19) — 44 areas swept, Italy's five rebuilt from the network up</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S1/S2 pinned by bisection (#52): within max(1, 0.2%) of today's count / 0.2% of today's travel in 87 of 88 sweeps (country-level Poland LINEAR, the largest LP, keeps its 1.6%-off grid point); the snap that put S1 up to 32% off and S1 = S2 in 5 areas is gone, and the sweep no longer burns hours on time-outs beyond S2</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Tabula-rasa LP allocation + λ-sweep → Pareto curve of #locations vs travel (Option D), p-median notation; S1 (same #, ↓travel) · S2 (same travel, ↓#) · S3 full frontier, in NATIVE units first, € second (p62–63)</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Lewis's 6 descriptive indicators per country and key NUTS1, catchments by ROAD travel time — ahead of the model (p3–6)</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Candidates = ≥50-pop cells ∪ pharmacy cells, the FULL set in every area (the stride subsample of the July FRI/PL8 sweeps is retired, #54) · clients = FULL population · adapted logit (25/10) · soft coverage (Σx ≤ 1, unserved at BIG on BOTH sides): every area brackets S1 &amp; S2</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Aggregated frontier over 43 disjoint areas (exact by separability), bracketing S1 and S2 for both functions (p61)</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Improvement rectangle (raw + relative), diagonal crossing + λ — Lewis's “cross-lambda” (his p21) —, point-cloud with projections; ranked lists by policy typology — on the OECD data the sparse Nordic and Baltic areas lead (SE1, Norway, Lithuania, SE2, Estonia); the Italian lead of earlier decks was missing data</a:t>
            </a:r>
            <a:endParaRPr lang="en-US" sz="860" dirty="0"/>
          </a:p>
          <a:p>
            <a:pPr marL="152400" indent="-152400">
              <a:lnSpc>
                <a:spcPct val="98000"/>
              </a:lnSpc>
              <a:spcAft>
                <a:spcPts val="400"/>
              </a:spcAft>
              <a:buSzPct val="100000"/>
              <a:buChar char="•"/>
            </a:pPr>
            <a:r>
              <a:rPr lang="en-US" sz="860" dirty="0">
                <a:solidFill>
                  <a:srgbClr val="12233A"/>
                </a:solidFill>
                <a:latin typeface="Calibri" pitchFamily="34" charset="0"/>
                <a:ea typeface="Calibri" pitchFamily="34" charset="-122"/>
                <a:cs typeface="Calibri" pitchFamily="34" charset="-120"/>
              </a:rPr>
              <a:t>REGIO review worked in: choice set (p9), λ-tangency (p10), logistic parametrised (p66), bounds on TOTAL cost only (p12), €100,000 a placeholder everywhere</a:t>
            </a:r>
            <a:endParaRPr lang="en-US" sz="860" dirty="0"/>
          </a:p>
        </p:txBody>
      </p:sp>
      <p:sp>
        <p:nvSpPr>
          <p:cNvPr id="8" name="Shape 6"/>
          <p:cNvSpPr/>
          <p:nvPr/>
        </p:nvSpPr>
        <p:spPr>
          <a:xfrm>
            <a:off x="6172200" y="1298448"/>
            <a:ext cx="5669280" cy="4297680"/>
          </a:xfrm>
          <a:prstGeom prst="roundRect">
            <a:avLst>
              <a:gd name="adj" fmla="val 1064"/>
            </a:avLst>
          </a:prstGeom>
          <a:solidFill>
            <a:srgbClr val="F2F5F8"/>
          </a:solidFill>
          <a:ln w="12700">
            <a:solidFill>
              <a:srgbClr val="5B6B7B"/>
            </a:solidFill>
            <a:prstDash val="solid"/>
          </a:ln>
        </p:spPr>
      </p:sp>
      <p:sp>
        <p:nvSpPr>
          <p:cNvPr id="9" name="Text 7"/>
          <p:cNvSpPr/>
          <p:nvPr/>
        </p:nvSpPr>
        <p:spPr>
          <a:xfrm>
            <a:off x="6336792" y="1371600"/>
            <a:ext cx="5340096" cy="274320"/>
          </a:xfrm>
          <a:prstGeom prst="rect">
            <a:avLst/>
          </a:prstGeom>
          <a:noFill/>
          <a:ln/>
        </p:spPr>
        <p:txBody>
          <a:bodyPr wrap="square" rtlCol="0" anchor="ctr"/>
          <a:lstStyle/>
          <a:p>
            <a:pPr marL="0" indent="0">
              <a:buNone/>
            </a:pPr>
            <a:r>
              <a:rPr lang="en-US" sz="1300" b="1" dirty="0">
                <a:solidFill>
                  <a:srgbClr val="5B6B7B"/>
                </a:solidFill>
                <a:latin typeface="Calibri" pitchFamily="34" charset="0"/>
                <a:ea typeface="Calibri" pitchFamily="34" charset="-122"/>
                <a:cs typeface="Calibri" pitchFamily="34" charset="-120"/>
              </a:rPr>
              <a:t>Remaining ○ — in priority order  (◐ = in progress)</a:t>
            </a:r>
            <a:endParaRPr lang="en-US" sz="1300" dirty="0"/>
          </a:p>
        </p:txBody>
      </p:sp>
      <p:sp>
        <p:nvSpPr>
          <p:cNvPr id="10" name="Text 8"/>
          <p:cNvSpPr/>
          <p:nvPr/>
        </p:nvSpPr>
        <p:spPr>
          <a:xfrm>
            <a:off x="6355080" y="1700784"/>
            <a:ext cx="5303520" cy="3840480"/>
          </a:xfrm>
          <a:prstGeom prst="rect">
            <a:avLst/>
          </a:prstGeom>
          <a:noFill/>
          <a:ln/>
        </p:spPr>
        <p:txBody>
          <a:bodyPr wrap="square" rtlCol="0" anchor="t"/>
          <a:lstStyle/>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 Communicate λ intuitively (person-minutes per location): the tangency slide (p10) and the native-unit S1/S2 tables (p62–63) are the first steps; the € labels stay placeholders until a is calibrated</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Widen the CANDIDATE radius per client (5 → 10 nearest EXISTING), one area first — measured to bind at S2 (Norway: 18.6% of residents one closure from stranding, SE1 12.7%, SE2 12.0%; p9)</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RSSV random-sampling spatial-voting matheuristic (Albuquerque, Figueiredo &amp; Genre-Grandpierre 2026, arXiv 2607.22666; Rosa's p12) — the principled way to make the largest LPs tractable (country-level Poland) now that the stride subsample is retired; needs the wider radius first</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Exact soft-coverage p-median MIP at p = baseline — S1 is now pinned to ±1 facility by bisection (#52), so this is about the integrality gap, no longer about the snap</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Territorial coverage constraints (≥1 pharmacy per NUTS unit; multi-scale nested — Rosa's CpMP with territorial coverage, her p8–9) as a STRUCTURED equity lever alongside the soft-coverage BIG penalty. Her PACA case prices the levels: +0.9% travel at the canton level, +111% at the commune level, +51% nested (her p19; RIC = travel above the p-median optimum at equal p)</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DECIDE: rescale the logistic so c(0) and c(60) match the linear (BN, 23 July) — less degeneracy, but it changes the equity weighting the logistic was chosen for (p66)</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Calibrate the real pharmacy fixed cost a (schools: 99 699 + 3 277.5x) — only the € labels move, nothing else in the deck</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Capacity / max-catchment cap constraint (Rosa's CpMP; her lifted p-cover and location-bound cuts, p11, solve it exactly; her capacities are synthetic — Voronoi cells → demand bins → sampled, her p21)</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 Counterfactuals anchored at today's network, as the La Poste curves (Rosa's p17–18): closure-only and addition-only frontiers next to the tabula-rasa one, a relocation budget, and the share of today's sites an optimum keeps (her “Actual %”). Lewis's two questions (his p4: subsidy to bring everybody nearby; extra travel if small facilities go) read off these. Closure-only = the sweep on the Existing OD; addition-only = today's cells fixed open. Still listed: −10% pop · replace a known X%</a:t>
            </a:r>
            <a:endParaRPr lang="en-US" sz="800" dirty="0"/>
          </a:p>
          <a:p>
            <a:pPr marL="152400" indent="-152400">
              <a:lnSpc>
                <a:spcPct val="98000"/>
              </a:lnSpc>
              <a:spcAft>
                <a:spcPts val="400"/>
              </a:spcAft>
              <a:buSzPct val="100000"/>
              <a:buChar char="•"/>
            </a:pPr>
            <a:r>
              <a:rPr lang="en-US" sz="800" dirty="0">
                <a:solidFill>
                  <a:srgbClr val="12233A"/>
                </a:solidFill>
                <a:latin typeface="Calibri" pitchFamily="34" charset="0"/>
                <a:ea typeface="Calibri" pitchFamily="34" charset="-122"/>
                <a:cs typeface="Calibri" pitchFamily="34" charset="-120"/>
              </a:rPr>
              <a:t>▸ Lewis's next steps (his p25): the S1/S2 gains by degree of urbanisation (his p6/p8; the DEGURBA 2021 grid is already in Locations.dms), a policy-vs-geography split of today's travel on the frontier (common-λ frontier · today's count · gap to the frontier), and cross-lambda against distance-to-frontier by OECD archetype — post-processing on existing sweep output, no new solves</a:t>
            </a:r>
            <a:endParaRPr lang="en-US" sz="800" dirty="0"/>
          </a:p>
        </p:txBody>
      </p:sp>
      <p:sp>
        <p:nvSpPr>
          <p:cNvPr id="11" name="Text 9"/>
          <p:cNvSpPr/>
          <p:nvPr/>
        </p:nvSpPr>
        <p:spPr>
          <a:xfrm>
            <a:off x="411480" y="5669280"/>
            <a:ext cx="11430000" cy="411480"/>
          </a:xfrm>
          <a:prstGeom prst="rect">
            <a:avLst/>
          </a:prstGeom>
          <a:noFill/>
          <a:ln/>
        </p:spPr>
        <p:txBody>
          <a:bodyPr wrap="square" rtlCol="0" anchor="t"/>
          <a:lstStyle/>
          <a:p>
            <a:pPr marL="0" indent="0">
              <a:buNone/>
            </a:pPr>
            <a:r>
              <a:rPr lang="en-US" sz="900" b="1" dirty="0">
                <a:solidFill>
                  <a:srgbClr val="B9791C"/>
                </a:solidFill>
                <a:latin typeface="Calibri" pitchFamily="34" charset="0"/>
                <a:ea typeface="Calibri" pitchFamily="34" charset="-122"/>
                <a:cs typeface="Calibri" pitchFamily="34" charset="-120"/>
              </a:rPr>
              <a:t>Not pursued (decided 4 Sep 2026):  </a:t>
            </a:r>
            <a:r>
              <a:rPr lang="en-US" sz="900" dirty="0">
                <a:solidFill>
                  <a:srgbClr val="5B6B7B"/>
                </a:solidFill>
                <a:latin typeface="Calibri" pitchFamily="34" charset="0"/>
                <a:ea typeface="Calibri" pitchFamily="34" charset="-122"/>
                <a:cs typeface="Calibri" pitchFamily="34" charset="-120"/>
              </a:rPr>
              <a:t>the catchment-cap / min-threshold ladder (explored on the Netherlands; p15 kept as the record) · age-weighted demand · candidate cells plus their neighbours · urban/non-urban split and a settlement candidate set · flat-then-linear cost and logit-parameter sensitivity · pharmacist-based and pooled caps, catchment–travel correlation, border cases.</a:t>
            </a:r>
            <a:endParaRPr lang="en-US" sz="900" dirty="0"/>
          </a:p>
        </p:txBody>
      </p:sp>
      <p:sp>
        <p:nvSpPr>
          <p:cNvPr id="12" name="Text 10"/>
          <p:cNvSpPr/>
          <p:nvPr/>
        </p:nvSpPr>
        <p:spPr>
          <a:xfrm>
            <a:off x="411480" y="6108192"/>
            <a:ext cx="11430000" cy="457200"/>
          </a:xfrm>
          <a:prstGeom prst="rect">
            <a:avLst/>
          </a:prstGeom>
          <a:noFill/>
          <a:ln/>
        </p:spPr>
        <p:txBody>
          <a:bodyPr wrap="square" rtlCol="0" anchor="t"/>
          <a:lstStyle/>
          <a:p>
            <a:pPr marL="0" indent="0">
              <a:buNone/>
            </a:pPr>
            <a:r>
              <a:rPr lang="en-US" sz="1000" b="1" i="1" dirty="0">
                <a:solidFill>
                  <a:srgbClr val="1C3D5A"/>
                </a:solidFill>
                <a:latin typeface="Calibri" pitchFamily="34" charset="0"/>
                <a:ea typeface="Calibri" pitchFamily="34" charset="-122"/>
                <a:cs typeface="Calibri" pitchFamily="34" charset="-120"/>
              </a:rPr>
              <a:t>Open questions for the group:  </a:t>
            </a:r>
            <a:r>
              <a:rPr lang="en-US" sz="1000" i="1" dirty="0">
                <a:solidFill>
                  <a:srgbClr val="5B6B7B"/>
                </a:solidFill>
                <a:latin typeface="Calibri" pitchFamily="34" charset="0"/>
                <a:ea typeface="Calibri" pitchFamily="34" charset="-122"/>
                <a:cs typeface="Calibri" pitchFamily="34" charset="-120"/>
              </a:rPr>
              <a:t>widen the choice set before RSSV (p9)?  ·  logistic vs linear, and BN's rescaling (p66)?  ·  territorial coverage constraints (≥1 per zone; Rosa's p19 prices the levels) for equity, or keep soft coverage?</a:t>
            </a:r>
            <a:endParaRPr lang="en-US" sz="1000" dirty="0"/>
          </a:p>
        </p:txBody>
      </p:sp>
    </p:spTree>
    <p:extLst>
      <p:ext uri="{BB962C8B-B14F-4D97-AF65-F5344CB8AC3E}">
        <p14:creationId xmlns:p14="http://schemas.microsoft.com/office/powerpoint/2010/main" val="34548612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56032"/>
            <a:ext cx="8229600" cy="274320"/>
          </a:xfrm>
          <a:prstGeom prst="rect">
            <a:avLst/>
          </a:prstGeom>
          <a:noFill/>
          <a:ln/>
        </p:spPr>
        <p:txBody>
          <a:bodyPr wrap="square" rtlCol="0" anchor="ctr"/>
          <a:lstStyle/>
          <a:p>
            <a:pPr marL="0" indent="0">
              <a:buNone/>
            </a:pPr>
            <a:r>
              <a:rPr lang="en-US" sz="1200" b="1" kern="0" spc="200" dirty="0">
                <a:solidFill>
                  <a:srgbClr val="0B6E99"/>
                </a:solidFill>
              </a:rPr>
              <a:t>TRAVEL-COST FUNCTION</a:t>
            </a:r>
            <a:endParaRPr lang="en-US" sz="1200" dirty="0"/>
          </a:p>
        </p:txBody>
      </p:sp>
      <p:sp>
        <p:nvSpPr>
          <p:cNvPr id="3" name="Text 1"/>
          <p:cNvSpPr/>
          <p:nvPr/>
        </p:nvSpPr>
        <p:spPr>
          <a:xfrm>
            <a:off x="411480" y="493776"/>
            <a:ext cx="11430000" cy="457200"/>
          </a:xfrm>
          <a:prstGeom prst="rect">
            <a:avLst/>
          </a:prstGeom>
          <a:noFill/>
          <a:ln/>
        </p:spPr>
        <p:txBody>
          <a:bodyPr wrap="square" rtlCol="0" anchor="ctr"/>
          <a:lstStyle/>
          <a:p>
            <a:pPr marL="0" indent="0">
              <a:buNone/>
            </a:pPr>
            <a:r>
              <a:rPr lang="en-US" sz="2200" b="1" dirty="0">
                <a:solidFill>
                  <a:srgbClr val="12233A"/>
                </a:solidFill>
                <a:latin typeface="Georgia" pitchFamily="34" charset="0"/>
                <a:ea typeface="Georgia" pitchFamily="34" charset="-122"/>
                <a:cs typeface="Georgia" pitchFamily="34" charset="-120"/>
              </a:rPr>
              <a:t>Logistic c(t)  </a:t>
            </a:r>
            <a:r>
              <a:rPr lang="en-US" sz="2200" dirty="0">
                <a:solidFill>
                  <a:srgbClr val="1C3D5A"/>
                </a:solidFill>
                <a:latin typeface="Georgia" pitchFamily="34" charset="0"/>
                <a:ea typeface="Georgia" pitchFamily="34" charset="-122"/>
                <a:cs typeface="Georgia" pitchFamily="34" charset="-120"/>
              </a:rPr>
              <a:t>— the adopted Lewis-tuned curve vs the previous one</a:t>
            </a:r>
            <a:endParaRPr lang="en-US" sz="2200" dirty="0"/>
          </a:p>
        </p:txBody>
      </p:sp>
      <p:pic>
        <p:nvPicPr>
          <p:cNvPr id="4" name="Image 0" descr="E:\prj\JRC\NetworkModel_EU\doc\charts\logistic_compare.png"/>
          <p:cNvPicPr>
            <a:picLocks noChangeAspect="1"/>
          </p:cNvPicPr>
          <p:nvPr/>
        </p:nvPicPr>
        <p:blipFill>
          <a:blip r:embed="rId3"/>
          <a:stretch>
            <a:fillRect/>
          </a:stretch>
        </p:blipFill>
        <p:spPr>
          <a:xfrm>
            <a:off x="320040" y="1417320"/>
            <a:ext cx="7132320" cy="3849624"/>
          </a:xfrm>
          <a:prstGeom prst="rect">
            <a:avLst/>
          </a:prstGeom>
        </p:spPr>
      </p:pic>
      <p:sp>
        <p:nvSpPr>
          <p:cNvPr id="5" name="Text 2"/>
          <p:cNvSpPr/>
          <p:nvPr/>
        </p:nvSpPr>
        <p:spPr>
          <a:xfrm>
            <a:off x="7680960" y="1463040"/>
            <a:ext cx="4206240" cy="256032"/>
          </a:xfrm>
          <a:prstGeom prst="rect">
            <a:avLst/>
          </a:prstGeom>
          <a:noFill/>
          <a:ln/>
        </p:spPr>
        <p:txBody>
          <a:bodyPr wrap="square" rtlCol="0" anchor="ctr"/>
          <a:lstStyle/>
          <a:p>
            <a:pPr marL="0" indent="0">
              <a:buNone/>
            </a:pPr>
            <a:r>
              <a:rPr lang="en-US" sz="1200" b="1" dirty="0">
                <a:solidFill>
                  <a:srgbClr val="185FA5"/>
                </a:solidFill>
                <a:latin typeface="Calibri" pitchFamily="34" charset="0"/>
                <a:ea typeface="Calibri" pitchFamily="34" charset="-122"/>
                <a:cs typeface="Calibri" pitchFamily="34" charset="-120"/>
              </a:rPr>
              <a:t>previous</a:t>
            </a:r>
            <a:r>
              <a:rPr lang="en-US" sz="1200" dirty="0">
                <a:solidFill>
                  <a:srgbClr val="5B6B7B"/>
                </a:solidFill>
                <a:latin typeface="Calibri" pitchFamily="34" charset="0"/>
                <a:ea typeface="Calibri" pitchFamily="34" charset="-122"/>
                <a:cs typeface="Calibri" pitchFamily="34" charset="-120"/>
              </a:rPr>
              <a:t>   midpoint 30 · scale 15</a:t>
            </a:r>
            <a:endParaRPr lang="en-US" sz="1200" dirty="0"/>
          </a:p>
        </p:txBody>
      </p:sp>
      <p:sp>
        <p:nvSpPr>
          <p:cNvPr id="6" name="Text 3"/>
          <p:cNvSpPr/>
          <p:nvPr/>
        </p:nvSpPr>
        <p:spPr>
          <a:xfrm>
            <a:off x="7680960" y="1755648"/>
            <a:ext cx="4206240" cy="256032"/>
          </a:xfrm>
          <a:prstGeom prst="rect">
            <a:avLst/>
          </a:prstGeom>
          <a:noFill/>
          <a:ln/>
        </p:spPr>
        <p:txBody>
          <a:bodyPr wrap="square" rtlCol="0" anchor="ctr"/>
          <a:lstStyle/>
          <a:p>
            <a:pPr marL="0" indent="0">
              <a:buNone/>
            </a:pPr>
            <a:r>
              <a:rPr lang="en-US" sz="1200" b="1" dirty="0">
                <a:solidFill>
                  <a:srgbClr val="1D9E75"/>
                </a:solidFill>
                <a:latin typeface="Calibri" pitchFamily="34" charset="0"/>
                <a:ea typeface="Calibri" pitchFamily="34" charset="-122"/>
                <a:cs typeface="Calibri" pitchFamily="34" charset="-120"/>
              </a:rPr>
              <a:t>adopted</a:t>
            </a:r>
            <a:r>
              <a:rPr lang="en-US" sz="1200" dirty="0">
                <a:solidFill>
                  <a:srgbClr val="5B6B7B"/>
                </a:solidFill>
                <a:latin typeface="Calibri" pitchFamily="34" charset="0"/>
                <a:ea typeface="Calibri" pitchFamily="34" charset="-122"/>
                <a:cs typeface="Calibri" pitchFamily="34" charset="-120"/>
              </a:rPr>
              <a:t>   midpoint 25 · scale 10</a:t>
            </a:r>
            <a:endParaRPr lang="en-US" sz="1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7680960" y="2212848"/>
          <a:ext cx="4160520" cy="914400"/>
        </p:xfrm>
        <a:graphic>
          <a:graphicData uri="http://schemas.openxmlformats.org/drawingml/2006/table">
            <a:tbl>
              <a:tblPr/>
              <a:tblGrid>
                <a:gridCol w="1325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27432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 (min)</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previous</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adopted</a:t>
                      </a:r>
                      <a:endParaRPr lang="en-US" sz="10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ctr">
                        <a:buNone/>
                      </a:pPr>
                      <a:r>
                        <a:rPr lang="en-US" sz="1100" dirty="0">
                          <a:solidFill>
                            <a:srgbClr val="12233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85FA5"/>
                          </a:solidFill>
                          <a:latin typeface="Calibri" pitchFamily="34" charset="0"/>
                          <a:ea typeface="Calibri" pitchFamily="34" charset="-122"/>
                          <a:cs typeface="Calibri" pitchFamily="34" charset="-120"/>
                        </a:rPr>
                        <a:t>0.12</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D9E75"/>
                          </a:solidFill>
                          <a:latin typeface="Calibri" pitchFamily="34" charset="0"/>
                          <a:ea typeface="Calibri" pitchFamily="34" charset="-122"/>
                          <a:cs typeface="Calibri" pitchFamily="34" charset="-120"/>
                        </a:rPr>
                        <a:t>0.08</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ctr">
                        <a:buNone/>
                      </a:pPr>
                      <a:r>
                        <a:rPr lang="en-US" sz="1100" dirty="0">
                          <a:solidFill>
                            <a:srgbClr val="12233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85FA5"/>
                          </a:solidFill>
                          <a:latin typeface="Calibri" pitchFamily="34" charset="0"/>
                          <a:ea typeface="Calibri" pitchFamily="34" charset="-122"/>
                          <a:cs typeface="Calibri" pitchFamily="34" charset="-120"/>
                        </a:rPr>
                        <a:t>0.16</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D9E75"/>
                          </a:solidFill>
                          <a:latin typeface="Calibri" pitchFamily="34" charset="0"/>
                          <a:ea typeface="Calibri" pitchFamily="34" charset="-122"/>
                          <a:cs typeface="Calibri" pitchFamily="34" charset="-120"/>
                        </a:rPr>
                        <a:t>0.12</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100" dirty="0">
                          <a:solidFill>
                            <a:srgbClr val="12233A"/>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85FA5"/>
                          </a:solidFill>
                          <a:latin typeface="Calibri" pitchFamily="34" charset="0"/>
                          <a:ea typeface="Calibri" pitchFamily="34" charset="-122"/>
                          <a:cs typeface="Calibri" pitchFamily="34" charset="-120"/>
                        </a:rPr>
                        <a:t>0.27</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D9E75"/>
                          </a:solidFill>
                          <a:latin typeface="Calibri" pitchFamily="34" charset="0"/>
                          <a:ea typeface="Calibri" pitchFamily="34" charset="-122"/>
                          <a:cs typeface="Calibri" pitchFamily="34" charset="-120"/>
                        </a:rPr>
                        <a:t>0.27</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ctr">
                        <a:buNone/>
                      </a:pPr>
                      <a:r>
                        <a:rPr lang="en-US" sz="1100" dirty="0">
                          <a:solidFill>
                            <a:srgbClr val="12233A"/>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85FA5"/>
                          </a:solidFill>
                          <a:latin typeface="Calibri" pitchFamily="34" charset="0"/>
                          <a:ea typeface="Calibri" pitchFamily="34" charset="-122"/>
                          <a:cs typeface="Calibri" pitchFamily="34" charset="-120"/>
                        </a:rPr>
                        <a:t>0.42</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D9E75"/>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lang="en-US" sz="1100" dirty="0">
                          <a:solidFill>
                            <a:srgbClr val="12233A"/>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85FA5"/>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D9E75"/>
                          </a:solidFill>
                          <a:latin typeface="Calibri" pitchFamily="34" charset="0"/>
                          <a:ea typeface="Calibri" pitchFamily="34" charset="-122"/>
                          <a:cs typeface="Calibri" pitchFamily="34" charset="-120"/>
                        </a:rPr>
                        <a:t>0.62</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5"/>
                  </a:ext>
                </a:extLst>
              </a:tr>
              <a:tr h="274320">
                <a:tc>
                  <a:txBody>
                    <a:bodyPr/>
                    <a:lstStyle/>
                    <a:p>
                      <a:pPr marL="0" indent="0" algn="ctr">
                        <a:buNone/>
                      </a:pPr>
                      <a:r>
                        <a:rPr lang="en-US" sz="1100" dirty="0">
                          <a:solidFill>
                            <a:srgbClr val="12233A"/>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85FA5"/>
                          </a:solidFill>
                          <a:latin typeface="Calibri" pitchFamily="34" charset="0"/>
                          <a:ea typeface="Calibri" pitchFamily="34" charset="-122"/>
                          <a:cs typeface="Calibri" pitchFamily="34" charset="-120"/>
                        </a:rPr>
                        <a:t>0.73</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D9E75"/>
                          </a:solidFill>
                          <a:latin typeface="Calibri" pitchFamily="34" charset="0"/>
                          <a:ea typeface="Calibri" pitchFamily="34" charset="-122"/>
                          <a:cs typeface="Calibri" pitchFamily="34" charset="-120"/>
                        </a:rPr>
                        <a:t>0.88</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ctr">
                        <a:buNone/>
                      </a:pPr>
                      <a:r>
                        <a:rPr lang="en-US" sz="1100" dirty="0">
                          <a:solidFill>
                            <a:srgbClr val="12233A"/>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85FA5"/>
                          </a:solidFill>
                          <a:latin typeface="Calibri" pitchFamily="34" charset="0"/>
                          <a:ea typeface="Calibri" pitchFamily="34" charset="-122"/>
                          <a:cs typeface="Calibri" pitchFamily="34" charset="-120"/>
                        </a:rPr>
                        <a:t>0.88</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ctr">
                        <a:buNone/>
                      </a:pPr>
                      <a:r>
                        <a:rPr lang="en-US" sz="1100" dirty="0">
                          <a:solidFill>
                            <a:srgbClr val="1D9E75"/>
                          </a:solidFill>
                          <a:latin typeface="Calibri" pitchFamily="34" charset="0"/>
                          <a:ea typeface="Calibri" pitchFamily="34" charset="-122"/>
                          <a:cs typeface="Calibri" pitchFamily="34" charset="-120"/>
                        </a:rPr>
                        <a:t>0.97</a:t>
                      </a:r>
                      <a:endParaRPr lang="en-US" sz="1100" dirty="0">
                        <a:latin typeface="Calibri" charset="0"/>
                        <a:ea typeface="Calibri" charset="0"/>
                        <a:cs typeface="Calibri" charset="0"/>
                      </a:endParaRPr>
                    </a:p>
                  </a:txBody>
                  <a:tcPr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7"/>
                  </a:ext>
                </a:extLst>
              </a:tr>
            </a:tbl>
          </a:graphicData>
        </a:graphic>
      </p:graphicFrame>
      <p:sp>
        <p:nvSpPr>
          <p:cNvPr id="8" name="Text 4"/>
          <p:cNvSpPr/>
          <p:nvPr/>
        </p:nvSpPr>
        <p:spPr>
          <a:xfrm>
            <a:off x="7680960" y="4443984"/>
            <a:ext cx="4206240" cy="914400"/>
          </a:xfrm>
          <a:prstGeom prst="rect">
            <a:avLst/>
          </a:prstGeom>
          <a:noFill/>
          <a:ln/>
        </p:spPr>
        <p:txBody>
          <a:bodyPr wrap="square" rtlCol="0" anchor="t"/>
          <a:lstStyle/>
          <a:p>
            <a:pPr marL="0" indent="0">
              <a:buNone/>
            </a:pPr>
            <a:r>
              <a:rPr lang="en-US" sz="880" i="1" dirty="0">
                <a:solidFill>
                  <a:srgbClr val="12233A"/>
                </a:solidFill>
                <a:latin typeface="Calibri" pitchFamily="34" charset="0"/>
                <a:ea typeface="Calibri" pitchFamily="34" charset="-122"/>
                <a:cs typeface="Calibri" pitchFamily="34" charset="-120"/>
              </a:rPr>
              <a:t>Both cross at ≈15 min (0.27). </a:t>
            </a:r>
            <a:r>
              <a:rPr lang="en-US" sz="880" i="1" dirty="0">
                <a:solidFill>
                  <a:srgbClr val="5B6B7B"/>
                </a:solidFill>
                <a:latin typeface="Calibri" pitchFamily="34" charset="0"/>
                <a:ea typeface="Calibri" pitchFamily="34" charset="-122"/>
                <a:cs typeface="Calibri" pitchFamily="34" charset="-120"/>
              </a:rPr>
              <a:t>The adopted curve is lower below ~10 min (ignores minor relocations) and saturates by ~45 min (caps remote weight) — Lewis's 22-May ask; his benchmarking deck (p14) reads it as: short-trip differences matter little, 10–60 min is critical, beyond 60 min equally disliked. Applied in the recalculation (settings.jl defaults; previous variant via LOGISTIC_MIDPOINT=30 LOGISTIC_SCALE=15).</a:t>
            </a:r>
            <a:endParaRPr lang="en-US" sz="880" dirty="0"/>
          </a:p>
        </p:txBody>
      </p:sp>
      <p:sp>
        <p:nvSpPr>
          <p:cNvPr id="9" name="Shape 5"/>
          <p:cNvSpPr/>
          <p:nvPr/>
        </p:nvSpPr>
        <p:spPr>
          <a:xfrm>
            <a:off x="365760" y="5394960"/>
            <a:ext cx="11475720" cy="1024128"/>
          </a:xfrm>
          <a:prstGeom prst="roundRect">
            <a:avLst>
              <a:gd name="adj" fmla="val 4464"/>
            </a:avLst>
          </a:prstGeom>
          <a:solidFill>
            <a:srgbClr val="F0F6F2"/>
          </a:solidFill>
          <a:ln w="12700">
            <a:solidFill>
              <a:srgbClr val="1E7A52"/>
            </a:solidFill>
            <a:prstDash val="solid"/>
          </a:ln>
        </p:spPr>
      </p:sp>
      <p:sp>
        <p:nvSpPr>
          <p:cNvPr id="10" name="Text 6"/>
          <p:cNvSpPr/>
          <p:nvPr/>
        </p:nvSpPr>
        <p:spPr>
          <a:xfrm>
            <a:off x="548640" y="5440680"/>
            <a:ext cx="11155680" cy="950976"/>
          </a:xfrm>
          <a:prstGeom prst="rect">
            <a:avLst/>
          </a:prstGeom>
          <a:noFill/>
          <a:ln/>
        </p:spPr>
        <p:txBody>
          <a:bodyPr wrap="square" rtlCol="0" anchor="t"/>
          <a:lstStyle/>
          <a:p>
            <a:pPr marL="0" indent="0">
              <a:lnSpc>
                <a:spcPct val="98000"/>
              </a:lnSpc>
              <a:buNone/>
            </a:pPr>
            <a:r>
              <a:rPr lang="en-US" sz="840" b="1" dirty="0">
                <a:solidFill>
                  <a:srgbClr val="1E7A52"/>
                </a:solidFill>
                <a:latin typeface="Calibri" pitchFamily="34" charset="0"/>
                <a:ea typeface="Calibri" pitchFamily="34" charset="-122"/>
                <a:cs typeface="Calibri" pitchFamily="34" charset="-120"/>
              </a:rPr>
              <a:t>Answers to the review.  </a:t>
            </a:r>
            <a:r>
              <a:rPr lang="en-US" sz="840" dirty="0">
                <a:solidFill>
                  <a:srgbClr val="12233A"/>
                </a:solidFill>
                <a:latin typeface="Calibri" pitchFamily="34" charset="0"/>
                <a:ea typeface="Calibri" pitchFamily="34" charset="-122"/>
                <a:cs typeface="Calibri" pitchFamily="34" charset="-120"/>
              </a:rPr>
              <a:t>It is a plain logistic, not a log-logistic:  c(t) = 1 / (1 + e</a:t>
            </a:r>
            <a:r>
              <a:rPr lang="en-US" sz="750" baseline="30000" dirty="0">
                <a:solidFill>
                  <a:srgbClr val="12233A"/>
                </a:solidFill>
                <a:latin typeface="Calibri" pitchFamily="34" charset="0"/>
                <a:ea typeface="Calibri" pitchFamily="34" charset="-122"/>
                <a:cs typeface="Calibri" pitchFamily="34" charset="-120"/>
              </a:rPr>
              <a:t>−(t−25)/10</a:t>
            </a:r>
            <a:r>
              <a:rPr lang="en-US" sz="840" dirty="0">
                <a:solidFill>
                  <a:srgbClr val="12233A"/>
                </a:solidFill>
                <a:latin typeface="Calibri" pitchFamily="34" charset="0"/>
                <a:ea typeface="Calibri" pitchFamily="34" charset="-122"/>
                <a:cs typeface="Calibri" pitchFamily="34" charset="-120"/>
              </a:rPr>
              <a:t>).  It does not start at zero — c(0) = 0.076 — so a relocation within a few minutes is nearly free but not free; c(60) = 0.971, c(120) ≈ 1.  </a:t>
            </a:r>
            <a:r>
              <a:rPr lang="en-US" sz="840" b="1" dirty="0">
                <a:solidFill>
                  <a:srgbClr val="12233A"/>
                </a:solidFill>
                <a:latin typeface="Calibri" pitchFamily="34" charset="0"/>
                <a:ea typeface="Calibri" pitchFamily="34" charset="-122"/>
                <a:cs typeface="Calibri" pitchFamily="34" charset="-120"/>
              </a:rPr>
              <a:t>The degeneracy: </a:t>
            </a:r>
            <a:r>
              <a:rPr lang="en-US" sz="840" dirty="0">
                <a:solidFill>
                  <a:srgbClr val="5B6B7B"/>
                </a:solidFill>
                <a:latin typeface="Calibri" pitchFamily="34" charset="0"/>
                <a:ea typeface="Calibri" pitchFamily="34" charset="-122"/>
                <a:cs typeface="Calibri" pitchFamily="34" charset="-120"/>
              </a:rPr>
              <a:t>both variants sweep the same 1-2-5/decade λ-grid (1e-4 … 5), but c(t) here spans only 0.08–1 where the linear one spans 0–120, so the travel term is ~100× smaller relative to λ·#open. The aggregate’s useful λ-range is 1e-4 … 0.02 for logistic against 1e-4 … 0.5 for linear — that compression is the degeneracy: many λ values map to one solution.  </a:t>
            </a:r>
            <a:r>
              <a:rPr lang="en-US" sz="840" b="1" dirty="0">
                <a:solidFill>
                  <a:srgbClr val="B9791C"/>
                </a:solidFill>
                <a:latin typeface="Calibri" pitchFamily="34" charset="0"/>
                <a:ea typeface="Calibri" pitchFamily="34" charset="-122"/>
                <a:cs typeface="Calibri" pitchFamily="34" charset="-120"/>
              </a:rPr>
              <a:t>Open (BN, 23 Jul): </a:t>
            </a:r>
            <a:r>
              <a:rPr lang="en-US" sz="840" dirty="0">
                <a:solidFill>
                  <a:srgbClr val="5B6B7B"/>
                </a:solidFill>
                <a:latin typeface="Calibri" pitchFamily="34" charset="0"/>
                <a:ea typeface="Calibri" pitchFamily="34" charset="-122"/>
                <a:cs typeface="Calibri" pitchFamily="34" charset="-120"/>
              </a:rPr>
              <a:t>rescale c(t) so c(0) and c(60) match the linear curve. It would spread the λ-range and reduce degeneracy, but it also changes the equity weighting the group chose the logistic for — a group decision, not a tuning.  </a:t>
            </a:r>
            <a:r>
              <a:rPr lang="en-US" sz="840" b="1" dirty="0">
                <a:solidFill>
                  <a:srgbClr val="12233A"/>
                </a:solidFill>
                <a:latin typeface="Calibri" pitchFamily="34" charset="0"/>
                <a:ea typeface="Calibri" pitchFamily="34" charset="-122"/>
                <a:cs typeface="Calibri" pitchFamily="34" charset="-120"/>
              </a:rPr>
              <a:t>In Rosa's terms: </a:t>
            </a:r>
            <a:r>
              <a:rPr lang="en-US" sz="840" dirty="0">
                <a:solidFill>
                  <a:srgbClr val="5B6B7B"/>
                </a:solidFill>
                <a:latin typeface="Calibri" pitchFamily="34" charset="0"/>
                <a:ea typeface="Calibri" pitchFamily="34" charset="-122"/>
                <a:cs typeface="Calibri" pitchFamily="34" charset="-120"/>
              </a:rPr>
              <a:t>LINEAR c(t) = t is the p-median (pMP) objective; the saturating logistic is a smooth counterpart of maximal covering (MCLP) with a ~25-min radius, so linear-vs-logistic is the soft version of her pMP-vs-MCLP-5km comparison (her p16).</a:t>
            </a:r>
            <a:endParaRPr lang="en-US" sz="840" dirty="0"/>
          </a:p>
        </p:txBody>
      </p:sp>
      <p:sp>
        <p:nvSpPr>
          <p:cNvPr id="11" name="Text 7"/>
          <p:cNvSpPr/>
          <p:nvPr/>
        </p:nvSpPr>
        <p:spPr>
          <a:xfrm>
            <a:off x="411480" y="6446520"/>
            <a:ext cx="11430000" cy="274320"/>
          </a:xfrm>
          <a:prstGeom prst="rect">
            <a:avLst/>
          </a:prstGeom>
          <a:noFill/>
          <a:ln/>
        </p:spPr>
        <p:txBody>
          <a:bodyPr wrap="square" rtlCol="0" anchor="ctr"/>
          <a:lstStyle/>
          <a:p>
            <a:pPr marL="0" indent="0">
              <a:buNone/>
            </a:pPr>
            <a:r>
              <a:rPr lang="en-US" sz="850" i="1" dirty="0">
                <a:solidFill>
                  <a:srgbClr val="5B6B7B"/>
                </a:solidFill>
                <a:latin typeface="Calibri" pitchFamily="34" charset="0"/>
                <a:ea typeface="Calibri" pitchFamily="34" charset="-122"/>
                <a:cs typeface="Calibri" pitchFamily="34" charset="-120"/>
              </a:rPr>
              <a:t>c(t) is applied to travel time in minutes (raw OD seconds ÷ 60); LINEAR uses c(t)=t. settings.jl c(): logistic_midpoint=25, logistic_scale=10.</a:t>
            </a:r>
            <a:endParaRPr lang="en-US" sz="850" dirty="0"/>
          </a:p>
        </p:txBody>
      </p:sp>
    </p:spTree>
    <p:extLst>
      <p:ext uri="{BB962C8B-B14F-4D97-AF65-F5344CB8AC3E}">
        <p14:creationId xmlns:p14="http://schemas.microsoft.com/office/powerpoint/2010/main" val="31095738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56032"/>
            <a:ext cx="8229600" cy="274320"/>
          </a:xfrm>
          <a:prstGeom prst="rect">
            <a:avLst/>
          </a:prstGeom>
          <a:noFill/>
          <a:ln/>
        </p:spPr>
        <p:txBody>
          <a:bodyPr wrap="square" rtlCol="0" anchor="ctr"/>
          <a:lstStyle/>
          <a:p>
            <a:pPr marL="0" indent="0">
              <a:buNone/>
            </a:pPr>
            <a:r>
              <a:rPr lang="en-US" sz="1200" b="1" kern="0" spc="200" dirty="0">
                <a:solidFill>
                  <a:srgbClr val="0B6E99"/>
                </a:solidFill>
              </a:rPr>
              <a:t>TERMINOLOGY</a:t>
            </a:r>
            <a:endParaRPr lang="en-US" sz="1200" dirty="0"/>
          </a:p>
        </p:txBody>
      </p:sp>
      <p:sp>
        <p:nvSpPr>
          <p:cNvPr id="3" name="Text 1"/>
          <p:cNvSpPr/>
          <p:nvPr/>
        </p:nvSpPr>
        <p:spPr>
          <a:xfrm>
            <a:off x="411480" y="493776"/>
            <a:ext cx="11430000" cy="457200"/>
          </a:xfrm>
          <a:prstGeom prst="rect">
            <a:avLst/>
          </a:prstGeom>
          <a:noFill/>
          <a:ln/>
        </p:spPr>
        <p:txBody>
          <a:bodyPr wrap="square" rtlCol="0" anchor="ctr"/>
          <a:lstStyle/>
          <a:p>
            <a:pPr marL="0" indent="0">
              <a:buNone/>
            </a:pPr>
            <a:r>
              <a:rPr lang="en-US" sz="2000" b="1" dirty="0">
                <a:solidFill>
                  <a:srgbClr val="12233A"/>
                </a:solidFill>
                <a:latin typeface="Georgia" pitchFamily="34" charset="0"/>
                <a:ea typeface="Georgia" pitchFamily="34" charset="-122"/>
                <a:cs typeface="Georgia" pitchFamily="34" charset="-120"/>
              </a:rPr>
              <a:t>Terminology bridge  </a:t>
            </a:r>
            <a:r>
              <a:rPr lang="en-US" sz="2000" dirty="0">
                <a:solidFill>
                  <a:srgbClr val="1C3D5A"/>
                </a:solidFill>
                <a:latin typeface="Georgia" pitchFamily="34" charset="0"/>
                <a:ea typeface="Georgia" pitchFamily="34" charset="-122"/>
                <a:cs typeface="Georgia" pitchFamily="34" charset="-120"/>
              </a:rPr>
              <a:t>— this deck · Lewis's benchmarking deck · Rosa's La Poste deck</a:t>
            </a:r>
            <a:endParaRPr lang="en-US" sz="2000" dirty="0"/>
          </a:p>
        </p:txBody>
      </p:sp>
      <p:sp>
        <p:nvSpPr>
          <p:cNvPr id="4" name="Text 2"/>
          <p:cNvSpPr/>
          <p:nvPr/>
        </p:nvSpPr>
        <p:spPr>
          <a:xfrm>
            <a:off x="411480" y="914400"/>
            <a:ext cx="11430000" cy="292608"/>
          </a:xfrm>
          <a:prstGeom prst="rect">
            <a:avLst/>
          </a:prstGeom>
          <a:noFill/>
          <a:ln/>
        </p:spPr>
        <p:txBody>
          <a:bodyPr wrap="square" rtlCol="0" anchor="t"/>
          <a:lstStyle/>
          <a:p>
            <a:pPr marL="0" indent="0">
              <a:buNone/>
            </a:pPr>
            <a:r>
              <a:rPr lang="en-US" sz="1000" dirty="0">
                <a:solidFill>
                  <a:srgbClr val="5B6B7B"/>
                </a:solidFill>
                <a:latin typeface="Calibri" pitchFamily="34" charset="0"/>
                <a:ea typeface="Calibri" pitchFamily="34" charset="-122"/>
                <a:cs typeface="Calibri" pitchFamily="34" charset="-120"/>
              </a:rPr>
              <a:t>Same objects, three vocabularies. Where a name differs, this deck now carries the other deck's term next to its own; where a concept exists in one deck only, the cell says so. Page numbers are each deck's own.</a:t>
            </a:r>
            <a:endParaRPr lang="en-US" sz="1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11480" y="1261872"/>
          <a:ext cx="1138428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3520440">
                  <a:extLst>
                    <a:ext uri="{9D8B030D-6E8A-4147-A177-3AD203B41FA5}">
                      <a16:colId xmlns:a16="http://schemas.microsoft.com/office/drawing/2014/main" val="20003"/>
                    </a:ext>
                  </a:extLst>
                </a:gridCol>
              </a:tblGrid>
              <a:tr h="274320">
                <a:tc>
                  <a:txBody>
                    <a:bodyPr/>
                    <a:lstStyle/>
                    <a:p>
                      <a:pPr marL="0" indent="0" algn="l">
                        <a:buNone/>
                      </a:pPr>
                      <a:endParaRPr lang="en-US" sz="86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860" b="1" dirty="0">
                          <a:solidFill>
                            <a:srgbClr val="FFFFFF"/>
                          </a:solidFill>
                          <a:latin typeface="Calibri" pitchFamily="34" charset="0"/>
                          <a:ea typeface="Calibri" pitchFamily="34" charset="-122"/>
                          <a:cs typeface="Calibri" pitchFamily="34" charset="-120"/>
                        </a:rPr>
                        <a:t>this deck</a:t>
                      </a:r>
                      <a:endParaRPr lang="en-US" sz="86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860" b="1" dirty="0">
                          <a:solidFill>
                            <a:srgbClr val="FFFFFF"/>
                          </a:solidFill>
                          <a:latin typeface="Calibri" pitchFamily="34" charset="0"/>
                          <a:ea typeface="Calibri" pitchFamily="34" charset="-122"/>
                          <a:cs typeface="Calibri" pitchFamily="34" charset="-120"/>
                        </a:rPr>
                        <a:t>Lewis — Benchmarking access to pharmacies</a:t>
                      </a:r>
                      <a:endParaRPr lang="en-US" sz="86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tc>
                  <a:txBody>
                    <a:bodyPr/>
                    <a:lstStyle/>
                    <a:p>
                      <a:pPr marL="0" indent="0" algn="l">
                        <a:buNone/>
                      </a:pPr>
                      <a:r>
                        <a:rPr lang="en-US" sz="860" b="1" dirty="0">
                          <a:solidFill>
                            <a:srgbClr val="FFFFFF"/>
                          </a:solidFill>
                          <a:latin typeface="Calibri" pitchFamily="34" charset="0"/>
                          <a:ea typeface="Calibri" pitchFamily="34" charset="-122"/>
                          <a:cs typeface="Calibri" pitchFamily="34" charset="-120"/>
                        </a:rPr>
                        <a:t>Rosa — Balancing equity and efficiency (La Poste, PACA)</a:t>
                      </a:r>
                      <a:endParaRPr lang="en-US" sz="86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C3D5A"/>
                    </a:solidFill>
                  </a:tcPr>
                </a:tc>
                <a:extLst>
                  <a:ext uri="{0D108BD9-81ED-4DB2-BD59-A6C34878D82A}">
                    <a16:rowId xmlns:a16="http://schemas.microsoft.com/office/drawing/2014/main" val="10000"/>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today's network</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 baseline (current); catchments by road (p3–6)</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current situation (p15, p21)</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Current; “Actual %” = share of today's sites an optimum keeps (p16)</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the trade-off</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#locations vs travel cost — the Pareto frontier (p13)</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proximity vs efficiency; the trilemma collapses once the population distribution is given (p3–5, p15)</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efficiency vs equity: pMP vs MCLP; objective value against p (p16–17)</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λ</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price per location, w · €100,000 placeholder; the slope of the tangent (p7, p10)</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lambda = preference for efficiency over proximity (p11)</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not swept — p is fixed per instance; λ is the multiplier of Σⱼ yⱼ = p (p7 here)</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fixed-count problem</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p-median at Σⱼ yⱼ = p (p7); S1 is one instance</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S1 — fix the number of facilities (p16)</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pMP (Hakimi 1964); with capacities Rⱼ the CpMP (p5, p7)</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coverage</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soft coverage: an unserved client is priced at BIG; the logistic c(t) saturates (p7, p66)</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logistic: beyond 60 min equally disliked (p14)</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MCLP within radius r (5 km); territorial coverage ≥1 / ≤1 per zone, multi-scale nested (p8–9)</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5"/>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gap to the frontier</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S1 Δ travel and S2 Δ # in native units; the improvement rectangle (p62–63, p76–79)</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distance between cross-lambda and the current situation (p21)</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RIC = (Sol_X − Sol_pMP) / Sol_pMP × 100 at equal p (p16); knee points (p17)</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position on the frontier</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λ at the balanced-improvement crossing (p72–73); against today's density (p74–75)</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cross-lambda — a revealed network preference, by OECD archetype (p21–24)</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knee point of the objective-vs-p curve (p17, p23)</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7"/>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lower bound</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LP relaxation of the UFLP, strong disaggregated formulation (p7)</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“LP … a plausible lower band” (p26)</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pMP + disaggregated cuts for the closest facility, lifted p-cover, location upper bound (p11)</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integer solution</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multistart: top-p, CELF greedy, weighted draws, swap polish (p12)</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“multipart heuristic … upper band” (p26)</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post-optimisation after the final solve (p12)</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09"/>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scale</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full candidate set; radius = 5 nearest existing pharmacies (p9)</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small countries and NUTS1 regions (p15)</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RSSV: random sampling → sub-problems → spatial voting → filtering → final solve (p12)</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from today's network</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roadmap item (p65)</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subsidy to bring everybody nearby; extra travel if small facilities go (p4)</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optimal removal / optimal addition from the current network; relocations allowed (p17–18)</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1"/>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distribution</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stranded count; catchment percentiles (p3–6)</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distance to the nearest pharmacy by degree of urbanisation (p6, p8)</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Gini, % within 5 km, max / avg distance, communes served (p16, p24)</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74320">
                <a:tc>
                  <a:txBody>
                    <a:bodyPr/>
                    <a:lstStyle/>
                    <a:p>
                      <a:pPr marL="0" indent="0" algn="l">
                        <a:buNone/>
                      </a:pPr>
                      <a:r>
                        <a:rPr lang="en-US" sz="800" b="1" dirty="0">
                          <a:solidFill>
                            <a:srgbClr val="1C3D5A"/>
                          </a:solidFill>
                          <a:latin typeface="Calibri" pitchFamily="34" charset="0"/>
                          <a:ea typeface="Calibri" pitchFamily="34" charset="-122"/>
                          <a:cs typeface="Calibri" pitchFamily="34" charset="-120"/>
                        </a:rPr>
                        <a:t>capacity</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catchment-cap ladder, explored and dropped (p15)</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tc>
                  <a:txBody>
                    <a:bodyPr/>
                    <a:lstStyle/>
                    <a:p>
                      <a:pPr marL="0" indent="0" algn="l">
                        <a:buNone/>
                      </a:pPr>
                      <a:r>
                        <a:rPr lang="en-US" sz="800" dirty="0">
                          <a:solidFill>
                            <a:srgbClr val="12233A"/>
                          </a:solidFill>
                          <a:latin typeface="Calibri" pitchFamily="34" charset="0"/>
                          <a:ea typeface="Calibri" pitchFamily="34" charset="-122"/>
                          <a:cs typeface="Calibri" pitchFamily="34" charset="-120"/>
                        </a:rPr>
                        <a:t>CpMP with synthetic capacities: Voronoi cells → demand bins → sampled (p21)</a:t>
                      </a:r>
                      <a:endParaRPr lang="en-US" sz="800" dirty="0">
                        <a:latin typeface="Calibri" charset="0"/>
                        <a:ea typeface="Calibri" charset="0"/>
                        <a:cs typeface="Calibri" charset="0"/>
                      </a:endParaRPr>
                    </a:p>
                  </a:txBody>
                  <a:tcPr marL="50800" marR="38100" marT="12700" marB="127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2F5F8"/>
                    </a:solidFill>
                  </a:tcPr>
                </a:tc>
                <a:extLst>
                  <a:ext uri="{0D108BD9-81ED-4DB2-BD59-A6C34878D82A}">
                    <a16:rowId xmlns:a16="http://schemas.microsoft.com/office/drawing/2014/main" val="10013"/>
                  </a:ext>
                </a:extLst>
              </a:tr>
            </a:tbl>
          </a:graphicData>
        </a:graphic>
      </p:graphicFrame>
      <p:sp>
        <p:nvSpPr>
          <p:cNvPr id="6" name="Text 3"/>
          <p:cNvSpPr/>
          <p:nvPr/>
        </p:nvSpPr>
        <p:spPr>
          <a:xfrm>
            <a:off x="411480" y="6016752"/>
            <a:ext cx="11384280" cy="731520"/>
          </a:xfrm>
          <a:prstGeom prst="rect">
            <a:avLst/>
          </a:prstGeom>
          <a:noFill/>
          <a:ln/>
        </p:spPr>
        <p:txBody>
          <a:bodyPr wrap="square" rtlCol="0" anchor="t"/>
          <a:lstStyle/>
          <a:p>
            <a:pPr marL="0" indent="0">
              <a:buNone/>
            </a:pPr>
            <a:r>
              <a:rPr lang="en-US" sz="840" b="1" i="1" dirty="0">
                <a:solidFill>
                  <a:srgbClr val="12233A"/>
                </a:solidFill>
                <a:latin typeface="Calibri" pitchFamily="34" charset="0"/>
                <a:ea typeface="Calibri" pitchFamily="34" charset="-122"/>
                <a:cs typeface="Calibri" pitchFamily="34" charset="-120"/>
              </a:rPr>
              <a:t>Sources.  </a:t>
            </a:r>
            <a:r>
              <a:rPr lang="en-US" sz="840" i="1" dirty="0">
                <a:solidFill>
                  <a:srgbClr val="5B6B7B"/>
                </a:solidFill>
                <a:latin typeface="Calibri" pitchFamily="34" charset="0"/>
                <a:ea typeface="Calibri" pitchFamily="34" charset="-122"/>
                <a:cs typeface="Calibri" pitchFamily="34" charset="-120"/>
              </a:rPr>
              <a:t>Lewis Dijkstra, Chris Jacobs-Crisioni, Maarten Hilferink &amp; Jip Claassens, “Benchmarking access to pharmacies” (JRC draft, 15 Sep 2026; its p15, p16 and p27 share this deck's p13, p11 and p10). Rosa Figueiredo, Felipe Albuquerque &amp; Cyrille Genre-Grandpierre, “Balancing equity and efficiency — the case of La Poste in France”, OECD/EC knowledge-sharing seminar, Ispra, 18 Sep 2026; the method is arXiv 2607.22666.  </a:t>
            </a:r>
            <a:r>
              <a:rPr lang="en-US" sz="840" b="1" i="1" dirty="0">
                <a:solidFill>
                  <a:srgbClr val="B9791C"/>
                </a:solidFill>
                <a:latin typeface="Calibri" pitchFamily="34" charset="0"/>
                <a:ea typeface="Calibri" pitchFamily="34" charset="-122"/>
                <a:cs typeface="Calibri" pitchFamily="34" charset="-120"/>
              </a:rPr>
              <a:t>Caution on cross-lambda: </a:t>
            </a:r>
            <a:r>
              <a:rPr lang="en-US" sz="840" i="1" dirty="0">
                <a:solidFill>
                  <a:srgbClr val="5B6B7B"/>
                </a:solidFill>
                <a:latin typeface="Calibri" pitchFamily="34" charset="0"/>
                <a:ea typeface="Calibri" pitchFamily="34" charset="-122"/>
                <a:cs typeface="Calibri" pitchFamily="34" charset="-120"/>
              </a:rPr>
              <a:t>for one and the same geography it is lower the more pharmacies there are today, so across areas it moves with residents per pharmacy (p3) as well as with policy — read it next to that table.</a:t>
            </a:r>
            <a:endParaRPr lang="en-US" sz="840" dirty="0"/>
          </a:p>
        </p:txBody>
      </p:sp>
    </p:spTree>
    <p:extLst>
      <p:ext uri="{BB962C8B-B14F-4D97-AF65-F5344CB8AC3E}">
        <p14:creationId xmlns:p14="http://schemas.microsoft.com/office/powerpoint/2010/main" val="27429576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C4E3BF-50CD-5C78-48DD-C675A92AB23A}"/>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The sweep read along lambda  -  all 43 areas: travel-cost bounds (left) and facility count (right)</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A76129D7-E029-6882-935C-831B0997FD07}"/>
              </a:ext>
            </a:extLst>
          </p:cNvPr>
          <p:cNvPicPr>
            <a:picLocks/>
          </p:cNvPicPr>
          <p:nvPr/>
        </p:nvPicPr>
        <p:blipFill>
          <a:blip r:embed="rId2"/>
          <a:stretch>
            <a:fillRect/>
          </a:stretch>
        </p:blipFill>
        <p:spPr>
          <a:xfrm>
            <a:off x="254000" y="1684593"/>
            <a:ext cx="11684000" cy="4123813"/>
          </a:xfrm>
          <a:prstGeom prst="rect">
            <a:avLst/>
          </a:prstGeom>
        </p:spPr>
      </p:pic>
      <p:sp>
        <p:nvSpPr>
          <p:cNvPr id="5" name="TextBox 4">
            <a:extLst>
              <a:ext uri="{FF2B5EF4-FFF2-40B4-BE49-F238E27FC236}">
                <a16:creationId xmlns:a16="http://schemas.microsoft.com/office/drawing/2014/main" id="{A250B5C9-BF95-013C-A2CA-9F88CC5DC901}"/>
              </a:ext>
            </a:extLst>
          </p:cNvPr>
          <p:cNvSpPr txBox="1"/>
          <p:nvPr/>
        </p:nvSpPr>
        <p:spPr>
          <a:xfrm>
            <a:off x="381000" y="5884607"/>
            <a:ext cx="11430000" cy="484748"/>
          </a:xfrm>
          <a:prstGeom prst="rect">
            <a:avLst/>
          </a:prstGeom>
          <a:noFill/>
        </p:spPr>
        <p:txBody>
          <a:bodyPr vert="horz" rtlCol="0">
            <a:spAutoFit/>
          </a:bodyPr>
          <a:lstStyle/>
          <a:p>
            <a:r>
              <a:rPr lang="en-US" sz="850" i="1">
                <a:solidFill>
                  <a:srgbClr val="5B6B7B"/>
                </a:solidFill>
                <a:latin typeface="Calibri" panose="020F0502020204030204" pitchFamily="34" charset="0"/>
              </a:rPr>
              <a:t>x = lambda, the price per location (log scale). Left axis: LP relaxation (lower bound) and multistart integer solution (upper bound) on travel cost. Right axis: the LP-relaxed count sum_y and the integer count n_open = round(sum_y); they coincide by construction - the certified gap is on TOTAL cost only (p12). Dotted = baseline: S2 is where travel crosses its baseline, S1 where the count does; the guides are interpolated crossings, each labelled with the quantity that defines it - S1 with its facility count (today's) and the facility cost lambda x N at that lambda, S2 with its travel cost (today's) - so S1 reads the same count under LINEAR and LOGISTIC. The count axis is logarithmic and shared by both panels: same height = same count.</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23144983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03A6D6-8B56-58E9-FA91-E359CD6E1BCC}"/>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The sweep read along lambda  -  Netherlands: travel-cost bounds (left) and facility count (right)</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5B222206-13AD-2485-4095-3888E5DB5F59}"/>
              </a:ext>
            </a:extLst>
          </p:cNvPr>
          <p:cNvPicPr>
            <a:picLocks/>
          </p:cNvPicPr>
          <p:nvPr/>
        </p:nvPicPr>
        <p:blipFill>
          <a:blip r:embed="rId2"/>
          <a:stretch>
            <a:fillRect/>
          </a:stretch>
        </p:blipFill>
        <p:spPr>
          <a:xfrm>
            <a:off x="254000" y="1684593"/>
            <a:ext cx="11684000" cy="4123813"/>
          </a:xfrm>
          <a:prstGeom prst="rect">
            <a:avLst/>
          </a:prstGeom>
        </p:spPr>
      </p:pic>
      <p:sp>
        <p:nvSpPr>
          <p:cNvPr id="5" name="TextBox 4">
            <a:extLst>
              <a:ext uri="{FF2B5EF4-FFF2-40B4-BE49-F238E27FC236}">
                <a16:creationId xmlns:a16="http://schemas.microsoft.com/office/drawing/2014/main" id="{7333153E-6523-1E9A-09D7-2425926A6AF2}"/>
              </a:ext>
            </a:extLst>
          </p:cNvPr>
          <p:cNvSpPr txBox="1"/>
          <p:nvPr/>
        </p:nvSpPr>
        <p:spPr>
          <a:xfrm>
            <a:off x="381000" y="5884607"/>
            <a:ext cx="11430000" cy="353943"/>
          </a:xfrm>
          <a:prstGeom prst="rect">
            <a:avLst/>
          </a:prstGeom>
          <a:noFill/>
        </p:spPr>
        <p:txBody>
          <a:bodyPr vert="horz" rtlCol="0">
            <a:spAutoFit/>
          </a:bodyPr>
          <a:lstStyle/>
          <a:p>
            <a:r>
              <a:rPr lang="en-US" sz="850" i="1">
                <a:solidFill>
                  <a:srgbClr val="5B6B7B"/>
                </a:solidFill>
                <a:latin typeface="Calibri" panose="020F0502020204030204" pitchFamily="34" charset="0"/>
              </a:rPr>
              <a:t>Same reading as the aggregate. The count falls over two decades of lambda before the travel bounds separate; under LINEAR they open only above ~EUR 50,000 per location, beyond S2, so the S1/S2 figures sit where lower and upper bound agree. S1 is 1,615 facilities under both cost functions by construction; the deck_data scenario rows would have put the guide a whole grid step off (1,334 LINEAR, 1,788 LOGISTIC), which is the S1/S2 snap noted on p9.</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1269942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BA9FA6-665D-89A5-3BD4-D8E0A3CB6E61}"/>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Baselines and their frontier projections  -  LINEAR</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9212BA83-5A3F-8930-4EBE-A9BA2146CAAF}"/>
              </a:ext>
            </a:extLst>
          </p:cNvPr>
          <p:cNvPicPr>
            <a:picLocks/>
          </p:cNvPicPr>
          <p:nvPr/>
        </p:nvPicPr>
        <p:blipFill>
          <a:blip r:embed="rId2"/>
          <a:stretch>
            <a:fillRect/>
          </a:stretch>
        </p:blipFill>
        <p:spPr>
          <a:xfrm>
            <a:off x="1948053" y="889000"/>
            <a:ext cx="8295894" cy="5715000"/>
          </a:xfrm>
          <a:prstGeom prst="rect">
            <a:avLst/>
          </a:prstGeom>
        </p:spPr>
      </p:pic>
    </p:spTree>
    <p:extLst>
      <p:ext uri="{BB962C8B-B14F-4D97-AF65-F5344CB8AC3E}">
        <p14:creationId xmlns:p14="http://schemas.microsoft.com/office/powerpoint/2010/main" val="38836249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4B5721-4444-07EF-C6D3-A5F0CDC970F7}"/>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Baselines and their frontier projections  -  LOGISTIC</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3BF3C664-505C-3F62-E1EF-7202A20E6445}"/>
              </a:ext>
            </a:extLst>
          </p:cNvPr>
          <p:cNvPicPr>
            <a:picLocks/>
          </p:cNvPicPr>
          <p:nvPr/>
        </p:nvPicPr>
        <p:blipFill>
          <a:blip r:embed="rId2"/>
          <a:stretch>
            <a:fillRect/>
          </a:stretch>
        </p:blipFill>
        <p:spPr>
          <a:xfrm>
            <a:off x="1948053" y="889000"/>
            <a:ext cx="8295894" cy="5715000"/>
          </a:xfrm>
          <a:prstGeom prst="rect">
            <a:avLst/>
          </a:prstGeom>
        </p:spPr>
      </p:pic>
    </p:spTree>
    <p:extLst>
      <p:ext uri="{BB962C8B-B14F-4D97-AF65-F5344CB8AC3E}">
        <p14:creationId xmlns:p14="http://schemas.microsoft.com/office/powerpoint/2010/main" val="11687328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804D3-E98A-96E7-D7DB-89D6C7778979}"/>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Cross-lambda: lambda at the balanced-improvement crossing, ranked  -  LINEAR</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D73EDEC3-D952-70D4-0FF8-1BB917DA63F6}"/>
              </a:ext>
            </a:extLst>
          </p:cNvPr>
          <p:cNvPicPr>
            <a:picLocks/>
          </p:cNvPicPr>
          <p:nvPr/>
        </p:nvPicPr>
        <p:blipFill>
          <a:blip r:embed="rId2"/>
          <a:stretch>
            <a:fillRect/>
          </a:stretch>
        </p:blipFill>
        <p:spPr>
          <a:xfrm>
            <a:off x="3690017" y="1111250"/>
            <a:ext cx="4811966" cy="5270500"/>
          </a:xfrm>
          <a:prstGeom prst="rect">
            <a:avLst/>
          </a:prstGeom>
        </p:spPr>
      </p:pic>
      <p:sp>
        <p:nvSpPr>
          <p:cNvPr id="5" name="TextBox 4">
            <a:extLst>
              <a:ext uri="{FF2B5EF4-FFF2-40B4-BE49-F238E27FC236}">
                <a16:creationId xmlns:a16="http://schemas.microsoft.com/office/drawing/2014/main" id="{03BFE2C9-9C67-1F9F-7A4C-1C82B30DCC29}"/>
              </a:ext>
            </a:extLst>
          </p:cNvPr>
          <p:cNvSpPr txBox="1"/>
          <p:nvPr/>
        </p:nvSpPr>
        <p:spPr>
          <a:xfrm>
            <a:off x="381000" y="6451600"/>
            <a:ext cx="11430000" cy="353943"/>
          </a:xfrm>
          <a:prstGeom prst="rect">
            <a:avLst/>
          </a:prstGeom>
          <a:noFill/>
        </p:spPr>
        <p:txBody>
          <a:bodyPr vert="horz" rtlCol="0">
            <a:spAutoFit/>
          </a:bodyPr>
          <a:lstStyle/>
          <a:p>
            <a:r>
              <a:rPr lang="en-US" sz="850" i="1">
                <a:solidFill>
                  <a:srgbClr val="5B6B7B"/>
                </a:solidFill>
                <a:latin typeface="Calibri" panose="020F0502020204030204" pitchFamily="34" charset="0"/>
              </a:rPr>
              <a:t>Cross-lambda (Lewis's p21) = the lambda at the balanced-improvement crossing, read there as a revealed network preference. For one geography it falls as today's pharmacy count rises, so across areas it moves with residents per pharmacy (p3) as well as with policy. EUR only via the placeholder EUR 100,000 per location (REGIO review, Brons/BN): the ranking does not depend on it.</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42735810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7CEFBB-12A2-4576-418A-D66245524EF4}"/>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Cross-lambda: lambda at the balanced-improvement crossing, ranked  -  LOGISTIC</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8FC34204-4801-D5D2-30F7-7BFD9518E396}"/>
              </a:ext>
            </a:extLst>
          </p:cNvPr>
          <p:cNvPicPr>
            <a:picLocks/>
          </p:cNvPicPr>
          <p:nvPr/>
        </p:nvPicPr>
        <p:blipFill>
          <a:blip r:embed="rId2"/>
          <a:stretch>
            <a:fillRect/>
          </a:stretch>
        </p:blipFill>
        <p:spPr>
          <a:xfrm>
            <a:off x="3690017" y="1111250"/>
            <a:ext cx="4811966" cy="5270500"/>
          </a:xfrm>
          <a:prstGeom prst="rect">
            <a:avLst/>
          </a:prstGeom>
        </p:spPr>
      </p:pic>
      <p:sp>
        <p:nvSpPr>
          <p:cNvPr id="5" name="TextBox 4">
            <a:extLst>
              <a:ext uri="{FF2B5EF4-FFF2-40B4-BE49-F238E27FC236}">
                <a16:creationId xmlns:a16="http://schemas.microsoft.com/office/drawing/2014/main" id="{1A20B571-38D6-6F44-FE3B-A0E406FB921E}"/>
              </a:ext>
            </a:extLst>
          </p:cNvPr>
          <p:cNvSpPr txBox="1"/>
          <p:nvPr/>
        </p:nvSpPr>
        <p:spPr>
          <a:xfrm>
            <a:off x="381000" y="6451600"/>
            <a:ext cx="11430000" cy="353943"/>
          </a:xfrm>
          <a:prstGeom prst="rect">
            <a:avLst/>
          </a:prstGeom>
          <a:noFill/>
        </p:spPr>
        <p:txBody>
          <a:bodyPr vert="horz" rtlCol="0">
            <a:spAutoFit/>
          </a:bodyPr>
          <a:lstStyle/>
          <a:p>
            <a:r>
              <a:rPr lang="en-US" sz="850" i="1">
                <a:solidFill>
                  <a:srgbClr val="5B6B7B"/>
                </a:solidFill>
                <a:latin typeface="Calibri" panose="020F0502020204030204" pitchFamily="34" charset="0"/>
              </a:rPr>
              <a:t>Cross-lambda (Lewis's p21) = the lambda at the balanced-improvement crossing, read there as a revealed network preference. For one geography it falls as today's pharmacy count rises, so across areas it moves with residents per pharmacy (p3) as well as with policy. EUR only via the placeholder EUR 100,000 per location (REGIO review, Brons/BN): the ranking does not depend on it.</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26674559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CAF3FF-2FC3-5B06-8A76-8F4A8F3DF5B1}"/>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Cross-lambda per study area on the map  -  LINEAR</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83BBCED2-8B60-204A-76F7-D01822D52457}"/>
              </a:ext>
            </a:extLst>
          </p:cNvPr>
          <p:cNvPicPr>
            <a:picLocks/>
          </p:cNvPicPr>
          <p:nvPr/>
        </p:nvPicPr>
        <p:blipFill>
          <a:blip r:embed="rId2"/>
          <a:stretch>
            <a:fillRect/>
          </a:stretch>
        </p:blipFill>
        <p:spPr>
          <a:xfrm>
            <a:off x="1453744" y="1111250"/>
            <a:ext cx="9284513" cy="5270500"/>
          </a:xfrm>
          <a:prstGeom prst="rect">
            <a:avLst/>
          </a:prstGeom>
        </p:spPr>
      </p:pic>
      <p:sp>
        <p:nvSpPr>
          <p:cNvPr id="5" name="TextBox 4">
            <a:extLst>
              <a:ext uri="{FF2B5EF4-FFF2-40B4-BE49-F238E27FC236}">
                <a16:creationId xmlns:a16="http://schemas.microsoft.com/office/drawing/2014/main" id="{7BEBE700-28D2-7A4B-C9FA-ACEB36AD5465}"/>
              </a:ext>
            </a:extLst>
          </p:cNvPr>
          <p:cNvSpPr txBox="1"/>
          <p:nvPr/>
        </p:nvSpPr>
        <p:spPr>
          <a:xfrm>
            <a:off x="381000" y="6451600"/>
            <a:ext cx="11430000" cy="353943"/>
          </a:xfrm>
          <a:prstGeom prst="rect">
            <a:avLst/>
          </a:prstGeom>
          <a:noFill/>
        </p:spPr>
        <p:txBody>
          <a:bodyPr vert="horz" rtlCol="0">
            <a:spAutoFit/>
          </a:bodyPr>
          <a:lstStyle/>
          <a:p>
            <a:r>
              <a:rPr lang="en-US" sz="850" i="1">
                <a:solidFill>
                  <a:srgbClr val="5B6B7B"/>
                </a:solidFill>
                <a:latin typeface="Calibri" panose="020F0502020204030204" pitchFamily="34" charset="0"/>
              </a:rPr>
              <a:t>Green = low cross-lambda (a location buys little travel), red = high; EUR per location via the placeholder EUR 100,000 (= w x 100,000), so read the ranking, not the amounts. FR/IT/SE/PL are drawn as their NUTS-1 regions, Portugal as its mainland; grey = not in the study. Rendered by GeoDMS 20.19 from cfg\cross_lambda_map.dms on the NUTS 2021 boundaries (EPSG:3035); the same classes as the ranked list two slides back.</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26489786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D5E3DA-C9C4-DB9A-6E0B-56322B113D08}"/>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Cross-lambda per study area on the map  -  LOGISTIC</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D7DACD42-6C70-EE44-EC56-2A340E51BEE2}"/>
              </a:ext>
            </a:extLst>
          </p:cNvPr>
          <p:cNvPicPr>
            <a:picLocks/>
          </p:cNvPicPr>
          <p:nvPr/>
        </p:nvPicPr>
        <p:blipFill>
          <a:blip r:embed="rId2"/>
          <a:stretch>
            <a:fillRect/>
          </a:stretch>
        </p:blipFill>
        <p:spPr>
          <a:xfrm>
            <a:off x="1453744" y="1111250"/>
            <a:ext cx="9284513" cy="5270500"/>
          </a:xfrm>
          <a:prstGeom prst="rect">
            <a:avLst/>
          </a:prstGeom>
        </p:spPr>
      </p:pic>
      <p:sp>
        <p:nvSpPr>
          <p:cNvPr id="5" name="TextBox 4">
            <a:extLst>
              <a:ext uri="{FF2B5EF4-FFF2-40B4-BE49-F238E27FC236}">
                <a16:creationId xmlns:a16="http://schemas.microsoft.com/office/drawing/2014/main" id="{7FF80B1C-EEF1-259D-C2E3-A789701ECB1C}"/>
              </a:ext>
            </a:extLst>
          </p:cNvPr>
          <p:cNvSpPr txBox="1"/>
          <p:nvPr/>
        </p:nvSpPr>
        <p:spPr>
          <a:xfrm>
            <a:off x="381000" y="6451600"/>
            <a:ext cx="11430000" cy="353943"/>
          </a:xfrm>
          <a:prstGeom prst="rect">
            <a:avLst/>
          </a:prstGeom>
          <a:noFill/>
        </p:spPr>
        <p:txBody>
          <a:bodyPr vert="horz" rtlCol="0">
            <a:spAutoFit/>
          </a:bodyPr>
          <a:lstStyle/>
          <a:p>
            <a:r>
              <a:rPr lang="en-US" sz="850" i="1">
                <a:solidFill>
                  <a:srgbClr val="5B6B7B"/>
                </a:solidFill>
                <a:latin typeface="Calibri" panose="020F0502020204030204" pitchFamily="34" charset="0"/>
              </a:rPr>
              <a:t>Same map for the logistic cost: its lambda is on its own scale (the cost c(t) is dimensionless, so lambda per location is about 1/100 of the linear one), hence classes at one hundredth of the linear breaks; compare areas, not functions. The picture is the one of the linear cost with moves at the class edges: Belgium and the north of Italy stay lowest, the Nordic areas highest, and Austria and Finland join the top class.</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23483248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7AAF43-5583-7C99-CA1A-EE82A681FE33}"/>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Cross-lambda against residents per location, by OECD archetype  -  LINEAR</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034244D6-8EB2-52DF-E3C1-762550943D59}"/>
              </a:ext>
            </a:extLst>
          </p:cNvPr>
          <p:cNvPicPr>
            <a:picLocks/>
          </p:cNvPicPr>
          <p:nvPr/>
        </p:nvPicPr>
        <p:blipFill>
          <a:blip r:embed="rId2"/>
          <a:stretch>
            <a:fillRect/>
          </a:stretch>
        </p:blipFill>
        <p:spPr>
          <a:xfrm>
            <a:off x="2270671" y="1111250"/>
            <a:ext cx="7650658" cy="5270500"/>
          </a:xfrm>
          <a:prstGeom prst="rect">
            <a:avLst/>
          </a:prstGeom>
        </p:spPr>
      </p:pic>
      <p:sp>
        <p:nvSpPr>
          <p:cNvPr id="5" name="TextBox 4">
            <a:extLst>
              <a:ext uri="{FF2B5EF4-FFF2-40B4-BE49-F238E27FC236}">
                <a16:creationId xmlns:a16="http://schemas.microsoft.com/office/drawing/2014/main" id="{35F89378-DD7A-45C1-D3B5-F55F5BAB9C40}"/>
              </a:ext>
            </a:extLst>
          </p:cNvPr>
          <p:cNvSpPr txBox="1"/>
          <p:nvPr/>
        </p:nvSpPr>
        <p:spPr>
          <a:xfrm>
            <a:off x="381000" y="6451600"/>
            <a:ext cx="11430000" cy="353943"/>
          </a:xfrm>
          <a:prstGeom prst="rect">
            <a:avLst/>
          </a:prstGeom>
          <a:noFill/>
        </p:spPr>
        <p:txBody>
          <a:bodyPr vert="horz" rtlCol="0">
            <a:spAutoFit/>
          </a:bodyPr>
          <a:lstStyle/>
          <a:p>
            <a:r>
              <a:rPr lang="en-US" sz="850" i="1">
                <a:solidFill>
                  <a:srgbClr val="5B6B7B"/>
                </a:solidFill>
                <a:latin typeface="Calibri" panose="020F0502020204030204" pitchFamily="34" charset="0"/>
              </a:rPr>
              <a:t>x = residents per 1 km2 pharmacy location today (the count the frontier uses), y = cross-lambda, both on log scales. The dotted line is the log-log least-squares fit over all areas - the part of cross-lambda that today's density predicts; the distance to it is what is left for geography and policy. Archetype colours as on the map of Lewis's benchmarking deck (p22-23). Residuals per area: doc\cross_lambda_residuals_&lt;FN&gt;.csv (doc\cross_lambda_scatter.py).</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25724121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CF4C97-C6F3-D9CB-C7DF-D4B367C7DB2A}"/>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Cross-lambda against residents per location, by OECD archetype  -  LOGISTIC</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07B289EE-EBA2-5622-B780-E9FE86DF3AEE}"/>
              </a:ext>
            </a:extLst>
          </p:cNvPr>
          <p:cNvPicPr>
            <a:picLocks/>
          </p:cNvPicPr>
          <p:nvPr/>
        </p:nvPicPr>
        <p:blipFill>
          <a:blip r:embed="rId2"/>
          <a:stretch>
            <a:fillRect/>
          </a:stretch>
        </p:blipFill>
        <p:spPr>
          <a:xfrm>
            <a:off x="2270671" y="1111250"/>
            <a:ext cx="7650658" cy="5270500"/>
          </a:xfrm>
          <a:prstGeom prst="rect">
            <a:avLst/>
          </a:prstGeom>
        </p:spPr>
      </p:pic>
      <p:sp>
        <p:nvSpPr>
          <p:cNvPr id="5" name="TextBox 4">
            <a:extLst>
              <a:ext uri="{FF2B5EF4-FFF2-40B4-BE49-F238E27FC236}">
                <a16:creationId xmlns:a16="http://schemas.microsoft.com/office/drawing/2014/main" id="{73AE4577-2656-92B2-F4FD-9CD633F27970}"/>
              </a:ext>
            </a:extLst>
          </p:cNvPr>
          <p:cNvSpPr txBox="1"/>
          <p:nvPr/>
        </p:nvSpPr>
        <p:spPr>
          <a:xfrm>
            <a:off x="381000" y="6451600"/>
            <a:ext cx="11430000" cy="353943"/>
          </a:xfrm>
          <a:prstGeom prst="rect">
            <a:avLst/>
          </a:prstGeom>
          <a:noFill/>
        </p:spPr>
        <p:txBody>
          <a:bodyPr vert="horz" rtlCol="0">
            <a:spAutoFit/>
          </a:bodyPr>
          <a:lstStyle/>
          <a:p>
            <a:r>
              <a:rPr lang="en-US" sz="850" i="1">
                <a:solidFill>
                  <a:srgbClr val="5B6B7B"/>
                </a:solidFill>
                <a:latin typeface="Calibri" panose="020F0502020204030204" pitchFamily="34" charset="0"/>
              </a:rPr>
              <a:t>x = residents per 1 km2 pharmacy location today (the count the frontier uses), y = cross-lambda, both on log scales. The dotted line is the log-log least-squares fit over all areas - the part of cross-lambda that today's density predicts; the distance to it is what is left for geography and policy. Archetype colours as on the map of Lewis's benchmarking deck (p22-23). Residuals per area: doc\cross_lambda_residuals_&lt;FN&gt;.csv (doc\cross_lambda_scatter.py).</a:t>
            </a:r>
            <a:endParaRPr lang="en-GB" sz="850" i="1">
              <a:solidFill>
                <a:srgbClr val="5B6B7B"/>
              </a:solidFill>
              <a:latin typeface="Calibri" panose="020F0502020204030204" pitchFamily="34" charset="0"/>
            </a:endParaRPr>
          </a:p>
        </p:txBody>
      </p:sp>
    </p:spTree>
    <p:extLst>
      <p:ext uri="{BB962C8B-B14F-4D97-AF65-F5344CB8AC3E}">
        <p14:creationId xmlns:p14="http://schemas.microsoft.com/office/powerpoint/2010/main" val="16478431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89F9E2-C3DF-044C-58DE-927CAC18E3AA}"/>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Improvement-potential rectangle area (raw), ranked  -  LINEAR</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9BF0E936-982D-4E14-3B0E-8D9F99725B9C}"/>
              </a:ext>
            </a:extLst>
          </p:cNvPr>
          <p:cNvPicPr>
            <a:picLocks/>
          </p:cNvPicPr>
          <p:nvPr/>
        </p:nvPicPr>
        <p:blipFill>
          <a:blip r:embed="rId2"/>
          <a:stretch>
            <a:fillRect/>
          </a:stretch>
        </p:blipFill>
        <p:spPr>
          <a:xfrm>
            <a:off x="3487103" y="889000"/>
            <a:ext cx="5217795" cy="5715000"/>
          </a:xfrm>
          <a:prstGeom prst="rect">
            <a:avLst/>
          </a:prstGeom>
        </p:spPr>
      </p:pic>
    </p:spTree>
    <p:extLst>
      <p:ext uri="{BB962C8B-B14F-4D97-AF65-F5344CB8AC3E}">
        <p14:creationId xmlns:p14="http://schemas.microsoft.com/office/powerpoint/2010/main" val="9949976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6C1A09-FB39-DAD1-A826-C33D6FC6C896}"/>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Improvement-potential rectangle area (raw), ranked  -  LOGISTIC</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C9C1BD82-D995-8231-2036-5845C8C24E41}"/>
              </a:ext>
            </a:extLst>
          </p:cNvPr>
          <p:cNvPicPr>
            <a:picLocks/>
          </p:cNvPicPr>
          <p:nvPr/>
        </p:nvPicPr>
        <p:blipFill>
          <a:blip r:embed="rId2"/>
          <a:stretch>
            <a:fillRect/>
          </a:stretch>
        </p:blipFill>
        <p:spPr>
          <a:xfrm>
            <a:off x="3487103" y="889000"/>
            <a:ext cx="5217795" cy="5715000"/>
          </a:xfrm>
          <a:prstGeom prst="rect">
            <a:avLst/>
          </a:prstGeom>
        </p:spPr>
      </p:pic>
    </p:spTree>
    <p:extLst>
      <p:ext uri="{BB962C8B-B14F-4D97-AF65-F5344CB8AC3E}">
        <p14:creationId xmlns:p14="http://schemas.microsoft.com/office/powerpoint/2010/main" val="8908998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F5013C-8164-FFF2-B88B-429AD24E8505}"/>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Improvement potential relative to baseline facility x travel cost  -  LINEAR</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FD1B0954-639B-9A08-7A72-4D49C895C1E3}"/>
              </a:ext>
            </a:extLst>
          </p:cNvPr>
          <p:cNvPicPr>
            <a:picLocks/>
          </p:cNvPicPr>
          <p:nvPr/>
        </p:nvPicPr>
        <p:blipFill>
          <a:blip r:embed="rId2"/>
          <a:stretch>
            <a:fillRect/>
          </a:stretch>
        </p:blipFill>
        <p:spPr>
          <a:xfrm>
            <a:off x="3487103" y="889000"/>
            <a:ext cx="5217795" cy="5715000"/>
          </a:xfrm>
          <a:prstGeom prst="rect">
            <a:avLst/>
          </a:prstGeom>
        </p:spPr>
      </p:pic>
    </p:spTree>
    <p:extLst>
      <p:ext uri="{BB962C8B-B14F-4D97-AF65-F5344CB8AC3E}">
        <p14:creationId xmlns:p14="http://schemas.microsoft.com/office/powerpoint/2010/main" val="9022850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93F608-63CD-77A6-7495-1296206C876F}"/>
              </a:ext>
            </a:extLst>
          </p:cNvPr>
          <p:cNvSpPr txBox="1"/>
          <p:nvPr/>
        </p:nvSpPr>
        <p:spPr>
          <a:xfrm>
            <a:off x="381000" y="190500"/>
            <a:ext cx="11430000" cy="400110"/>
          </a:xfrm>
          <a:prstGeom prst="rect">
            <a:avLst/>
          </a:prstGeom>
          <a:noFill/>
        </p:spPr>
        <p:txBody>
          <a:bodyPr vert="horz" rtlCol="0">
            <a:spAutoFit/>
          </a:bodyPr>
          <a:lstStyle/>
          <a:p>
            <a:r>
              <a:rPr lang="en-US" sz="2000" b="1">
                <a:solidFill>
                  <a:srgbClr val="103050"/>
                </a:solidFill>
                <a:latin typeface="Calibri" panose="020F0502020204030204" pitchFamily="34" charset="0"/>
              </a:rPr>
              <a:t>Improvement potential relative to baseline facility x travel cost  -  LOGISTIC</a:t>
            </a:r>
            <a:endParaRPr lang="en-GB" sz="2000" b="1">
              <a:solidFill>
                <a:srgbClr val="103050"/>
              </a:solidFill>
              <a:latin typeface="Calibri" panose="020F0502020204030204" pitchFamily="34" charset="0"/>
            </a:endParaRPr>
          </a:p>
        </p:txBody>
      </p:sp>
      <p:pic>
        <p:nvPicPr>
          <p:cNvPr id="4" name="Picture 3">
            <a:extLst>
              <a:ext uri="{FF2B5EF4-FFF2-40B4-BE49-F238E27FC236}">
                <a16:creationId xmlns:a16="http://schemas.microsoft.com/office/drawing/2014/main" id="{BB4A7D4C-DEEF-23CE-1143-A9CC31F81C35}"/>
              </a:ext>
            </a:extLst>
          </p:cNvPr>
          <p:cNvPicPr>
            <a:picLocks/>
          </p:cNvPicPr>
          <p:nvPr/>
        </p:nvPicPr>
        <p:blipFill>
          <a:blip r:embed="rId2"/>
          <a:stretch>
            <a:fillRect/>
          </a:stretch>
        </p:blipFill>
        <p:spPr>
          <a:xfrm>
            <a:off x="3487103" y="889000"/>
            <a:ext cx="5217795" cy="5715000"/>
          </a:xfrm>
          <a:prstGeom prst="rect">
            <a:avLst/>
          </a:prstGeom>
        </p:spPr>
      </p:pic>
    </p:spTree>
    <p:extLst>
      <p:ext uri="{BB962C8B-B14F-4D97-AF65-F5344CB8AC3E}">
        <p14:creationId xmlns:p14="http://schemas.microsoft.com/office/powerpoint/2010/main" val="2465814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20506</Words>
  <Application>Microsoft Office PowerPoint</Application>
  <PresentationFormat>Widescreen</PresentationFormat>
  <Paragraphs>4035</Paragraphs>
  <Slides>81</Slides>
  <Notes>67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81</vt:i4>
      </vt:variant>
    </vt:vector>
  </HeadingPairs>
  <TitlesOfParts>
    <vt:vector size="86" baseType="lpstr">
      <vt:lpstr>Arial</vt:lpstr>
      <vt:lpstr>Calibri</vt:lpstr>
      <vt:lpstr>Cambria Math</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lambda_sweep.jl — UFLP-LP for pharmacy locations</dc:title>
  <dc:subject>PptxGenJS Presentation</dc:subject>
  <dc:creator>Servaas Storm / Object Vision</dc:creator>
  <cp:lastModifiedBy>Maarten Hilferink</cp:lastModifiedBy>
  <cp:revision>4</cp:revision>
  <dcterms:created xsi:type="dcterms:W3CDTF">2026-06-01T08:24:25Z</dcterms:created>
  <dcterms:modified xsi:type="dcterms:W3CDTF">2026-10-13T13:44:58Z</dcterms:modified>
</cp:coreProperties>
</file>