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256" r:id="rId2"/>
    <p:sldId id="260" r:id="rId3"/>
    <p:sldId id="261" r:id="rId4"/>
    <p:sldId id="262" r:id="rId5"/>
    <p:sldId id="263" r:id="rId6"/>
    <p:sldId id="257" r:id="rId7"/>
    <p:sldId id="264" r:id="rId8"/>
    <p:sldId id="258" r:id="rId9"/>
    <p:sldId id="259" r:id="rId10"/>
    <p:sldId id="265" r:id="rId11"/>
    <p:sldId id="266" r:id="rId12"/>
    <p:sldId id="267" r:id="rId13"/>
    <p:sldId id="268" r:id="rId14"/>
    <p:sldId id="269" r:id="rId15"/>
    <p:sldId id="270" r:id="rId16"/>
    <p:sldId id="318"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9" r:id="rId65"/>
    <p:sldId id="320" r:id="rId66"/>
    <p:sldId id="321" r:id="rId67"/>
    <p:sldId id="322" r:id="rId68"/>
    <p:sldId id="323" r:id="rId69"/>
    <p:sldId id="324" r:id="rId70"/>
    <p:sldId id="325" r:id="rId71"/>
    <p:sldId id="326" r:id="rId7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6918193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173000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43237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888545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8504055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919431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052067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231536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9450158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939583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3174088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704813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633546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7288723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250237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0114851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08048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6970118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2603782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3238269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3082376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07207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491181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6344249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1124628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1068666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6297080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144495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9428121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0944218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1508132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3081326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5941469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40967621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0228903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290634275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30185141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42707531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364492739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4860472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30184068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34493806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6724816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7970701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42894958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9665563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32140804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4175929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78622917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7944993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46683778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426582228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310590437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3535524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20918389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9488107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428231093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465348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2700706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5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1599665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p4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92668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2859213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p57–58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2188093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091242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6861206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42479055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080016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5917219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3514516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66668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179044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363430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440511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703345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742566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242778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392333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594169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098180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641184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577292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62229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486229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935800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865844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96552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850244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503973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531193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76101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11120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483070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255282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281990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395529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755364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20680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751140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857545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202767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336159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597730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100296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47470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975947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85496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327257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8056120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606422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1069058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11162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44284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0.227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28,609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15,808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433,828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44,416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26,673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10,933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191,428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28592705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10,473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17,033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38738839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891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18,626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56,207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57,265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30,810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35699703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6140739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the largest strongly-connected road network is now kept for EVERY separate landbody, not just the single largest one EU-wide — island networks (Sicilia/Sardegna, and their ferry links) were being pruned. ITG baseline mean travel 22.3 → 4.9 min; unreachable residents 983k → 591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REGION EXCLUSION: a NUTS region where &gt;50% of inhabitant locations cannot reach any pharmacy is dropped entirely — population AND candidates. Excludes the Azores (PT200) and Madeira (PT300), which hold population but no pharmacy in the source data; Portugal baseline travel −62%. Prevents a DATA gap from ranking as policy headroom</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 canonical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 — S1/S2 now INTERPOLATED onto the frontier (dense-grid + refine, tight to ≤0.1 λ-octave)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 catchments by ROAD-network travel time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 candidates = ≥50-pop cells ∪ pharmacy cells · clients = FULL population · adapted logit (25/10) · Italy from ESPON shapefile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 now brackets S1 AND S2 for LINEAR &amp; LOGISTIC (Belgium/FRI extended to w = 0.5)</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Status-quo↔frontier metric: improvement rectangle (raw + relative to baseline #F × travel), its diagonal crossing + λ, baseline point-cloud with frontier projections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Ordered region lists coloured by pharmacy policy typology (regulation archetype + formalisation, from the collaborators' framing) — now free of coverage artefacts: ITG drops from #1 to #2 and Portugal and PL8 leave the top 8, while ITF takes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candidate subsampling keeps EVERY baseline location, so the frontier still dominates the baseline (FRI/PL8 made tractable)</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(the interpolation is already tight; the MIP would make it exact)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 · border-cases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adopt territorial coverage constraints (≥1 per unit) for equity, or keep soft coverage?  ·  logistic vs linear travel cost (the equity-weighting choice)?  ·  best way to communicate λ?</a:t>
            </a:r>
            <a:endParaRPr lang="en-US" sz="1000" dirty="0"/>
          </a:p>
        </p:txBody>
      </p:sp>
    </p:spTree>
    <p:extLst>
      <p:ext uri="{BB962C8B-B14F-4D97-AF65-F5344CB8AC3E}">
        <p14:creationId xmlns:p14="http://schemas.microsoft.com/office/powerpoint/2010/main" val="122894200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1155959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3E0464-3379-84DA-E0C1-7F98C5097EB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FB1C0EE-B965-163B-7AA5-C4A088ED74D1}"/>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5927634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BEEF10-2010-9790-9399-0C0424073A5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4369598-9D88-760A-7BA8-12589E8F01FF}"/>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23639587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91C976-B5C6-E966-BA21-DD8A3186C77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25126C6-4D17-29A3-A24F-A659A1AF657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26841903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E0BAC3-6022-EBFA-F0A5-C667E155AC4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D607452-30FD-A3E1-9B7A-67E0BA5A2CC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8810340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2C8406-EA43-4F5D-2943-6E6592CE975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2BCAE27-EFF0-5728-7841-3CD85B233D5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7844526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2220C3-9C8C-D2F4-61ED-3AD7696895F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A8EB84E-ECE1-FB78-404F-C1CB46468332}"/>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50118206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5E18AB-8653-868C-E8BC-DE6F57D232B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020A17C-3357-15A1-98BC-7687E6656EA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6547170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32D7E4B-C0C0-3C32-D251-7C86A69A6DE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AEB47BA-EF84-13D2-7D89-2623EE509FF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6432668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14724</Words>
  <Application>Microsoft Office PowerPoint</Application>
  <PresentationFormat>Widescreen</PresentationFormat>
  <Paragraphs>3468</Paragraphs>
  <Slides>71</Slides>
  <Notes>62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2026-09-04T13:25:06Z</dcterms:modified>
</cp:coreProperties>
</file>