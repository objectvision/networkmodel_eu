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7" r:id="rId63"/>
    <p:sldId id="318" r:id="rId64"/>
    <p:sldId id="319" r:id="rId65"/>
    <p:sldId id="320" r:id="rId66"/>
    <p:sldId id="321" r:id="rId67"/>
    <p:sldId id="322" r:id="rId68"/>
    <p:sldId id="323" r:id="rId69"/>
    <p:sldId id="324" r:id="rId7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70485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9818915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5733551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5025645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913862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966901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8018811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922115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4323756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1480361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2709895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871247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7480285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9728165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3302015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9016858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2595282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8845792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0963291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89946823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1179296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9862575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2459862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2460017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542284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3697245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2919029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7362025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6579490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28216173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6535783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8819191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58062770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9252516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37385303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1185363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3172937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6460830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55357455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4653168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402858908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78081137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7106468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7436489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8439137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5339723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34313832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320388320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43429391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70311064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421245909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22693850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82497795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4486292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2587196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39492101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349041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28979826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7004448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4119472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8372320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4634547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2912627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2489381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3486769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41300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34114166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111141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467370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1780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897838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505947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606320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203041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676837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309421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8.56 min mean · </a:t>
            </a:r>
            <a:r>
              <a:rPr lang="en-US" sz="1000" dirty="0">
                <a:solidFill>
                  <a:srgbClr val="5B6B7B"/>
                </a:solidFill>
                <a:latin typeface="Calibri" pitchFamily="34" charset="0"/>
                <a:ea typeface="Calibri" pitchFamily="34" charset="-122"/>
                <a:cs typeface="Calibri" pitchFamily="34" charset="-120"/>
              </a:rPr>
              <a:t>travel (stranded at BIG)  LIN 88.1M · LOG 1.5M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550114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12757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210922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406924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318946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273371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850184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70300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896038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795828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113021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740603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086839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996314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368409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893186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53194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379444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943626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884 cells · 22.30 min mean · </a:t>
            </a:r>
            <a:r>
              <a:rPr lang="en-US" sz="1000" dirty="0">
                <a:solidFill>
                  <a:srgbClr val="5B6B7B"/>
                </a:solidFill>
                <a:latin typeface="Calibri" pitchFamily="34" charset="0"/>
                <a:ea typeface="Calibri" pitchFamily="34" charset="-122"/>
                <a:cs typeface="Calibri" pitchFamily="34" charset="-120"/>
              </a:rPr>
              <a:t>travel (stranded at BIG)  LIN 139M · LOG 1.6M</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108701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554150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28825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846556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8.05 min mean · </a:t>
            </a:r>
            <a:r>
              <a:rPr lang="en-US" sz="1000" dirty="0">
                <a:solidFill>
                  <a:srgbClr val="5B6B7B"/>
                </a:solidFill>
                <a:latin typeface="Calibri" pitchFamily="34" charset="0"/>
                <a:ea typeface="Calibri" pitchFamily="34" charset="-122"/>
                <a:cs typeface="Calibri" pitchFamily="34" charset="-120"/>
              </a:rPr>
              <a:t>travel (stranded at BIG)  LIN 35.4M · LOG 747k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879237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9.46 min mean · </a:t>
            </a:r>
            <a:r>
              <a:rPr lang="en-US" sz="1000" dirty="0">
                <a:solidFill>
                  <a:srgbClr val="5B6B7B"/>
                </a:solidFill>
                <a:latin typeface="Calibri" pitchFamily="34" charset="0"/>
                <a:ea typeface="Calibri" pitchFamily="34" charset="-122"/>
                <a:cs typeface="Calibri" pitchFamily="34" charset="-120"/>
              </a:rPr>
              <a:t>travel (stranded at BIG)  LIN 16.4M · LOG 350k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638343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96968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561150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525230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527681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25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8.89 min mean · </a:t>
            </a:r>
            <a:r>
              <a:rPr lang="en-US" sz="1000" dirty="0">
                <a:solidFill>
                  <a:srgbClr val="5B6B7B"/>
                </a:solidFill>
                <a:latin typeface="Calibri" pitchFamily="34" charset="0"/>
                <a:ea typeface="Calibri" pitchFamily="34" charset="-122"/>
                <a:cs typeface="Calibri" pitchFamily="34" charset="-120"/>
              </a:rPr>
              <a:t>travel (stranded at BIG)  LIN 41.6M · LOG 983k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103524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302066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43,313 pharmacy cells · </a:t>
            </a:r>
            <a:r>
              <a:rPr lang="en-US" sz="1000" dirty="0">
                <a:solidFill>
                  <a:srgbClr val="5B6B7B"/>
                </a:solidFill>
                <a:latin typeface="Calibri" pitchFamily="34" charset="0"/>
                <a:ea typeface="Calibri" pitchFamily="34" charset="-122"/>
                <a:cs typeface="Calibri" pitchFamily="34" charset="-120"/>
              </a:rPr>
              <a:t>travel  LIN 1214M · LOG 31.9M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43,412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26,050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16,869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424,524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+880%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44,057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0.00355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24,324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11,174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195,299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(69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375687207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17,642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54,700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8194997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70,747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276,192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31,426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63,078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27,508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52,988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15,194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40,997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9963081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+16% (1308)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+6% (1151)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(2409)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(1470)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(2202)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(1966)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+5% (2789)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3579267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Catchments now by ROAD-network travel time (not Euclidean); #empty + smallest non-zero catchment reported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Cap-ladder rungs prototyped (cost-function-free, exploratory): S1-A/B · S2-A/B — run for NL</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Recalculation done: candidates = ≥50-pop cells ∪ pharmacy cells · clients = FULL population · adapted logit (25/10) — all 42 areas re-swept, incl. Poland + its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all 41 disjoint areas (exact by separability) — new page after the region pages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LINEAR &amp; LOGISTIC travel costs both run &amp; compared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(Σy ≤ 1, unserved priced at BIG on BOTH sides): FRM, ITG, SE2, DK now bracket S1 &amp; S2; baseline coverage-consistent</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Extend Belgium &amp; FRI LINEAR sweeps past w = 0.2 (LP time limit) — the last gap: aggregate LINEAR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 single 2-D status-quo→frontier distance metric (coverage-honest; stranded priced at BIG)</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Calculating better estimations for S1 and S2 (exact soft-coverage p-median MIP at p = baseline)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but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Border-cases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is the cap/threshold ladder worth pursuing given how widely catchments vary?  ·  logistic vs linear travel cost (the equity-weighting choice)?  ·  best way to communicate λ?</a:t>
            </a:r>
            <a:endParaRPr lang="en-US" sz="1000" dirty="0"/>
          </a:p>
        </p:txBody>
      </p:sp>
    </p:spTree>
    <p:extLst>
      <p:ext uri="{BB962C8B-B14F-4D97-AF65-F5344CB8AC3E}">
        <p14:creationId xmlns:p14="http://schemas.microsoft.com/office/powerpoint/2010/main" val="9645858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32686838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5DC3A7-2ABE-18F2-C6A7-1ABBA064824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7E9DC8A-8373-F443-B845-98097CDE146B}"/>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98892924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42C37A7-E6AF-D451-6BF3-42043EE3496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EE4ABAF-8455-E9EE-6526-FDD5B28AB819}"/>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40135074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A8FCB2-285D-0FD0-6BCA-8D63C91D8EE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DD88AFB-1EB6-7011-9213-D222D1B3718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9914612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F4D3AD-36FF-8400-A73B-1BBD297E80E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B84721D-29A3-EE42-3BB1-C6912AA1E7D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5576987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517B6-9BF9-CCB8-089F-7FF6D519663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515FAED-CFFB-6520-0216-B8D0889B5A52}"/>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1408612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3F849F-4009-14BD-8147-C07CE3AA0A8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2376E2C-FB42-CA42-A898-BDE6B6235E8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74030479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56D5489-72BF-8DA7-BC01-BE670D1070A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2B1BDB8-D3E0-FD99-BCF6-279803B893AA}"/>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108095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6E95F-362F-BF6D-7A68-67390AA1DB0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AB5D804-2351-C588-F8AE-83F79A085CF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9668954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13392</Words>
  <Application>Microsoft Office PowerPoint</Application>
  <PresentationFormat>Widescreen</PresentationFormat>
  <Paragraphs>3426</Paragraphs>
  <Slides>69</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2026-07-24T20:51:24Z</dcterms:modified>
</cp:coreProperties>
</file>