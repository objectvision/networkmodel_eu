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1"/>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 id="334" r:id="rId79"/>
    <p:sldId id="335" r:id="rId8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9293414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477029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9041296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3815989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7365023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7905842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9366308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3127938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2763288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2425935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8572951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5578138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2883524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8272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9249509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9393161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0776999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85785321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8307565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1543311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3931184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131245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8436969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0805175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8681864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7462515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41963399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14029468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8573677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96181270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52653799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283430792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8240547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447663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314941410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3433660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423214237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98754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21950726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40725064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416627787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62118284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4355088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915101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234936287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66884120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5805660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6777310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89965513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13722251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301790006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80979266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218127290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25818468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45207303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84720148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24372661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30132907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2812070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39660414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226260878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65874256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381760781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31332397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009205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90.png"/></Relationships>
</file>

<file path=ppt/slides/_rels/slide6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92.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proximity vs efficiency: what exists today, by how much it could improve at equal cost or equal accessibility, and which of 44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9165339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proximity vs efficiency — Lewis's trilemma (travel, operating cost, demand density) with the population distribution taken as given, as his p5 does.</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(p16–63).</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(p66).</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(p65). A terminology bridge to Lewis's benchmarking deck and Rosa Figueiredo's La Poste deck closes the deck (p67).</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(≥1 pharmacy per zone — Rosa's CpMP with territorial coverage) for equity, or keep soft coverage.</a:t>
            </a:r>
            <a:endParaRPr lang="en-US" sz="1000" dirty="0"/>
          </a:p>
        </p:txBody>
      </p:sp>
    </p:spTree>
    <p:extLst>
      <p:ext uri="{BB962C8B-B14F-4D97-AF65-F5344CB8AC3E}">
        <p14:creationId xmlns:p14="http://schemas.microsoft.com/office/powerpoint/2010/main" val="1231689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1455261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1022358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1240175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31,263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4757979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712464"/>
            <a:ext cx="4937760" cy="859536"/>
          </a:xfrm>
          <a:prstGeom prst="roundRect">
            <a:avLst>
              <a:gd name="adj" fmla="val 5319"/>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749040"/>
            <a:ext cx="4718304" cy="804672"/>
          </a:xfrm>
          <a:prstGeom prst="rect">
            <a:avLst/>
          </a:prstGeom>
          <a:noFill/>
          <a:ln/>
        </p:spPr>
        <p:txBody>
          <a:bodyPr wrap="square" rtlCol="0" anchor="t"/>
          <a:lstStyle/>
          <a:p>
            <a:pPr marL="0" indent="0">
              <a:lnSpc>
                <a:spcPct val="96000"/>
              </a:lnSpc>
              <a:buNone/>
            </a:pPr>
            <a:r>
              <a:rPr lang="en-US" sz="760" b="1" dirty="0">
                <a:solidFill>
                  <a:srgbClr val="B9791C"/>
                </a:solidFill>
                <a:latin typeface="Calibri" pitchFamily="34" charset="0"/>
                <a:ea typeface="Calibri" pitchFamily="34" charset="-122"/>
                <a:cs typeface="Calibri" pitchFamily="34" charset="-120"/>
              </a:rPr>
              <a:t>⚠ For review:  </a:t>
            </a:r>
            <a:r>
              <a:rPr lang="en-US" sz="76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0.012% of residents: 36 of 43 areas have none, the largest remainder is SE2 (165 cells, 14,210 residents, 0.32%) — genuinely remote cells, not a coverage artefact. Feedback welcome.</a:t>
            </a:r>
            <a:endParaRPr lang="en-US" sz="760" dirty="0"/>
          </a:p>
        </p:txBody>
      </p:sp>
      <p:sp>
        <p:nvSpPr>
          <p:cNvPr id="17" name="Shape 15"/>
          <p:cNvSpPr/>
          <p:nvPr/>
        </p:nvSpPr>
        <p:spPr>
          <a:xfrm>
            <a:off x="457200" y="4617720"/>
            <a:ext cx="11274552" cy="1783080"/>
          </a:xfrm>
          <a:prstGeom prst="roundRect">
            <a:avLst>
              <a:gd name="adj" fmla="val 3077"/>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36592"/>
            <a:ext cx="10835640" cy="1627632"/>
          </a:xfrm>
          <a:prstGeom prst="rect">
            <a:avLst/>
          </a:prstGeom>
          <a:noFill/>
          <a:ln/>
        </p:spPr>
        <p:txBody>
          <a:bodyPr wrap="square" rtlCol="0" anchor="t"/>
          <a:lstStyle/>
          <a:p>
            <a:pPr marL="0" indent="0">
              <a:buNone/>
            </a:pPr>
            <a:r>
              <a:rPr lang="en-US" sz="930" b="1" dirty="0">
                <a:solidFill>
                  <a:srgbClr val="12233A"/>
                </a:solidFill>
                <a:latin typeface="Calibri" pitchFamily="34" charset="0"/>
                <a:ea typeface="Calibri" pitchFamily="34" charset="-122"/>
                <a:cs typeface="Calibri" pitchFamily="34" charset="-120"/>
              </a:rPr>
              <a:t>Why the relaxation, and what it buys.  </a:t>
            </a:r>
            <a:r>
              <a:rPr lang="en-US" sz="930" dirty="0">
                <a:solidFill>
                  <a:srgbClr val="5B6B7B"/>
                </a:solidFill>
                <a:latin typeface="Calibri" pitchFamily="34" charset="0"/>
                <a:ea typeface="Calibri" pitchFamily="34" charset="-122"/>
                <a:cs typeface="Calibri" pitchFamily="34" charset="-120"/>
              </a:rPr>
              <a:t>With yⱼ ∈ {0,1} this is the (NP-hard) uncapacitated facility-location problem (UFLP), in its strong disaggregated formulation — one xᵢⱼ ≤ yⱼ per OD pair, i.e. the full set of the “disaggregated cuts” that Rosa's La Poste deck (p11) adds only for each customer's closest facility — whose LP relaxation is known to be nearly integral, which the sweeps confirm (frac_y stays small). The LP optimum is a certified </a:t>
            </a:r>
            <a:r>
              <a:rPr lang="en-US" sz="930" b="1" dirty="0">
                <a:solidFill>
                  <a:srgbClr val="5B6B7B"/>
                </a:solidFill>
                <a:latin typeface="Calibri" pitchFamily="34" charset="0"/>
                <a:ea typeface="Calibri" pitchFamily="34" charset="-122"/>
                <a:cs typeface="Calibri" pitchFamily="34" charset="-120"/>
              </a:rPr>
              <a:t>lower bound</a:t>
            </a:r>
            <a:r>
              <a:rPr lang="en-US" sz="93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930" b="1" dirty="0">
                <a:solidFill>
                  <a:srgbClr val="0B6E99"/>
                </a:solidFill>
                <a:latin typeface="Calibri" pitchFamily="34" charset="0"/>
                <a:ea typeface="Calibri" pitchFamily="34" charset="-122"/>
                <a:cs typeface="Calibri" pitchFamily="34" charset="-120"/>
              </a:rPr>
              <a:t>upper bound</a:t>
            </a:r>
            <a:r>
              <a:rPr lang="en-US" sz="93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930" dirty="0"/>
          </a:p>
          <a:p>
            <a:pPr marL="0" indent="0">
              <a:buNone/>
            </a:pPr>
            <a:r>
              <a:rPr lang="en-US" sz="930" b="1" dirty="0">
                <a:solidFill>
                  <a:srgbClr val="12233A"/>
                </a:solidFill>
                <a:latin typeface="Calibri" pitchFamily="34" charset="0"/>
                <a:ea typeface="Calibri" pitchFamily="34" charset="-122"/>
                <a:cs typeface="Calibri" pitchFamily="34" charset="-120"/>
              </a:rPr>
              <a:t>Relation to the p-median problem.  </a:t>
            </a:r>
            <a:r>
              <a:rPr lang="en-US" sz="93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(pMP: Hakimi 1964;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 In the family tree of Rosa's deck (her p7): capacities Rⱼ on Σᵢ popᵢ·xᵢⱼ make it the CpMP; a coverage radius in place of c(t) makes it the MCLP — the saturating logistic c(t) is the smooth counterpart of that coverage objective (p66).</a:t>
            </a:r>
            <a:endParaRPr lang="en-US" sz="93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33761420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 (on the ESPON list; 2.0 min and 1,682 on the OECD list, next box)</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and Italy not with the previous one either.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lists all shift. And since 7 Sep the Italian pharmacies are the OECD-geolocated Ministry of Health list — 20,635 instead of the ESPON shapefile's 12,991 (ITF 1,951 → 4,955): the “improvement potential” the earlier decks ranked ITF and ITG first on was mostly pharmacies missing from the DATA. Hungary (3,094, OECD-geocoded) and Finland (797) are new areas: 44 swept, 43 disjoint in the aggregate.</a:t>
            </a:r>
            <a:endParaRPr lang="en-US" sz="930" dirty="0"/>
          </a:p>
        </p:txBody>
      </p:sp>
    </p:spTree>
    <p:extLst>
      <p:ext uri="{BB962C8B-B14F-4D97-AF65-F5344CB8AC3E}">
        <p14:creationId xmlns:p14="http://schemas.microsoft.com/office/powerpoint/2010/main" val="18142283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The choice set  </a:t>
            </a:r>
            <a:r>
              <a:rPr lang="en-US" sz="2000" dirty="0">
                <a:solidFill>
                  <a:srgbClr val="1C3D5A"/>
                </a:solidFill>
                <a:latin typeface="Georgia" pitchFamily="34" charset="0"/>
                <a:ea typeface="Georgia" pitchFamily="34" charset="-122"/>
                <a:cs typeface="Georgia" pitchFamily="34" charset="-120"/>
              </a:rPr>
              <a:t>— where the 5-nearest rule binds, and why widening it precedes RSSV</a:t>
            </a:r>
            <a:endParaRPr lang="en-US" sz="20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Norway at S2 (429 of 757 open): 2,642 cells / 949,030 residents — 18.6%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SE1 at S2 (221 of 388): 12.7% one closure away; SE2 at S2 (278 of 452): 12.0%, 529,700 residents. These are the areas the ranked lists now put on top — the sparse Nordic ones — and exactly where the radius binds hardest.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On the OECD Italian data the pressure is gone from ITF (1.8% at S2, 0% stranded; 28.6 candidates per client): its earlier 9% + 24% was the ESPON list missing three pharmacies in five. Measured on the S1/S2 pinned by bisection (#52).</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(Albuquerque, Figueiredo &amp; Genre-Grandpierre 2026, arXiv 2607.22666 — Rosa's p12)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(sample → solve → vote → filter) → exact MIP on the reduced set → post-optimisation, as in her flow.</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1E7A52"/>
                </a:solidFill>
                <a:latin typeface="Calibri" pitchFamily="34" charset="0"/>
                <a:ea typeface="Calibri" pitchFamily="34" charset="-122"/>
                <a:cs typeface="Calibri" pitchFamily="34" charset="-120"/>
              </a:rPr>
              <a:t>Fixed (#52): </a:t>
            </a:r>
            <a:r>
              <a:rPr lang="en-US" sz="880" dirty="0">
                <a:solidFill>
                  <a:srgbClr val="12233A"/>
                </a:solidFill>
                <a:latin typeface="Calibri" pitchFamily="34" charset="0"/>
                <a:ea typeface="Calibri" pitchFamily="34" charset="-122"/>
                <a:cs typeface="Calibri" pitchFamily="34" charset="-120"/>
              </a:rPr>
              <a:t>S1 and S2 used to be read off the nearest swept λ grid point — a coarse read anywhere (S1 was more than 10% off today’s count in 22 of 74 sweeps) and in 5 areas the same point for both (SE2’s delivered S1 had 309 open, not 452). Both are now pinned by bisection the moment their bracket closes, to within max(1, 0.2%) of today’s count and 0.2% of today’s travel — in 87 of 88 sweeps; the exception is country-level Poland LINEAR (S1 1.6% off), the largest LP, whose solves near S1 take hours each and whose seven NUTS-1 areas are all pinned. The exported S1/S2 location files (#45) and everything measured on them, this slide included, are on the pinned points.</a:t>
            </a:r>
            <a:endParaRPr lang="en-US" sz="880" dirty="0"/>
          </a:p>
        </p:txBody>
      </p:sp>
    </p:spTree>
    <p:extLst>
      <p:ext uri="{BB962C8B-B14F-4D97-AF65-F5344CB8AC3E}">
        <p14:creationId xmlns:p14="http://schemas.microsoft.com/office/powerpoint/2010/main" val="3517156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1188720"/>
          </a:xfrm>
          <a:prstGeom prst="roundRect">
            <a:avLst>
              <a:gd name="adj" fmla="val 3846"/>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80467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 a p-median instance (p7). S1/S2 are now pinned by bisection over λ to within one facility / 0.2% travel (#52, p9); the exact fixed-count solve stays on the roadmap for the integrality gap (p65).</a:t>
            </a:r>
            <a:endParaRPr lang="en-US" sz="930" dirty="0"/>
          </a:p>
        </p:txBody>
      </p:sp>
    </p:spTree>
    <p:extLst>
      <p:ext uri="{BB962C8B-B14F-4D97-AF65-F5344CB8AC3E}">
        <p14:creationId xmlns:p14="http://schemas.microsoft.com/office/powerpoint/2010/main" val="867780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a:p>
        </p:txBody>
      </p:sp>
      <p:sp>
        <p:nvSpPr>
          <p:cNvPr id="5" name="Shape 3"/>
          <p:cNvSpPr/>
          <p:nvPr/>
        </p:nvSpPr>
        <p:spPr>
          <a:xfrm>
            <a:off x="548640" y="1554480"/>
            <a:ext cx="91440" cy="2286000"/>
          </a:xfrm>
          <a:prstGeom prst="rect">
            <a:avLst/>
          </a:prstGeom>
          <a:solidFill>
            <a:srgbClr val="1C7293"/>
          </a:solidFill>
          <a:ln/>
        </p:spPr>
        <p:txBody>
          <a:bodyPr/>
          <a:lstStyle/>
          <a:p>
            <a:endParaRPr/>
          </a:p>
        </p:txBody>
      </p:sp>
      <p:sp>
        <p:nvSpPr>
          <p:cNvPr id="6" name="Shape 4"/>
          <p:cNvSpPr/>
          <p:nvPr/>
        </p:nvSpPr>
        <p:spPr>
          <a:xfrm>
            <a:off x="4572000" y="1737360"/>
            <a:ext cx="1188720" cy="274320"/>
          </a:xfrm>
          <a:prstGeom prst="rect">
            <a:avLst/>
          </a:prstGeom>
          <a:solidFill>
            <a:srgbClr val="1C7293"/>
          </a:solidFill>
          <a:ln/>
        </p:spPr>
        <p:txBody>
          <a:bodyPr/>
          <a:lstStyle/>
          <a:p>
            <a:endParaRPr/>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a:p>
        </p:txBody>
      </p:sp>
      <p:sp>
        <p:nvSpPr>
          <p:cNvPr id="12" name="Shape 10"/>
          <p:cNvSpPr/>
          <p:nvPr/>
        </p:nvSpPr>
        <p:spPr>
          <a:xfrm>
            <a:off x="6217920" y="1554480"/>
            <a:ext cx="91440" cy="2286000"/>
          </a:xfrm>
          <a:prstGeom prst="rect">
            <a:avLst/>
          </a:prstGeom>
          <a:solidFill>
            <a:srgbClr val="065A82"/>
          </a:solidFill>
          <a:ln/>
        </p:spPr>
        <p:txBody>
          <a:bodyPr/>
          <a:lstStyle/>
          <a:p>
            <a:endParaRPr/>
          </a:p>
        </p:txBody>
      </p:sp>
      <p:sp>
        <p:nvSpPr>
          <p:cNvPr id="13" name="Shape 11"/>
          <p:cNvSpPr/>
          <p:nvPr/>
        </p:nvSpPr>
        <p:spPr>
          <a:xfrm>
            <a:off x="10241280" y="1737360"/>
            <a:ext cx="1188720" cy="274320"/>
          </a:xfrm>
          <a:prstGeom prst="rect">
            <a:avLst/>
          </a:prstGeom>
          <a:solidFill>
            <a:srgbClr val="065A82"/>
          </a:solidFill>
          <a:ln/>
        </p:spPr>
        <p:txBody>
          <a:bodyPr/>
          <a:lstStyle/>
          <a:p>
            <a:endParaRPr/>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sum_y = today's cell count</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Σᵢ popᵢ·c(tᵢⱼ)·xᵢⱼ + λ·Σⱼ yⱼ   (p7)</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Bisection over λ pins the count at today's, within max(1, 0.2%) (#52).</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 relaxation of the UFLP, strong linking xᵢⱼ ≤ yⱼ; at fixed p a p-median (pMP).</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a:p>
        </p:txBody>
      </p:sp>
      <p:sp>
        <p:nvSpPr>
          <p:cNvPr id="19" name="Shape 17"/>
          <p:cNvSpPr/>
          <p:nvPr/>
        </p:nvSpPr>
        <p:spPr>
          <a:xfrm>
            <a:off x="548640" y="4114800"/>
            <a:ext cx="91440" cy="2286000"/>
          </a:xfrm>
          <a:prstGeom prst="rect">
            <a:avLst/>
          </a:prstGeom>
          <a:solidFill>
            <a:srgbClr val="065A82"/>
          </a:solidFill>
          <a:ln/>
        </p:spPr>
        <p:txBody>
          <a:bodyPr/>
          <a:lstStyle/>
          <a:p>
            <a:endParaRPr/>
          </a:p>
        </p:txBody>
      </p:sp>
      <p:sp>
        <p:nvSpPr>
          <p:cNvPr id="20" name="Shape 18"/>
          <p:cNvSpPr/>
          <p:nvPr/>
        </p:nvSpPr>
        <p:spPr>
          <a:xfrm>
            <a:off x="4572000" y="4297680"/>
            <a:ext cx="1188720" cy="274320"/>
          </a:xfrm>
          <a:prstGeom prst="rect">
            <a:avLst/>
          </a:prstGeom>
          <a:solidFill>
            <a:srgbClr val="065A82"/>
          </a:solidFill>
          <a:ln/>
        </p:spPr>
        <p:txBody>
          <a:bodyPr/>
          <a:lstStyle/>
          <a:p>
            <a:endParaRPr/>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travel = today's</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Bisection over λ pins travel at today's, within 0.2%;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a:p>
        </p:txBody>
      </p:sp>
      <p:sp>
        <p:nvSpPr>
          <p:cNvPr id="26" name="Shape 24"/>
          <p:cNvSpPr/>
          <p:nvPr/>
        </p:nvSpPr>
        <p:spPr>
          <a:xfrm>
            <a:off x="6217920" y="4114800"/>
            <a:ext cx="91440" cy="2286000"/>
          </a:xfrm>
          <a:prstGeom prst="rect">
            <a:avLst/>
          </a:prstGeom>
          <a:solidFill>
            <a:srgbClr val="F2B632"/>
          </a:solidFill>
          <a:ln/>
        </p:spPr>
        <p:txBody>
          <a:bodyPr/>
          <a:lstStyle/>
          <a:p>
            <a:endParaRPr/>
          </a:p>
        </p:txBody>
      </p:sp>
      <p:sp>
        <p:nvSpPr>
          <p:cNvPr id="27" name="Shape 25"/>
          <p:cNvSpPr/>
          <p:nvPr/>
        </p:nvSpPr>
        <p:spPr>
          <a:xfrm>
            <a:off x="10241280" y="4297680"/>
            <a:ext cx="1188720" cy="274320"/>
          </a:xfrm>
          <a:prstGeom prst="rect">
            <a:avLst/>
          </a:prstGeom>
          <a:solidFill>
            <a:srgbClr val="F2B632"/>
          </a:solidFill>
          <a:ln/>
        </p:spPr>
        <p:txBody>
          <a:bodyPr/>
          <a:lstStyle/>
          <a:p>
            <a:endParaRPr/>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1-2-5 grid per decade, w ∈ {1e-4 … 5}, extended upward until S1 brackets; then bisection to S1 and S2.</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sum_y, the travel bounds and the rounded n_open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35873708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 — proximity vs efficiency</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sum_y,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(sum_y,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points on the same curve; the diagonal crossing between them is Lewis's cross-lambda (p72).</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sum_y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sum_y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SUM_Y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y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(sum_y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sum_y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13632991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196858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travel time to the nearest open pharmacy: today, S1, S2</a:t>
            </a:r>
            <a:endParaRPr lang="en-US" sz="2200" dirty="0"/>
          </a:p>
        </p:txBody>
      </p:sp>
      <p:sp>
        <p:nvSpPr>
          <p:cNvPr id="4" name="Text 2"/>
          <p:cNvSpPr/>
          <p:nvPr/>
        </p:nvSpPr>
        <p:spPr>
          <a:xfrm>
            <a:off x="411480" y="960120"/>
            <a:ext cx="11338560" cy="457200"/>
          </a:xfrm>
          <a:prstGeom prst="rect">
            <a:avLst/>
          </a:prstGeom>
          <a:noFill/>
          <a:ln/>
        </p:spPr>
        <p:txBody>
          <a:bodyPr wrap="square" rtlCol="0" anchor="t"/>
          <a:lstStyle/>
          <a:p>
            <a:pPr marL="0" indent="0">
              <a:buNone/>
            </a:pPr>
            <a:r>
              <a:rPr lang="en-US" sz="950" b="1" dirty="0">
                <a:solidFill>
                  <a:srgbClr val="1C3D5A"/>
                </a:solidFill>
                <a:latin typeface="Calibri" pitchFamily="34" charset="0"/>
                <a:ea typeface="Calibri" pitchFamily="34" charset="-122"/>
                <a:cs typeface="Calibri" pitchFamily="34" charset="-120"/>
              </a:rPr>
              <a:t>LINEAR cost, pinned scenarios (#52).  </a:t>
            </a:r>
            <a:r>
              <a:rPr lang="en-US" sz="950" dirty="0">
                <a:solidFill>
                  <a:srgbClr val="5B6B7B"/>
                </a:solidFill>
                <a:latin typeface="Calibri" pitchFamily="34" charset="0"/>
                <a:ea typeface="Calibri" pitchFamily="34" charset="-122"/>
                <a:cs typeface="Calibri" pitchFamily="34" charset="-120"/>
              </a:rPr>
              <a:t>Each 1-km client cell coloured by its road travel time to the nearest OPEN pharmacy, in the classes of the model's own classification (0–2 … 30–60, &gt; 60 min). S1 keeps today's count (1,618 open) and moves pharmacies where they cut travel most; S2 keeps today's travel with 1,174 open. A cell with no open pharmacy among its five nearest candidates is stranded (marked) and priced at BIG in the sweep.</a:t>
            </a:r>
            <a:endParaRPr lang="en-US" sz="950" dirty="0"/>
          </a:p>
        </p:txBody>
      </p:sp>
      <p:pic>
        <p:nvPicPr>
          <p:cNvPr id="5" name="Image 0" descr="E:\prj\JRC\NetworkModel_EU\doc\charts\maps_Netherlands_LINEAR.png"/>
          <p:cNvPicPr>
            <a:picLocks noChangeAspect="1"/>
          </p:cNvPicPr>
          <p:nvPr/>
        </p:nvPicPr>
        <p:blipFill>
          <a:blip r:embed="rId3"/>
          <a:stretch>
            <a:fillRect/>
          </a:stretch>
        </p:blipFill>
        <p:spPr>
          <a:xfrm>
            <a:off x="411480" y="1463040"/>
            <a:ext cx="11338560" cy="4572000"/>
          </a:xfrm>
          <a:prstGeom prst="rect">
            <a:avLst/>
          </a:prstGeom>
        </p:spPr>
      </p:pic>
      <p:sp>
        <p:nvSpPr>
          <p:cNvPr id="6" name="Text 3"/>
          <p:cNvSpPr/>
          <p:nvPr/>
        </p:nvSpPr>
        <p:spPr>
          <a:xfrm>
            <a:off x="411480" y="6172200"/>
            <a:ext cx="1133856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Means are population-weighted, a stranded cell at the 120-min cutoff. From the arrows the sweep writes for the baseline and the pinned S1/S2 (lambda_sweep/LINEAR/{baseline,S1,S2}/traveltime.arrow); doc/nl_maps.jl → doc/nl_maps.py.</a:t>
            </a:r>
            <a:endParaRPr lang="en-US" sz="850" dirty="0"/>
          </a:p>
        </p:txBody>
      </p:sp>
    </p:spTree>
    <p:extLst>
      <p:ext uri="{BB962C8B-B14F-4D97-AF65-F5344CB8AC3E}">
        <p14:creationId xmlns:p14="http://schemas.microsoft.com/office/powerpoint/2010/main" val="41216345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655816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163149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621615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858731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045377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534994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323121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039414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540806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411972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34136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0.000493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994311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830937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HUNGARY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Hungary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1,864 cells · 3.61 min mean · </a:t>
            </a:r>
            <a:r>
              <a:rPr lang="en-US" sz="1000" dirty="0">
                <a:solidFill>
                  <a:srgbClr val="5B6B7B"/>
                </a:solidFill>
                <a:latin typeface="Calibri" pitchFamily="34" charset="0"/>
                <a:ea typeface="Calibri" pitchFamily="34" charset="-122"/>
                <a:cs typeface="Calibri" pitchFamily="34" charset="-120"/>
              </a:rPr>
              <a:t>travel (stranded at BIG)  LIN 34.9M · LOG 1.1M</a:t>
            </a:r>
            <a:endParaRPr lang="en-US" sz="1000" dirty="0"/>
          </a:p>
        </p:txBody>
      </p:sp>
      <p:pic>
        <p:nvPicPr>
          <p:cNvPr id="5" name="Image 0" descr="E:\prj\JRC\NetworkModel_EU\doc\charts\Hungar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Hungar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333593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FINLAND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Finland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719 cells · 6.40 min mean · </a:t>
            </a:r>
            <a:r>
              <a:rPr lang="en-US" sz="1000" dirty="0">
                <a:solidFill>
                  <a:srgbClr val="5B6B7B"/>
                </a:solidFill>
                <a:latin typeface="Calibri" pitchFamily="34" charset="0"/>
                <a:ea typeface="Calibri" pitchFamily="34" charset="-122"/>
                <a:cs typeface="Calibri" pitchFamily="34" charset="-120"/>
              </a:rPr>
              <a:t>travel (stranded at BIG)  LIN 35.1M · LOG 815k</a:t>
            </a:r>
            <a:endParaRPr lang="en-US" sz="1000" dirty="0"/>
          </a:p>
        </p:txBody>
      </p:sp>
      <p:pic>
        <p:nvPicPr>
          <p:cNvPr id="5" name="Image 0" descr="E:\prj\JRC\NetworkModel_EU\doc\charts\Fin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in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233965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270671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184117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339775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678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699223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17.4M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0.000859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653318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450845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850 cells · 3.98 min mean · </a:t>
            </a:r>
            <a:r>
              <a:rPr lang="en-US" sz="1000" dirty="0">
                <a:solidFill>
                  <a:srgbClr val="5B6B7B"/>
                </a:solidFill>
                <a:latin typeface="Calibri" pitchFamily="34" charset="0"/>
                <a:ea typeface="Calibri" pitchFamily="34" charset="-122"/>
                <a:cs typeface="Calibri" pitchFamily="34" charset="-120"/>
              </a:rPr>
              <a:t>travel (stranded at BIG)  LIN 15.2M · LOG 440k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4809777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792 cells · 4.30 min mean · </a:t>
            </a:r>
            <a:r>
              <a:rPr lang="en-US" sz="1000" dirty="0">
                <a:solidFill>
                  <a:srgbClr val="5B6B7B"/>
                </a:solidFill>
                <a:latin typeface="Calibri" pitchFamily="34" charset="0"/>
                <a:ea typeface="Calibri" pitchFamily="34" charset="-122"/>
                <a:cs typeface="Calibri" pitchFamily="34" charset="-120"/>
              </a:rPr>
              <a:t>travel (stranded at BIG)  LIN 14.4M · LOG 393k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1914053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1,583 cells · 4.44 min mean · </a:t>
            </a:r>
            <a:r>
              <a:rPr lang="en-US" sz="1000" dirty="0">
                <a:solidFill>
                  <a:srgbClr val="5B6B7B"/>
                </a:solidFill>
                <a:latin typeface="Calibri" pitchFamily="34" charset="0"/>
                <a:ea typeface="Calibri" pitchFamily="34" charset="-122"/>
                <a:cs typeface="Calibri" pitchFamily="34" charset="-120"/>
              </a:rPr>
              <a:t>travel (stranded at BIG)  LIN 26.8M · LOG 728k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645222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3.90 min mean · </a:t>
            </a:r>
            <a:r>
              <a:rPr lang="en-US" sz="1000" dirty="0">
                <a:solidFill>
                  <a:srgbClr val="5B6B7B"/>
                </a:solidFill>
                <a:latin typeface="Calibri" pitchFamily="34" charset="0"/>
                <a:ea typeface="Calibri" pitchFamily="34" charset="-122"/>
                <a:cs typeface="Calibri" pitchFamily="34" charset="-120"/>
              </a:rPr>
              <a:t>travel (stranded at BIG)  LIN 23.5M · LOG 694k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496740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513879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1,024 cells · 2.61 min mean · </a:t>
            </a:r>
            <a:r>
              <a:rPr lang="en-US" sz="1000" dirty="0">
                <a:solidFill>
                  <a:srgbClr val="5B6B7B"/>
                </a:solidFill>
                <a:latin typeface="Calibri" pitchFamily="34" charset="0"/>
                <a:ea typeface="Calibri" pitchFamily="34" charset="-122"/>
                <a:cs typeface="Calibri" pitchFamily="34" charset="-120"/>
              </a:rPr>
              <a:t>travel (stranded at BIG)  LIN 13.1M · LOG 514k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054243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5.12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250546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3,875 cells · 1.89 min mean · </a:t>
            </a:r>
            <a:r>
              <a:rPr lang="en-US" sz="1000" dirty="0">
                <a:solidFill>
                  <a:srgbClr val="5B6B7B"/>
                </a:solidFill>
                <a:latin typeface="Calibri" pitchFamily="34" charset="0"/>
                <a:ea typeface="Calibri" pitchFamily="34" charset="-122"/>
                <a:cs typeface="Calibri" pitchFamily="34" charset="-120"/>
              </a:rPr>
              <a:t>travel (stranded at BIG)  LIN 29.8M · LOG 1.5M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0.0677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342561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3,187 cells · 2.02 min mean · </a:t>
            </a:r>
            <a:r>
              <a:rPr lang="en-US" sz="1000" dirty="0">
                <a:solidFill>
                  <a:srgbClr val="5B6B7B"/>
                </a:solidFill>
                <a:latin typeface="Calibri" pitchFamily="34" charset="0"/>
                <a:ea typeface="Calibri" pitchFamily="34" charset="-122"/>
                <a:cs typeface="Calibri" pitchFamily="34" charset="-120"/>
              </a:rPr>
              <a:t>travel (stranded at BIG)  LIN 26.8M · LOG 1.3M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581686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1,431 cells · 2.01 min mean · </a:t>
            </a:r>
            <a:r>
              <a:rPr lang="en-US" sz="1000" dirty="0">
                <a:solidFill>
                  <a:srgbClr val="5B6B7B"/>
                </a:solidFill>
                <a:latin typeface="Calibri" pitchFamily="34" charset="0"/>
                <a:ea typeface="Calibri" pitchFamily="34" charset="-122"/>
                <a:cs typeface="Calibri" pitchFamily="34" charset="-120"/>
              </a:rPr>
              <a:t>travel (stranded at BIG)  LIN 12.6M · LOG 595k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9558672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2,993 cells · 2.78 min mean · </a:t>
            </a:r>
            <a:r>
              <a:rPr lang="en-US" sz="1000" dirty="0">
                <a:solidFill>
                  <a:srgbClr val="5B6B7B"/>
                </a:solidFill>
                <a:latin typeface="Calibri" pitchFamily="34" charset="0"/>
                <a:ea typeface="Calibri" pitchFamily="34" charset="-122"/>
                <a:cs typeface="Calibri" pitchFamily="34" charset="-120"/>
              </a:rPr>
              <a:t>travel (stranded at BIG)  LIN 32.0M · LOG 1.2M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507883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2,709 cells · 2.32 min mean · </a:t>
            </a:r>
            <a:r>
              <a:rPr lang="en-US" sz="1000" dirty="0">
                <a:solidFill>
                  <a:srgbClr val="5B6B7B"/>
                </a:solidFill>
                <a:latin typeface="Calibri" pitchFamily="34" charset="0"/>
                <a:ea typeface="Calibri" pitchFamily="34" charset="-122"/>
                <a:cs typeface="Calibri" pitchFamily="34" charset="-120"/>
              </a:rPr>
              <a:t>travel (stranded at BIG)  LIN 27.1M · LOG 1.1M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2135380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 cells · 5.72 min mean · </a:t>
            </a:r>
            <a:r>
              <a:rPr lang="en-US" sz="1000" dirty="0">
                <a:solidFill>
                  <a:srgbClr val="5B6B7B"/>
                </a:solidFill>
                <a:latin typeface="Calibri" pitchFamily="34" charset="0"/>
                <a:ea typeface="Calibri" pitchFamily="34" charset="-122"/>
                <a:cs typeface="Calibri" pitchFamily="34" charset="-120"/>
              </a:rPr>
              <a:t>travel (stranded at BIG)  LIN 23.3M · LOG 572k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200665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182962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9825408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679802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3.57 min mean · </a:t>
            </a:r>
            <a:r>
              <a:rPr lang="en-US" sz="1000" dirty="0">
                <a:solidFill>
                  <a:srgbClr val="5B6B7B"/>
                </a:solidFill>
                <a:latin typeface="Calibri" pitchFamily="34" charset="0"/>
                <a:ea typeface="Calibri" pitchFamily="34" charset="-122"/>
                <a:cs typeface="Calibri" pitchFamily="34" charset="-120"/>
              </a:rPr>
              <a:t>travel (stranded at BIG)  LIN 21.5M · LOG 676k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3717404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365822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593055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7798073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4292222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471144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43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51,350 pharmacy cells · </a:t>
            </a:r>
            <a:r>
              <a:rPr lang="en-US" sz="1000" dirty="0">
                <a:solidFill>
                  <a:srgbClr val="5B6B7B"/>
                </a:solidFill>
                <a:latin typeface="Calibri" pitchFamily="34" charset="0"/>
                <a:ea typeface="Calibri" pitchFamily="34" charset="-122"/>
                <a:cs typeface="Calibri" pitchFamily="34" charset="-120"/>
              </a:rPr>
              <a:t>travel  LIN 965M · LOG 30.4M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51,640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0.179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35,992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32,993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469,290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+814%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51,362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0.00214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33,350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19,451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204,245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43 disjoint areas (15 countries + FR/IT/SE/PL NUTS-1; country-level Poland excluded in favour of its 7 NUTS-1): at a common λ the sum of the regional optima IS the combined optimum. Summed at the union of swept w-values inside the range every area covers (163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15354535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268941">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country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today #</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travel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cost · Δ mean t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Netherlands</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1,615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−12.8 M min · −21.1%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−443 · −27.4%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−551 · −34.1%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24,319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34,297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373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Luxembourg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−483 k min · −20.1%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 · −29.9%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−35.1%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15,590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Estonia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 M min · −23.1%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−94 · −32.3%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−14.3%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−121 · −41.4%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11,637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Latvia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 M min · −21.4%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−145 · −29.1%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−11.4%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−183 · −36.8%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Slovenia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 M min · −14.4%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−82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−9.2%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−99 · −32.4%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16,259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25,560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Lithuania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M min · −24.4%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−205 · −35.2%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−15.0%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−269 · −46.2%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Ireland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−4.1 M min · −17.2%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−235 · −27.2%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−9.6%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−297 · −34.5%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14,248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21,034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Norway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755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−10.6 M min · −26.0%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−326 · −43.2%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−19.8% · −2.0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−359 · −47.6%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22,633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49,999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841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Denmark</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466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−5.9 M min · −15.8%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−133 · −28.6%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−11.8%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−166 · −35.7%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35,580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55,947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440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Austria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1,129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−373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−13.4%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 · −43.9%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18,294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31,095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Portugal</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M min · −22.1%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−571 · −30.3%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−8.4%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−624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10,355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Czechia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−487 · −30.0%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−9.7%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−588 · −36.2%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14,499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22,819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Belgium</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 M min · −15.6%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−520 · −17.6%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−0.3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−553 · −18.7%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7,353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7,027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−23.7 M min · −17.8%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−1,883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 −0.6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−2,208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10,254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15,809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Hungary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1,864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−6.8 M min · −19.5%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−481 · −25.8%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−8.5%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−585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11,682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17,208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Finland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719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−4.7 M min · −13.5%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−178 · −24.7%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−8.0%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 · −26.2%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21,768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33,003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23762971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 M min · −13.1%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−21.4%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9,764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13,230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 M min · −13.3%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−21.3%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−6.5%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M min · −14.9%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−5.2%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−307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8,915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11,678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−248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−309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10,723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14,813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−173 · −20.3%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−24.1%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10,681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−188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−210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−428 · −27.0%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8,824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12,369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 M min · −15.2%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−315 · −22.1%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−376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13,552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−4.3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−362 · −21.5%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14,042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−240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−286 · −27.9%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14,151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−321 k min · −18.9%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 −29.6%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 · −0.9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M min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−929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−911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6,771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M min · −27.8%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−818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−810 · −25.4%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 M min · −29.3%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−359 · −25.1%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−367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13,131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M min · −20.0%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−711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−742 · −24.8%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7,491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2,709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 M min · −22.6%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−660 · −24.3%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−670 · −24.7%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M min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−166 · −43.0%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−189 · −48.8%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27,899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53,985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M min · −22.0%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−38.4%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55,447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27,700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52,816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−5.1 M min · −20.7%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−419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−463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15,456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−294 · −24.5%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−366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14,638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−7.6%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10,443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−169 · −25.0%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−242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227779139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Hungary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Finland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bl>
          </a:graphicData>
        </a:graphic>
      </p:graphicFrame>
      <p:graphicFrame>
        <p:nvGraphicFramePr>
          <p:cNvPr id="123"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148126609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77824"/>
            <a:ext cx="11430000" cy="402336"/>
          </a:xfrm>
          <a:prstGeom prst="rect">
            <a:avLst/>
          </a:prstGeom>
          <a:noFill/>
          <a:ln/>
        </p:spPr>
        <p:txBody>
          <a:bodyPr wrap="square" rtlCol="0" anchor="t"/>
          <a:lstStyle/>
          <a:p>
            <a:pPr marL="0" indent="0">
              <a:buNone/>
            </a:pPr>
            <a:r>
              <a:rPr lang="en-US" sz="860" b="1" dirty="0">
                <a:solidFill>
                  <a:srgbClr val="12233A"/>
                </a:solidFill>
                <a:latin typeface="Calibri" pitchFamily="34" charset="0"/>
                <a:ea typeface="Calibri" pitchFamily="34" charset="-122"/>
                <a:cs typeface="Calibri" pitchFamily="34" charset="-120"/>
              </a:rPr>
              <a:t>The λ-sweep is the working general method. </a:t>
            </a:r>
            <a:r>
              <a:rPr lang="en-US" sz="860" dirty="0">
                <a:solidFill>
                  <a:srgbClr val="5B6B7B"/>
                </a:solidFill>
                <a:latin typeface="Calibri" pitchFamily="34" charset="0"/>
                <a:ea typeface="Calibri" pitchFamily="34" charset="-122"/>
                <a:cs typeface="Calibri" pitchFamily="34" charset="-120"/>
              </a:rPr>
              <a:t>Landbody-complete networks and NUTS region exclusion make these figures NOT comparable with earlier decks. The REGIO review (Moreno Monroy, Brons, Nöbauer) is worked in where it asked for answers and listed below where it asked for work. Status confirmed 4 Sep 2026, in priority order; items marked ▸ came from the seminar decks of Lewis and Rosa (16 Sep 2026) as proposals, not results.</a:t>
            </a:r>
            <a:endParaRPr lang="en-US" sz="86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OECD-checked pharmacy lists (7 Sep): Italy 20,635 geolocated (was ESPON 12,991; ITF 1,951 → 4,955), Hungary new (3,094), Finland back in (797; the June reader issue is gone on GeoDMS 20.19) — 44 areas swept, Italy's five rebuilt from the network up</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S1/S2 pinned by bisection (#52): within max(1, 0.2%) of today's count / 0.2% of today's travel in 87 of 88 sweeps (country-level Poland LINEAR, the largest LP, keeps its 1.6%-off grid point); the snap that put S1 up to 32% off and S1 = S2 in 5 areas is gone, and the sweep no longer burns hours on time-outs beyond S2</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S1 (same #, ↓travel) · S2 (same travel, ↓#) · S3 full frontier, in NATIVE units first, € second (p62–63)</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Candidates = ≥50-pop cells ∪ pharmacy cells, the FULL set in every area (the stride subsample of the July FRI/PL8 sweeps is retired, #54) · clients = FULL population · adapted logit (25/10) · soft coverage (Σx ≤ 1, unserved at BIG on BOTH sides): every area brackets S1 &amp; S2</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Aggregated frontier over 43 disjoint areas (exact by separability), bracketing S1 and S2 for both functions (p61)</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Improvement rectangle (raw + relative), diagonal crossing + λ — Lewis's “cross-lambda” (his p21) —, point-cloud with projections; ranked lists by policy typology — on the OECD data the sparse Nordic and Baltic areas lead (SE1, Norway, Lithuania, SE2, Estonia); the Italian lead of earlier decks was missing data</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REGIO review worked in: choice set (p9), λ-tangency (p10), logistic parametrised (p66), bounds on TOTAL cost only (p12), €100,000 a placeholder everywhere</a:t>
            </a:r>
            <a:endParaRPr lang="en-US" sz="86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(p62–63) are the first steps; the € labels stay placeholders until a is calibrated</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(Norway: 18.6% of residents one closure from stranding, SE1 12.7%, SE2 12.0%; p9)</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RSSV random-sampling spatial-voting matheuristic (Albuquerque, Figueiredo &amp; Genre-Grandpierre 2026, arXiv 2607.22666; Rosa's p12) — the principled way to make the largest LPs tractable (country-level Poland) now that the stride subsample is retired; needs the wider radius first</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Exact soft-coverage p-median MIP at p = baseline — S1 is now pinned to ±1 facility by bisection (#52), so this is about the integrality gap, no longer about the snap</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Territorial coverage constraints (≥1 pharmacy per NUTS unit; multi-scale nested — Rosa's CpMP with territorial coverage, her p8–9) as a STRUCTURED equity lever alongside the soft-coverage BIG penalty. Her PACA case prices the levels: +0.9% travel at the canton level, +111% at the commune level, +51% nested (her p19; RIC = travel above the p-median optimum at equal p)</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(p66)</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Capacity / max-catchment cap constraint (Rosa's CpMP; her lifted p-cover and location-bound cuts, p11, solve it exactly; her capacities are synthetic — Voronoi cells → demand bins → sampled, her p21)</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Counterfactuals anchored at today's network, as the La Poste curves (Rosa's p17–18): closure-only and addition-only frontiers next to the tabula-rasa one, a relocation budget, and the share of today's sites an optimum keeps (her “Actual %”). Lewis's two questions (his p4: subsidy to bring everybody nearby; extra travel if small facilities go) read off these. Closure-only = the sweep on the Existing OD; addition-only = today's cells fixed open. Still listed: −10% pop · replace a known X%</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Lewis's next steps (his p25): the S1/S2 gains by degree of urbanisation (his p6/p8; the DEGURBA 2021 grid is already in Locations.dms), a policy-vs-geography split of today's travel on the frontier (common-λ frontier · today's count · gap to the frontier), and cross-lambda against distance-to-frontier by OECD archetype — post-processing on existing sweep output, no new solves</a:t>
            </a:r>
            <a:endParaRPr lang="en-US" sz="8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(p66)?  ·  territorial coverage constraints (≥1 per zone; Rosa's p19 prices the levels) for equity, or keep soft coverage?</a:t>
            </a:r>
            <a:endParaRPr lang="en-US" sz="1000" dirty="0"/>
          </a:p>
        </p:txBody>
      </p:sp>
    </p:spTree>
    <p:extLst>
      <p:ext uri="{BB962C8B-B14F-4D97-AF65-F5344CB8AC3E}">
        <p14:creationId xmlns:p14="http://schemas.microsoft.com/office/powerpoint/2010/main" val="321711562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443984"/>
            <a:ext cx="4206240" cy="914400"/>
          </a:xfrm>
          <a:prstGeom prst="rect">
            <a:avLst/>
          </a:prstGeom>
          <a:noFill/>
          <a:ln/>
        </p:spPr>
        <p:txBody>
          <a:bodyPr wrap="square" rtlCol="0" anchor="t"/>
          <a:lstStyle/>
          <a:p>
            <a:pPr marL="0" indent="0">
              <a:buNone/>
            </a:pPr>
            <a:r>
              <a:rPr lang="en-US" sz="880" i="1" dirty="0">
                <a:solidFill>
                  <a:srgbClr val="12233A"/>
                </a:solidFill>
                <a:latin typeface="Calibri" pitchFamily="34" charset="0"/>
                <a:ea typeface="Calibri" pitchFamily="34" charset="-122"/>
                <a:cs typeface="Calibri" pitchFamily="34" charset="-120"/>
              </a:rPr>
              <a:t>Both cross at ≈15 min (0.27). </a:t>
            </a:r>
            <a:r>
              <a:rPr lang="en-US" sz="88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his benchmarking deck (p14) reads it as: short-trip differences matter little, 10–60 min is critical, beyond 60 min equally disliked. Applied in the recalculation (settings.jl defaults; previous variant via LOGISTIC_MIDPOINT=30 LOGISTIC_SCALE=15).</a:t>
            </a:r>
            <a:endParaRPr lang="en-US" sz="880" dirty="0"/>
          </a:p>
        </p:txBody>
      </p:sp>
      <p:sp>
        <p:nvSpPr>
          <p:cNvPr id="9" name="Shape 5"/>
          <p:cNvSpPr/>
          <p:nvPr/>
        </p:nvSpPr>
        <p:spPr>
          <a:xfrm>
            <a:off x="365760" y="5394960"/>
            <a:ext cx="11475720" cy="1024128"/>
          </a:xfrm>
          <a:prstGeom prst="roundRect">
            <a:avLst>
              <a:gd name="adj" fmla="val 4464"/>
            </a:avLst>
          </a:prstGeom>
          <a:solidFill>
            <a:srgbClr val="F0F6F2"/>
          </a:solidFill>
          <a:ln w="12700">
            <a:solidFill>
              <a:srgbClr val="1E7A52"/>
            </a:solidFill>
            <a:prstDash val="solid"/>
          </a:ln>
        </p:spPr>
      </p:sp>
      <p:sp>
        <p:nvSpPr>
          <p:cNvPr id="10" name="Text 6"/>
          <p:cNvSpPr/>
          <p:nvPr/>
        </p:nvSpPr>
        <p:spPr>
          <a:xfrm>
            <a:off x="548640" y="5440680"/>
            <a:ext cx="11155680" cy="950976"/>
          </a:xfrm>
          <a:prstGeom prst="rect">
            <a:avLst/>
          </a:prstGeom>
          <a:noFill/>
          <a:ln/>
        </p:spPr>
        <p:txBody>
          <a:bodyPr wrap="square" rtlCol="0" anchor="t"/>
          <a:lstStyle/>
          <a:p>
            <a:pPr marL="0" indent="0">
              <a:lnSpc>
                <a:spcPct val="98000"/>
              </a:lnSpc>
              <a:buNone/>
            </a:pPr>
            <a:r>
              <a:rPr lang="en-US" sz="840" b="1" dirty="0">
                <a:solidFill>
                  <a:srgbClr val="1E7A52"/>
                </a:solidFill>
                <a:latin typeface="Calibri" pitchFamily="34" charset="0"/>
                <a:ea typeface="Calibri" pitchFamily="34" charset="-122"/>
                <a:cs typeface="Calibri" pitchFamily="34" charset="-120"/>
              </a:rPr>
              <a:t>Answers to the review.  </a:t>
            </a:r>
            <a:r>
              <a:rPr lang="en-US" sz="84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4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40" b="1" dirty="0">
                <a:solidFill>
                  <a:srgbClr val="12233A"/>
                </a:solidFill>
                <a:latin typeface="Calibri" pitchFamily="34" charset="0"/>
                <a:ea typeface="Calibri" pitchFamily="34" charset="-122"/>
                <a:cs typeface="Calibri" pitchFamily="34" charset="-120"/>
              </a:rPr>
              <a:t>The degeneracy: </a:t>
            </a:r>
            <a:r>
              <a:rPr lang="en-US" sz="84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40" b="1" dirty="0">
                <a:solidFill>
                  <a:srgbClr val="B9791C"/>
                </a:solidFill>
                <a:latin typeface="Calibri" pitchFamily="34" charset="0"/>
                <a:ea typeface="Calibri" pitchFamily="34" charset="-122"/>
                <a:cs typeface="Calibri" pitchFamily="34" charset="-120"/>
              </a:rPr>
              <a:t>Open (BN, 23 Jul): </a:t>
            </a:r>
            <a:r>
              <a:rPr lang="en-US" sz="84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  </a:t>
            </a:r>
            <a:r>
              <a:rPr lang="en-US" sz="840" b="1" dirty="0">
                <a:solidFill>
                  <a:srgbClr val="12233A"/>
                </a:solidFill>
                <a:latin typeface="Calibri" pitchFamily="34" charset="0"/>
                <a:ea typeface="Calibri" pitchFamily="34" charset="-122"/>
                <a:cs typeface="Calibri" pitchFamily="34" charset="-120"/>
              </a:rPr>
              <a:t>In Rosa's terms: </a:t>
            </a:r>
            <a:r>
              <a:rPr lang="en-US" sz="840" dirty="0">
                <a:solidFill>
                  <a:srgbClr val="5B6B7B"/>
                </a:solidFill>
                <a:latin typeface="Calibri" pitchFamily="34" charset="0"/>
                <a:ea typeface="Calibri" pitchFamily="34" charset="-122"/>
                <a:cs typeface="Calibri" pitchFamily="34" charset="-120"/>
              </a:rPr>
              <a:t>LINEAR c(t) = t is the p-median (pMP) objective; the saturating logistic is a smooth counterpart of maximal covering (MCLP) with a ~25-min radius, so linear-vs-logistic is the soft version of her pMP-vs-MCLP-5km comparison (her p16).</a:t>
            </a:r>
            <a:endParaRPr lang="en-US" sz="84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81506533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TERMINOLOGY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Terminology bridge  </a:t>
            </a:r>
            <a:r>
              <a:rPr lang="en-US" sz="2000" dirty="0">
                <a:solidFill>
                  <a:srgbClr val="1C3D5A"/>
                </a:solidFill>
                <a:latin typeface="Georgia" pitchFamily="34" charset="0"/>
                <a:ea typeface="Georgia" pitchFamily="34" charset="-122"/>
                <a:cs typeface="Georgia" pitchFamily="34" charset="-120"/>
              </a:rPr>
              <a:t>— this deck · Lewis's benchmarking deck · Rosa's La Poste deck</a:t>
            </a:r>
            <a:endParaRPr lang="en-US" sz="2000" dirty="0"/>
          </a:p>
        </p:txBody>
      </p:sp>
      <p:sp>
        <p:nvSpPr>
          <p:cNvPr id="4" name="Text 2"/>
          <p:cNvSpPr/>
          <p:nvPr/>
        </p:nvSpPr>
        <p:spPr>
          <a:xfrm>
            <a:off x="411480" y="914400"/>
            <a:ext cx="11430000" cy="29260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Same objects, three vocabularies. Where a name differs, this deck now carries the other deck's term next to its own; where a concept exists in one deck only, the cell says so. Page numbers are each deck's own.</a:t>
            </a:r>
            <a:endParaRPr lang="en-US" sz="1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1261872"/>
          <a:ext cx="1138428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274320">
                <a:tc>
                  <a:txBody>
                    <a:bodyPr/>
                    <a:lstStyle/>
                    <a:p>
                      <a:pPr marL="0" indent="0" algn="l">
                        <a:buNone/>
                      </a:pP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this deck</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Lewis — Benchmarking access to pharmacies</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Rosa — Balancing equity and efficiency (La Poste, PACA)</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today's network</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 baseline (current); catchments by road (p3–6)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current situation (p15,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Current; “Actual %” = share of today's sites an optimum keeps (p16)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the trade-off</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#locations vs travel cost — the Pareto frontier (p13)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proximity vs efficiency; the trilemma collapses once the population distribution is given (p3–5,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efficiency vs equity: pMP vs MCLP; objective value against p (p16–17)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λ</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price per location, w · €100,000 placeholder; the slope of the tangent (p7, p10)</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lambda = preference for efficiency over proximity (p11)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not swept — p is fixed per instance; λ is the multiplier of Σⱼ yⱼ = p (p7 here)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fixed-count problem</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p-median at Σⱼ yⱼ = p (p7); S1 is one instance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S1 — fix the number of facilities (p16)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pMP (Hakimi 1964); with capacities Rⱼ the CpMP (p5, p7)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coverage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soft coverage: an unserved client is priced at BIG; the logistic c(t) saturates (p7, p66)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logistic: beyond 60 min equally disliked (p14)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MCLP within radius r (5 km); territorial coverage ≥1 / ≤1 per zone, multi-scale nested (p8–9)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gap to the frontier</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S1 Δ travel and S2 Δ # in native units; the improvement rectangle (p62–63, p76–79)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distance between cross-lambda and the current situation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RIC = (Sol_X − Sol_pMP) / Sol_pMP × 100 at equal p (p16); knee points (p17)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position on the frontier</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λ at the balanced-improvement crossing (p72–73); against today's density (p74–75)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cross-lambda — a revealed network preference, by OECD archetype (p21–24)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knee point of the objective-vs-p curve (p17, p23)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lower bound</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LP relaxation of the UFLP, strong disaggregated formulation (p7)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“LP … a plausible lower band” (p26)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pMP + disaggregated cuts for the closest facility, lifted p-cover, location upper bound (p11)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integer solution</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multistart: top-p, CELF greedy, weighted draws, swap polish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“multipart heuristic … upper band” (p26)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post-optimisation after the final solve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9"/>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scale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full candidate set; radius = 5 nearest existing pharmacies (p9)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small countries and NUTS1 regions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RSSV: random sampling → sub-problems → spatial voting → filtering → final solve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from today's network</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roadmap item (p65)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subsidy to bring everybody nearby; extra travel if small facilities go (p4)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optimal removal / optimal addition from the current network; relocations allowed (p17–18)</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1"/>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distribution</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stranded count; catchment percentiles (p3–6)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distance to the nearest pharmacy by degree of urbanisation (p6, p8)</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Gini, % within 5 km, max / avg distance, communes served (p16, p24)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capacity</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catchment-cap ladder, explored and dropped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CpMP with synthetic capacities: Voronoi cells → demand bins → sampled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3"/>
                  </a:ext>
                </a:extLst>
              </a:tr>
            </a:tbl>
          </a:graphicData>
        </a:graphic>
      </p:graphicFrame>
      <p:sp>
        <p:nvSpPr>
          <p:cNvPr id="6" name="Text 3"/>
          <p:cNvSpPr/>
          <p:nvPr/>
        </p:nvSpPr>
        <p:spPr>
          <a:xfrm>
            <a:off x="411480" y="6016752"/>
            <a:ext cx="11384280" cy="731520"/>
          </a:xfrm>
          <a:prstGeom prst="rect">
            <a:avLst/>
          </a:prstGeom>
          <a:noFill/>
          <a:ln/>
        </p:spPr>
        <p:txBody>
          <a:bodyPr wrap="square" rtlCol="0" anchor="t"/>
          <a:lstStyle/>
          <a:p>
            <a:pPr marL="0" indent="0">
              <a:buNone/>
            </a:pPr>
            <a:r>
              <a:rPr lang="en-US" sz="840" b="1" i="1" dirty="0">
                <a:solidFill>
                  <a:srgbClr val="12233A"/>
                </a:solidFill>
                <a:latin typeface="Calibri" pitchFamily="34" charset="0"/>
                <a:ea typeface="Calibri" pitchFamily="34" charset="-122"/>
                <a:cs typeface="Calibri" pitchFamily="34" charset="-120"/>
              </a:rPr>
              <a:t>Sources.  </a:t>
            </a:r>
            <a:r>
              <a:rPr lang="en-US" sz="840" i="1" dirty="0">
                <a:solidFill>
                  <a:srgbClr val="5B6B7B"/>
                </a:solidFill>
                <a:latin typeface="Calibri" pitchFamily="34" charset="0"/>
                <a:ea typeface="Calibri" pitchFamily="34" charset="-122"/>
                <a:cs typeface="Calibri" pitchFamily="34" charset="-120"/>
              </a:rPr>
              <a:t>Lewis Dijkstra, Chris Jacobs-Crisioni, Maarten Hilferink &amp; Jip Claassens, “Benchmarking access to pharmacies” (JRC draft, 15 Sep 2026; its p15, p16 and p27 share this deck's p13, p11 and p10). Rosa Figueiredo, Felipe Albuquerque &amp; Cyrille Genre-Grandpierre, “Balancing equity and efficiency — the case of La Poste in France”, OECD/EC knowledge-sharing seminar, Ispra, 18 Sep 2026; the method is arXiv 2607.22666.  </a:t>
            </a:r>
            <a:r>
              <a:rPr lang="en-US" sz="840" b="1" i="1" dirty="0">
                <a:solidFill>
                  <a:srgbClr val="B9791C"/>
                </a:solidFill>
                <a:latin typeface="Calibri" pitchFamily="34" charset="0"/>
                <a:ea typeface="Calibri" pitchFamily="34" charset="-122"/>
                <a:cs typeface="Calibri" pitchFamily="34" charset="-120"/>
              </a:rPr>
              <a:t>Caution on cross-lambda: </a:t>
            </a:r>
            <a:r>
              <a:rPr lang="en-US" sz="840" i="1" dirty="0">
                <a:solidFill>
                  <a:srgbClr val="5B6B7B"/>
                </a:solidFill>
                <a:latin typeface="Calibri" pitchFamily="34" charset="0"/>
                <a:ea typeface="Calibri" pitchFamily="34" charset="-122"/>
                <a:cs typeface="Calibri" pitchFamily="34" charset="-120"/>
              </a:rPr>
              <a:t>for one and the same geography it is lower the more pharmacies there are today, so across areas it moves with residents per pharmacy (p3) as well as with policy — read it next to that table.</a:t>
            </a:r>
            <a:endParaRPr lang="en-US" sz="840" dirty="0"/>
          </a:p>
        </p:txBody>
      </p:sp>
    </p:spTree>
    <p:extLst>
      <p:ext uri="{BB962C8B-B14F-4D97-AF65-F5344CB8AC3E}">
        <p14:creationId xmlns:p14="http://schemas.microsoft.com/office/powerpoint/2010/main" val="40509198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3E0C2A-9C15-E646-3A2D-95BF243E0C6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all 43 areas: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47D653C-869A-7553-62DD-0D9CE43D67CA}"/>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06E47B57-ABD7-DA92-1941-AD599CA76ABB}"/>
              </a:ext>
            </a:extLst>
          </p:cNvPr>
          <p:cNvSpPr txBox="1"/>
          <p:nvPr/>
        </p:nvSpPr>
        <p:spPr>
          <a:xfrm>
            <a:off x="381000" y="5884607"/>
            <a:ext cx="11430000" cy="484748"/>
          </a:xfrm>
          <a:prstGeom prst="rect">
            <a:avLst/>
          </a:prstGeom>
          <a:noFill/>
        </p:spPr>
        <p:txBody>
          <a:bodyPr vert="horz" rtlCol="0">
            <a:spAutoFit/>
          </a:bodyPr>
          <a:lstStyle/>
          <a:p>
            <a:r>
              <a:rPr lang="en-US" sz="850" i="1">
                <a:solidFill>
                  <a:srgbClr val="5B6B7B"/>
                </a:solidFill>
                <a:latin typeface="Calibri" panose="020F0502020204030204" pitchFamily="34" charset="0"/>
              </a:rPr>
              <a:t>x = lambda, the price per location (log scale). Left axis: LP relaxation (lower bound) and multistart integer solution (upper bound) on travel cost. Right axis: the LP-relaxed count sum_y and the integer count n_open = round(sum_y); they coincide by construction - the certified gap is on TOTAL cost only (p12). Dotted = baseline: S2 is where travel crosses its baseline, S1 where the count does; the guides are interpolated crossings, each labelled with the quantity that defines it - S1 with its facility count (today's) and the facility cost lambda x N at that lambda, S2 with its travel cost (today's) - so S1 reads the same count under LINEAR and LOGISTIC. The count axis is logarithmic and shared by both panels: same height = same count.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35898391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CC0CC2-B2BB-4C6D-F5AE-53CB3F1F92B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Netherlands: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ACD0F73-C15E-BB55-4CC2-8DAE0DC9F734}"/>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C1024D6B-66F0-74FD-411E-F589A77B12E9}"/>
              </a:ext>
            </a:extLst>
          </p:cNvPr>
          <p:cNvSpPr txBox="1"/>
          <p:nvPr/>
        </p:nvSpPr>
        <p:spPr>
          <a:xfrm>
            <a:off x="381000" y="5884607"/>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Same reading as the aggregate. The count falls over two decades of lambda before the travel bounds separate; under LINEAR they open only above ~EUR 50,000 per location, beyond S2, so the S1/S2 figures sit where lower and upper bound agree. S1 is 1,615 facilities under both cost functions by construction; the deck_data scenario rows would have put the guide a whole grid step off (1,334 LINEAR, 1,788 LOGISTIC), which is the S1/S2 snap noted on p9.</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351736821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BE7827-1862-1D35-D6D4-F3F64115580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5D90F07-F3FC-9608-5E6B-229F0E836809}"/>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08005424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611E32F-F909-268B-FE1E-6FA2B3E3CE6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51DD2A1-E860-7725-B19E-347867107E0E}"/>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43366730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A6F473-EEDB-DB3E-F1F6-00C6EE62C28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317E416-A349-9AC4-324C-B7502D240FCE}"/>
              </a:ext>
            </a:extLst>
          </p:cNvPr>
          <p:cNvPicPr>
            <a:picLocks/>
          </p:cNvPicPr>
          <p:nvPr/>
        </p:nvPicPr>
        <p:blipFill>
          <a:blip r:embed="rId2"/>
          <a:stretch>
            <a:fillRect/>
          </a:stretch>
        </p:blipFill>
        <p:spPr>
          <a:xfrm>
            <a:off x="3690017" y="1111250"/>
            <a:ext cx="4811966" cy="5270500"/>
          </a:xfrm>
          <a:prstGeom prst="rect">
            <a:avLst/>
          </a:prstGeom>
        </p:spPr>
      </p:pic>
      <p:sp>
        <p:nvSpPr>
          <p:cNvPr id="5" name="TextBox 4">
            <a:extLst>
              <a:ext uri="{FF2B5EF4-FFF2-40B4-BE49-F238E27FC236}">
                <a16:creationId xmlns:a16="http://schemas.microsoft.com/office/drawing/2014/main" id="{CAA8F0C8-CBD8-71A5-9F5A-49135ED21E17}"/>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Cross-lambda (Lewis's p21) = the lambda at the balanced-improvement crossing, read there as a revealed network preference. For one geography it falls as today's pharmacy count rises, so across areas it moves with residents per pharmacy (p3) as well as with policy. EUR only via the placeholder EUR 100,000 per location (REGIO review, Brons/BN): the ranking does not depend on it.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110266236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57C350-B06B-31F9-7F44-A3CB178F1F2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5E74FE4-23D1-FE94-CAFF-B9DF61014D38}"/>
              </a:ext>
            </a:extLst>
          </p:cNvPr>
          <p:cNvPicPr>
            <a:picLocks/>
          </p:cNvPicPr>
          <p:nvPr/>
        </p:nvPicPr>
        <p:blipFill>
          <a:blip r:embed="rId2"/>
          <a:stretch>
            <a:fillRect/>
          </a:stretch>
        </p:blipFill>
        <p:spPr>
          <a:xfrm>
            <a:off x="3690017" y="1111250"/>
            <a:ext cx="4811966" cy="5270500"/>
          </a:xfrm>
          <a:prstGeom prst="rect">
            <a:avLst/>
          </a:prstGeom>
        </p:spPr>
      </p:pic>
      <p:sp>
        <p:nvSpPr>
          <p:cNvPr id="5" name="TextBox 4">
            <a:extLst>
              <a:ext uri="{FF2B5EF4-FFF2-40B4-BE49-F238E27FC236}">
                <a16:creationId xmlns:a16="http://schemas.microsoft.com/office/drawing/2014/main" id="{D1A820F0-F5A9-48AF-F185-F3C602B5110A}"/>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Cross-lambda (Lewis's p21) = the lambda at the balanced-improvement crossing, read there as a revealed network preference. For one geography it falls as today's pharmacy count rises, so across areas it moves with residents per pharmacy (p3) as well as with policy. EUR only via the placeholder EUR 100,000 per location (REGIO review, Brons/BN): the ranking does not depend on it.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36166913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3D184A-FB6D-2DDC-B868-6937FE52F63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against residents per location, by OECD archetype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9A1E0FD-410C-61ED-EF6B-6576FE4A88BA}"/>
              </a:ext>
            </a:extLst>
          </p:cNvPr>
          <p:cNvPicPr>
            <a:picLocks/>
          </p:cNvPicPr>
          <p:nvPr/>
        </p:nvPicPr>
        <p:blipFill>
          <a:blip r:embed="rId2"/>
          <a:stretch>
            <a:fillRect/>
          </a:stretch>
        </p:blipFill>
        <p:spPr>
          <a:xfrm>
            <a:off x="2270671" y="1111250"/>
            <a:ext cx="7650658" cy="5270500"/>
          </a:xfrm>
          <a:prstGeom prst="rect">
            <a:avLst/>
          </a:prstGeom>
        </p:spPr>
      </p:pic>
      <p:sp>
        <p:nvSpPr>
          <p:cNvPr id="5" name="TextBox 4">
            <a:extLst>
              <a:ext uri="{FF2B5EF4-FFF2-40B4-BE49-F238E27FC236}">
                <a16:creationId xmlns:a16="http://schemas.microsoft.com/office/drawing/2014/main" id="{647E485A-1C0D-1E03-9912-0688BB957579}"/>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x = residents per 1 km2 pharmacy location today (the count the frontier uses), y = cross-lambda, both on log scales. The dotted line is the log-log least-squares fit over all areas - the part of cross-lambda that today's density predicts; the distance to it is what is left for geography and policy. Archetype colours as on the map of Lewis's benchmarking deck (p22-23). Residuals per area: doc\cross_lambda_residuals_&lt;FN&gt;.csv (doc\cross_lambda_scatter.py).</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42551669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7C6495-DA33-CB48-6FB6-C22164B9020B}"/>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against residents per location, by OECD archetype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77FC157-E137-6336-E865-4E4D3BABDD89}"/>
              </a:ext>
            </a:extLst>
          </p:cNvPr>
          <p:cNvPicPr>
            <a:picLocks/>
          </p:cNvPicPr>
          <p:nvPr/>
        </p:nvPicPr>
        <p:blipFill>
          <a:blip r:embed="rId2"/>
          <a:stretch>
            <a:fillRect/>
          </a:stretch>
        </p:blipFill>
        <p:spPr>
          <a:xfrm>
            <a:off x="2270671" y="1111250"/>
            <a:ext cx="7650658" cy="5270500"/>
          </a:xfrm>
          <a:prstGeom prst="rect">
            <a:avLst/>
          </a:prstGeom>
        </p:spPr>
      </p:pic>
      <p:sp>
        <p:nvSpPr>
          <p:cNvPr id="5" name="TextBox 4">
            <a:extLst>
              <a:ext uri="{FF2B5EF4-FFF2-40B4-BE49-F238E27FC236}">
                <a16:creationId xmlns:a16="http://schemas.microsoft.com/office/drawing/2014/main" id="{894E3FC7-AC87-E045-4CB3-D2AA15808E91}"/>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x = residents per 1 km2 pharmacy location today (the count the frontier uses), y = cross-lambda, both on log scales. The dotted line is the log-log least-squares fit over all areas - the part of cross-lambda that today's density predicts; the distance to it is what is left for geography and policy. Archetype colours as on the map of Lewis's benchmarking deck (p22-23). Residuals per area: doc\cross_lambda_residuals_&lt;FN&gt;.csv (doc\cross_lambda_scatter.py).</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57933545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373A28D-4010-A2FD-BBA4-44DF3E42993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757D56F-A658-6510-B1BE-7DA06059A44E}"/>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92152011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0EAFBF-B864-6EC6-CF73-DD7D2B006DE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13C1B58-D1AE-4583-46D2-4ACA37912473}"/>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5304731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F5CC69-6B4E-3D4E-546D-870E7DC7C52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197E341-FA81-E5F0-9576-2162DF73190B}"/>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34742986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0D9C0-73BA-D7A3-19C4-0E3B76B9069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0BFB813-45AA-0E3B-39F4-3B33BB748AB7}"/>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5693002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19801</Words>
  <Application>Microsoft Office PowerPoint</Application>
  <PresentationFormat>Widescreen</PresentationFormat>
  <Paragraphs>3883</Paragraphs>
  <Slides>79</Slides>
  <Notes>67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79</vt:i4>
      </vt:variant>
    </vt:vector>
  </HeadingPairs>
  <TitlesOfParts>
    <vt:vector size="84"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2026-09-16T20:35:20Z</dcterms:modified>
</cp:coreProperties>
</file>