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4"/>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320"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1" r:id="rId66"/>
    <p:sldId id="322" r:id="rId67"/>
    <p:sldId id="323" r:id="rId68"/>
    <p:sldId id="324" r:id="rId69"/>
    <p:sldId id="325" r:id="rId70"/>
    <p:sldId id="326" r:id="rId71"/>
    <p:sldId id="327" r:id="rId72"/>
    <p:sldId id="328" r:id="rId7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3410435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227934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848027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2151442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534653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2076214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8693975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9131049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7382407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021788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2061124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2173165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994401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4419622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007440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8104543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4766587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2843809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80754006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5963418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2529870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4694112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37387786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0849229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2448009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97741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61992593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8847652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405131766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07775243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3336578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42262412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3417767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3716217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422229583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16610916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6158936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1241241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30555490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56224920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8134390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2658870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34587890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79663165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6755091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24363854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1335242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87808376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421292481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373515405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7227766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208755536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40878125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29476780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78207266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98282406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6833621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9002071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38244985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540849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42876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what exists today, by how much it could improve at equal cost or equal accessibility, and which of 42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1670458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(p16–61).</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(p64).</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 (p15)</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age-weighted demand; priorities (p63).</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whether the cap–threshold ladder is worth pursuing  ·  age-weighted demand as a one-country box.</a:t>
            </a:r>
            <a:endParaRPr lang="en-US" sz="1000" dirty="0"/>
          </a:p>
        </p:txBody>
      </p:sp>
    </p:spTree>
    <p:extLst>
      <p:ext uri="{BB962C8B-B14F-4D97-AF65-F5344CB8AC3E}">
        <p14:creationId xmlns:p14="http://schemas.microsoft.com/office/powerpoint/2010/main" val="29869048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986693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41447823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6493175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099484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15627248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1507530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p60–61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2091704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306954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2502302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1048329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45897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35350582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529654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55376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56251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156930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955492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753193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162560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899908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892734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562886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14952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276276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890860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631885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307580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21103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737324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855708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030465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273146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63486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864986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867684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812772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87769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8483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3911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798627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118338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888358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640747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931726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867695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491112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464321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262104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991154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377065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3712946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23046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020881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28,609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15,808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433,828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44,416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0.00282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26,673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10,933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191,428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2298057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30480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country</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today #</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travel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cost · Δ mean t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Netherlands</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−443 · −27.4%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−551 · −34.1%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24,532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34,329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Luxembourg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−427 k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 · −29.9%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15,945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25,641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Estonia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 M min · −22.6%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 · −32.3%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 −41.4%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11,388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19,421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Latvia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−29.1%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 · −36.8%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8,822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Slovenia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 · −26.7%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 · −32.4%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17,680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25,450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Lithuania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 M min · −23.5%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 · −46.0%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10,987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19,834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128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Ireland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 M min · −16.9%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 · −27.2%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 · −34.5%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21,020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Norway</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 M min · −25.3%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−326 · −43.2%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−18.0% · −1.8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−359 · −47.6%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23,174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49,999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324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Denmark</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 M min · −14.8%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−28.6%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 · −35.6%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37,082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55,960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448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Austria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−20.4%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−373 · −33.0%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−497 · −44.0%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18,361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31,027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 M min · −21.6%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−527 · −28.0%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−623 · −33.1%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10,473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17,033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Czechia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−19.8%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−487 · −30.0%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−587 · −36.1%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22,885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Belgium</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 M min · −14.9%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−520 · −17.6%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−0.3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−552 · −18.7%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5,666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7,340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 M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−1,883 · −26.8%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 · −0.6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−2,207 · −31.4%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10,254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252760409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−237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11,918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−12.8%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−18.0%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13,075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−175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9,048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−204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14,257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 M min · −13.0%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−17.0%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−219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11,153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−162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−212 · −26.7%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13,828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 M min · −8.7%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−296 · −18.7%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−447 · −28.2%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8,368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−265 · −18.6%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−377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 M min · −14.3%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−300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13,737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−313 k min · −18.4%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−10.9%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10,336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M min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−1,101 · −38.1%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 · −1.0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−1,196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20,047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1,253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−40.7 M min · −45.8%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−732 · −58.5%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−783 · −62.5%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101,789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−15.0 M min · −49.1%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−474 · −53.2%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−26.1% · −2.4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−545 · −61.2%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18,626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56,207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−13.6 M min · −28.0%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−825 · −39.7%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−12.3%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−945 · −45.4%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12,529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23,350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−15.3 M min · −31.3%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−13.8% · −1.2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−774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M min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−186 · −48.0%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27,492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44,267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−6.0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−167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33,567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57,265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M min · −15.0%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30,810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−5.0 M min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−462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−288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−404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9,925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−247 · −24.2%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−282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−8.6%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−363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M min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16,582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20317031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1075580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the cap/threshold ladder is parked on p15.</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(x = assignment, y = facility)</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S1 (same #, ↓travel) · S2 (same travel, ↓#) · S3 full frontier — S1/S2 interpolated onto the frontier, stated in NATIVE units first, € second (p60–61)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Candidates = ≥50-pop cells ∪ pharmacy cells · clients = FULL population · adapted logit (25/10) — all 42 areas swept incl. Poland + 7 NUTS-1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Aggregated frontier over 41 disjoint areas (exact by separability), bracketing S1 and S2 for both functions (p59)</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free of coverage artefacts (ITF #1 on an UNCHANGED value)</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REGIO review worked in: choice set (p9), λ-tangency (p10), logistic parametrised (p64), bounds on TOTAL cost only (p12), €100,000 a placeholder everywhere</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Large-region subsampling keeps EVERY baseline location, so the frontier still dominates the baseline</a:t>
            </a:r>
            <a:endParaRPr lang="en-US" sz="86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 also replaces the nearest-grid-point snap that makes S1 = S2 in 5 areas (FRC/FRH/FRJ/FRK/SE2,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(SE2: 10.2% of residents one closure from stranding,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realistic bounds are hard to set, so this may not pay off (p15)</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Age-weighted demand (Brons/BN): a box for one country, e.g. 0.5 / 1 / 1.5 by age bracket — client_weight_col already reads any column; compare the S1/S2 shift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 cells = ≥50-pop cells AND their neighbours (Brons/BN), one country — pulls the same way as the wider radius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(p64)</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 settlement candidate set (verify existing ⊂ settlements)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per location) — the tangency slide (p10) is the first step</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 country; corr catchment &amp; travel cost; border 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(p64)?  ·  territorial coverage constraints for equity, or keep soft coverage?  ·  age-weighted demand as a one-country box?</a:t>
            </a:r>
            <a:endParaRPr lang="en-US" sz="1000" dirty="0"/>
          </a:p>
        </p:txBody>
      </p:sp>
    </p:spTree>
    <p:extLst>
      <p:ext uri="{BB962C8B-B14F-4D97-AF65-F5344CB8AC3E}">
        <p14:creationId xmlns:p14="http://schemas.microsoft.com/office/powerpoint/2010/main" val="31719125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324001770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2ACB8E-44E9-A109-3F93-7ED082CFE3E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D7042B6-4857-8ADD-9B7C-B3A16B8B8FC3}"/>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0774290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6B92F0-DFB5-BD5E-D3FA-FE7E1D0C0FE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93637BF-589A-4C1C-2350-7F5A58CD425A}"/>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42146520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4E4C2D-6F5E-7061-394B-87409DB1F9C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11EBC6F-BB6E-A4BC-061F-B69F72DB229A}"/>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9966A2D1-DB9F-0F17-EB10-39DD17F2ED30}"/>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19796164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AA747F-878B-AC42-1F79-D3768FF90B3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9A4E9C6-1DBA-C105-CDB3-991E33716A6D}"/>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B07C705C-5172-CA0F-09BA-4911817C9D20}"/>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9691001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D15FC3-25B0-46D4-3391-5963055C0AD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D1B6784-B823-3062-68BC-5EAF8068688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2916075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4419C7-9491-237E-D117-70E2BC794DF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79D00A2-DEDC-7E93-7814-31886D4F0970}"/>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47683329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0FB94F6-DF16-1C55-60CD-7BA303B0596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D8C3B77-EA85-2A48-FFEB-AE34E7FE49EE}"/>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6390303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FDC7B6A-9D3D-E84F-0402-7B97EE98F5C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925DAD8-8823-184C-9321-ACD8B402736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7309277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16972</Words>
  <Application>Microsoft Office PowerPoint</Application>
  <PresentationFormat>Widescreen</PresentationFormat>
  <Paragraphs>3664</Paragraphs>
  <Slides>72</Slides>
  <Notes>63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72</vt:i4>
      </vt:variant>
    </vt:vector>
  </HeadingPairs>
  <TitlesOfParts>
    <vt:vector size="77"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2026-09-04T16:06:41Z</dcterms:modified>
</cp:coreProperties>
</file>