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3"/>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8774908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4094085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5917211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744258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4583580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829270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8142869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8076781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130970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7680130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0221320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8812132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5725913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1803600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6433396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4591668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3269427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853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5448913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4977680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3739215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14515983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1184645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0338798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9976382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403362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7378122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39356574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63693915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8576565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7319711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24370776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9211813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7446328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7646722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4998997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71258504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2828220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7834130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4137780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2766392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350982122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15414445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5733926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31239711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21564492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3470897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255995120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24648897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6380107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35924967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338965483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236644943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8544958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1822506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6322384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1810527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c(tᵢⱼ)·yᵢⱼ  +  BIG·(1 − Σⱼ yᵢⱼ) ]   +   λ · Σⱼ xⱼ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yᵢⱼ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yᵢⱼ  ≤  xⱼ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xⱼ ∈ {0,1}</a:t>
            </a:r>
            <a:r>
              <a:rPr lang="en-US" sz="1500" dirty="0">
                <a:solidFill>
                  <a:srgbClr val="FFD9A0"/>
                </a:solidFill>
                <a:latin typeface="Cambria Math" pitchFamily="34" charset="0"/>
                <a:ea typeface="Cambria Math" pitchFamily="34" charset="-122"/>
                <a:cs typeface="Cambria Math" pitchFamily="34" charset="-120"/>
              </a:rPr>
              <a:t>  →  relaxed to  0 ≤ xⱼ ≤ 1,   yᵢⱼ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yᵢⱼ,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xⱼ ∈ {0,1} this is the (NP-hard) uncapacitated facility-location problem, in its strong disaggregated formulation — one yᵢⱼ ≤ xⱼ per OD pair — whose LP relaxation is known to be nearly integral, which the sweeps confirm (frac_x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xⱼ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4183277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xⱼ*)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c(t_max) — the worst travel time in the data,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15078767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001230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85476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3759707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663462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c(t_max).</a:t>
            </a:r>
            <a:endParaRPr lang="en-US" sz="850" dirty="0"/>
          </a:p>
        </p:txBody>
      </p:sp>
    </p:spTree>
    <p:extLst>
      <p:ext uri="{BB962C8B-B14F-4D97-AF65-F5344CB8AC3E}">
        <p14:creationId xmlns:p14="http://schemas.microsoft.com/office/powerpoint/2010/main" val="431148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c(t_max) travel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40213043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217427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c(t_max) travel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092623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c(t_max) travel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7139123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c(t_max) travel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10167203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c(t_max) travel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339949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c(t_max) travel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7356663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c(t_max) travel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0622800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c(t_max) travel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42213685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c(t_max) travel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17911978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c(t_max) travel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586129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8.56 min mean · </a:t>
            </a:r>
            <a:r>
              <a:rPr lang="en-US" sz="1000" dirty="0">
                <a:solidFill>
                  <a:srgbClr val="5B6B7B"/>
                </a:solidFill>
                <a:latin typeface="Calibri" pitchFamily="34" charset="0"/>
                <a:ea typeface="Calibri" pitchFamily="34" charset="-122"/>
                <a:cs typeface="Calibri" pitchFamily="34" charset="-120"/>
              </a:rPr>
              <a:t>c(t_max) travel  LIN 88.1M · LOG 1.5M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721224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c(t_max) travel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534039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c(t_max) travel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13028445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c(t_max) travel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528370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c(t_max) travel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7713832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c(t_max) travel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6815804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c(t_max) travel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6309052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c(t_max) travel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3956736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c(t_max) travel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1757984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c(t_max) travel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9447884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c(t_max) travel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42719502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c(t_max) travel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634176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c(t_max) travel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1731710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c(t_max) travel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4220148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c(t_max) travel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4765518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c(t_max) travel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7632225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c(t_max) travel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5914347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c(t_max) travel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91919101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c(t_max) travel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11770052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884 cells · 22.30 min mean · </a:t>
            </a:r>
            <a:r>
              <a:rPr lang="en-US" sz="1000" dirty="0">
                <a:solidFill>
                  <a:srgbClr val="5B6B7B"/>
                </a:solidFill>
                <a:latin typeface="Calibri" pitchFamily="34" charset="0"/>
                <a:ea typeface="Calibri" pitchFamily="34" charset="-122"/>
                <a:cs typeface="Calibri" pitchFamily="34" charset="-120"/>
              </a:rPr>
              <a:t>c(t_max) travel  LIN 139M · LOG 1.6M</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40534727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c(t_max) travel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361197611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c(t_max) travel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408210482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c(t_max) travel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3545462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8.05 min mean · </a:t>
            </a:r>
            <a:r>
              <a:rPr lang="en-US" sz="1000" dirty="0">
                <a:solidFill>
                  <a:srgbClr val="5B6B7B"/>
                </a:solidFill>
                <a:latin typeface="Calibri" pitchFamily="34" charset="0"/>
                <a:ea typeface="Calibri" pitchFamily="34" charset="-122"/>
                <a:cs typeface="Calibri" pitchFamily="34" charset="-120"/>
              </a:rPr>
              <a:t>c(t_max) travel  LIN 35.4M · LOG 747k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7379594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9.46 min mean · </a:t>
            </a:r>
            <a:r>
              <a:rPr lang="en-US" sz="1000" dirty="0">
                <a:solidFill>
                  <a:srgbClr val="5B6B7B"/>
                </a:solidFill>
                <a:latin typeface="Calibri" pitchFamily="34" charset="0"/>
                <a:ea typeface="Calibri" pitchFamily="34" charset="-122"/>
                <a:cs typeface="Calibri" pitchFamily="34" charset="-120"/>
              </a:rPr>
              <a:t>c(t_max) travel  LIN 16.4M · LOG 350k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638134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c(t_max) travel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53290632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c(t_max) travel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27742924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c(t_max) travel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14070815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c(t_max) travel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41023747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c(t_max) travel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957424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14.56 min mean · </a:t>
            </a:r>
            <a:r>
              <a:rPr lang="en-US" sz="1000" dirty="0">
                <a:solidFill>
                  <a:srgbClr val="5B6B7B"/>
                </a:solidFill>
                <a:latin typeface="Calibri" pitchFamily="34" charset="0"/>
                <a:ea typeface="Calibri" pitchFamily="34" charset="-122"/>
                <a:cs typeface="Calibri" pitchFamily="34" charset="-120"/>
              </a:rPr>
              <a:t>c(t_max) travel  LIN 71.7M · LOG 983k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9443221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c(t_max) travel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c(t_max) — in the baseline too (coverage-consistent).</a:t>
            </a:r>
            <a:endParaRPr lang="en-US" sz="850" dirty="0"/>
          </a:p>
        </p:txBody>
      </p:sp>
    </p:spTree>
    <p:extLst>
      <p:ext uri="{BB962C8B-B14F-4D97-AF65-F5344CB8AC3E}">
        <p14:creationId xmlns:p14="http://schemas.microsoft.com/office/powerpoint/2010/main" val="19677279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43,313 pharmacy cells · </a:t>
            </a:r>
            <a:r>
              <a:rPr lang="en-US" sz="1000" dirty="0">
                <a:solidFill>
                  <a:srgbClr val="5B6B7B"/>
                </a:solidFill>
                <a:latin typeface="Calibri" pitchFamily="34" charset="0"/>
                <a:ea typeface="Calibri" pitchFamily="34" charset="-122"/>
                <a:cs typeface="Calibri" pitchFamily="34" charset="-120"/>
              </a:rPr>
              <a:t>travel  LIN 1245M · LOG 31.9M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43,783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33,059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445,178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44,158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0.00355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24,420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11,180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195,299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(32 points; an area without that exact λ is log-interpolated between its adjacent sweep points — the λ-table rule). S2 not bracketed: the aggregate baseline (★) lies outside the common λ range — the full-coverage floor exceeds today's count (roadmap: extend the w-grid / exact S1-S2).</a:t>
            </a:r>
            <a:endParaRPr lang="en-US" sz="850" dirty="0"/>
          </a:p>
        </p:txBody>
      </p:sp>
    </p:spTree>
    <p:extLst>
      <p:ext uri="{BB962C8B-B14F-4D97-AF65-F5344CB8AC3E}">
        <p14:creationId xmlns:p14="http://schemas.microsoft.com/office/powerpoint/2010/main" val="284357086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25,531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33,902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14,565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20,893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24,343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38,823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18,588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30,277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15,064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22,879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40826889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9,280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31,824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70,747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276,192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22,482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16,612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32,376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45,031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34,174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63,973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53,080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24,054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329528746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+16% (1308)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+7% (1265)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+2% (241)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(2409)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(1470)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(2202)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(1966)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(2269)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c(t_max)).  Sparse Swedish regions keep the largest bound-gaps.</a:t>
            </a:r>
            <a:endParaRPr lang="en-US" sz="850" dirty="0"/>
          </a:p>
        </p:txBody>
      </p:sp>
    </p:spTree>
    <p:extLst>
      <p:ext uri="{BB962C8B-B14F-4D97-AF65-F5344CB8AC3E}">
        <p14:creationId xmlns:p14="http://schemas.microsoft.com/office/powerpoint/2010/main" val="20287907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Catchments now by ROAD-network travel time (not Euclidean); #empty + smallest non-zero catchment reported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Cap-ladder rungs prototyped (cost-function-free, exploratory): S1-A/B · S2-A/B — run for NL</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Recalculation done: candidates = ≥50-pop cells ∪ pharmacy cells · clients = FULL population · adapted logit (25/10) — all 42 areas re-swept, incl. Poland + its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all 41 disjoint areas (exact by separability) — new page after the region pages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LINEAR &amp; LOGISTIC travel costs both run &amp; compared</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Investigate and fix sweeps for FRM, ITG, SE2 (diagnosed: baseline drops unreachable clients + w-grid truncation; DK the same)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Extend the w-grid upward so S1 brackets everywhere — also unlocks aggregate S1/S2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Fix baseline_metrics: it drops un-reachable clients (ITG ≈14% of pop) while the sweep prices them at c(t_max) — make consistent before any distance-to-Pareto metric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 single 2-D status-quo→frontier distance metric (coverage-honest; stranded priced at c(t_max))</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Calculating better estimations for S1 and S2 (exact soft-coverage p-median MIP at p = baseline)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but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Border-cases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is the cap/threshold ladder worth pursuing given how widely catchments vary?  ·  logistic vs linear travel cost (the equity-weighting choice)?  ·  best way to communicate λ?</a:t>
            </a:r>
            <a:endParaRPr lang="en-US" sz="1000" dirty="0"/>
          </a:p>
        </p:txBody>
      </p:sp>
    </p:spTree>
    <p:extLst>
      <p:ext uri="{BB962C8B-B14F-4D97-AF65-F5344CB8AC3E}">
        <p14:creationId xmlns:p14="http://schemas.microsoft.com/office/powerpoint/2010/main" val="19364740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8958797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13265</Words>
  <Application>Microsoft Office PowerPoint</Application>
  <PresentationFormat>Widescreen</PresentationFormat>
  <Paragraphs>3413</Paragraphs>
  <Slides>61</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3</cp:revision>
  <dcterms:created xsi:type="dcterms:W3CDTF">2026-06-01T08:24:25Z</dcterms:created>
  <dcterms:modified xsi:type="dcterms:W3CDTF">2026-07-16T06:59:12Z</dcterms:modified>
</cp:coreProperties>
</file>