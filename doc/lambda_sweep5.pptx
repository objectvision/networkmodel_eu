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3"/>
  </p:notesMasterIdLst>
  <p:sldIdLst>
    <p:sldId id="256" r:id="rId2"/>
    <p:sldId id="260" r:id="rId3"/>
    <p:sldId id="261" r:id="rId4"/>
    <p:sldId id="257" r:id="rId5"/>
    <p:sldId id="258" r:id="rId6"/>
    <p:sldId id="262" r:id="rId7"/>
    <p:sldId id="259" r:id="rId8"/>
    <p:sldId id="263" r:id="rId9"/>
    <p:sldId id="264" r:id="rId10"/>
    <p:sldId id="265" r:id="rId11"/>
    <p:sldId id="266" r:id="rId12"/>
    <p:sldId id="267" r:id="rId13"/>
    <p:sldId id="268" r:id="rId14"/>
    <p:sldId id="316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  <p:sldId id="298" r:id="rId45"/>
    <p:sldId id="299" r:id="rId46"/>
    <p:sldId id="300" r:id="rId47"/>
    <p:sldId id="301" r:id="rId48"/>
    <p:sldId id="302" r:id="rId49"/>
    <p:sldId id="303" r:id="rId50"/>
    <p:sldId id="304" r:id="rId51"/>
    <p:sldId id="305" r:id="rId52"/>
    <p:sldId id="306" r:id="rId53"/>
    <p:sldId id="307" r:id="rId54"/>
    <p:sldId id="308" r:id="rId55"/>
    <p:sldId id="309" r:id="rId56"/>
    <p:sldId id="310" r:id="rId57"/>
    <p:sldId id="311" r:id="rId58"/>
    <p:sldId id="312" r:id="rId59"/>
    <p:sldId id="313" r:id="rId60"/>
    <p:sldId id="314" r:id="rId61"/>
    <p:sldId id="315" r:id="rId6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59" d="100"/>
          <a:sy n="159" d="100"/>
        </p:scale>
        <p:origin x="1680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10051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7226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03785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074681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752444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295113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006532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527284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59578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210186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083127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376491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763623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68542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725208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026906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917358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073585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609385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791621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520078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796167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784994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431545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350693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168656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454228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761410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936674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521743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295174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40008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897500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0355564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201724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8805223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7498752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5468348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2128760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7655093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2450974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5879870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1417953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8481536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378219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8264976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8470852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3060057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0968474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182280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4082535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50402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5882245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1046789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8739696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180608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54051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9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1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5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7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9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1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3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5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7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9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1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3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5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7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9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1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3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5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7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9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1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3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5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7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9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1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3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5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7.png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828800"/>
            <a:ext cx="91440" cy="3200400"/>
          </a:xfrm>
          <a:prstGeom prst="rect">
            <a:avLst/>
          </a:prstGeom>
          <a:solidFill>
            <a:srgbClr val="F2B63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914400" y="18288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λ-sweep over an LP relaxation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914400" y="301752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frontiers, integrality gaps, and what the Netherlands sweep tells us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6035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A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lambda_sweep.jl  ·  NetworkModel_EU / ServiceAccess  ·  May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1089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AGENDA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56692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Proposed agenda  </a:t>
            </a:r>
            <a:r>
              <a:rPr lang="en-US" sz="24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assessing the current pharmacy distribution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24128" y="1435608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&amp; method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24128" y="1728216"/>
            <a:ext cx="1069848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Tabula-rasa LP allocation + λ-sweep over the road-network OD; how to read the #facilities ↔ travel-cost frontier.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2249424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457200" y="224942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24128" y="2221992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current distribution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24128" y="2514600"/>
            <a:ext cx="1069848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metrics per country &amp; key NUTS1 — residents per pharmacy and catchment-size distributions, by road.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303580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457200" y="303580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24128" y="3008376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results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24128" y="3300984"/>
            <a:ext cx="1069848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(same #, less travel) and S2 (same travel, fewer pharmacies) per country and NUTS1 — what the frontiers show so far.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3822192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457200" y="382219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24128" y="3794760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Travel-cost function</a:t>
            </a:r>
            <a:r>
              <a:rPr lang="en-US" sz="1100" i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▸ for discussion / decision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024128" y="4087368"/>
            <a:ext cx="1069848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vs linear, and the adapted logit with kinks at ~5 &amp; ~45 min (following page).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57200" y="4608576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457200" y="460857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024128" y="4581144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/ threshold ladder</a:t>
            </a:r>
            <a:r>
              <a:rPr lang="en-US" sz="1100" i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▸ for discussion / decision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024128" y="4873752"/>
            <a:ext cx="1069848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proposed shortcut to the λ-sweep — but catchments vary so widely that realistic min/max bounds are hard to set. Pursue or drop?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7200" y="5394960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457200" y="539496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024128" y="5367528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issues &amp; roadmap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024128" y="5660136"/>
            <a:ext cx="1069848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consistency (FRM / ITG / SE2; clients with no reachable pharmacy); priorities and next steps.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411480" y="6364224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b="1" i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sought:  </a:t>
            </a:r>
            <a:r>
              <a:rPr lang="en-US" sz="10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travel-cost shape (logistic vs linear / adapted logit)  ·  whether the cap–threshold ladder is worth pursuing  ·  how to communicate λ.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22559085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743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512064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optimization problem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uncapacitated facility location on the road OD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6035040" cy="3108960"/>
          </a:xfrm>
          <a:prstGeom prst="roundRect">
            <a:avLst>
              <a:gd name="adj" fmla="val 1765"/>
            </a:avLst>
          </a:prstGeom>
          <a:solidFill>
            <a:srgbClr val="12233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731520" y="1417320"/>
            <a:ext cx="5577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FD4F0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min</a:t>
            </a:r>
            <a:r>
              <a:rPr lang="en-US" sz="1000" baseline="-40000" dirty="0">
                <a:solidFill>
                  <a:srgbClr val="8FD4F0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x,y</a:t>
            </a:r>
            <a:r>
              <a:rPr lang="en-US" sz="1600" dirty="0">
                <a:solidFill>
                  <a:srgbClr val="FFFFFF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   Σᵢ Σⱼ  popᵢ · c(tᵢⱼ) · yᵢⱼ   +   λ · Σⱼ xⱼ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55778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500" b="1" dirty="0">
                <a:solidFill>
                  <a:srgbClr val="8FD4F0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s.t.</a:t>
            </a:r>
            <a:r>
              <a:rPr lang="en-US" sz="1500" dirty="0">
                <a:solidFill>
                  <a:srgbClr val="FFFFFF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  Σⱼ yᵢⱼ  =  1</a:t>
            </a:r>
            <a:r>
              <a:rPr lang="en-US" sz="1050" dirty="0">
                <a:solidFill>
                  <a:srgbClr val="9FB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every client fully assigned</a:t>
            </a:r>
            <a:endParaRPr lang="en-US" sz="15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      yᵢⱼ  ≤  xⱼ</a:t>
            </a:r>
            <a:r>
              <a:rPr lang="en-US" sz="1050" dirty="0">
                <a:solidFill>
                  <a:srgbClr val="9FB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  only to open pharmacies</a:t>
            </a:r>
            <a:endParaRPr lang="en-US" sz="15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      xⱼ ∈ {0,1}</a:t>
            </a:r>
            <a:r>
              <a:rPr lang="en-US" sz="1500" dirty="0">
                <a:solidFill>
                  <a:srgbClr val="FFD9A0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  →  relaxed to  0 ≤ xⱼ ≤ 1,   yᵢⱼ ≥ 0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342900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FFFFFF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i</a:t>
            </a:r>
            <a:r>
              <a:rPr lang="en-US" sz="1050" dirty="0">
                <a:solidFill>
                  <a:srgbClr val="C7D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populated 1 km² cells (clients) · </a:t>
            </a:r>
            <a:r>
              <a:rPr lang="en-US" sz="1100" i="1" dirty="0">
                <a:solidFill>
                  <a:srgbClr val="FFFFFF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j</a:t>
            </a:r>
            <a:r>
              <a:rPr lang="en-US" sz="1050" dirty="0">
                <a:solidFill>
                  <a:srgbClr val="C7D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candidate pharmacy cells · </a:t>
            </a:r>
            <a:r>
              <a:rPr lang="en-US" sz="1100" i="1" dirty="0">
                <a:solidFill>
                  <a:srgbClr val="FFFFFF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(i,j)</a:t>
            </a:r>
            <a:r>
              <a:rPr lang="en-US" sz="1050" dirty="0">
                <a:solidFill>
                  <a:srgbClr val="C7D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only where the road network gives tᵢⱼ ≤ t_max — the exported OD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12280" y="1280160"/>
            <a:ext cx="4937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c(t) — travel cost, t in minutes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812280" y="1527048"/>
            <a:ext cx="493776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c(t)=t; LOGISTIC c(t)=1/(1+e^−(t−30)/15). The swept LPs run once per function.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812280" y="2121408"/>
            <a:ext cx="4937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 = w · €100,000 — the price of a pharmacy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812280" y="2368296"/>
            <a:ext cx="493776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facility cost a+b·q reduces to λ·#open: the b·q part is constant once every client is assigned, so only the fixed cost a matters.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812280" y="2962656"/>
            <a:ext cx="4937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LP per λ, exact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812280" y="3209544"/>
            <a:ext cx="493776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JuMP + HiGHS dual simplex; the model is built once and re-solved along the w-grid from the previous optimal basis (lp_run.jl solve_at_w!) — millions of yᵢⱼ, minutes per point.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812280" y="3858768"/>
            <a:ext cx="4937760" cy="713232"/>
          </a:xfrm>
          <a:prstGeom prst="roundRect">
            <a:avLst>
              <a:gd name="adj" fmla="val 6410"/>
            </a:avLst>
          </a:prstGeom>
          <a:solidFill>
            <a:srgbClr val="FBF5EA"/>
          </a:solidFill>
          <a:ln w="12700">
            <a:solidFill>
              <a:srgbClr val="B9791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6931152" y="3913632"/>
            <a:ext cx="4718304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830" b="1" dirty="0">
                <a:solidFill>
                  <a:srgbClr val="B97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For review:  </a:t>
            </a:r>
            <a:r>
              <a:rPr lang="en-US" sz="83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client's OD is capped at its 5 nearest facilities (max_nr_facilities_per_client) — it shrinks the LP but limits reassignment choice; and in DK / ITG / FRM / SE2 not every client can be matched (unreachable within t_max → dropped from the baseline, forced-served in the LP), so ★ and frontier are not yet fully comparable there. Feedback welcome.</a:t>
            </a:r>
            <a:endParaRPr lang="en-US" sz="830" dirty="0"/>
          </a:p>
        </p:txBody>
      </p:sp>
      <p:sp>
        <p:nvSpPr>
          <p:cNvPr id="16" name="Shape 14"/>
          <p:cNvSpPr/>
          <p:nvPr/>
        </p:nvSpPr>
        <p:spPr>
          <a:xfrm>
            <a:off x="457200" y="4617720"/>
            <a:ext cx="11274552" cy="1691640"/>
          </a:xfrm>
          <a:prstGeom prst="roundRect">
            <a:avLst>
              <a:gd name="adj" fmla="val 3243"/>
            </a:avLst>
          </a:prstGeom>
          <a:solidFill>
            <a:srgbClr val="F2F5F8"/>
          </a:solidFill>
          <a:ln w="12700">
            <a:solidFill>
              <a:srgbClr val="D9E0E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685800" y="4754880"/>
            <a:ext cx="10835640" cy="14813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relaxation, and what it buys. 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xⱼ ∈ {0,1} this is the (NP-hard) uncapacitated facility-location problem, in its strong disaggregated formulation — one yᵢⱼ ≤ xⱼ per OD pair — whose LP relaxation is known to be nearly integral, which the sweeps confirm (frac_x stays small). The LP optimum is a certified </a:t>
            </a:r>
            <a:r>
              <a:rPr lang="en-US" sz="1000" b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bound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(the grey dashed line); rounding x* to a real set of pharmacies (multistart, p. 6) gives a feasible </a:t>
            </a:r>
            <a:r>
              <a:rPr lang="en-US" sz="10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upper bound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integer optimum is pinched between the two (+0–18% LINEAR, +0–4.7% LOGISTIC).</a:t>
            </a:r>
            <a:endParaRPr lang="en-US" sz="1000" dirty="0"/>
          </a:p>
          <a:p>
            <a:pPr marL="0" indent="0">
              <a:buNone/>
            </a:pPr>
            <a:r>
              <a:rPr lang="en-US" sz="10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 to the p-median problem. 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Imposing the count (Σⱼ xⱼ = p) instead of pricing it gives exactly the p-median problem with costs c(tᵢⱼ) (ReVelle &amp; Swain 1970) — S1 at the baseline count is a p-median instance. The λ-sweep is its Lagrangian relaxation w.r.t. that constraint (Cornuéjols, Fisher &amp; Nemhauser 1977): it recovers only the p’s on the lower convex envelope of the p-median value function, so p-values in non-convex gaps are unreachable by any λ — there S1/S2 are interpolated between sweep points, or pinned exactly with the cardinality constraint (roadmap: better S1/S2 estimations). The swap polish of p. 6 is the classic p-median vertex-substitution search.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Implementation: lp_run.jl (build_lp_warmstart / solve_at_w!) · weights popᵢ = total residents of cell i (CLIENT_WEIGHT=total_pop) · OD from GeoDMS impedance_matrix_od64, t = seconds/60.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4268467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LAMBDA_SWEEP.JL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Scenarios and what the sweep computes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91440" cy="228600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4572000" y="1737360"/>
            <a:ext cx="1188720" cy="27432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4572000" y="17373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22960" y="171907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Baseline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22960" y="21488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pharmacy network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251460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client → nearest existing pharmacy.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total travel cost, mean travel time, and the count of grid cells with at least one pharmacy (target_cells).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17920" y="155448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6217920" y="1554480"/>
            <a:ext cx="91440" cy="228600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10241280" y="1737360"/>
            <a:ext cx="1188720" cy="27432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10241280" y="17373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cost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92240" y="171907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S1 — fix #facilities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492240" y="21488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travel time at sum_x ≈ target_cells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92240" y="251460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Σ wᵢ·c(tᵢⱼ)·yₖ + λ·Σⱼxⱼ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 λ to land sum_x at the baseline cell count.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LP-relaxation of UFLP, strong linking yₖ ≤ x_{j(k)}.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411480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548640" y="4114800"/>
            <a:ext cx="91440" cy="228600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4572000" y="4297680"/>
            <a:ext cx="1188720" cy="27432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4572000" y="42976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access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22960" y="427939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S2 — fix travel cost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822960" y="47091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#facilities at C ≈ baseline cost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22960" y="507492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objective, different λ target.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Closest point on sweep to the baseline travel cost; trade fewer pharmacies for the same access.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17920" y="411480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6217920" y="4114800"/>
            <a:ext cx="91440" cy="2286000"/>
          </a:xfrm>
          <a:prstGeom prst="rect">
            <a:avLst/>
          </a:prstGeom>
          <a:solidFill>
            <a:srgbClr val="F2B63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10241280" y="4297680"/>
            <a:ext cx="1188720" cy="274320"/>
          </a:xfrm>
          <a:prstGeom prst="rect">
            <a:avLst/>
          </a:prstGeom>
          <a:solidFill>
            <a:srgbClr val="F2B63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10241280" y="42976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sweep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92240" y="427939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S3 — reduce both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6492240" y="47091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the full Pareto frontier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492240" y="507492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Coarse sweep w ∈ {1e-5 … 1e3}, then fine sweep bracketing the S1 and S2 targets.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sum_x and travel cost at each λ.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SWEEP TRACES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Pareto frontier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competing objectives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2011680"/>
            <a:ext cx="5303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cost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total person-c(t), weighted by population.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 count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sum_x, the LP-relaxed number of opened pharmacies.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10896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the sweep works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3520440"/>
            <a:ext cx="53035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λ gives one Pareto point (sum_x, travel_c).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λ → many cheap facilities, low travel.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λ → few expensive facilities, high travel.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and S2 are two specific points on the same curve.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sweep traces the curve between and beyond them.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0" y="1691640"/>
            <a:ext cx="5120640" cy="420624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6400800" y="13716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frontier (schematic)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949440" y="2811780"/>
            <a:ext cx="438912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6949440" y="3657600"/>
            <a:ext cx="438912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6949440" y="4503420"/>
            <a:ext cx="438912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6949440" y="5349240"/>
            <a:ext cx="4389120" cy="0"/>
          </a:xfrm>
          <a:prstGeom prst="line">
            <a:avLst/>
          </a:prstGeom>
          <a:noFill/>
          <a:ln w="9525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6949440" y="1965960"/>
            <a:ext cx="0" cy="3383280"/>
          </a:xfrm>
          <a:prstGeom prst="line">
            <a:avLst/>
          </a:prstGeom>
          <a:noFill/>
          <a:ln w="9525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6949440" y="1965960"/>
            <a:ext cx="109728" cy="41045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7059168" y="2376410"/>
            <a:ext cx="109728" cy="33664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7168896" y="2713057"/>
            <a:ext cx="109728" cy="28110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7278624" y="2994164"/>
            <a:ext cx="109728" cy="23826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7388352" y="3232428"/>
            <a:ext cx="109728" cy="20452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7498080" y="3436951"/>
            <a:ext cx="109728" cy="17747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7607808" y="3614426"/>
            <a:ext cx="109728" cy="155459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7717536" y="3769885"/>
            <a:ext cx="109728" cy="137301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7827264" y="3907186"/>
            <a:ext cx="109728" cy="122149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7936992" y="4029335"/>
            <a:ext cx="109728" cy="10937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8046720" y="4138709"/>
            <a:ext cx="109728" cy="9850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8156448" y="4237212"/>
            <a:ext cx="109728" cy="8917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8266176" y="4326388"/>
            <a:ext cx="109728" cy="8111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8375904" y="4407502"/>
            <a:ext cx="109728" cy="7409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8485632" y="4481601"/>
            <a:ext cx="109728" cy="6795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8595360" y="4549556"/>
            <a:ext cx="109728" cy="6254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8705088" y="4612101"/>
            <a:ext cx="109728" cy="5775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>
            <a:off x="8814816" y="4669857"/>
            <a:ext cx="109728" cy="5349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8924544" y="4723355"/>
            <a:ext cx="109728" cy="4969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9034272" y="4773048"/>
            <a:ext cx="109728" cy="4628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3"/>
          <p:cNvSpPr/>
          <p:nvPr/>
        </p:nvSpPr>
        <p:spPr>
          <a:xfrm>
            <a:off x="9144000" y="4819329"/>
            <a:ext cx="109728" cy="4320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4"/>
          <p:cNvSpPr/>
          <p:nvPr/>
        </p:nvSpPr>
        <p:spPr>
          <a:xfrm>
            <a:off x="9253728" y="4862536"/>
            <a:ext cx="109728" cy="40431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5"/>
          <p:cNvSpPr/>
          <p:nvPr/>
        </p:nvSpPr>
        <p:spPr>
          <a:xfrm>
            <a:off x="9363456" y="4902967"/>
            <a:ext cx="109728" cy="3791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6"/>
          <p:cNvSpPr/>
          <p:nvPr/>
        </p:nvSpPr>
        <p:spPr>
          <a:xfrm>
            <a:off x="9473184" y="4940881"/>
            <a:ext cx="109728" cy="3562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7"/>
          <p:cNvSpPr/>
          <p:nvPr/>
        </p:nvSpPr>
        <p:spPr>
          <a:xfrm>
            <a:off x="9582912" y="4976506"/>
            <a:ext cx="109728" cy="3353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8"/>
          <p:cNvSpPr/>
          <p:nvPr/>
        </p:nvSpPr>
        <p:spPr>
          <a:xfrm>
            <a:off x="9692640" y="5010042"/>
            <a:ext cx="109728" cy="3162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Shape 39"/>
          <p:cNvSpPr/>
          <p:nvPr/>
        </p:nvSpPr>
        <p:spPr>
          <a:xfrm>
            <a:off x="9802368" y="5041669"/>
            <a:ext cx="109728" cy="2987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Shape 40"/>
          <p:cNvSpPr/>
          <p:nvPr/>
        </p:nvSpPr>
        <p:spPr>
          <a:xfrm>
            <a:off x="9912096" y="5071545"/>
            <a:ext cx="109728" cy="2826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1"/>
          <p:cNvSpPr/>
          <p:nvPr/>
        </p:nvSpPr>
        <p:spPr>
          <a:xfrm>
            <a:off x="10021824" y="5099811"/>
            <a:ext cx="109728" cy="2678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Shape 42"/>
          <p:cNvSpPr/>
          <p:nvPr/>
        </p:nvSpPr>
        <p:spPr>
          <a:xfrm>
            <a:off x="10131552" y="5126594"/>
            <a:ext cx="109728" cy="2541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Shape 43"/>
          <p:cNvSpPr/>
          <p:nvPr/>
        </p:nvSpPr>
        <p:spPr>
          <a:xfrm>
            <a:off x="10241280" y="5152008"/>
            <a:ext cx="109728" cy="2414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Shape 44"/>
          <p:cNvSpPr/>
          <p:nvPr/>
        </p:nvSpPr>
        <p:spPr>
          <a:xfrm>
            <a:off x="10351008" y="5176156"/>
            <a:ext cx="109728" cy="2297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5"/>
          <p:cNvSpPr/>
          <p:nvPr/>
        </p:nvSpPr>
        <p:spPr>
          <a:xfrm>
            <a:off x="10460736" y="5199129"/>
            <a:ext cx="109728" cy="21882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Shape 46"/>
          <p:cNvSpPr/>
          <p:nvPr/>
        </p:nvSpPr>
        <p:spPr>
          <a:xfrm>
            <a:off x="10570464" y="5221011"/>
            <a:ext cx="109728" cy="2086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Shape 47"/>
          <p:cNvSpPr/>
          <p:nvPr/>
        </p:nvSpPr>
        <p:spPr>
          <a:xfrm>
            <a:off x="10680192" y="5241878"/>
            <a:ext cx="109728" cy="19921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Shape 48"/>
          <p:cNvSpPr/>
          <p:nvPr/>
        </p:nvSpPr>
        <p:spPr>
          <a:xfrm>
            <a:off x="10789920" y="5261799"/>
            <a:ext cx="109728" cy="1903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Shape 49"/>
          <p:cNvSpPr/>
          <p:nvPr/>
        </p:nvSpPr>
        <p:spPr>
          <a:xfrm>
            <a:off x="10899648" y="5280838"/>
            <a:ext cx="109728" cy="1821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Shape 50"/>
          <p:cNvSpPr/>
          <p:nvPr/>
        </p:nvSpPr>
        <p:spPr>
          <a:xfrm>
            <a:off x="11009376" y="5299051"/>
            <a:ext cx="109728" cy="1744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Shape 51"/>
          <p:cNvSpPr/>
          <p:nvPr/>
        </p:nvSpPr>
        <p:spPr>
          <a:xfrm>
            <a:off x="11119104" y="5316490"/>
            <a:ext cx="109728" cy="1671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Shape 52"/>
          <p:cNvSpPr/>
          <p:nvPr/>
        </p:nvSpPr>
        <p:spPr>
          <a:xfrm>
            <a:off x="11228832" y="5333205"/>
            <a:ext cx="109728" cy="1603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Shape 53"/>
          <p:cNvSpPr/>
          <p:nvPr/>
        </p:nvSpPr>
        <p:spPr>
          <a:xfrm>
            <a:off x="10645541" y="3665694"/>
            <a:ext cx="0" cy="1569700"/>
          </a:xfrm>
          <a:prstGeom prst="line">
            <a:avLst/>
          </a:prstGeom>
          <a:noFill/>
          <a:ln w="9525">
            <a:solidFill>
              <a:srgbClr val="64748B"/>
            </a:solidFill>
            <a:prstDash val="dash"/>
          </a:ln>
        </p:spPr>
        <p:txBody>
          <a:bodyPr/>
          <a:lstStyle/>
          <a:p>
            <a:endParaRPr lang="en-GB"/>
          </a:p>
        </p:txBody>
      </p:sp>
      <p:sp>
        <p:nvSpPr>
          <p:cNvPr id="56" name="Shape 54"/>
          <p:cNvSpPr/>
          <p:nvPr/>
        </p:nvSpPr>
        <p:spPr>
          <a:xfrm>
            <a:off x="7642459" y="3665694"/>
            <a:ext cx="3003082" cy="0"/>
          </a:xfrm>
          <a:prstGeom prst="line">
            <a:avLst/>
          </a:prstGeom>
          <a:noFill/>
          <a:ln w="9525">
            <a:solidFill>
              <a:srgbClr val="64748B"/>
            </a:solidFill>
            <a:prstDash val="dash"/>
          </a:ln>
        </p:spPr>
        <p:txBody>
          <a:bodyPr/>
          <a:lstStyle/>
          <a:p>
            <a:endParaRPr lang="en-GB"/>
          </a:p>
        </p:txBody>
      </p:sp>
      <p:sp>
        <p:nvSpPr>
          <p:cNvPr id="57" name="Shape 55"/>
          <p:cNvSpPr/>
          <p:nvPr/>
        </p:nvSpPr>
        <p:spPr>
          <a:xfrm>
            <a:off x="7532731" y="3555966"/>
            <a:ext cx="219456" cy="219456"/>
          </a:xfrm>
          <a:prstGeom prst="ellipse">
            <a:avLst/>
          </a:prstGeom>
          <a:solidFill>
            <a:srgbClr val="065A82"/>
          </a:solidFill>
          <a:ln w="9525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8" name="Text 56"/>
          <p:cNvSpPr/>
          <p:nvPr/>
        </p:nvSpPr>
        <p:spPr>
          <a:xfrm>
            <a:off x="7185259" y="320849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10535813" y="5125666"/>
            <a:ext cx="219456" cy="219456"/>
          </a:xfrm>
          <a:prstGeom prst="ellipse">
            <a:avLst/>
          </a:prstGeom>
          <a:solidFill>
            <a:srgbClr val="065A82"/>
          </a:solidFill>
          <a:ln w="9525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0" name="Text 58"/>
          <p:cNvSpPr/>
          <p:nvPr/>
        </p:nvSpPr>
        <p:spPr>
          <a:xfrm>
            <a:off x="10188341" y="477819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10535813" y="3555966"/>
            <a:ext cx="219456" cy="219456"/>
          </a:xfrm>
          <a:prstGeom prst="ellipse">
            <a:avLst/>
          </a:prstGeom>
          <a:solidFill>
            <a:srgbClr val="F2B632"/>
          </a:solidFill>
          <a:ln w="9525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2" name="Text 60"/>
          <p:cNvSpPr/>
          <p:nvPr/>
        </p:nvSpPr>
        <p:spPr>
          <a:xfrm>
            <a:off x="10188341" y="320849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6949440" y="548640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fewer facilities     sum_x     more facilities →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 rot="16200000">
            <a:off x="6446520" y="35204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cost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6217920" y="6263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strong-linking LP, sum_x is a continuous lower bound on integer facility count.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743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FROM FRACTIONS TO PHARMACIES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512064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multistart rounds the LP relaxation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and why it is an upper bound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457200" y="129844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24128" y="12801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 count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24128" y="1545336"/>
            <a:ext cx="598932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round(Σ xⱼ*) — the integer pharmacy count nearest the LP's fractional total, so every rounded point stays on the same axis as the relaxation.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194560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457200" y="219456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24128" y="2176272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10 candidate sets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24128" y="2441448"/>
            <a:ext cx="598932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top-p by x* and the lazy-greedy set (CELF, Leskovec et al. 2007 — marginal travel gains are submodular), so the result can never be worse than either; plus 8 x*-weighted random draws (Efraimidis–Spirakis 2006 A-Res); must-open pharmacies (x*≈1) are always kept.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3090672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457200" y="309067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24128" y="3072384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Polish by swaps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24128" y="3337560"/>
            <a:ext cx="598932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best-improving open↔closed swaps over the fractional pool — the classic p-median vertex-substitution search, in its fast-interchange form (Resende &amp; Werneck 2007). Each swap is accepted only if the exact travel delta improves — cost strictly decreases, ≤ 12 rounds per seed.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986784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457200" y="398678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24128" y="3968496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coverage-honestly, keep the best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24128" y="4233672"/>
            <a:ext cx="598932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client priced at its nearest open pharmacy, c(t); a client left with no open pharmacy in the OD (stranded) is priced at c(t_max) — the worst travel time in the data, so abandoning remote clusters is never free. Lowest total wins.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315200" y="1298448"/>
            <a:ext cx="4416552" cy="3566160"/>
          </a:xfrm>
          <a:prstGeom prst="roundRect">
            <a:avLst>
              <a:gd name="adj" fmla="val 1538"/>
            </a:avLst>
          </a:prstGeom>
          <a:solidFill>
            <a:srgbClr val="F0F6F2"/>
          </a:solidFill>
          <a:ln w="12700">
            <a:solidFill>
              <a:srgbClr val="1E7A5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7498080" y="1408176"/>
            <a:ext cx="4069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7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is an upper bound ✓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498080" y="1719072"/>
            <a:ext cx="4069080" cy="3063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rounded set is a feasible point of the original problem: exactly p pharmacies actually open (x integer) and every client explicitly assigned. Feasible ⟹ its objective can only be ≥ the integer optimum, which is ≥ the LP optimum:</a:t>
            </a:r>
            <a:endParaRPr lang="en-US" sz="1050" dirty="0"/>
          </a:p>
          <a:p>
            <a:pPr marL="0" indent="0">
              <a:lnSpc>
                <a:spcPct val="104000"/>
              </a:lnSpc>
              <a:buNone/>
            </a:pPr>
            <a:endParaRPr lang="en-US" sz="1050" dirty="0"/>
          </a:p>
          <a:p>
            <a:pPr marL="0" indent="0" algn="ctr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1E7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 relax  ≤  integer optimum  ≤  multistart</a:t>
            </a:r>
            <a:endParaRPr lang="en-US" sz="1050" dirty="0"/>
          </a:p>
          <a:p>
            <a:pPr marL="0" indent="0">
              <a:lnSpc>
                <a:spcPct val="104000"/>
              </a:lnSpc>
              <a:buNone/>
            </a:pPr>
            <a:endParaRPr lang="en-US" sz="1050" dirty="0"/>
          </a:p>
          <a:p>
            <a:pPr marL="0" indent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Rigorous whenever stranded = 0 — the common case (see the summary table). With stranding, strict full-coverage is infeasible at that count; the point is then priced conservatively (c is non-decreasing, so c(t_max) ≥ any real within-OD assignment) and the stranded count is reported next to every figure.</a:t>
            </a:r>
            <a:endParaRPr lang="en-US" sz="1050" dirty="0"/>
          </a:p>
          <a:p>
            <a:pPr marL="0" indent="0">
              <a:lnSpc>
                <a:spcPct val="104000"/>
              </a:lnSpc>
              <a:buNone/>
            </a:pPr>
            <a:endParaRPr lang="en-US" sz="1050" dirty="0"/>
          </a:p>
          <a:p>
            <a:pPr marL="0" indent="0">
              <a:lnSpc>
                <a:spcPct val="104000"/>
              </a:lnSpc>
              <a:buNone/>
            </a:pPr>
            <a:r>
              <a:rPr lang="en-US" sz="1050" i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multi-vs-relax column in the end tables is therefore a certified optimality gap: the integer optimum lies inside it.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57200" y="5029200"/>
            <a:ext cx="11274552" cy="1143000"/>
          </a:xfrm>
          <a:prstGeom prst="roundRect">
            <a:avLst>
              <a:gd name="adj" fmla="val 4800"/>
            </a:avLst>
          </a:prstGeom>
          <a:solidFill>
            <a:srgbClr val="F2F5F8"/>
          </a:solidFill>
          <a:ln w="12700">
            <a:solidFill>
              <a:srgbClr val="D9E0E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685800" y="5166360"/>
            <a:ext cx="108356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Checked against the implementation (lp_run.jl).  </a:t>
            </a:r>
            <a:r>
              <a:rPr lang="en-US" sz="11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LP-guided matheuristic. The swap profit is the exact per-swap travel change (gain − loss + interaction term — verified case-by-case), so polish is monotone and multistart ≤ min(top-p, greedy) by construction; the final choice re-evaluates every polished set from scratch (travel_of). Deterministic: fixed RNG seed, so decks reproduce. Cost: seconds per point — the LP solve dominates.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57200" y="6355080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lp_run.jl: multistart_round (seeds), swap_round! (fast interchange), travel_of (coverage-honest metric), assign_nearest (final assignment) · MS_RESTARTS=10, MS_ROUNDS=12, MS_SEED fixed.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5998914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FRACTIONAL SUM_X IS INFORMATIVE, NOT NOISE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Integrality gap: LP can strictly beat IP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029200" cy="475488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 flipH="1">
            <a:off x="1717060" y="2560320"/>
            <a:ext cx="1346180" cy="233172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1717060" y="4892040"/>
            <a:ext cx="2692359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 flipH="1" flipV="1">
            <a:off x="3063240" y="2560320"/>
            <a:ext cx="1346180" cy="233172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2880360" y="2377440"/>
            <a:ext cx="365760" cy="365760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2880360" y="2377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i₃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534180" y="4709160"/>
            <a:ext cx="365760" cy="365760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1534180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i₁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226540" y="4709160"/>
            <a:ext cx="365760" cy="365760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4226540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207270" y="3543300"/>
            <a:ext cx="365760" cy="365760"/>
          </a:xfrm>
          <a:prstGeom prst="rect">
            <a:avLst/>
          </a:prstGeom>
          <a:solidFill>
            <a:srgbClr val="F2B632"/>
          </a:solidFill>
          <a:ln w="6350">
            <a:solidFill>
              <a:srgbClr val="8A651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2207270" y="35433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j₂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553450" y="3543300"/>
            <a:ext cx="365760" cy="365760"/>
          </a:xfrm>
          <a:prstGeom prst="rect">
            <a:avLst/>
          </a:prstGeom>
          <a:solidFill>
            <a:srgbClr val="F2B632"/>
          </a:solidFill>
          <a:ln w="6350">
            <a:solidFill>
              <a:srgbClr val="8A651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3553450" y="35433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j₃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880360" y="4709160"/>
            <a:ext cx="365760" cy="365760"/>
          </a:xfrm>
          <a:prstGeom prst="rect">
            <a:avLst/>
          </a:prstGeom>
          <a:solidFill>
            <a:srgbClr val="F2B632"/>
          </a:solidFill>
          <a:ln w="6350">
            <a:solidFill>
              <a:srgbClr val="8A651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2880360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j₁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280422" y="455371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626602" y="455371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687845" y="419938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360935" y="303352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210035" y="419938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536945" y="303352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40080" y="59436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clients · 3 candidate pharmacies · weight = 1 each · λ = 2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852160" y="155448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Best integer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852160" y="1965960"/>
            <a:ext cx="5760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any one pharmacy:  </a:t>
            </a: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+ 1 + 3 + λ = 7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any two:  </a:t>
            </a: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+ 1 + 1 + 2λ = 7</a:t>
            </a:r>
            <a:endParaRPr lang="en-US" sz="1400" dirty="0"/>
          </a:p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IP optimum = 7   (1 or 2 facilities)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852160" y="324612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LP fractional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5852160" y="3657600"/>
            <a:ext cx="5760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</a:t>
            </a:r>
            <a:r>
              <a:rPr lang="en-US" sz="1400" b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= (½, ½, ½)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each client routes ½ + ½ to its two near pharmacies (cost 1 each).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= 3, facility = 3 · ½ · 2 = 3</a:t>
            </a:r>
            <a:endParaRPr lang="en-US" sz="1400" dirty="0"/>
          </a:p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LP optimum = </a:t>
            </a:r>
            <a:r>
              <a:rPr lang="en-US" sz="1800" b="1" i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(sum_x = 1.5, strictly &lt; IP = 7)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852160" y="5212080"/>
            <a:ext cx="5760720" cy="105156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6035040" y="530352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Fractional sum_x is not a solver artefact. The LP frontier is a true lower bound; geographies that resist clean integer covering show the gap.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BASELINE · RESIDENTS PER PHARMACY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Residents per pharmacy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per country</a:t>
            </a:r>
            <a:endParaRPr lang="en-US" sz="2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74552" cy="914400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pharm.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residents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resid/ph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#empty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min&gt;0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10,203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25,354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Belgium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Czechia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7,222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18,348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Denmark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10,736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13,242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17,801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35,188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Estonia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17,502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Ireland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17,055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12,991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9,107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85,669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Latvia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Lithuania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13,754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Luxembourg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7,822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14,020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8,765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7,952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11,913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15,567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33,497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Norway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8,548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23,011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13,791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Portugal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19,709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Slovenia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Sweden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12,659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37,107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</a:tbl>
          </a:graphicData>
        </a:graphic>
      </p:graphicFrame>
      <p:sp>
        <p:nvSpPr>
          <p:cNvPr id="4" name="Text 2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Catchment = residents whose nearest pharmacy BY ROAD-NETWORK travel time is this one (a cell's catchment split evenly among the pharmacies in it); p10..max = percentiles of that per-pharmacy catchment. #empty = pharmacies that are never the road-nearest for any populated cell (fully shadowed / disconnected); min&gt;0 = smallest non-zero catchment. Source: pharmacy_descriptives.csv (road OD; Lewis, 22 May).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973879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BASELINE · RESIDENTS PER PHARMACY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Residents per pharmacy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key NUTS1 regions (FR / IT / SE)</a:t>
            </a:r>
            <a:endParaRPr lang="en-US" sz="21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74552" cy="914400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pharm.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residents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resid/ph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#empty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min&gt;0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8,765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7,952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11,913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15,567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33,497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17,502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17,502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12,847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13,685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15,413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15,870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11,655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FRJ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12,834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14,737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9,333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12,991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9,107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85,669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43,077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7,844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14,735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85,669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61,270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8,068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47,393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51,155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Sweden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12,659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37,107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13,621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37,107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7,276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9,944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13,041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33,444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8,021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10,842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Catchment = residents whose nearest pharmacy BY ROAD-NETWORK travel time is this one (a cell's catchment split evenly among the pharmacies in it); p10..max = percentiles of that per-pharmacy catchment. #empty = pharmacies that are never the road-nearest for any populated cell (fully shadowed / disconnected); min&gt;0 = smallest non-zero catchment. Country rows bold, NUTS1 indented below. Source: pharmacy_descriptives.csv (road OD; Lewis, 22 May).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6567909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BASELINE · RESIDENTS PER 1 KM² LOCATION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Residents per 1 km² location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per country</a:t>
            </a:r>
            <a:endParaRPr lang="en-US" sz="2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74552" cy="914400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locations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residents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resid/loc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#empty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min&gt;0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7,897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6,976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13,119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33,771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Belgium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29,568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Czechia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11,723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27,465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Denmark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12,349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11,182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15,281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20,513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40,606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Estonia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8,262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51,246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Ireland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7,221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10,276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8,794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6,677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8,616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13,684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112,620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Latvia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8,093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Lithuania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9,157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Luxembourg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9,508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11,596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22,601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10,797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13,827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17,874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34,905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Norway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8,790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12,626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26,897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9,712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26,161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Portugal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9,811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32,667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Slovenia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8,708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11,475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22,559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Sweden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9,420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8,541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17,268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37,107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location = a unique 1 km² cell with ≥1 pharmacy; catchment = residents whose nearest pharmacy cell BY ROAD is this one; p10..max = percentiles of that per-location catchment. #empty = locations that are never the road-nearest for any populated cell (fully shadowed / disconnected); min&gt;0 = smallest non-zero catchment. Source: pharmacy_descriptives.csv (road OD; Lewis, 22 May).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41370873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BASELINE · RESIDENTS PER 1 KM² LOCATION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Residents per 1 km² location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key NUTS1 regions (FR / IT / SE)</a:t>
            </a:r>
            <a:endParaRPr lang="en-US" sz="21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74552" cy="914400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locations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residents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resid/loc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#empty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min&gt;0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10,797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13,827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17,874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34,905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51,246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15,712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51,246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15,552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7,865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15,013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17,786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8,069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22,395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18,734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18,820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FRJ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7,734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17,607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25,354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8,837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25,437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14,763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8,794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6,677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8,616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13,684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112,620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11,567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43,077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10,535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6,995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13,080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23,373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112,620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7,802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13,929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61,270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7,208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10,599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47,393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7,117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9,414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14,419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51,155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Sweden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9,420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8,541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17,268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37,107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10,485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9,412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13,654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19,565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38,431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8,797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12,552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35,654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9,425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12,971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25,507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location = a unique 1 km² cell with ≥1 pharmacy; catchment = residents whose nearest pharmacy cell BY ROAD is this one; p10..max = percentiles of that per-location catchment. #empty = locations that are never the road-nearest for any populated cell (fully shadowed / disconnected); min&gt;0 = smallest non-zero catchment. Country rows bold, NUTS1 indented below. Source: pharmacy_descriptives.csv (road OD; Lewis, 22 May).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35887740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A33D"/>
                </a:solidFill>
              </a:rPr>
              <a:t>PRELIMINARY · CATCHMENT-CAP LADDER (NO COST FUNCTION)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Netherlands — five rungs, capping catchments instead of a cost function  </a:t>
            </a:r>
            <a:r>
              <a:rPr lang="en-US" sz="19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S1 fix #, ↓travel · S2 ↓#, hold travel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721608" cy="2286000"/>
          </a:xfrm>
          <a:prstGeom prst="roundRect">
            <a:avLst>
              <a:gd name="adj" fmla="val 2400"/>
            </a:avLst>
          </a:prstGeom>
          <a:solidFill>
            <a:srgbClr val="F2F5F8"/>
          </a:solidFill>
          <a:ln w="12700">
            <a:solidFill>
              <a:srgbClr val="0B6E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621792" y="1426464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· A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21792" y="1737360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cap · multiple per cell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21792" y="2103120"/>
            <a:ext cx="34472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B23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+13.3%</a:t>
            </a:r>
            <a:r>
              <a:rPr lang="en-US" sz="1050" dirty="0">
                <a:solidFill>
                  <a:srgbClr val="5B6B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travel vs today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621792" y="2679192"/>
            <a:ext cx="344728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1,613 pharmacies · 1,593 cells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1.9% stranded · cap 35,000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61688" y="1325880"/>
            <a:ext cx="3721608" cy="2286000"/>
          </a:xfrm>
          <a:prstGeom prst="roundRect">
            <a:avLst>
              <a:gd name="adj" fmla="val 2400"/>
            </a:avLst>
          </a:prstGeom>
          <a:solidFill>
            <a:srgbClr val="F2F5F8"/>
          </a:solidFill>
          <a:ln w="12700">
            <a:solidFill>
              <a:srgbClr val="0B6E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4526280" y="1426464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· B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26280" y="1737360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cap · one per cell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526280" y="2103120"/>
            <a:ext cx="34472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E7A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-6.5%</a:t>
            </a:r>
            <a:r>
              <a:rPr lang="en-US" sz="1050" dirty="0">
                <a:solidFill>
                  <a:srgbClr val="5B6B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travel vs today</a:t>
            </a:r>
            <a:endParaRPr lang="en-US" sz="2500" dirty="0"/>
          </a:p>
        </p:txBody>
      </p:sp>
      <p:sp>
        <p:nvSpPr>
          <p:cNvPr id="13" name="Text 11"/>
          <p:cNvSpPr/>
          <p:nvPr/>
        </p:nvSpPr>
        <p:spPr>
          <a:xfrm>
            <a:off x="4526280" y="2679192"/>
            <a:ext cx="344728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1,613 pharmacies · 1,613 cells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0.8% stranded · cap 35,000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266176" y="1325880"/>
            <a:ext cx="3721608" cy="2286000"/>
          </a:xfrm>
          <a:prstGeom prst="roundRect">
            <a:avLst>
              <a:gd name="adj" fmla="val 2400"/>
            </a:avLst>
          </a:prstGeom>
          <a:solidFill>
            <a:srgbClr val="F2F5F8"/>
          </a:solidFill>
          <a:ln w="12700">
            <a:solidFill>
              <a:srgbClr val="C9D2D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8430768" y="1426464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· C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430768" y="1737360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 fixed · model the rest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430768" y="2194560"/>
            <a:ext cx="339242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full-scale run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3794760"/>
            <a:ext cx="3721608" cy="2286000"/>
          </a:xfrm>
          <a:prstGeom prst="roundRect">
            <a:avLst>
              <a:gd name="adj" fmla="val 2400"/>
            </a:avLst>
          </a:prstGeom>
          <a:solidFill>
            <a:srgbClr val="F2F5F8"/>
          </a:solidFill>
          <a:ln w="12700">
            <a:solidFill>
              <a:srgbClr val="C9D2D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621792" y="3895344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· A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1792" y="4206240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+ max cap · all facilities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21792" y="4663440"/>
            <a:ext cx="339242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full-scale run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361688" y="3794760"/>
            <a:ext cx="3721608" cy="2286000"/>
          </a:xfrm>
          <a:prstGeom prst="roundRect">
            <a:avLst>
              <a:gd name="adj" fmla="val 2400"/>
            </a:avLst>
          </a:prstGeom>
          <a:solidFill>
            <a:srgbClr val="F2F5F8"/>
          </a:solidFill>
          <a:ln w="12700">
            <a:solidFill>
              <a:srgbClr val="C9D2D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4526280" y="3895344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· B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526280" y="4206240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+ max cap · outside urban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526280" y="4663440"/>
            <a:ext cx="339242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full-scale run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019288" y="3794760"/>
            <a:ext cx="37033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</a:t>
            </a:r>
            <a:r>
              <a:rPr lang="en-US" sz="11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today's count, minimises travel under a max catchment cap.  </a:t>
            </a:r>
            <a:r>
              <a:rPr lang="en-US" sz="11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</a:t>
            </a:r>
            <a:r>
              <a:rPr lang="en-US" sz="11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minimises the count under a min (viability) + max catchment, holding travel ≈ today.  Cost-function rung (S1-D / S2-C) = the λ-sweep that follows.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11480" y="6144768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b="1" i="1" dirty="0">
                <a:solidFill>
                  <a:srgbClr val="B2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PRELIMINARY — INDICATIVE ONLY. </a:t>
            </a: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Full-scale ladder run incomplete; S1 (fixed-count) figures are sensitive to LP-relaxation rounding and can shift on re-run (robust multistart rounding still to be ported) — read the direction, not the exact %. LINEAR travel cost; max cap = NL observed cell-catchment max (~35k). 'stranded' = demand the cap can't serve within reach,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2207296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NETHERLANDS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Netherlands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1,615 cells · 3.48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60.7M · LOG 1.9M</a:t>
            </a:r>
            <a:endParaRPr lang="en-US" sz="1000" dirty="0"/>
          </a:p>
        </p:txBody>
      </p:sp>
      <p:pic>
        <p:nvPicPr>
          <p:cNvPr id="5" name="Image 0" descr="E:\prj\JRC\NetworkModel_EU\doc\charts\Netherlands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Netherlands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1788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0.00376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7171892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825B26-4E0C-84C7-DBD5-CEE4003AEB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76123"/>
            <a:ext cx="11277600" cy="4905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913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LUXEMBOURG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Luxembourg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 cells · 3.79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2.4M · LOG 71k</a:t>
            </a:r>
            <a:endParaRPr lang="en-US" sz="1000" dirty="0"/>
          </a:p>
        </p:txBody>
      </p:sp>
      <p:pic>
        <p:nvPicPr>
          <p:cNvPr id="5" name="Image 0" descr="E:\prj\JRC\NetworkModel_EU\doc\charts\Luxembourg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Luxembourg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0.00266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2784161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ESTONIA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Estonia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292 cells · 4.51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5.9M · LOG 174k</a:t>
            </a:r>
            <a:endParaRPr lang="en-US" sz="1000" dirty="0"/>
          </a:p>
        </p:txBody>
      </p:sp>
      <p:pic>
        <p:nvPicPr>
          <p:cNvPr id="5" name="Image 0" descr="E:\prj\JRC\NetworkModel_EU\doc\charts\Estonia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Estonia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0.00299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9278145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LATVIA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Latvia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496 cells · 3.96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7.5M · LOG 230k</a:t>
            </a:r>
            <a:endParaRPr lang="en-US" sz="1000" dirty="0"/>
          </a:p>
        </p:txBody>
      </p:sp>
      <p:pic>
        <p:nvPicPr>
          <p:cNvPr id="5" name="Image 0" descr="E:\prj\JRC\NetworkModel_EU\doc\charts\Latvia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Latvia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28637124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SLOVENIA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Slovenia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306 cells · 5.58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11.7M · LOG 284k</a:t>
            </a:r>
            <a:endParaRPr lang="en-US" sz="1000" dirty="0"/>
          </a:p>
        </p:txBody>
      </p:sp>
      <p:pic>
        <p:nvPicPr>
          <p:cNvPr id="5" name="Image 0" descr="E:\prj\JRC\NetworkModel_EU\doc\charts\Slovenia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Slovenia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0.00355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8467946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LITHUANIA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Lithuania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582 cells · 4.39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12.3M · LOG 361k</a:t>
            </a:r>
            <a:endParaRPr lang="en-US" sz="1000" dirty="0"/>
          </a:p>
        </p:txBody>
      </p:sp>
      <p:pic>
        <p:nvPicPr>
          <p:cNvPr id="5" name="Image 0" descr="E:\prj\JRC\NetworkModel_EU\doc\charts\Lithuania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Lithuania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0.00316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408214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IRELAND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Ireland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862 cells · 4.71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23.6M · LOG 630k</a:t>
            </a:r>
            <a:endParaRPr lang="en-US" sz="1000" dirty="0"/>
          </a:p>
        </p:txBody>
      </p:sp>
      <p:pic>
        <p:nvPicPr>
          <p:cNvPr id="5" name="Image 0" descr="E:\prj\JRC\NetworkModel_EU\doc\charts\Ireland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reland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0.00266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16615325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NORWAY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Norway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755 cells · 7.99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40.8M · LOG 896k</a:t>
            </a:r>
            <a:endParaRPr lang="en-US" sz="1000" dirty="0"/>
          </a:p>
        </p:txBody>
      </p:sp>
      <p:pic>
        <p:nvPicPr>
          <p:cNvPr id="5" name="Image 0" descr="E:\prj\JRC\NetworkModel_EU\doc\charts\Norway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Norway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0.00841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05197733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DENMARK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Denmark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466 cells · 6.52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37.5M · LOG 860k</a:t>
            </a:r>
            <a:endParaRPr lang="en-US" sz="1000" dirty="0"/>
          </a:p>
        </p:txBody>
      </p:sp>
      <p:pic>
        <p:nvPicPr>
          <p:cNvPr id="5" name="Image 0" descr="E:\prj\JRC\NetworkModel_EU\doc\charts\Denmark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Denmark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0.00878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80710240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AUSTRIA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Austria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1,129 cells · 4.82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43.1M · LOG 1.2M</a:t>
            </a:r>
            <a:endParaRPr lang="en-US" sz="1000" dirty="0"/>
          </a:p>
        </p:txBody>
      </p:sp>
      <p:pic>
        <p:nvPicPr>
          <p:cNvPr id="5" name="Image 0" descr="E:\prj\JRC\NetworkModel_EU\doc\charts\Austria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Austria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5531062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PORTUGAL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Portugal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1,882 cells · 8.56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88.1M · LOG 1.5M</a:t>
            </a:r>
            <a:endParaRPr lang="en-US" sz="1000" dirty="0"/>
          </a:p>
        </p:txBody>
      </p:sp>
      <p:pic>
        <p:nvPicPr>
          <p:cNvPr id="5" name="Image 0" descr="E:\prj\JRC\NetworkModel_EU\doc\charts\Portugal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Portugal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06451767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CZECHIA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Czechia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1,624 cells · 4.23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44.4M · LOG 1.3M</a:t>
            </a:r>
            <a:endParaRPr lang="en-US" sz="1000" dirty="0"/>
          </a:p>
        </p:txBody>
      </p:sp>
      <p:pic>
        <p:nvPicPr>
          <p:cNvPr id="5" name="Image 0" descr="E:\prj\JRC\NetworkModel_EU\doc\charts\Czechia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Czechia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10033207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BELGIUM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Belgium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2,958 cells · 1.87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21.5M · LOG 1.1M</a:t>
            </a:r>
            <a:endParaRPr lang="en-US" sz="1000" dirty="0"/>
          </a:p>
        </p:txBody>
      </p:sp>
      <p:pic>
        <p:nvPicPr>
          <p:cNvPr id="5" name="Image 0" descr="E:\prj\JRC\NetworkModel_EU\doc\charts\Belgium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Belgium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2934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0.000648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53884032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POLAND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Poland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7,027 cells · 3.59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133M · LOG 4.1M</a:t>
            </a:r>
            <a:endParaRPr lang="en-US" sz="1000" dirty="0"/>
          </a:p>
        </p:txBody>
      </p:sp>
      <p:pic>
        <p:nvPicPr>
          <p:cNvPr id="5" name="Image 0" descr="E:\prj\JRC\NetworkModel_EU\doc\charts\Poland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Poland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7297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132634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Île-de-France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1,449 cells · 1.03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12.7M · LOG 1.0M</a:t>
            </a:r>
            <a:endParaRPr lang="en-US" sz="1000" dirty="0"/>
          </a:p>
        </p:txBody>
      </p:sp>
      <p:pic>
        <p:nvPicPr>
          <p:cNvPr id="5" name="Image 0" descr="E:\prj\JRC\NetworkModel_EU\doc\charts\FR1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1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0.00154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78602926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FRB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Centre-Val de Loire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613 cells · 4.36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11.2M · LOG 309k</a:t>
            </a:r>
            <a:endParaRPr lang="en-US" sz="1000" dirty="0"/>
          </a:p>
        </p:txBody>
      </p:sp>
      <p:pic>
        <p:nvPicPr>
          <p:cNvPr id="5" name="Image 0" descr="E:\prj\JRC\NetworkModel_EU\doc\charts\FRB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B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07574974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Bourgogne-Franche-Comté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723 cells · 4.78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13.4M · LOG 351k</a:t>
            </a:r>
            <a:endParaRPr lang="en-US" sz="1000" dirty="0"/>
          </a:p>
        </p:txBody>
      </p:sp>
      <p:pic>
        <p:nvPicPr>
          <p:cNvPr id="5" name="Image 0" descr="E:\prj\JRC\NetworkModel_EU\doc\charts\FRC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C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47909978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Normandie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679 cells · 4.31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14.2M · LOG 391k</a:t>
            </a:r>
            <a:endParaRPr lang="en-US" sz="1000" dirty="0"/>
          </a:p>
        </p:txBody>
      </p:sp>
      <p:pic>
        <p:nvPicPr>
          <p:cNvPr id="5" name="Image 0" descr="E:\prj\JRC\NetworkModel_EU\doc\charts\FRD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D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631595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Hauts-de-France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1,333 cells · 2.92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17.5M · LOG 619k</a:t>
            </a:r>
            <a:endParaRPr lang="en-US" sz="1000" dirty="0"/>
          </a:p>
        </p:txBody>
      </p:sp>
      <p:pic>
        <p:nvPicPr>
          <p:cNvPr id="5" name="Image 0" descr="E:\prj\JRC\NetworkModel_EU\doc\charts\FRE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E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24777072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FRF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Grand Est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1,167 cells · 3.85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21.4M · LOG 636k</a:t>
            </a:r>
            <a:endParaRPr lang="en-US" sz="1000" dirty="0"/>
          </a:p>
        </p:txBody>
      </p:sp>
      <p:pic>
        <p:nvPicPr>
          <p:cNvPr id="5" name="Image 0" descr="E:\prj\JRC\NetworkModel_EU\doc\charts\FRF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F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83359532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Pays de la Loire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848 cells · 4.06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15.6M · LOG 446k</a:t>
            </a:r>
            <a:endParaRPr lang="en-US" sz="1000" dirty="0"/>
          </a:p>
        </p:txBody>
      </p:sp>
      <p:pic>
        <p:nvPicPr>
          <p:cNvPr id="5" name="Image 0" descr="E:\prj\JRC\NetworkModel_EU\doc\charts\FRG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G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66227677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Bretagne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793 cells · 4.34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14.5M · LOG 397k</a:t>
            </a:r>
            <a:endParaRPr lang="en-US" sz="1000" dirty="0"/>
          </a:p>
        </p:txBody>
      </p:sp>
      <p:pic>
        <p:nvPicPr>
          <p:cNvPr id="5" name="Image 0" descr="E:\prj\JRC\NetworkModel_EU\doc\charts\FRH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H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406676401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Nouvelle-Aquitaine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1,584 cells · 4.54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27.5M · LOG 741k</a:t>
            </a:r>
            <a:endParaRPr lang="en-US" sz="1000" dirty="0"/>
          </a:p>
        </p:txBody>
      </p:sp>
      <p:pic>
        <p:nvPicPr>
          <p:cNvPr id="5" name="Image 0" descr="E:\prj\JRC\NetworkModel_EU\doc\charts\FRI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I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1559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0.00154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73300719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FRJ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Occitanie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1,424 cells · 3.91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23.5M · LOG 695k</a:t>
            </a:r>
            <a:endParaRPr lang="en-US" sz="1000" dirty="0"/>
          </a:p>
        </p:txBody>
      </p:sp>
      <p:pic>
        <p:nvPicPr>
          <p:cNvPr id="5" name="Image 0" descr="E:\prj\JRC\NetworkModel_EU\doc\charts\FRJ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J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67841841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Auvergne-Rhône-Alpes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1,685 cells · 3.62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29.4M · LOG 912k</a:t>
            </a:r>
            <a:endParaRPr lang="en-US" sz="1000" dirty="0"/>
          </a:p>
        </p:txBody>
      </p:sp>
      <p:pic>
        <p:nvPicPr>
          <p:cNvPr id="5" name="Image 0" descr="E:\prj\JRC\NetworkModel_EU\doc\charts\FRK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K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36563025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Provence-Alpes-Côte d'Azur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1,026 cells · 2.60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13.1M · LOG 515k</a:t>
            </a:r>
            <a:endParaRPr lang="en-US" sz="1000" dirty="0"/>
          </a:p>
        </p:txBody>
      </p:sp>
      <p:pic>
        <p:nvPicPr>
          <p:cNvPr id="5" name="Image 0" descr="E:\prj\JRC\NetworkModel_EU\doc\charts\FRL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L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0.00154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22642493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Corse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 cells · 5.11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1.7M · LOG 45k</a:t>
            </a:r>
            <a:endParaRPr lang="en-US" sz="1000" dirty="0"/>
          </a:p>
        </p:txBody>
      </p:sp>
      <p:pic>
        <p:nvPicPr>
          <p:cNvPr id="5" name="Image 0" descr="E:\prj\JRC\NetworkModel_EU\doc\charts\FRM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M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0.00259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15304311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Nord-Ovest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2,890 cells · 2.93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46.4M · LOG 1.7M</a:t>
            </a:r>
            <a:endParaRPr lang="en-US" sz="1000" dirty="0"/>
          </a:p>
        </p:txBody>
      </p:sp>
      <p:pic>
        <p:nvPicPr>
          <p:cNvPr id="5" name="Image 0" descr="E:\prj\JRC\NetworkModel_EU\doc\charts\ITC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C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71408916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ITF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Sud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1,253 cells · 6.67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88.9M · LOG 2.1M</a:t>
            </a:r>
            <a:endParaRPr lang="en-US" sz="1000" dirty="0"/>
          </a:p>
        </p:txBody>
      </p:sp>
      <p:pic>
        <p:nvPicPr>
          <p:cNvPr id="5" name="Image 0" descr="E:\prj\JRC\NetworkModel_EU\doc\charts\ITF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F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02941564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Isole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884 cells · 22.30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139M · LOG 1.6M</a:t>
            </a:r>
            <a:endParaRPr lang="en-US" sz="1000" dirty="0"/>
          </a:p>
        </p:txBody>
      </p:sp>
      <p:pic>
        <p:nvPicPr>
          <p:cNvPr id="5" name="Image 0" descr="E:\prj\JRC\NetworkModel_EU\doc\charts\ITG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G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26995132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Nord-Est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2,079 cells · 4.20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48.4M · LOG 1.4M</a:t>
            </a:r>
            <a:endParaRPr lang="en-US" sz="1000" dirty="0"/>
          </a:p>
        </p:txBody>
      </p:sp>
      <p:pic>
        <p:nvPicPr>
          <p:cNvPr id="5" name="Image 0" descr="E:\prj\JRC\NetworkModel_EU\doc\charts\ITH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H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2434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1429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2386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45809985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Centro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1,631 cells · 4.19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49.0M · LOG 1.4M</a:t>
            </a:r>
            <a:endParaRPr lang="en-US" sz="1000" dirty="0"/>
          </a:p>
        </p:txBody>
      </p:sp>
      <p:pic>
        <p:nvPicPr>
          <p:cNvPr id="5" name="Image 0" descr="E:\prj\JRC\NetworkModel_EU\doc\charts\ITI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I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1396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0.00421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96659499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SWEDEN · SE1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Östra Sverige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388 cells · 5.41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22.1M · LOG 573k</a:t>
            </a:r>
            <a:endParaRPr lang="en-US" sz="1000" dirty="0"/>
          </a:p>
        </p:txBody>
      </p:sp>
      <p:pic>
        <p:nvPicPr>
          <p:cNvPr id="5" name="Image 0" descr="E:\prj\JRC\NetworkModel_EU\doc\charts\SE1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SE1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0.00707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34873054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SWEDEN · SE2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Södra Sverige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452 cells · 8.05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35.4M · LOG 747k</a:t>
            </a:r>
            <a:endParaRPr lang="en-US" sz="1000" dirty="0"/>
          </a:p>
        </p:txBody>
      </p:sp>
      <p:pic>
        <p:nvPicPr>
          <p:cNvPr id="5" name="Image 0" descr="E:\prj\JRC\NetworkModel_EU\doc\charts\SE2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SE2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0.00979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40773176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SWEDEN · SE3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Norra Sverige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246 cells · 9.46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16.4M · LOG 350k</a:t>
            </a:r>
            <a:endParaRPr lang="en-US" sz="1000" dirty="0"/>
          </a:p>
        </p:txBody>
      </p:sp>
      <p:pic>
        <p:nvPicPr>
          <p:cNvPr id="5" name="Image 0" descr="E:\prj\JRC\NetworkModel_EU\doc\charts\SE3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SE3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0.00937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27021795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POLAND · PL2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Południowy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1,442 cells · 3.21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24.5M · LOG 811k</a:t>
            </a:r>
            <a:endParaRPr lang="en-US" sz="1000" dirty="0"/>
          </a:p>
        </p:txBody>
      </p:sp>
      <p:pic>
        <p:nvPicPr>
          <p:cNvPr id="5" name="Image 0" descr="E:\prj\JRC\NetworkModel_EU\doc\charts\PL2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PL2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40709310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POLAND · PL4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Północno-Zachodni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1,200 cells · 3.66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22.1M · LOG 685k</a:t>
            </a:r>
            <a:endParaRPr lang="en-US" sz="1000" dirty="0"/>
          </a:p>
        </p:txBody>
      </p:sp>
      <p:pic>
        <p:nvPicPr>
          <p:cNvPr id="5" name="Image 0" descr="E:\prj\JRC\NetworkModel_EU\doc\charts\PL4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PL4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77711702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POLAND · PL5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Południowo-Zachodni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688 cells · 3.41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12.8M · LOG 411k</a:t>
            </a:r>
            <a:endParaRPr lang="en-US" sz="1000" dirty="0"/>
          </a:p>
        </p:txBody>
      </p:sp>
      <p:pic>
        <p:nvPicPr>
          <p:cNvPr id="5" name="Image 0" descr="E:\prj\JRC\NetworkModel_EU\doc\charts\PL5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PL5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45761823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POLAND · PL6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Północny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1,023 cells · 3.78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21.1M · LOG 642k</a:t>
            </a:r>
            <a:endParaRPr lang="en-US" sz="1000" dirty="0"/>
          </a:p>
        </p:txBody>
      </p:sp>
      <p:pic>
        <p:nvPicPr>
          <p:cNvPr id="5" name="Image 0" descr="E:\prj\JRC\NetworkModel_EU\doc\charts\PL6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PL6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17570888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POLAND · PL7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Centralny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675 cells · 3.84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13.6M · LOG 405k</a:t>
            </a:r>
            <a:endParaRPr lang="en-US" sz="1000" dirty="0"/>
          </a:p>
        </p:txBody>
      </p:sp>
      <p:pic>
        <p:nvPicPr>
          <p:cNvPr id="5" name="Image 0" descr="E:\prj\JRC\NetworkModel_EU\doc\charts\PL7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PL7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4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97276037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POLAND · PL8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Wschodni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1,065 cells · 14.56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71.7M · LOG 983k</a:t>
            </a:r>
            <a:endParaRPr lang="en-US" sz="1000" dirty="0"/>
          </a:p>
        </p:txBody>
      </p:sp>
      <p:pic>
        <p:nvPicPr>
          <p:cNvPr id="5" name="Image 0" descr="E:\prj\JRC\NetworkModel_EU\doc\charts\PL8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PL8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5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1966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97860503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POLAND · PL9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Mazowiecki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933 cells · 3.20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17.5M · LOG 591k</a:t>
            </a:r>
            <a:endParaRPr lang="en-US" sz="1000" dirty="0"/>
          </a:p>
        </p:txBody>
      </p:sp>
      <p:pic>
        <p:nvPicPr>
          <p:cNvPr id="5" name="Image 0" descr="E:\prj\JRC\NetworkModel_EU\doc\charts\PL9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PL9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5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91054774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ALL AREAS COMBINED · 41 DISJOINT AREAS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aggregated frontier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facilities and travel cost summed per λ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43,313 pharmacy cells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 LIN 1245M · LOG 31.9M</a:t>
            </a:r>
            <a:endParaRPr lang="en-US" sz="1000" dirty="0"/>
          </a:p>
        </p:txBody>
      </p:sp>
      <p:pic>
        <p:nvPicPr>
          <p:cNvPr id="5" name="Image 0" descr="E:\prj\JRC\NetworkModel_EU\doc\charts\AGGREGATE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AGGREGATE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864608"/>
          <a:ext cx="11274552" cy="914400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9476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point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 facilities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 travel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 (same count)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43,783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fewest facilities swept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33,059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most facilities swept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0.000100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445,178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+928%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 (same count)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44,158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 (same travel)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0.00355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24,420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fewest facilities swept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11,180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most facilities swept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0.000100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195,299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+351%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382512"/>
            <a:ext cx="1127455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Exact-by-separability aggregation over 41 disjoint areas (13 countries + FR/IT/SE/PL NUTS-1; country-level Poland excluded in favour of its 7 NUTS-1): at a common λ the sum of the regional optima IS the combined optimum. Summed at the union of swept w-values inside the range every area covers (32 points; an area without that exact λ is log-interpolated between its adjacent sweep points — the λ-table rule). S2 not bracketed: the aggregate baseline (★) lies outside the common λ range — the full-coverage floor exceeds today's count (roadmap: extend the w-grid / exact S1-S2).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79331770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SCENARIO λ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93776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Interpolated λ for S1 and S2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per country, by travel-cost function</a:t>
            </a:r>
            <a:endParaRPr lang="en-US" sz="2200" dirty="0"/>
          </a:p>
        </p:txBody>
      </p:sp>
      <p:graphicFrame>
        <p:nvGraphicFramePr>
          <p:cNvPr id="5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536192"/>
          <a:ext cx="10698480" cy="91440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 #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λ · S1 (lin)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λ · S2 (lin)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λ · S1 (log)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λ · S2 (log)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25,531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33,902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Luxembourg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15,945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25,641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Estonia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11,388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19,421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Latvia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8,822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14,262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Slovenia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17,680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25,450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Lithuania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10,987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19,834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Ireland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14,565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20,893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Norway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24,343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49,999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Denmark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38,823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55,995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18,588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30,277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Portugal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1,882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17,958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Czechia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15,064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22,879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Belgium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5,666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7,340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Poland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7,027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10,254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15,809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31520" y="630936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b="1" i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 = w · €100,000 (facility fixed-cost weight). </a:t>
            </a:r>
            <a:r>
              <a:rPr lang="en-US" sz="9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= λ at which the open-facility count equals the baseline #cells; S2 = λ at which the multistart travel cost equals the baseline — each log-interpolated between adjacent sweep points, per travel-cost function (lin / log). “—” = the baseline target lies outside the swept λ range (S1/S2 not yet bracketed — see roadmap).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73209167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SCENARIO λ · NUTS-1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93776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Interpolated λ for S1 and S2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FR / IT / SE NUTS-1 regions</a:t>
            </a:r>
            <a:endParaRPr lang="en-US" sz="2200" dirty="0"/>
          </a:p>
        </p:txBody>
      </p:sp>
      <p:graphicFrame>
        <p:nvGraphicFramePr>
          <p:cNvPr id="5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536192"/>
          <a:ext cx="10698480" cy="914400"/>
        </p:xfrm>
        <a:graphic>
          <a:graphicData uri="http://schemas.openxmlformats.org/drawingml/2006/table">
            <a:tbl>
              <a:tblPr/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773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773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773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773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NUTS-1 region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 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λ · S1 (lin)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λ · S2 (lin)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λ · S1 (log)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λ · S2 (log)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FR1 · Île-de-France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11,918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16,444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FRB · Centre-Val de Loire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13,670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FRC · Bourgogne-Franche-Comté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9,783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13,075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FRD · Normandie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11,278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14,679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 · Hauts-de-France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9,048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11,670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FRF · Grand Est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1,167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10,901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14,257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FRG · Pays de la Loire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11,153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14,447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FRH · Bretagne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9,858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13,828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FRI · Nouvelle-Aquitaine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9,280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12,698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FRJ · Occitanie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13,202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FRK · Auvergne-Rhône-Alpes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1,685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10,207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13,737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FRL · Provence-Alpes-Côte d'Azur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9,741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14,155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FRM · Corse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10,336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ITC · Nord-Ovest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2,890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10,511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20,047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ITF · Sud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31,824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ITG · Isole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70,747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276,192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2,271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ITH · Nord-Est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12,775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22,482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ITI · Centro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16,612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32,376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SE1 · Östra Sverige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29,065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45,031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SE2 · Södra Sverige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34,174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63,973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SE3 · Norra Sverige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30,584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53,080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PL2 · Południowy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15,455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PL4 · Północno-Zachodni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9,925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15,169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PL5 · Południowo-Zachodni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10,586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15,617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PL6 · Północny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11,568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17,393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PL7 · Centralny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10,013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14,885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PL8 · Wschodni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24,054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7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PL9 · Mazowiecki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11,084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8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31520" y="630936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b="1" i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 = w · €100,000 (facility fixed-cost weight). </a:t>
            </a:r>
            <a:r>
              <a:rPr lang="en-US" sz="9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= λ at which the open-facility count equals the baseline #cells; S2 = λ at which the multistart travel cost equals the baseline — each log-interpolated between adjacent sweep points, per travel-cost function (lin / log). “—” = the baseline target lies outside the swept λ range (S1/S2 not yet bracketed — see roadmap).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123616786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A33D"/>
                </a:solidFill>
              </a:rPr>
              <a:t>LINEAR vs LOGISTIC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multistart tracks the LP-relax lower bound — the gap is tightest under LOGISTIC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486400" cy="1234440"/>
          </a:xfrm>
          <a:prstGeom prst="roundRect">
            <a:avLst>
              <a:gd name="adj" fmla="val 4444"/>
            </a:avLst>
          </a:prstGeom>
          <a:solidFill>
            <a:srgbClr val="1B3350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81328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 c(t) — unbounded, stranding expensive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85800" y="1755648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multistart sits +0–18% over the LP bound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685800" y="2194560"/>
            <a:ext cx="5074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7D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integer rounding costs more where stranding is dear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245352" y="1371600"/>
            <a:ext cx="5486400" cy="1234440"/>
          </a:xfrm>
          <a:prstGeom prst="roundRect">
            <a:avLst>
              <a:gd name="adj" fmla="val 4444"/>
            </a:avLst>
          </a:prstGeom>
          <a:solidFill>
            <a:srgbClr val="1B3350"/>
          </a:solidFill>
          <a:ln w="12700">
            <a:solidFill>
              <a:srgbClr val="0B6E9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73952" y="1481328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 c(t) — saturates ≈1, stranding cheap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73952" y="1755648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multistart sits +0–4.7% over the LP bound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6473952" y="2194560"/>
            <a:ext cx="5074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7D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rounding is nearly free; the frontier is almost integral</a:t>
            </a:r>
            <a:endParaRPr lang="en-US" sz="1050" dirty="0"/>
          </a:p>
        </p:txBody>
      </p:sp>
      <p:graphicFrame>
        <p:nvGraphicFramePr>
          <p:cNvPr id="5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00400"/>
          <a:ext cx="5513832" cy="914400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Luxembourg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Estonia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Latvia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Slovenia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Lithuania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Ireland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Norway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(54)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Denmark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Portugal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(351)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+16% (1308)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(437)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 (1265)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Czechia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Belgium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Poland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FRF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</a:tbl>
          </a:graphicData>
        </a:graphic>
      </p:graphicFrame>
      <p:graphicFrame>
        <p:nvGraphicFramePr>
          <p:cNvPr id="10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3200400"/>
          <a:ext cx="5513832" cy="914400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FRJ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ITF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(38)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(241)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(730)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(1725)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(2409)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(1470)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(2202)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(45)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(131)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(131)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(134)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(138)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(36)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(117)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(168)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(1815)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(2218)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(1966)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(2269)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</a:tbl>
          </a:graphicData>
        </a:graphic>
      </p:graphicFrame>
      <p:sp>
        <p:nvSpPr>
          <p:cNvPr id="14" name="Text 10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9FB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 = multistart travel above the LP-relax bound  (multistart clients stranded by rounding, priced at c(t_max)).  Sparse Swedish regions keep the largest bound-gaps.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77013316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93776"/>
            <a:ext cx="11430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Status against Lewis's &amp; Bernhard's framing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implemented · in progress · remaining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411480" y="886968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λ-sweep is the working general method. </a:t>
            </a:r>
            <a:r>
              <a:rPr lang="en-US" sz="9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proposed A→D ladder would cap catchments + set a min threshold to sidestep it — but the descriptives show catchments vary so widely (p10–p90 several-fold; many pharmacies at zero) that realistic bounds are hard to set, and the ladder may not actually simplify the problem.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365760" y="1298448"/>
            <a:ext cx="3721608" cy="4526280"/>
          </a:xfrm>
          <a:prstGeom prst="roundRect">
            <a:avLst>
              <a:gd name="adj" fmla="val 1229"/>
            </a:avLst>
          </a:prstGeom>
          <a:solidFill>
            <a:srgbClr val="F0F6F2"/>
          </a:solidFill>
          <a:ln w="12700">
            <a:solidFill>
              <a:srgbClr val="1E7A5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30352" y="13716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7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✓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1700784"/>
            <a:ext cx="3401568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Tabula-rasa LP allocation + λ-sweep → Pareto curve of #facilities vs travel cost (Option D)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Lewis's 3 cases live: S1 (same #, ↓travel) · S2 (same travel, ↓#) · S3 full frontier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6 of Lewis's 22-May descriptive indicators, per country (deck pages 5–8)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Catchments now by ROAD-network travel time (not Euclidean); #empty + smallest non-zero catchment reported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Cap-ladder rungs prototyped (cost-function-free, exploratory): S1-A/B · S2-A/B — run for NL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Recalculation done: candidates = ≥50-pop cells ∪ pharmacy cells · clients = FULL population · adapted logit (25/10) — all 42 areas re-swept, incl. Poland + its 7 NUTS-1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Aggregated frontier over all 41 disjoint areas (exact by separability) — new page after the region pages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&amp; LOGISTIC travel costs both run &amp; compared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224528" y="1298448"/>
            <a:ext cx="3721608" cy="4526280"/>
          </a:xfrm>
          <a:prstGeom prst="roundRect">
            <a:avLst>
              <a:gd name="adj" fmla="val 1229"/>
            </a:avLst>
          </a:prstGeom>
          <a:solidFill>
            <a:srgbClr val="FBF5EA"/>
          </a:solidFill>
          <a:ln w="12700">
            <a:solidFill>
              <a:srgbClr val="B9791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89120" y="13716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97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 ◐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407408" y="1700784"/>
            <a:ext cx="3401568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 and fix sweeps for FRM, ITG, SE2 (diagnosed: baseline drops unreachable clients + w-grid truncation; DK the same)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the w-grid upward so S1 brackets everywhere — also unlocks aggregate S1/S2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baseline_metrics: it drops un-reachable clients (ITG ≈14% of pop) while the sweep prices them at c(t_max) — make consistent before any distance-to-Pareto metric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2-D status-quo→frontier distance metric (coverage-honest; stranded priced at c(t_max))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Calculating better estimations for S1 and S2 (exact soft-coverage p-median MIP at p = baseline)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Exploring (not committed): max-cap + min-threshold rungs — but the descriptives suggest realistic bounds are hard to set, so this may not pay off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8083296" y="1298448"/>
            <a:ext cx="3721608" cy="4526280"/>
          </a:xfrm>
          <a:prstGeom prst="roundRect">
            <a:avLst>
              <a:gd name="adj" fmla="val 1229"/>
            </a:avLst>
          </a:prstGeom>
          <a:solidFill>
            <a:srgbClr val="F2F5F8"/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47888" y="13716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Remaining ○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266176" y="1700784"/>
            <a:ext cx="3401568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Urban/non-urban flag → model only non-urban, hold urban fixed (options B/C)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Settlement candidate set: verify existing ⊂ settlements, then restrict locations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Flat-then-linear travel-cost variant; sweep logit-parameter sensitivity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 real pharmacy a,b (schools: 99 699 + 3 277.5x); ?fixed cost vs &lt;6-y care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Communicate λ intuitively (person-minutes / value-per-user)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Cost-function-free S3: balance #/capita vs mean travel, widen beyond the A–B segment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Counterfactuals: −10% pop · replace a known X% · choose which X to close (hard)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Pharmacist-based cap (Ana); caps/thresholds pooled across countries, reported per-country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Border-cases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 catchment &amp; travel costs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11480" y="59436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b="1" i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questions for the group:  </a:t>
            </a:r>
            <a:r>
              <a:rPr lang="en-US" sz="10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cap/threshold ladder worth pursuing given how widely catchments vary?  ·  logistic vs linear travel cost (the equity-weighting choice)?  ·  best way to communicate λ?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220105890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TRAVEL-COST FUNCTION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93776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Logistic c(t)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the adopted Lewis-tuned curve vs the previous one</a:t>
            </a:r>
            <a:endParaRPr lang="en-US" sz="2200" dirty="0"/>
          </a:p>
        </p:txBody>
      </p:sp>
      <p:pic>
        <p:nvPicPr>
          <p:cNvPr id="4" name="Image 0" descr="E:\prj\JRC\NetworkModel_EU\doc\charts\logistic_comp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417320"/>
            <a:ext cx="7132320" cy="38496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680960" y="1463040"/>
            <a:ext cx="4206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previous</a:t>
            </a: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midpoint 30 · scale 15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7680960" y="1755648"/>
            <a:ext cx="4206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adopted</a:t>
            </a: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midpoint 25 · scale 10</a:t>
            </a:r>
            <a:endParaRPr lang="en-US" sz="1200" dirty="0"/>
          </a:p>
        </p:txBody>
      </p:sp>
      <p:graphicFrame>
        <p:nvGraphicFramePr>
          <p:cNvPr id="5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80960" y="2212848"/>
          <a:ext cx="4160520" cy="9144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 (min)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previous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adopted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7680960" y="429768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cross at ≈15 min (0.27). </a:t>
            </a:r>
            <a:r>
              <a:rPr lang="en-US" sz="10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adopted curve is lower below ~10 min (ignores minor relocations) and saturates by ~45 min (caps remote weight) — Lewis's 22-May ask. Applied in the recalculation (settings.jl defaults; previous variant via LOGISTIC_MIDPOINT=30 LOGISTIC_SCALE=15).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411480" y="6446520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c(t) is applied to travel time in minutes (raw OD seconds ÷ 60); LINEAR uses c(t)=t. settings.jl:82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7075666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13133</Words>
  <Application>Microsoft Office PowerPoint</Application>
  <PresentationFormat>Widescreen</PresentationFormat>
  <Paragraphs>3412</Paragraphs>
  <Slides>61</Slides>
  <Notes>60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61</vt:i4>
      </vt:variant>
    </vt:vector>
  </HeadingPairs>
  <TitlesOfParts>
    <vt:vector size="66" baseType="lpstr">
      <vt:lpstr>Arial</vt:lpstr>
      <vt:lpstr>Calibri</vt:lpstr>
      <vt:lpstr>Cambria Math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lambda_sweep.jl — UFLP-LP for pharmacy locations</dc:title>
  <dc:subject>PptxGenJS Presentation</dc:subject>
  <dc:creator>Servaas Storm / Object Vision</dc:creator>
  <cp:lastModifiedBy>Maarten Hilferink</cp:lastModifiedBy>
  <cp:revision>3</cp:revision>
  <dcterms:created xsi:type="dcterms:W3CDTF">2026-06-01T08:24:25Z</dcterms:created>
  <dcterms:modified xsi:type="dcterms:W3CDTF">2026-07-16T05:46:42Z</dcterms:modified>
</cp:coreProperties>
</file>