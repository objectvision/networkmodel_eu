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8"/>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32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3" r:id="rId68"/>
    <p:sldId id="324" r:id="rId69"/>
    <p:sldId id="325" r:id="rId70"/>
    <p:sldId id="326" r:id="rId71"/>
    <p:sldId id="327" r:id="rId72"/>
    <p:sldId id="328" r:id="rId73"/>
    <p:sldId id="329" r:id="rId74"/>
    <p:sldId id="330" r:id="rId75"/>
    <p:sldId id="331" r:id="rId76"/>
    <p:sldId id="332" r:id="rId7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9260599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6365118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42599012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24509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2220173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1530490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5474126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2537480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920347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5468285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1701679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5836758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6785514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6592468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9455736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8373214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6022827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5155919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4875953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0964177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9465042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8965726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555151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953737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119868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6082295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660546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8661377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5650737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73605727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5103651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4346233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6987851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27985606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3673920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4711268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2921848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37281858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42132759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60297220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9962270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2439382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70624686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2140484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412084911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33183839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294889847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33101442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76715859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13065964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20413303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6147634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242863402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9771260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58625701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33818026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85002939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82153062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8580479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5100048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272109387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4041304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148163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90.png"/></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2.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what exists today, by how much it could improve at equal cost or equal accessibility, and which of 44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35480107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Cost and accessibility trade off continuously under exogenous demand — there is no trilemma to resolve.</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(p16–63).</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(p66).</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(p65).</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for equity, or keep soft coverage.</a:t>
            </a:r>
            <a:endParaRPr lang="en-US" sz="1000" dirty="0"/>
          </a:p>
        </p:txBody>
      </p:sp>
    </p:spTree>
    <p:extLst>
      <p:ext uri="{BB962C8B-B14F-4D97-AF65-F5344CB8AC3E}">
        <p14:creationId xmlns:p14="http://schemas.microsoft.com/office/powerpoint/2010/main" val="3456429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4287006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5165901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7324061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31,263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249535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36 of 43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3323954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 (on the ESPON list; 2.0 min and 1,682 on the OECD list, next box)</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and Italy not with the previous one either.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lists all shift. And since 7 Sep the Italian pharmacies are the OECD-geolocated Ministry of Health list — 20,635 instead of the ESPON shapefile's 12,991 (ITF 1,951 → 4,955): the “improvement potential” the earlier decks ranked ITF and ITG first on was mostly pharmacies missing from the DATA. Hungary (3,094, OECD-geocoded) and Finland (797) are new areas: 44 swept, 43 disjoint in the aggregate.</a:t>
            </a:r>
            <a:endParaRPr lang="en-US" sz="930" dirty="0"/>
          </a:p>
        </p:txBody>
      </p:sp>
    </p:spTree>
    <p:extLst>
      <p:ext uri="{BB962C8B-B14F-4D97-AF65-F5344CB8AC3E}">
        <p14:creationId xmlns:p14="http://schemas.microsoft.com/office/powerpoint/2010/main" val="36699075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The choice set  </a:t>
            </a:r>
            <a:r>
              <a:rPr lang="en-US" sz="2000" dirty="0">
                <a:solidFill>
                  <a:srgbClr val="1C3D5A"/>
                </a:solidFill>
                <a:latin typeface="Georgia" pitchFamily="34" charset="0"/>
                <a:ea typeface="Georgia" pitchFamily="34" charset="-122"/>
                <a:cs typeface="Georgia" pitchFamily="34" charset="-120"/>
              </a:rPr>
              <a:t>— where the 5-nearest rule binds, and why widening it precedes RSSV</a:t>
            </a:r>
            <a:endParaRPr lang="en-US" sz="20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Norway at S2 (429 of 757 open): 2,642 cells / 949,030 residents — 18.6%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SE1 at S2 (221 of 388): 12.7% one closure away; SE2 at S2 (278 of 452): 12.0%, 529,700 residents. These are the areas the ranked lists now put on top — the sparse Nordic ones — and exactly where the radius binds hardest.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On the OECD Italian data the pressure is gone from ITF (1.8% at S2, 0% stranded; 28.6 candidates per client): its earlier 9% + 24% was the ESPON list missing three pharmacies in five. Measured on the S1/S2 pinned by bisection (#52).</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1E7A52"/>
                </a:solidFill>
                <a:latin typeface="Calibri" pitchFamily="34" charset="0"/>
                <a:ea typeface="Calibri" pitchFamily="34" charset="-122"/>
                <a:cs typeface="Calibri" pitchFamily="34" charset="-120"/>
              </a:rPr>
              <a:t>Fixed (#52): </a:t>
            </a:r>
            <a:r>
              <a:rPr lang="en-US" sz="880" dirty="0">
                <a:solidFill>
                  <a:srgbClr val="12233A"/>
                </a:solidFill>
                <a:latin typeface="Calibri" pitchFamily="34" charset="0"/>
                <a:ea typeface="Calibri" pitchFamily="34" charset="-122"/>
                <a:cs typeface="Calibri" pitchFamily="34" charset="-120"/>
              </a:rPr>
              <a:t>S1 and S2 used to be read off the nearest swept λ grid point — a coarse read anywhere (S1 was more than 10% off today’s count in 22 of 74 sweeps) and in 5 areas the same point for both (SE2’s delivered S1 had 309 open, not 452). Both are now pinned by bisection the moment their bracket closes, to within max(1, 0.2%) of today’s count and 0.2% of today’s travel — in 87 of 88 sweeps; the exception is country-level Poland LINEAR (S1 1.6% off), the largest LP, whose solves near S1 take hours each and whose seven NUTS-1 areas are all pinned. The exported S1/S2 location files (#45) and everything measured on them, this slide included, are on the pinned points.</a:t>
            </a:r>
            <a:endParaRPr lang="en-US" sz="880" dirty="0"/>
          </a:p>
        </p:txBody>
      </p:sp>
    </p:spTree>
    <p:extLst>
      <p:ext uri="{BB962C8B-B14F-4D97-AF65-F5344CB8AC3E}">
        <p14:creationId xmlns:p14="http://schemas.microsoft.com/office/powerpoint/2010/main" val="2295820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4922295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18301155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6668776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874883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27204094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755520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863948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039248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87816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12237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071912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806487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911025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571348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655009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27707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0.000493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312014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808477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HUNGARY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Hungary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1,864 cells · 3.61 min mean · </a:t>
            </a:r>
            <a:r>
              <a:rPr lang="en-US" sz="1000" dirty="0">
                <a:solidFill>
                  <a:srgbClr val="5B6B7B"/>
                </a:solidFill>
                <a:latin typeface="Calibri" pitchFamily="34" charset="0"/>
                <a:ea typeface="Calibri" pitchFamily="34" charset="-122"/>
                <a:cs typeface="Calibri" pitchFamily="34" charset="-120"/>
              </a:rPr>
              <a:t>travel (stranded at BIG)  LIN 34.9M · LOG 1.1M</a:t>
            </a:r>
            <a:endParaRPr lang="en-US" sz="1000" dirty="0"/>
          </a:p>
        </p:txBody>
      </p:sp>
      <p:pic>
        <p:nvPicPr>
          <p:cNvPr id="5" name="Image 0" descr="E:\prj\JRC\NetworkModel_EU\doc\charts\Hungar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Hungar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304593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FINLAND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Finland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719 cells · 6.40 min mean · </a:t>
            </a:r>
            <a:r>
              <a:rPr lang="en-US" sz="1000" dirty="0">
                <a:solidFill>
                  <a:srgbClr val="5B6B7B"/>
                </a:solidFill>
                <a:latin typeface="Calibri" pitchFamily="34" charset="0"/>
                <a:ea typeface="Calibri" pitchFamily="34" charset="-122"/>
                <a:cs typeface="Calibri" pitchFamily="34" charset="-120"/>
              </a:rPr>
              <a:t>travel (stranded at BIG)  LIN 35.1M · LOG 815k</a:t>
            </a:r>
            <a:endParaRPr lang="en-US" sz="1000" dirty="0"/>
          </a:p>
        </p:txBody>
      </p:sp>
      <p:pic>
        <p:nvPicPr>
          <p:cNvPr id="5" name="Image 0" descr="E:\prj\JRC\NetworkModel_EU\doc\charts\Fin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in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144833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310375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839455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037636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678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554028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17.4M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0.000859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173413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918318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850 cells · 3.98 min mean · </a:t>
            </a:r>
            <a:r>
              <a:rPr lang="en-US" sz="1000" dirty="0">
                <a:solidFill>
                  <a:srgbClr val="5B6B7B"/>
                </a:solidFill>
                <a:latin typeface="Calibri" pitchFamily="34" charset="0"/>
                <a:ea typeface="Calibri" pitchFamily="34" charset="-122"/>
                <a:cs typeface="Calibri" pitchFamily="34" charset="-120"/>
              </a:rPr>
              <a:t>travel (stranded at BIG)  LIN 15.2M · LOG 440k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25767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792 cells · 4.30 min mean · </a:t>
            </a:r>
            <a:r>
              <a:rPr lang="en-US" sz="1000" dirty="0">
                <a:solidFill>
                  <a:srgbClr val="5B6B7B"/>
                </a:solidFill>
                <a:latin typeface="Calibri" pitchFamily="34" charset="0"/>
                <a:ea typeface="Calibri" pitchFamily="34" charset="-122"/>
                <a:cs typeface="Calibri" pitchFamily="34" charset="-120"/>
              </a:rPr>
              <a:t>travel (stranded at BIG)  LIN 14.4M · LOG 393k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625979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1,583 cells · 4.44 min mean · </a:t>
            </a:r>
            <a:r>
              <a:rPr lang="en-US" sz="1000" dirty="0">
                <a:solidFill>
                  <a:srgbClr val="5B6B7B"/>
                </a:solidFill>
                <a:latin typeface="Calibri" pitchFamily="34" charset="0"/>
                <a:ea typeface="Calibri" pitchFamily="34" charset="-122"/>
                <a:cs typeface="Calibri" pitchFamily="34" charset="-120"/>
              </a:rPr>
              <a:t>travel (stranded at BIG)  LIN 26.8M · LOG 728k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869253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3.90 min mean · </a:t>
            </a:r>
            <a:r>
              <a:rPr lang="en-US" sz="1000" dirty="0">
                <a:solidFill>
                  <a:srgbClr val="5B6B7B"/>
                </a:solidFill>
                <a:latin typeface="Calibri" pitchFamily="34" charset="0"/>
                <a:ea typeface="Calibri" pitchFamily="34" charset="-122"/>
                <a:cs typeface="Calibri" pitchFamily="34" charset="-120"/>
              </a:rPr>
              <a:t>travel (stranded at BIG)  LIN 23.5M · LOG 694k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056532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039139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1,024 cells · 2.61 min mean · </a:t>
            </a:r>
            <a:r>
              <a:rPr lang="en-US" sz="1000" dirty="0">
                <a:solidFill>
                  <a:srgbClr val="5B6B7B"/>
                </a:solidFill>
                <a:latin typeface="Calibri" pitchFamily="34" charset="0"/>
                <a:ea typeface="Calibri" pitchFamily="34" charset="-122"/>
                <a:cs typeface="Calibri" pitchFamily="34" charset="-120"/>
              </a:rPr>
              <a:t>travel (stranded at BIG)  LIN 13.1M · LOG 514k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686517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5.12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590759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3,875 cells · 1.89 min mean · </a:t>
            </a:r>
            <a:r>
              <a:rPr lang="en-US" sz="1000" dirty="0">
                <a:solidFill>
                  <a:srgbClr val="5B6B7B"/>
                </a:solidFill>
                <a:latin typeface="Calibri" pitchFamily="34" charset="0"/>
                <a:ea typeface="Calibri" pitchFamily="34" charset="-122"/>
                <a:cs typeface="Calibri" pitchFamily="34" charset="-120"/>
              </a:rPr>
              <a:t>travel (stranded at BIG)  LIN 29.8M · LOG 1.5M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0.0677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13357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3,187 cells · 2.02 min mean · </a:t>
            </a:r>
            <a:r>
              <a:rPr lang="en-US" sz="1000" dirty="0">
                <a:solidFill>
                  <a:srgbClr val="5B6B7B"/>
                </a:solidFill>
                <a:latin typeface="Calibri" pitchFamily="34" charset="0"/>
                <a:ea typeface="Calibri" pitchFamily="34" charset="-122"/>
                <a:cs typeface="Calibri" pitchFamily="34" charset="-120"/>
              </a:rPr>
              <a:t>travel (stranded at BIG)  LIN 26.8M · LOG 1.3M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190932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1,431 cells · 2.01 min mean · </a:t>
            </a:r>
            <a:r>
              <a:rPr lang="en-US" sz="1000" dirty="0">
                <a:solidFill>
                  <a:srgbClr val="5B6B7B"/>
                </a:solidFill>
                <a:latin typeface="Calibri" pitchFamily="34" charset="0"/>
                <a:ea typeface="Calibri" pitchFamily="34" charset="-122"/>
                <a:cs typeface="Calibri" pitchFamily="34" charset="-120"/>
              </a:rPr>
              <a:t>travel (stranded at BIG)  LIN 12.6M · LOG 595k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143377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2,993 cells · 2.78 min mean · </a:t>
            </a:r>
            <a:r>
              <a:rPr lang="en-US" sz="1000" dirty="0">
                <a:solidFill>
                  <a:srgbClr val="5B6B7B"/>
                </a:solidFill>
                <a:latin typeface="Calibri" pitchFamily="34" charset="0"/>
                <a:ea typeface="Calibri" pitchFamily="34" charset="-122"/>
                <a:cs typeface="Calibri" pitchFamily="34" charset="-120"/>
              </a:rPr>
              <a:t>travel (stranded at BIG)  LIN 32.0M · LOG 1.2M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857775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2,709 cells · 2.32 min mean · </a:t>
            </a:r>
            <a:r>
              <a:rPr lang="en-US" sz="1000" dirty="0">
                <a:solidFill>
                  <a:srgbClr val="5B6B7B"/>
                </a:solidFill>
                <a:latin typeface="Calibri" pitchFamily="34" charset="0"/>
                <a:ea typeface="Calibri" pitchFamily="34" charset="-122"/>
                <a:cs typeface="Calibri" pitchFamily="34" charset="-120"/>
              </a:rPr>
              <a:t>travel (stranded at BIG)  LIN 27.1M · LOG 1.1M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820478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 cells · 5.72 min mean · </a:t>
            </a:r>
            <a:r>
              <a:rPr lang="en-US" sz="1000" dirty="0">
                <a:solidFill>
                  <a:srgbClr val="5B6B7B"/>
                </a:solidFill>
                <a:latin typeface="Calibri" pitchFamily="34" charset="0"/>
                <a:ea typeface="Calibri" pitchFamily="34" charset="-122"/>
                <a:cs typeface="Calibri" pitchFamily="34" charset="-120"/>
              </a:rPr>
              <a:t>travel (stranded at BIG)  LIN 23.3M · LOG 572k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478710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612553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036316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075844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3.57 min mean · </a:t>
            </a:r>
            <a:r>
              <a:rPr lang="en-US" sz="1000" dirty="0">
                <a:solidFill>
                  <a:srgbClr val="5B6B7B"/>
                </a:solidFill>
                <a:latin typeface="Calibri" pitchFamily="34" charset="0"/>
                <a:ea typeface="Calibri" pitchFamily="34" charset="-122"/>
                <a:cs typeface="Calibri" pitchFamily="34" charset="-120"/>
              </a:rPr>
              <a:t>travel (stranded at BIG)  LIN 21.5M · LOG 676k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574609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158929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598543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85944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7742437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675653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43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51,350 pharmacy cells · </a:t>
            </a:r>
            <a:r>
              <a:rPr lang="en-US" sz="1000" dirty="0">
                <a:solidFill>
                  <a:srgbClr val="5B6B7B"/>
                </a:solidFill>
                <a:latin typeface="Calibri" pitchFamily="34" charset="0"/>
                <a:ea typeface="Calibri" pitchFamily="34" charset="-122"/>
                <a:cs typeface="Calibri" pitchFamily="34" charset="-120"/>
              </a:rPr>
              <a:t>travel  LIN 965M · LOG 30.4M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51,573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0.180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35,809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459,012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51,382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0.00212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33,568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19,693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204,444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43 disjoint areas (15 countries + FR/IT/SE/PL NUTS-1; country-level Poland excluded in favour of its 7 NUTS-1): at a common λ the sum of the regional optima IS the combined optimum. Summed at the union of swept w-values inside the range every area covers (333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22400415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268941">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country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today #</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travel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cost · Δ mean t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Netherlands</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1,615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−12.8 M min · −21.1%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−443 · −27.4%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−551 · −34.1%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24,319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34,297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373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Luxembourg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−483 k min · −20.1%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 · −29.9%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−35.1%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15,590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Estonia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 M min · −23.1%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−94 · −32.3%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−14.3%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−121 · −41.3%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11,637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19,772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Latvia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 M min · −21.4%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−145 · −29.1%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−11.4%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−183 · −36.8%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Slovenia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 M min · −14.4%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−82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−9.2%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−99 · −32.4%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16,259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25,560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Lithuania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−205 · −35.2%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−15.0%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−269 · −46.2%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Ireland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 M min · −17.2%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−235 · −27.2%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−9.6%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−297 · −34.5%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21,034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Norway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755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−10.6 M min · −26.0%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−326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−19.8% · −2.0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−359 · −47.6%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22,633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49,999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841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Denmark</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−5.9 M min · −15.8%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−133 · −28.6%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−11.8%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−166 · −35.7%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35,580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55,947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Austria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1,129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−373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 · −43.9%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31,095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Portugal</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M min · −22.1%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−571 · −30.3%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−8.4%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−624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10,355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Czechia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−487 · −30.0%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−9.7%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−588 · −36.2%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22,819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Belgium</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−520 · −17.6%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−0.3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−553 · −18.7%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7,353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7,027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−23.7 M min · −17.8%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−1,883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 −0.6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−2,208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10,254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15,809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Hungary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1,864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−6.8 M min · −19.5%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−481 · −25.8%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−8.5%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−585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17,208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Finland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719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−4.7 M min · −13.5%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−178 · −24.7%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−8.0%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 · −26.2%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21,768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33,003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7460930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 M min · −13.1%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−21.4%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9,764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13,176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 M min · −13.3%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−21.3%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−6.5%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M min · −14.9%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−5.2%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−307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−248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10,723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14,798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−173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−24.1%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10,681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−188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14,377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−232 · −14.7%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−428 · −27.0%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8,824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 M min · −15.2%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−315 · −22.1%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−376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13,552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−4.3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−362 · −21.5%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−27.7%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−319 k min · −18.8%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 −29.6%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 · −0.9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M min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−929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−911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6,771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M min · −27.8%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−818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−810 · −25.4%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 M min · −29.3%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−359 · −25.1%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−367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13,131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M min · −20.0%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−711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−742 · −24.8%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7,491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2,709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 M min · −22.6%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−660 · −24.3%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−670 · −24.7%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M min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−166 · −43.0%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−14.6% · −1.4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−183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27,899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54,063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M min · −22.0%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−38.4%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55,447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27,700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52,816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−5.1 M min · −20.7%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−463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15,502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−294 · −24.5%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−366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−7.6%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10,443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−169 · −25.0%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−242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31760687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Hungary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Finland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21383388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The REGIO review (Moreno Monroy, Brons, Nöbauer) is worked in where it asked for answers and listed below where it asked for work. Status confirmed 4 Sep 2026: nothing is mid-flight, so the list is what is done and what remains, in priority order.</a:t>
            </a:r>
            <a:endParaRPr lang="en-US" sz="95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OECD-checked pharmacy lists (7 Sep): Italy 20,635 geolocated (was ESPON 12,991; ITF 1,951 → 4,955), Hungary new (3,094), Finland back in (797; the June reader issue is gone on GeoDMS 20.19) — 44 areas swept, Italy's five rebuilt from the network up</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S1/S2 pinned by bisection (#52): within max(1, 0.2%) of today's count / 0.2% of today's travel in 87 of 88 sweeps (country-level Poland LINEAR, the largest LP, keeps its 1.6%-off grid point); the snap that put S1 up to 32% off and S1 = S2 in 5 areas is gone, and the sweep no longer burns hours on time-outs beyond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S1 (same #, ↓travel) · S2 (same travel, ↓#) · S3 full frontier, in NATIVE units first, € second (p62–63)</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Candidates = ≥50-pop cells ∪ pharmacy cells (large regions subsampled, EVERY baseline location kept) · clients = FULL population · adapted logit (25/10) · soft coverage (Σx ≤ 1, unserved at BIG on BOTH sides): every area brackets S1 &amp;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43 disjoint areas (exact by separability), bracketing S1 and S2 for both functions (p61)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Improvement rectangle (raw + relative), diagonal crossing + λ, point-cloud with projections; ranked lists by policy typology — on the OECD data the sparse Nordic and Baltic areas lead (SE1, Norway, Lithuania, SE2, Estonia); the Italian lead of earlier decks was missing data</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 review worked in: choice set (p9), λ-tangency (p10), logistic parametrised (p66), bounds on TOTAL cost only (p12), €100,000 a placeholder everywhere</a:t>
            </a:r>
            <a:endParaRPr lang="en-US" sz="90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(p62–63) are the first steps; the € labels stay placeholders until a is calibrated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(Norway: 18.6% of residents one closure from stranding, SE1 12.7%, SE2 12.0%;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 needs the wider radius first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at p = baseline — S1 is now pinned to ±1 facility by bisection (#52), so this is about the integrality gap, no longer about the snap</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(p66)?  ·  territorial coverage constraints for equity, or keep soft coverage?</a:t>
            </a:r>
            <a:endParaRPr lang="en-US" sz="1000" dirty="0"/>
          </a:p>
        </p:txBody>
      </p:sp>
    </p:spTree>
    <p:extLst>
      <p:ext uri="{BB962C8B-B14F-4D97-AF65-F5344CB8AC3E}">
        <p14:creationId xmlns:p14="http://schemas.microsoft.com/office/powerpoint/2010/main" val="210419593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74445381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11F4EC-3EE1-2F02-8433-6B6336D0E01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43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0D7D924-3776-AB86-ABC7-D79B008DA438}"/>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C3A358F7-0A11-F267-2FE4-3F6D9D0B1D0B}"/>
              </a:ext>
            </a:extLst>
          </p:cNvPr>
          <p:cNvSpPr txBox="1"/>
          <p:nvPr/>
        </p:nvSpPr>
        <p:spPr>
          <a:xfrm>
            <a:off x="381000" y="5884607"/>
            <a:ext cx="11430000" cy="507831"/>
          </a:xfrm>
          <a:prstGeom prst="rect">
            <a:avLst/>
          </a:prstGeom>
          <a:noFill/>
        </p:spPr>
        <p:txBody>
          <a:bodyPr vert="horz" rtlCol="0">
            <a:spAutoFit/>
          </a:bodyPr>
          <a:lstStyle/>
          <a:p>
            <a:r>
              <a:rPr lang="en-US" sz="90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35916078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15C93A-5D85-E7EE-3DC7-A193496D245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E3D5B3E-F0E1-6C78-5DB4-12EA7890F9E9}"/>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F3231578-2EBE-F895-E0F8-DEB2B3A8C1AC}"/>
              </a:ext>
            </a:extLst>
          </p:cNvPr>
          <p:cNvSpPr txBox="1"/>
          <p:nvPr/>
        </p:nvSpPr>
        <p:spPr>
          <a:xfrm>
            <a:off x="381000" y="5884607"/>
            <a:ext cx="11430000" cy="369332"/>
          </a:xfrm>
          <a:prstGeom prst="rect">
            <a:avLst/>
          </a:prstGeom>
          <a:noFill/>
        </p:spPr>
        <p:txBody>
          <a:bodyPr vert="horz" rtlCol="0">
            <a:spAutoFit/>
          </a:bodyPr>
          <a:lstStyle/>
          <a:p>
            <a:r>
              <a:rPr lang="en-US" sz="90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31244030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80343B-9D29-26E0-ECAC-32DA835BC36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BFD5C51-0FBF-CD78-D53E-E98848079524}"/>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9071353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D0D1EA4-2B65-69DF-9A2E-E85EAA20A5A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6623B45-E93F-B4BA-1957-6EBDB9BD653B}"/>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5811584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BB326D-EFAC-962A-F898-352922C5F67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866AE46-FE12-BCB1-933B-100917BD197B}"/>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3607ED33-639F-85FC-4F09-BD31F455D181}"/>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264246929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7D4A4DF-A321-742D-2E30-2D0D05FF91D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D0400E2-5D2C-A303-84E8-30261C0EB6CA}"/>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73B74429-F188-2E5C-B567-2636E469C00B}"/>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10265139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A36486-B98A-B763-1D4E-A54B0B544F6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836A6B5-C819-A96F-4986-276B2E7A4D3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27961955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99AA43-A767-214E-B246-559534602C1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920A91B-0D8E-975D-AC01-9FB041F8827A}"/>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41885109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011B9E9-E729-DA8B-ECE0-E4BCB2FA195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CD8A2FC-D16C-32BC-27D6-8FDE4A77648F}"/>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6695907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079DB18-3E93-53F2-9227-2B245AF35CD4}"/>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EC531C2-EC6B-5D07-4C67-C74BEC7335C1}"/>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6052151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17996</Words>
  <Application>Microsoft Office PowerPoint</Application>
  <PresentationFormat>Widescreen</PresentationFormat>
  <Paragraphs>3813</Paragraphs>
  <Slides>76</Slides>
  <Notes>65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76</vt:i4>
      </vt:variant>
    </vt:vector>
  </HeadingPairs>
  <TitlesOfParts>
    <vt:vector size="81"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2026-09-12T08:26:13Z</dcterms:modified>
</cp:coreProperties>
</file>