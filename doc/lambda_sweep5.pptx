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3"/>
  </p:notesMasterIdLst>
  <p:sldIdLst>
    <p:sldId id="256" r:id="rId2"/>
    <p:sldId id="260" r:id="rId3"/>
    <p:sldId id="261" r:id="rId4"/>
    <p:sldId id="257" r:id="rId5"/>
    <p:sldId id="258" r:id="rId6"/>
    <p:sldId id="262" r:id="rId7"/>
    <p:sldId id="259" r:id="rId8"/>
    <p:sldId id="263" r:id="rId9"/>
    <p:sldId id="264" r:id="rId10"/>
    <p:sldId id="265" r:id="rId11"/>
    <p:sldId id="266" r:id="rId12"/>
    <p:sldId id="267" r:id="rId13"/>
    <p:sldId id="268" r:id="rId14"/>
    <p:sldId id="316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9988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3187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7154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3168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1910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4443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7459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4647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5803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3987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9636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4519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0815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4146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8301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890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104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564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2962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3852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81734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6510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1988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8191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0591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67616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9991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74697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19599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2437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79841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07570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2075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49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77615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34420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42688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657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27858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037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22871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48904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6465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5831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05620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05437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1573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34564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45142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8956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58363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15773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9856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65541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23001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9590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7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agenda  </a:t>
            </a:r>
            <a:r>
              <a:rPr lang="en-US" sz="24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assessing the current pharmacy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43560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method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172821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over the road-network OD; how to read the #facilities ↔ travel-cost frontier.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22199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distribution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2514600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metrics per country &amp; key NUTS1 — residents per pharmacy and catchment-size distributions, by road.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0837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results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300984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(same #, less travel) and S2 (same travel, fewer pharmacies) per country and NUTS1 — what the frontiers show so far.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822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79476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function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4087368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vs linear, and the adapted logit with kinks at ~5 &amp; ~45 min (following page).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608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6085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58114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/ threshold ladder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4873752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shortcut to the λ-sweep — but catchments vary so widely that realistic min/max bounds are hard to set. Pursue or drop?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4128" y="536752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 &amp;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24128" y="566013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consistency (FRM / ITG / SE2; clients with no reachable pharmacy); priorities and next steps.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" y="636422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sought: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shape (logistic vs linear / adapted logit)  ·  whether the cap–threshold ladder is worth pursuing  ·  how to communicate λ.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646802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problem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uncapacitated facility location on the road OD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6035040" cy="3108960"/>
          </a:xfrm>
          <a:prstGeom prst="roundRect">
            <a:avLst>
              <a:gd name="adj" fmla="val 1765"/>
            </a:avLst>
          </a:prstGeom>
          <a:solidFill>
            <a:srgbClr val="12233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min</a:t>
            </a:r>
            <a:r>
              <a:rPr lang="en-US" sz="1000" baseline="-40000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x,y</a:t>
            </a:r>
            <a:r>
              <a:rPr lang="en-US" sz="16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Σᵢ Σⱼ  popᵢ · c(tᵢⱼ) · yᵢⱼ   +   λ · Σⱼ xⱼ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s.t.</a:t>
            </a: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Σⱼ yᵢⱼ  =  1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every client fully assigned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yᵢⱼ  ≤  xⱼ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only to open pharmacies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xⱼ ∈ {0,1}</a:t>
            </a:r>
            <a:r>
              <a:rPr lang="en-US" sz="1500" dirty="0">
                <a:solidFill>
                  <a:srgbClr val="FFD9A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→  relaxed to  0 ≤ xⱼ ≤ 1,   yᵢⱼ ≥ 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4290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populated 1 km² cells (clients)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candidate pharmacy cells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(i,j)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where the road network gives tᵢⱼ ≤ t_max — the exported OD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12280" y="12801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— travel cost, t in minutes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12280" y="1527048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c(t)=t; LOGISTIC c(t)=1/(1+e^−(t−30)/15). The swept LPs run once per function.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212140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— the price of a pharmacy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12280" y="2368296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a+b·q reduces to λ·#open: the b·q part is constant once every client is assigned, so only the fixed cost a matters.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12280" y="2962656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LP per λ, exact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12280" y="3209544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+ HiGHS dual simplex; the model is built once and re-solved along the w-grid from the previous optimal basis (lp_run.jl solve_at_w!) — millions of yᵢⱼ, minutes per point.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12280" y="3858768"/>
            <a:ext cx="4937760" cy="713232"/>
          </a:xfrm>
          <a:prstGeom prst="roundRect">
            <a:avLst>
              <a:gd name="adj" fmla="val 6410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931152" y="3913632"/>
            <a:ext cx="471830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83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For review:  </a:t>
            </a:r>
            <a:r>
              <a:rPr lang="en-US" sz="83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client's OD is capped at its 5 nearest facilities (max_nr_facilities_per_client) — it shrinks the LP but limits reassignment choice; and in DK / ITG / FRM / SE2 not every client can be matched (unreachable within t_max → dropped from the baseline, forced-served in the LP), so ★ and frontier are not yet fully comparable there. Feedback welcome.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57200" y="4617720"/>
            <a:ext cx="11274552" cy="1691640"/>
          </a:xfrm>
          <a:prstGeom prst="roundRect">
            <a:avLst>
              <a:gd name="adj" fmla="val 3243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85800" y="4754880"/>
            <a:ext cx="1083564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relaxation, and what it buys. 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xⱼ ∈ {0,1} this is the (NP-hard) uncapacitated facility-location problem, in its strong disaggregated formulation — one yᵢⱼ ≤ xⱼ per OD pair — whose LP relaxation is known to be nearly integral, which the sweeps confirm (frac_x stays small). The LP optimum is a certified </a:t>
            </a:r>
            <a:r>
              <a:rPr lang="en-US" sz="10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grey dashed line); rounding x* to a real set of pharmacies (multistart, p. 6) gives a feasible </a:t>
            </a:r>
            <a:r>
              <a:rPr lang="en-US" sz="10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bound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integer optimum is pinched between the two (+0–18% LINEAR, +0–4.7% LOGISTIC).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to the p-median problem. 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Imposing the count (Σⱼ xⱼ = p) instead of pricing it gives exactly the p-median problem with costs c(tᵢⱼ) (ReVelle &amp; Swain 1970) — S1 at the baseline count is a p-median instance. The λ-sweep is its Lagrangian relaxation w.r.t. that constraint (Cornuéjols, Fisher &amp; Nemhauser 1977): it recovers only the p’s on the lower convex envelope of the p-median value function, so p-values in non-convex gaps are unreachable by any λ — there S1/S2 are interpolated between sweep points, or pinned exactly with the cardinality constraint (roadmap: better S1/S2 estimations). The swap polish of p. 6 is the classic p-median vertex-substitution search.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Implementation: lp_run.jl (build_lp_warmstart / solve_at_w!) · weights popᵢ = total residents of cell i (CLIENT_WEIGHT=total_pop) · OD from GeoDMS impedance_matrix_od64, t = seconds/60.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22587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FROM FRACTIONS TO PHARMACIES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multistart rounds the LP relaxation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and why it is an upper bound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2801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count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1545336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round(Σ xⱼ*) — the integer pharmacy count nearest the LP's fractional total, so every rounded point stays on the same axis as the relaxation.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176272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10 candidate sets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4128" y="2441448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by x* and the lazy-greedy set (CELF, Leskovec et al. 2007 — marginal travel gains are submodular), so the result can never be worse than either; plus 8 x*-weighted random draws (Efraimidis–Spirakis 2006 A-Res); must-open pharmacies (x*≈1) are always kept.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906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72384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by swaps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24128" y="3337560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best-improving open↔closed swaps over the fractional pool — the classic p-median vertex-substitution search, in its fast-interchange form (Resende &amp; Werneck 2007). Each swap is accepted only if the exact travel delta improves — cost strictly decreases, ≤ 12 rounds per seed.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98678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9867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96849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coverage-honestly, keep the best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" y="4233672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priced at its nearest open pharmacy, c(t); a client left with no open pharmacy in the OD (stranded) is priced at c(t_max) — the worst travel time in the data, so abandoning remote clusters is never free. Lowest total wins.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1298448"/>
            <a:ext cx="4416552" cy="3566160"/>
          </a:xfrm>
          <a:prstGeom prst="roundRect">
            <a:avLst>
              <a:gd name="adj" fmla="val 1538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498080" y="1408176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an upper bound 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98080" y="1719072"/>
            <a:ext cx="406908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rounded set is a feasible point of the original problem: exactly p pharmacies actually open (x integer) and every client explicitly assigned. Feasible ⟹ its objective can only be ≥ the integer optimum, which is ≥ the LP optimum: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relax  ≤  integer optimum  ≤  multistart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whenever stranded = 0 — the common case (see the summary table). With stranding, strict full-coverage is infeasible at that count; the point is then priced conservatively (c is non-decreasing, so c(t_max) ≥ any real within-OD assignment) and the stranded count is reported next to every figure.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multi-vs-relax column in the end tables is therefore a certified optimality gap: the integer optimum lies inside it.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74552" cy="1143000"/>
          </a:xfrm>
          <a:prstGeom prst="roundRect">
            <a:avLst>
              <a:gd name="adj" fmla="val 4800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5800" y="5166360"/>
            <a:ext cx="10835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 the implementation (lp_run.jl).  </a:t>
            </a: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LP-guided matheuristic. The swap profit is the exact per-swap travel change (gain − loss + interaction term — verified case-by-case), so polish is monotone and multistart ≤ min(top-p, greedy) by construction; the final choice re-evaluates every polished set from scratch (travel_of). Deterministic: fixed RNG seed, so decks reproduce. Cost: seconds per point — the LP solve dominates.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35508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lp_run.jl: multistart_round (seeds), swap_round! (fast interchange), travel_of (coverage-honest metric), assign_nearest (final assignment) · MS_RESTARTS=10, MS_ROUNDS=12, MS_SEED fixed.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59019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967380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61,270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7508185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15,281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945151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61,270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245831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565856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1,615 cells · 3.48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60.7M · LOG 1.9M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690804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9545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2.4M · LOG 71k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280215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292 cells · 4.51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5.9M · LOG 174k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24697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3.96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7.5M · LOG 230k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13838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11.7M · LOG 284k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293776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LITHUANIA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Lithuania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cells · 4.39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361k</a:t>
            </a:r>
            <a:endParaRPr lang="en-US" sz="1000" dirty="0"/>
          </a:p>
        </p:txBody>
      </p:sp>
      <p:pic>
        <p:nvPicPr>
          <p:cNvPr id="5" name="Image 0" descr="E:\prj\JRC\NetworkModel_EU\doc\charts\Lithua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ithua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697344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IRELAND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Ireland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862 cells · 4.71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23.6M · LOG 630k</a:t>
            </a:r>
            <a:endParaRPr lang="en-US" sz="1000" dirty="0"/>
          </a:p>
        </p:txBody>
      </p:sp>
      <p:pic>
        <p:nvPicPr>
          <p:cNvPr id="5" name="Image 0" descr="E:\prj\JRC\NetworkModel_EU\doc\charts\Irelan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relan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193196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NORWAY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Norway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755 cells · 7.99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40.8M · LOG 896k</a:t>
            </a:r>
            <a:endParaRPr lang="en-US" sz="1000" dirty="0"/>
          </a:p>
        </p:txBody>
      </p:sp>
      <p:pic>
        <p:nvPicPr>
          <p:cNvPr id="5" name="Image 0" descr="E:\prj\JRC\NetworkModel_EU\doc\charts\Norway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orway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465877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DENMARK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Denmark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466 cells · 6.52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37.5M · LOG 860k</a:t>
            </a:r>
            <a:endParaRPr lang="en-US" sz="1000" dirty="0"/>
          </a:p>
        </p:txBody>
      </p:sp>
      <p:pic>
        <p:nvPicPr>
          <p:cNvPr id="5" name="Image 0" descr="E:\prj\JRC\NetworkModel_EU\doc\charts\Denma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Denma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5182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AUSTRIA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Austria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1,129 cells · 4.82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43.1M · LOG 1.2M</a:t>
            </a:r>
            <a:endParaRPr lang="en-US" sz="1000" dirty="0"/>
          </a:p>
        </p:txBody>
      </p:sp>
      <p:pic>
        <p:nvPicPr>
          <p:cNvPr id="5" name="Image 0" descr="E:\prj\JRC\NetworkModel_EU\doc\charts\Austr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Austr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777121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PORTUGAL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Portugal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1,882 cells · 8.56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88.1M · LOG 1.5M</a:t>
            </a:r>
            <a:endParaRPr lang="en-US" sz="1000" dirty="0"/>
          </a:p>
        </p:txBody>
      </p:sp>
      <p:pic>
        <p:nvPicPr>
          <p:cNvPr id="5" name="Image 0" descr="E:\prj\JRC\NetworkModel_EU\doc\charts\Portuga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rtuga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083012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CZECHIA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Czechia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1,624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44.4M · LOG 1.3M</a:t>
            </a:r>
            <a:endParaRPr lang="en-US" sz="1000" dirty="0"/>
          </a:p>
        </p:txBody>
      </p:sp>
      <p:pic>
        <p:nvPicPr>
          <p:cNvPr id="5" name="Image 0" descr="E:\prj\JRC\NetworkModel_EU\doc\charts\Czech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Czech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60711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BELGIUM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Belgium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2,958 cells · 1.87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21.5M · LOG 1.1M</a:t>
            </a:r>
            <a:endParaRPr lang="en-US" sz="1000" dirty="0"/>
          </a:p>
        </p:txBody>
      </p:sp>
      <p:pic>
        <p:nvPicPr>
          <p:cNvPr id="5" name="Image 0" descr="E:\prj\JRC\NetworkModel_EU\doc\charts\Belgiu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Belgiu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0.000648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530038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Poland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7,027 cells · 3.59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133M · LOG 4.1M</a:t>
            </a:r>
            <a:endParaRPr lang="en-US" sz="1000" dirty="0"/>
          </a:p>
        </p:txBody>
      </p:sp>
      <p:pic>
        <p:nvPicPr>
          <p:cNvPr id="5" name="Image 0" descr="E:\prj\JRC\NetworkModel_EU\doc\charts\Polan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lan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67874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1,449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12.7M · LOG 1.0M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115457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4.36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309k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932994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4.78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13.4M · LOG 351k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460502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4.31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14.2M · LOG 391k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728930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1,333 cells · 2.92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17.5M · LOG 619k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457674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3.85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21.4M · LOG 636k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755859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4.06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15.6M · LOG 446k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272924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4.34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14.5M · LOG 397k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974629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1,584 cells · 4.54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741k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490775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3.91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23.5M · LOG 695k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181463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1,685 cells · 3.62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29.4M · LOG 912k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310978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1,026 cells · 2.60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515k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946527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5.11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1.7M · LOG 45k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816043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2,890 cells · 2.93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46.4M · LOG 1.7M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148967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1,253 cells · 6.67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88.9M · LOG 2.1M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983933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884 cells · 22.30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139M · LOG 1.6M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273290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2,079 cells · 4.20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48.4M · LOG 1.4M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6557351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1,631 cells · 4.19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49.0M · LOG 1.4M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699431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388 cells · 5.41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22.1M · LOG 573k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012133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452 cells · 8.05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35.4M · LOG 747k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0.00979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076645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9.46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16.4M · LOG 350k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0.00937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798779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Południowy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1,442 cells · 3.21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24.5M · LOG 811k</a:t>
            </a:r>
            <a:endParaRPr lang="en-US" sz="1000" dirty="0"/>
          </a:p>
        </p:txBody>
      </p:sp>
      <p:pic>
        <p:nvPicPr>
          <p:cNvPr id="5" name="Image 0" descr="E:\prj\JRC\NetworkModel_EU\doc\charts\PL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47190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Północno-Zachodni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 cells · 3.66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22.1M · LOG 685k</a:t>
            </a:r>
            <a:endParaRPr lang="en-US" sz="1000" dirty="0"/>
          </a:p>
        </p:txBody>
      </p:sp>
      <p:pic>
        <p:nvPicPr>
          <p:cNvPr id="5" name="Image 0" descr="E:\prj\JRC\NetworkModel_EU\doc\charts\PL4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4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2167272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Południowo-Zachodni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688 cells · 3.41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12.8M · LOG 411k</a:t>
            </a:r>
            <a:endParaRPr lang="en-US" sz="1000" dirty="0"/>
          </a:p>
        </p:txBody>
      </p:sp>
      <p:pic>
        <p:nvPicPr>
          <p:cNvPr id="5" name="Image 0" descr="E:\prj\JRC\NetworkModel_EU\doc\charts\PL5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5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2231657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Północny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1,023 cells · 3.78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21.1M · LOG 642k</a:t>
            </a:r>
            <a:endParaRPr lang="en-US" sz="1000" dirty="0"/>
          </a:p>
        </p:txBody>
      </p:sp>
      <p:pic>
        <p:nvPicPr>
          <p:cNvPr id="5" name="Image 0" descr="E:\prj\JRC\NetworkModel_EU\doc\charts\PL6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6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5391331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Centralny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675 cells · 3.84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405k</a:t>
            </a:r>
            <a:endParaRPr lang="en-US" sz="1000" dirty="0"/>
          </a:p>
        </p:txBody>
      </p:sp>
      <p:pic>
        <p:nvPicPr>
          <p:cNvPr id="5" name="Image 0" descr="E:\prj\JRC\NetworkModel_EU\doc\charts\PL7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7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85305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Wschodni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1,065 cells · 14.56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71.7M · LOG 983k</a:t>
            </a:r>
            <a:endParaRPr lang="en-US" sz="1000" dirty="0"/>
          </a:p>
        </p:txBody>
      </p:sp>
      <p:pic>
        <p:nvPicPr>
          <p:cNvPr id="5" name="Image 0" descr="E:\prj\JRC\NetworkModel_EU\doc\charts\PL8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8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0175092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POLAND · PL9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Mazowiecki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933 cells · 3.20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17.5M · LOG 591k</a:t>
            </a:r>
            <a:endParaRPr lang="en-US" sz="1000" dirty="0"/>
          </a:p>
        </p:txBody>
      </p:sp>
      <p:pic>
        <p:nvPicPr>
          <p:cNvPr id="5" name="Image 0" descr="E:\prj\JRC\NetworkModel_EU\doc\charts\PL9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L9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cost lowerbound (LP relaxation, dashed grey — drawn on top) &amp; cost upperbound (multistart integer solution, solid blue) on the left; log₁₀(facility cost weight €) on the right, vs sum_x; ★ baseline, ◆ S1, ■ S2.  Lower ≤ integer optimum ≤ upper; stranded clients priced at c(t_max) — in the baseline too (coverage-consistent).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8126758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ALL AREAS COMBINED · 41 DISJOINT AREAS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aggregated frontier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facilities and travel cost summed per λ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43,313 pharmacy cells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 LIN 1245M · LOG 31.9M</a:t>
            </a:r>
            <a:endParaRPr lang="en-US" sz="1000" dirty="0"/>
          </a:p>
        </p:txBody>
      </p:sp>
      <p:pic>
        <p:nvPicPr>
          <p:cNvPr id="5" name="Image 0" descr="E:\prj\JRC\NetworkModel_EU\doc\charts\AGGREGAT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AGGREGAT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64608"/>
          <a:ext cx="11274552" cy="9144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facilities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travel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(same count)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43,783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33,059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445,178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(same count)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(same travel)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facilities swept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382512"/>
            <a:ext cx="112745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Exact-by-separability aggregation over 41 disjoint areas (13 countries + FR/IT/SE/PL NUTS-1; country-level Poland excluded in favour of its 7 NUTS-1): at a common λ the sum of the regional optima IS the combined optimum. Summed at the union of swept w-values inside the range every area covers (32 points; an area without that exact λ is log-interpolated between its adjacent sweep points — the λ-table rule). S2 not bracketed: the aggregate baseline (★) lies outside the common λ range — the full-coverage floor exceeds today's count (roadmap: extend the w-grid / exact S1-S2).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3974761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country, by travel-cost function</a:t>
            </a:r>
            <a:endParaRPr lang="en-US" sz="22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33,902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15,945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25,641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11,388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19,834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20,893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24,343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49,999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55,995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18,588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30,277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22,879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98881914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 · NUTS-1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FR / IT / SE NUTS-1 regions</a:t>
            </a:r>
            <a:endParaRPr lang="en-US" sz="22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NUTS-1 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 · Île-de-France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16,444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 · Centre-Val de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 · Bourgogne-Franche-Comté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 · Normandie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14,679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 · Hauts-de-France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 · Grand 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 · Pays de la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 · Bretagne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 · Nouvelle-Aquitaine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 · Occitanie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 · Auvergne-Rhône-Alpes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 · Provence-Alpes-Côte d'Azur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 · Corse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· Nord-Ovest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 · Sud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31,824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 · Isole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70,747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276,192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 · Nord-Est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 · Centro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16,612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32,376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 · Östra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29,065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 · Södra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34,174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63,973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 · Norra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53,080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PL2 · Południowy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PL4 · Północno-Zachodni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PL5 · Południowo-Zachodni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15,617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PL6 · Północny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PL7 · Centralny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14,885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PL8 · Wschodni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24,054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 · Mazowiecki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7274718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(54)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(351)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(1308)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(1265)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graphicFrame>
        <p:nvGraphicFramePr>
          <p:cNvPr id="10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(241)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(730)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(1725)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(2409)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(1470)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(2202)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(168)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(1815)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(1966)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3609512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Recalculation done: candidates = ≥50-pop cells ∪ pharmacy cells · clients = FULL population · adapted logit (25/10) — all 42 areas re-swept, incl. Poland + its 7 NUTS-1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frontier over all 41 disjoint areas (exact by separability) — new page after the region pages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 (diagnosed: baseline drops unreachable clients + w-grid truncation; DK the same)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w-grid upward so S1 brackets everywhere — also unlocks aggregate S1/S2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better estimations for S1 and S2 (exact soft-coverage p-median MIP at p = baseline)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Flat-then-linear travel-cost variant; sweep logit-parameter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Border-cases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 catchment &amp; travel costs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0690973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the adopted Lewis-tuned curve vs the previous one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adopted curve is lower below ~10 min (ignores minor relocations) and saturates by ~45 min (caps remote weight) — Lewis's 22-May ask. Applied in the recalculation (settings.jl defaults; previous variant via LOGISTIC_MIDPOINT=30 LOGISTIC_SCALE=15).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843455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13133</Words>
  <Application>Microsoft Office PowerPoint</Application>
  <PresentationFormat>Widescreen</PresentationFormat>
  <Paragraphs>3412</Paragraphs>
  <Slides>61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6" baseType="lpstr">
      <vt:lpstr>Arial</vt:lpstr>
      <vt:lpstr>Calibri</vt:lpstr>
      <vt:lpstr>Cambria Math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2026-07-16T03:35:53Z</dcterms:modified>
</cp:coreProperties>
</file>