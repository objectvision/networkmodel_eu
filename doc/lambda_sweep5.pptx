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60" r:id="rId3"/>
    <p:sldId id="261" r:id="rId4"/>
    <p:sldId id="257" r:id="rId5"/>
    <p:sldId id="258" r:id="rId6"/>
    <p:sldId id="262" r:id="rId7"/>
    <p:sldId id="259" r:id="rId8"/>
    <p:sldId id="263" r:id="rId9"/>
    <p:sldId id="264" r:id="rId10"/>
    <p:sldId id="265" r:id="rId11"/>
    <p:sldId id="266" r:id="rId12"/>
    <p:sldId id="267" r:id="rId13"/>
    <p:sldId id="268" r:id="rId14"/>
    <p:sldId id="307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1975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2329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9404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4977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0638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7800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5515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934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8534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7304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9673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3470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9698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4842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60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325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3836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6862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5513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1871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8848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751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4108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770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9844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3569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8950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8395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4818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56885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5771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62022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6033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01608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11007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08608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6202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54648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2240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73719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240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5601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5642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4223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516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38316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55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839844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problem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uncapacitated facility location on the road OD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035040" cy="3108960"/>
          </a:xfrm>
          <a:prstGeom prst="roundRect">
            <a:avLst>
              <a:gd name="adj" fmla="val 1765"/>
            </a:avLst>
          </a:prstGeom>
          <a:solidFill>
            <a:srgbClr val="12233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min</a:t>
            </a:r>
            <a:r>
              <a:rPr lang="en-US" sz="1000" baseline="-40000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x,y</a:t>
            </a:r>
            <a:r>
              <a:rPr lang="en-US" sz="16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Σᵢ Σⱼ  popᵢ · c(tᵢⱼ) · yᵢⱼ   +   λ · Σⱼ xⱼ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s.t.</a:t>
            </a: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Σⱼ yᵢⱼ  =  1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client fully assigned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yᵢⱼ  ≤  xⱼ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only to open pharmacies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xⱼ ∈ {0,1}</a:t>
            </a:r>
            <a:r>
              <a:rPr lang="en-US" sz="1500" dirty="0">
                <a:solidFill>
                  <a:srgbClr val="FFD9A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→  relaxed to  0 ≤ xⱼ ≤ 1,   yᵢⱼ ≥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populated 1 km² cells (clients)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candidate pharmacy cells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(i,j)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where the road network gives tᵢⱼ ≤ t_max — the exported OD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12280" y="12801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— travel cost, t in minutes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12280" y="15270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c(t)=t; LOGISTIC c(t)=1/(1+e^−(t−30)/15). The swept LPs run once per function.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212140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— the price of a pharmacy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12280" y="236829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a+b·q reduces to λ·#open: the b·q part is constant once every client is assigned, so only the fixed cost a matters.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12280" y="306324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LP per λ, exact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12280" y="331012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+ HiGHS dual simplex; the model is built once and re-solved along the w-grid from the previous optimal basis (lp_run.jl solve_at_w!) — millions of yᵢⱼ, minutes per point.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11274552" cy="1691640"/>
          </a:xfrm>
          <a:prstGeom prst="roundRect">
            <a:avLst>
              <a:gd name="adj" fmla="val 3243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5800" y="4754880"/>
            <a:ext cx="1083564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relaxation, and what it buys.  </a:t>
            </a: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xⱼ ∈ {0,1} this is the (NP-hard) uncapacitated facility-location problem, in its strong disaggregated formulation — one yᵢⱼ ≤ xⱼ per OD pair — whose LP relaxation is known to be nearly integral, which the sweeps confirm (frac_x stays small). The LP optimum is a certified </a:t>
            </a:r>
            <a:r>
              <a:rPr lang="en-US" sz="105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</a:t>
            </a: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grey dashed line); rounding x* to a real set of pharmacies (multistart, p. 6) gives a feasible </a:t>
            </a:r>
            <a:r>
              <a:rPr lang="en-US" sz="105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</a:t>
            </a: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integer optimum is pinched between the two (+0–18% LINEAR, +0–4.7% LOGISTIC). Equivalently, λ is the Lagrange multiplier on a facility-budget constraint: the sweep traces the lower convex envelope of the (#open, travel) frontier, so frontier points inside non-convex gaps are unreachable by any λ — there S1/S2 must be interpolated between sweep points, or pinned exactly with a cardinality constraint (roadmap: better S1/S2 estimations).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 lp_run.jl (build_lp_warmstart / solve_at_w!) · weights popᵢ = total residents of cell i (CLIENT_WEIGHT=total_pop) · OD from GeoDMS impedance_matrix_od64, t = seconds/60.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25166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FROM FRACTIONS TO PHARMACIES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multistart rounds the LP relaxation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and why it is an upper bound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2801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545336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round(Σ xⱼ*) — the integer pharmacy count nearest the LP's fractional total, so every rounded point stays on the same axis as the relaxation.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1762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10 candidate sets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2441448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by x* and the lazy-greedy set (CELF, Leskovec et al. 2007 — marginal travel gains are submodular), so the result can never be worse than either; plus 8 x*-weighted random draws (Efraimidis–Spirakis 2006 A-Res); must-open pharmacies (x*≈1) are always kept.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90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7238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by swaps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3337560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best-improving open↔closed swaps over the fractional pool (fast interchange, Resende &amp; Werneck 2007). Each swap is accepted only if the exact travel delta improves — cost strictly decreases, ≤ 12 rounds per seed.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9867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coverage-honestly, keep the best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4233672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priced at its nearest open pharmacy, c(t); a client left with no open pharmacy in the OD (stranded) is priced at c(t_max) — the worst travel time in the data, so abandoning remote clusters is never free. Lowest total wins.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1298448"/>
            <a:ext cx="4416552" cy="3566160"/>
          </a:xfrm>
          <a:prstGeom prst="roundRect">
            <a:avLst>
              <a:gd name="adj" fmla="val 1538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498080" y="140817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an upper bound 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0" y="1719072"/>
            <a:ext cx="40690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rounded set is a feasible point of the original problem: exactly p pharmacies actually open (x integer) and every client explicitly assigned. Feasible ⟹ its objective can only be ≥ the integer optimum, which is ≥ the LP optimum: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relax  ≤  integer optimum  ≤  multistart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whenever stranded = 0 — the common case (see the summary table). With stranding, strict full-coverage is infeasible at that count; the point is then priced conservatively (c is non-decreasing, so c(t_max) ≥ any real within-OD assignment) and the stranded count is reported next to every figure.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multi-vs-relax column in the end tables is therefore a certified optimality gap: the integer optimum lies inside it.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143000"/>
          </a:xfrm>
          <a:prstGeom prst="roundRect">
            <a:avLst>
              <a:gd name="adj" fmla="val 4800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5166360"/>
            <a:ext cx="10835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implementation (lp_run.jl). 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LP-guided matheuristic. The swap profit is the exact per-swap travel change (gain − loss + interaction term — verified case-by-case), so polish is monotone and multistart ≤ min(top-p, greedy) by construction; the final choice re-evaluates every polished set from scratch (travel_of). Deterministic: fixed RNG seed, so decks reproduce. Cost: seconds per point — the LP solve dominates.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lp_run.jl: multistart_round (seeds), swap_round! (fast interchange), travel_of (coverage-honest metric), assign_nearest (final assignment) · MS_RESTARTS=10, MS_ROUNDS=12, MS_SEED fixed.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41558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993069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617720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9402725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501851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618421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57097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616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294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846430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642513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09156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LITHUANIA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Lithuania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cells · 3.83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413k</a:t>
            </a:r>
            <a:endParaRPr lang="en-US" sz="1000" dirty="0"/>
          </a:p>
        </p:txBody>
      </p:sp>
      <p:pic>
        <p:nvPicPr>
          <p:cNvPr id="5" name="Image 0" descr="E:\prj\JRC\NetworkModel_EU\doc\charts\Lithua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ithua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873929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IRELAND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Ireland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861 cells · 4.43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21.4M · LOG 763k</a:t>
            </a:r>
            <a:endParaRPr lang="en-US" sz="1000" dirty="0"/>
          </a:p>
        </p:txBody>
      </p:sp>
      <p:pic>
        <p:nvPicPr>
          <p:cNvPr id="5" name="Image 0" descr="E:\prj\JRC\NetworkModel_EU\doc\charts\Ire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re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420852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746 cells · 7.31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35.6M · LOG 932k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506619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DENMARK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Denmark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444 cells · 6.64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33.9M · LOG 919k</a:t>
            </a:r>
            <a:endParaRPr lang="en-US" sz="1000" dirty="0"/>
          </a:p>
        </p:txBody>
      </p:sp>
      <p:pic>
        <p:nvPicPr>
          <p:cNvPr id="5" name="Image 0" descr="E:\prj\JRC\NetworkModel_EU\doc\charts\Denma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Denma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184422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AUSTRIA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Austria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1,129 cells · 4.67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41.0M · LOG 1.4M</a:t>
            </a:r>
            <a:endParaRPr lang="en-US" sz="1000" dirty="0"/>
          </a:p>
        </p:txBody>
      </p:sp>
      <p:pic>
        <p:nvPicPr>
          <p:cNvPr id="5" name="Image 0" descr="E:\prj\JRC\NetworkModel_EU\doc\charts\Austr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ustr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982972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30.6M · LOG 1.4M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86593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1,622 cells · 4.15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1.6M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91839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2,957 cells · 1.85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21.2M · LOG 1.5M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486408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838348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012297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59506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257366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602523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69555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755111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303476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906358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520458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709319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43934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899691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168496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862735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869649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211838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563337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529338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975997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6309815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country, by travel-cost function</a:t>
            </a:r>
            <a:endParaRPr lang="en-US" sz="2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24,938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21,206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23,614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41,362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7477248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 · NUTS-1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FR / IT / SE NUTS-1 regions</a:t>
            </a:r>
            <a:endParaRPr lang="en-US" sz="2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NUTS-1 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 · Île-de-France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 · Centre-Val de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 · Bourgogne-Franche-Comté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 · Normandie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 · Hauts-de-France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 · Grand 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 · Pays de la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 · Bretagne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· Nouvelle-Aquitaine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 · Occitanie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 · Auvergne-Rhône-Alpes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 · Provence-Alpes-Côte d'Azur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 · Corse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· Nord-Ovest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 · Sud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23,588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 · Isole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 · Nord-Est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16,242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 · Centro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 · Östra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 · Södra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 · Norra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347454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(1843)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(1740)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(1781)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(1684)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 (2758)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 (1517)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(2437)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(1230)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(753)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 (1238)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(223)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 (610)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078397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Poland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better estimations for S1 and S2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5195723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38568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10282</Words>
  <Application>Microsoft Office PowerPoint</Application>
  <PresentationFormat>Widescreen</PresentationFormat>
  <Paragraphs>2974</Paragraphs>
  <Slides>52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7" baseType="lpstr">
      <vt:lpstr>Arial</vt:lpstr>
      <vt:lpstr>Calibri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2026-07-02T10:42:43Z</dcterms:modified>
</cp:coreProperties>
</file>