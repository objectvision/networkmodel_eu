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63"/>
  </p:notesMasterIdLst>
  <p:sldIdLst>
    <p:sldId id="256" r:id="rId2"/>
    <p:sldId id="260" r:id="rId3"/>
    <p:sldId id="261" r:id="rId4"/>
    <p:sldId id="257" r:id="rId5"/>
    <p:sldId id="258" r:id="rId6"/>
    <p:sldId id="262" r:id="rId7"/>
    <p:sldId id="259" r:id="rId8"/>
    <p:sldId id="263" r:id="rId9"/>
    <p:sldId id="264" r:id="rId10"/>
    <p:sldId id="265" r:id="rId11"/>
    <p:sldId id="266" r:id="rId12"/>
    <p:sldId id="267" r:id="rId13"/>
    <p:sldId id="268" r:id="rId14"/>
    <p:sldId id="316" r:id="rId15"/>
    <p:sldId id="269" r:id="rId16"/>
    <p:sldId id="270" r:id="rId17"/>
    <p:sldId id="271" r:id="rId18"/>
    <p:sldId id="272" r:id="rId19"/>
    <p:sldId id="273" r:id="rId20"/>
    <p:sldId id="274" r:id="rId21"/>
    <p:sldId id="275" r:id="rId22"/>
    <p:sldId id="276" r:id="rId23"/>
    <p:sldId id="277" r:id="rId24"/>
    <p:sldId id="278" r:id="rId25"/>
    <p:sldId id="279" r:id="rId26"/>
    <p:sldId id="280" r:id="rId27"/>
    <p:sldId id="281" r:id="rId28"/>
    <p:sldId id="282" r:id="rId29"/>
    <p:sldId id="283" r:id="rId30"/>
    <p:sldId id="284" r:id="rId31"/>
    <p:sldId id="285" r:id="rId32"/>
    <p:sldId id="286" r:id="rId33"/>
    <p:sldId id="287" r:id="rId34"/>
    <p:sldId id="288" r:id="rId35"/>
    <p:sldId id="289" r:id="rId36"/>
    <p:sldId id="290" r:id="rId37"/>
    <p:sldId id="291" r:id="rId38"/>
    <p:sldId id="292" r:id="rId39"/>
    <p:sldId id="293" r:id="rId40"/>
    <p:sldId id="294" r:id="rId41"/>
    <p:sldId id="295" r:id="rId42"/>
    <p:sldId id="296" r:id="rId43"/>
    <p:sldId id="297" r:id="rId44"/>
    <p:sldId id="298" r:id="rId45"/>
    <p:sldId id="299" r:id="rId46"/>
    <p:sldId id="300" r:id="rId47"/>
    <p:sldId id="301" r:id="rId48"/>
    <p:sldId id="302" r:id="rId49"/>
    <p:sldId id="303" r:id="rId50"/>
    <p:sldId id="304" r:id="rId51"/>
    <p:sldId id="305" r:id="rId52"/>
    <p:sldId id="306" r:id="rId53"/>
    <p:sldId id="307" r:id="rId54"/>
    <p:sldId id="308" r:id="rId55"/>
    <p:sldId id="309" r:id="rId56"/>
    <p:sldId id="310" r:id="rId57"/>
    <p:sldId id="311" r:id="rId58"/>
    <p:sldId id="312" r:id="rId59"/>
    <p:sldId id="313" r:id="rId60"/>
    <p:sldId id="314" r:id="rId61"/>
    <p:sldId id="315" r:id="rId62"/>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59" d="100"/>
          <a:sy n="159" d="100"/>
        </p:scale>
        <p:origin x="1680" y="13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openxmlformats.org/officeDocument/2006/relationships/notesMaster" Target="notesMasters/notesMaster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theme" Target="theme/theme1.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tableStyles" Target="tableStyle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71005118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299997772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289068743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252167925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93865062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425862552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16599096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261860382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99208227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371377868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308425800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45456212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91866318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31935215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2645005724"/>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3203104582"/>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210481786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200998314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276361066"/>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2109160687"/>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361241349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237411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840976935"/>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620790025"/>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3523010533"/>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426029902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53639477"/>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844793565"/>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216804316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455533859"/>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3487316017"/>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3823544576"/>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2464428268"/>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3126687228"/>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2384060968"/>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238752626"/>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349637878"/>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2251887437"/>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78955122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27011302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308942022"/>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3227035529"/>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2907866120"/>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588955063"/>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529847617"/>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3406996277"/>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2572221392"/>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781593653"/>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3681768188"/>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78093987"/>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4010740318"/>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35108054"/>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3606248832"/>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53762435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288107394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82535373"/>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294459450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3.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1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4.xml"/><Relationship Id="rId1" Type="http://schemas.openxmlformats.org/officeDocument/2006/relationships/slideLayout" Target="../slideLayouts/slideLayout1.xml"/><Relationship Id="rId4" Type="http://schemas.openxmlformats.org/officeDocument/2006/relationships/image" Target="../media/image5.png"/></Relationships>
</file>

<file path=ppt/slides/_rels/slide1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5.xml"/><Relationship Id="rId1" Type="http://schemas.openxmlformats.org/officeDocument/2006/relationships/slideLayout" Target="../slideLayouts/slideLayout1.xml"/><Relationship Id="rId4" Type="http://schemas.openxmlformats.org/officeDocument/2006/relationships/image" Target="../media/image7.png"/></Relationships>
</file>

<file path=ppt/slides/_rels/slide1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6.xml"/><Relationship Id="rId1" Type="http://schemas.openxmlformats.org/officeDocument/2006/relationships/slideLayout" Target="../slideLayouts/slideLayout1.xml"/><Relationship Id="rId4" Type="http://schemas.openxmlformats.org/officeDocument/2006/relationships/image" Target="../media/image9.png"/></Relationships>
</file>

<file path=ppt/slides/_rels/slide18.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7.xml"/><Relationship Id="rId1" Type="http://schemas.openxmlformats.org/officeDocument/2006/relationships/slideLayout" Target="../slideLayouts/slideLayout1.xml"/><Relationship Id="rId4" Type="http://schemas.openxmlformats.org/officeDocument/2006/relationships/image" Target="../media/image11.png"/></Relationships>
</file>

<file path=ppt/slides/_rels/slide19.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8.xml"/><Relationship Id="rId1" Type="http://schemas.openxmlformats.org/officeDocument/2006/relationships/slideLayout" Target="../slideLayouts/slideLayout1.xml"/><Relationship Id="rId4" Type="http://schemas.openxmlformats.org/officeDocument/2006/relationships/image" Target="../media/image13.png"/></Relationships>
</file>

<file path=ppt/slides/_rels/slide20.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9.xml"/><Relationship Id="rId1" Type="http://schemas.openxmlformats.org/officeDocument/2006/relationships/slideLayout" Target="../slideLayouts/slideLayout1.xml"/><Relationship Id="rId4" Type="http://schemas.openxmlformats.org/officeDocument/2006/relationships/image" Target="../media/image15.png"/></Relationships>
</file>

<file path=ppt/slides/_rels/slide21.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20.xml"/><Relationship Id="rId1" Type="http://schemas.openxmlformats.org/officeDocument/2006/relationships/slideLayout" Target="../slideLayouts/slideLayout1.xml"/><Relationship Id="rId4" Type="http://schemas.openxmlformats.org/officeDocument/2006/relationships/image" Target="../media/image17.png"/></Relationships>
</file>

<file path=ppt/slides/_rels/slide22.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1.xml"/><Relationship Id="rId1" Type="http://schemas.openxmlformats.org/officeDocument/2006/relationships/slideLayout" Target="../slideLayouts/slideLayout1.xml"/><Relationship Id="rId4" Type="http://schemas.openxmlformats.org/officeDocument/2006/relationships/image" Target="../media/image19.png"/></Relationships>
</file>

<file path=ppt/slides/_rels/slide23.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22.xml"/><Relationship Id="rId1" Type="http://schemas.openxmlformats.org/officeDocument/2006/relationships/slideLayout" Target="../slideLayouts/slideLayout1.xml"/><Relationship Id="rId4" Type="http://schemas.openxmlformats.org/officeDocument/2006/relationships/image" Target="../media/image21.png"/></Relationships>
</file>

<file path=ppt/slides/_rels/slide24.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23.xml"/><Relationship Id="rId1" Type="http://schemas.openxmlformats.org/officeDocument/2006/relationships/slideLayout" Target="../slideLayouts/slideLayout1.xml"/><Relationship Id="rId4" Type="http://schemas.openxmlformats.org/officeDocument/2006/relationships/image" Target="../media/image23.png"/></Relationships>
</file>

<file path=ppt/slides/_rels/slide25.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24.xml"/><Relationship Id="rId1" Type="http://schemas.openxmlformats.org/officeDocument/2006/relationships/slideLayout" Target="../slideLayouts/slideLayout1.xml"/><Relationship Id="rId4" Type="http://schemas.openxmlformats.org/officeDocument/2006/relationships/image" Target="../media/image25.png"/></Relationships>
</file>

<file path=ppt/slides/_rels/slide26.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25.xml"/><Relationship Id="rId1" Type="http://schemas.openxmlformats.org/officeDocument/2006/relationships/slideLayout" Target="../slideLayouts/slideLayout1.xml"/><Relationship Id="rId4" Type="http://schemas.openxmlformats.org/officeDocument/2006/relationships/image" Target="../media/image27.png"/></Relationships>
</file>

<file path=ppt/slides/_rels/slide27.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26.xml"/><Relationship Id="rId1" Type="http://schemas.openxmlformats.org/officeDocument/2006/relationships/slideLayout" Target="../slideLayouts/slideLayout1.xml"/><Relationship Id="rId4" Type="http://schemas.openxmlformats.org/officeDocument/2006/relationships/image" Target="../media/image29.png"/></Relationships>
</file>

<file path=ppt/slides/_rels/slide28.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27.xml"/><Relationship Id="rId1" Type="http://schemas.openxmlformats.org/officeDocument/2006/relationships/slideLayout" Target="../slideLayouts/slideLayout1.xml"/><Relationship Id="rId4" Type="http://schemas.openxmlformats.org/officeDocument/2006/relationships/image" Target="../media/image31.png"/></Relationships>
</file>

<file path=ppt/slides/_rels/slide29.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28.xml"/><Relationship Id="rId1" Type="http://schemas.openxmlformats.org/officeDocument/2006/relationships/slideLayout" Target="../slideLayouts/slideLayout1.xml"/><Relationship Id="rId4" Type="http://schemas.openxmlformats.org/officeDocument/2006/relationships/image" Target="../media/image33.png"/></Relationships>
</file>

<file path=ppt/slides/_rels/slide30.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29.xml"/><Relationship Id="rId1" Type="http://schemas.openxmlformats.org/officeDocument/2006/relationships/slideLayout" Target="../slideLayouts/slideLayout1.xml"/><Relationship Id="rId4" Type="http://schemas.openxmlformats.org/officeDocument/2006/relationships/image" Target="../media/image35.png"/></Relationships>
</file>

<file path=ppt/slides/_rels/slide31.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30.xml"/><Relationship Id="rId1" Type="http://schemas.openxmlformats.org/officeDocument/2006/relationships/slideLayout" Target="../slideLayouts/slideLayout1.xml"/><Relationship Id="rId4" Type="http://schemas.openxmlformats.org/officeDocument/2006/relationships/image" Target="../media/image37.png"/></Relationships>
</file>

<file path=ppt/slides/_rels/slide32.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31.xml"/><Relationship Id="rId1" Type="http://schemas.openxmlformats.org/officeDocument/2006/relationships/slideLayout" Target="../slideLayouts/slideLayout1.xml"/><Relationship Id="rId4" Type="http://schemas.openxmlformats.org/officeDocument/2006/relationships/image" Target="../media/image39.png"/></Relationships>
</file>

<file path=ppt/slides/_rels/slide33.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32.xml"/><Relationship Id="rId1" Type="http://schemas.openxmlformats.org/officeDocument/2006/relationships/slideLayout" Target="../slideLayouts/slideLayout1.xml"/><Relationship Id="rId4" Type="http://schemas.openxmlformats.org/officeDocument/2006/relationships/image" Target="../media/image41.png"/></Relationships>
</file>

<file path=ppt/slides/_rels/slide34.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33.xml"/><Relationship Id="rId1" Type="http://schemas.openxmlformats.org/officeDocument/2006/relationships/slideLayout" Target="../slideLayouts/slideLayout1.xml"/><Relationship Id="rId4" Type="http://schemas.openxmlformats.org/officeDocument/2006/relationships/image" Target="../media/image43.png"/></Relationships>
</file>

<file path=ppt/slides/_rels/slide35.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34.xml"/><Relationship Id="rId1" Type="http://schemas.openxmlformats.org/officeDocument/2006/relationships/slideLayout" Target="../slideLayouts/slideLayout1.xml"/><Relationship Id="rId4" Type="http://schemas.openxmlformats.org/officeDocument/2006/relationships/image" Target="../media/image45.png"/></Relationships>
</file>

<file path=ppt/slides/_rels/slide36.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35.xml"/><Relationship Id="rId1" Type="http://schemas.openxmlformats.org/officeDocument/2006/relationships/slideLayout" Target="../slideLayouts/slideLayout1.xml"/><Relationship Id="rId4" Type="http://schemas.openxmlformats.org/officeDocument/2006/relationships/image" Target="../media/image47.png"/></Relationships>
</file>

<file path=ppt/slides/_rels/slide37.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notesSlide" Target="../notesSlides/notesSlide36.xml"/><Relationship Id="rId1" Type="http://schemas.openxmlformats.org/officeDocument/2006/relationships/slideLayout" Target="../slideLayouts/slideLayout1.xml"/><Relationship Id="rId4" Type="http://schemas.openxmlformats.org/officeDocument/2006/relationships/image" Target="../media/image49.png"/></Relationships>
</file>

<file path=ppt/slides/_rels/slide38.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37.xml"/><Relationship Id="rId1" Type="http://schemas.openxmlformats.org/officeDocument/2006/relationships/slideLayout" Target="../slideLayouts/slideLayout1.xml"/><Relationship Id="rId4" Type="http://schemas.openxmlformats.org/officeDocument/2006/relationships/image" Target="../media/image51.png"/></Relationships>
</file>

<file path=ppt/slides/_rels/slide39.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notesSlide" Target="../notesSlides/notesSlide38.xml"/><Relationship Id="rId1" Type="http://schemas.openxmlformats.org/officeDocument/2006/relationships/slideLayout" Target="../slideLayouts/slideLayout1.xml"/><Relationship Id="rId4" Type="http://schemas.openxmlformats.org/officeDocument/2006/relationships/image" Target="../media/image53.png"/></Relationships>
</file>

<file path=ppt/slides/_rels/slide40.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notesSlide" Target="../notesSlides/notesSlide39.xml"/><Relationship Id="rId1" Type="http://schemas.openxmlformats.org/officeDocument/2006/relationships/slideLayout" Target="../slideLayouts/slideLayout1.xml"/><Relationship Id="rId4" Type="http://schemas.openxmlformats.org/officeDocument/2006/relationships/image" Target="../media/image55.png"/></Relationships>
</file>

<file path=ppt/slides/_rels/slide41.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notesSlide" Target="../notesSlides/notesSlide40.xml"/><Relationship Id="rId1" Type="http://schemas.openxmlformats.org/officeDocument/2006/relationships/slideLayout" Target="../slideLayouts/slideLayout1.xml"/><Relationship Id="rId4" Type="http://schemas.openxmlformats.org/officeDocument/2006/relationships/image" Target="../media/image57.png"/></Relationships>
</file>

<file path=ppt/slides/_rels/slide42.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notesSlide" Target="../notesSlides/notesSlide41.xml"/><Relationship Id="rId1" Type="http://schemas.openxmlformats.org/officeDocument/2006/relationships/slideLayout" Target="../slideLayouts/slideLayout1.xml"/><Relationship Id="rId4" Type="http://schemas.openxmlformats.org/officeDocument/2006/relationships/image" Target="../media/image59.png"/></Relationships>
</file>

<file path=ppt/slides/_rels/slide43.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notesSlide" Target="../notesSlides/notesSlide42.xml"/><Relationship Id="rId1" Type="http://schemas.openxmlformats.org/officeDocument/2006/relationships/slideLayout" Target="../slideLayouts/slideLayout1.xml"/><Relationship Id="rId4" Type="http://schemas.openxmlformats.org/officeDocument/2006/relationships/image" Target="../media/image61.png"/></Relationships>
</file>

<file path=ppt/slides/_rels/slide44.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notesSlide" Target="../notesSlides/notesSlide43.xml"/><Relationship Id="rId1" Type="http://schemas.openxmlformats.org/officeDocument/2006/relationships/slideLayout" Target="../slideLayouts/slideLayout1.xml"/><Relationship Id="rId4" Type="http://schemas.openxmlformats.org/officeDocument/2006/relationships/image" Target="../media/image63.png"/></Relationships>
</file>

<file path=ppt/slides/_rels/slide45.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notesSlide" Target="../notesSlides/notesSlide44.xml"/><Relationship Id="rId1" Type="http://schemas.openxmlformats.org/officeDocument/2006/relationships/slideLayout" Target="../slideLayouts/slideLayout1.xml"/><Relationship Id="rId4" Type="http://schemas.openxmlformats.org/officeDocument/2006/relationships/image" Target="../media/image65.png"/></Relationships>
</file>

<file path=ppt/slides/_rels/slide46.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notesSlide" Target="../notesSlides/notesSlide45.xml"/><Relationship Id="rId1" Type="http://schemas.openxmlformats.org/officeDocument/2006/relationships/slideLayout" Target="../slideLayouts/slideLayout1.xml"/><Relationship Id="rId4" Type="http://schemas.openxmlformats.org/officeDocument/2006/relationships/image" Target="../media/image67.png"/></Relationships>
</file>

<file path=ppt/slides/_rels/slide47.xml.rels><?xml version="1.0" encoding="UTF-8" standalone="yes"?>
<Relationships xmlns="http://schemas.openxmlformats.org/package/2006/relationships"><Relationship Id="rId3" Type="http://schemas.openxmlformats.org/officeDocument/2006/relationships/image" Target="../media/image68.png"/><Relationship Id="rId2" Type="http://schemas.openxmlformats.org/officeDocument/2006/relationships/notesSlide" Target="../notesSlides/notesSlide46.xml"/><Relationship Id="rId1" Type="http://schemas.openxmlformats.org/officeDocument/2006/relationships/slideLayout" Target="../slideLayouts/slideLayout1.xml"/><Relationship Id="rId4" Type="http://schemas.openxmlformats.org/officeDocument/2006/relationships/image" Target="../media/image69.png"/></Relationships>
</file>

<file path=ppt/slides/_rels/slide48.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notesSlide" Target="../notesSlides/notesSlide47.xml"/><Relationship Id="rId1" Type="http://schemas.openxmlformats.org/officeDocument/2006/relationships/slideLayout" Target="../slideLayouts/slideLayout1.xml"/><Relationship Id="rId4" Type="http://schemas.openxmlformats.org/officeDocument/2006/relationships/image" Target="../media/image71.png"/></Relationships>
</file>

<file path=ppt/slides/_rels/slide49.xml.rels><?xml version="1.0" encoding="UTF-8" standalone="yes"?>
<Relationships xmlns="http://schemas.openxmlformats.org/package/2006/relationships"><Relationship Id="rId3" Type="http://schemas.openxmlformats.org/officeDocument/2006/relationships/image" Target="../media/image72.png"/><Relationship Id="rId2" Type="http://schemas.openxmlformats.org/officeDocument/2006/relationships/notesSlide" Target="../notesSlides/notesSlide48.xml"/><Relationship Id="rId1" Type="http://schemas.openxmlformats.org/officeDocument/2006/relationships/slideLayout" Target="../slideLayouts/slideLayout1.xml"/><Relationship Id="rId4" Type="http://schemas.openxmlformats.org/officeDocument/2006/relationships/image" Target="../media/image73.png"/></Relationships>
</file>

<file path=ppt/slides/_rels/slide50.xml.rels><?xml version="1.0" encoding="UTF-8" standalone="yes"?>
<Relationships xmlns="http://schemas.openxmlformats.org/package/2006/relationships"><Relationship Id="rId3" Type="http://schemas.openxmlformats.org/officeDocument/2006/relationships/image" Target="../media/image74.png"/><Relationship Id="rId2" Type="http://schemas.openxmlformats.org/officeDocument/2006/relationships/notesSlide" Target="../notesSlides/notesSlide49.xml"/><Relationship Id="rId1" Type="http://schemas.openxmlformats.org/officeDocument/2006/relationships/slideLayout" Target="../slideLayouts/slideLayout1.xml"/><Relationship Id="rId4" Type="http://schemas.openxmlformats.org/officeDocument/2006/relationships/image" Target="../media/image75.png"/></Relationships>
</file>

<file path=ppt/slides/_rels/slide51.xml.rels><?xml version="1.0" encoding="UTF-8" standalone="yes"?>
<Relationships xmlns="http://schemas.openxmlformats.org/package/2006/relationships"><Relationship Id="rId3" Type="http://schemas.openxmlformats.org/officeDocument/2006/relationships/image" Target="../media/image76.png"/><Relationship Id="rId2" Type="http://schemas.openxmlformats.org/officeDocument/2006/relationships/notesSlide" Target="../notesSlides/notesSlide50.xml"/><Relationship Id="rId1" Type="http://schemas.openxmlformats.org/officeDocument/2006/relationships/slideLayout" Target="../slideLayouts/slideLayout1.xml"/><Relationship Id="rId4" Type="http://schemas.openxmlformats.org/officeDocument/2006/relationships/image" Target="../media/image77.png"/></Relationships>
</file>

<file path=ppt/slides/_rels/slide52.xml.rels><?xml version="1.0" encoding="UTF-8" standalone="yes"?>
<Relationships xmlns="http://schemas.openxmlformats.org/package/2006/relationships"><Relationship Id="rId3" Type="http://schemas.openxmlformats.org/officeDocument/2006/relationships/image" Target="../media/image78.png"/><Relationship Id="rId2" Type="http://schemas.openxmlformats.org/officeDocument/2006/relationships/notesSlide" Target="../notesSlides/notesSlide51.xml"/><Relationship Id="rId1" Type="http://schemas.openxmlformats.org/officeDocument/2006/relationships/slideLayout" Target="../slideLayouts/slideLayout1.xml"/><Relationship Id="rId4" Type="http://schemas.openxmlformats.org/officeDocument/2006/relationships/image" Target="../media/image79.png"/></Relationships>
</file>

<file path=ppt/slides/_rels/slide53.xml.rels><?xml version="1.0" encoding="UTF-8" standalone="yes"?>
<Relationships xmlns="http://schemas.openxmlformats.org/package/2006/relationships"><Relationship Id="rId3" Type="http://schemas.openxmlformats.org/officeDocument/2006/relationships/image" Target="../media/image80.png"/><Relationship Id="rId2" Type="http://schemas.openxmlformats.org/officeDocument/2006/relationships/notesSlide" Target="../notesSlides/notesSlide52.xml"/><Relationship Id="rId1" Type="http://schemas.openxmlformats.org/officeDocument/2006/relationships/slideLayout" Target="../slideLayouts/slideLayout1.xml"/><Relationship Id="rId4" Type="http://schemas.openxmlformats.org/officeDocument/2006/relationships/image" Target="../media/image81.png"/></Relationships>
</file>

<file path=ppt/slides/_rels/slide54.xml.rels><?xml version="1.0" encoding="UTF-8" standalone="yes"?>
<Relationships xmlns="http://schemas.openxmlformats.org/package/2006/relationships"><Relationship Id="rId3" Type="http://schemas.openxmlformats.org/officeDocument/2006/relationships/image" Target="../media/image82.png"/><Relationship Id="rId2" Type="http://schemas.openxmlformats.org/officeDocument/2006/relationships/notesSlide" Target="../notesSlides/notesSlide53.xml"/><Relationship Id="rId1" Type="http://schemas.openxmlformats.org/officeDocument/2006/relationships/slideLayout" Target="../slideLayouts/slideLayout1.xml"/><Relationship Id="rId4" Type="http://schemas.openxmlformats.org/officeDocument/2006/relationships/image" Target="../media/image83.png"/></Relationships>
</file>

<file path=ppt/slides/_rels/slide55.xml.rels><?xml version="1.0" encoding="UTF-8" standalone="yes"?>
<Relationships xmlns="http://schemas.openxmlformats.org/package/2006/relationships"><Relationship Id="rId3" Type="http://schemas.openxmlformats.org/officeDocument/2006/relationships/image" Target="../media/image84.png"/><Relationship Id="rId2" Type="http://schemas.openxmlformats.org/officeDocument/2006/relationships/notesSlide" Target="../notesSlides/notesSlide54.xml"/><Relationship Id="rId1" Type="http://schemas.openxmlformats.org/officeDocument/2006/relationships/slideLayout" Target="../slideLayouts/slideLayout1.xml"/><Relationship Id="rId4" Type="http://schemas.openxmlformats.org/officeDocument/2006/relationships/image" Target="../media/image85.png"/></Relationships>
</file>

<file path=ppt/slides/_rels/slide56.xml.rels><?xml version="1.0" encoding="UTF-8" standalone="yes"?>
<Relationships xmlns="http://schemas.openxmlformats.org/package/2006/relationships"><Relationship Id="rId3" Type="http://schemas.openxmlformats.org/officeDocument/2006/relationships/image" Target="../media/image86.png"/><Relationship Id="rId2" Type="http://schemas.openxmlformats.org/officeDocument/2006/relationships/notesSlide" Target="../notesSlides/notesSlide55.xml"/><Relationship Id="rId1" Type="http://schemas.openxmlformats.org/officeDocument/2006/relationships/slideLayout" Target="../slideLayouts/slideLayout1.xml"/><Relationship Id="rId4" Type="http://schemas.openxmlformats.org/officeDocument/2006/relationships/image" Target="../media/image87.png"/></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3" Type="http://schemas.openxmlformats.org/officeDocument/2006/relationships/image" Target="../media/image88.png"/><Relationship Id="rId2" Type="http://schemas.openxmlformats.org/officeDocument/2006/relationships/notesSlide" Target="../notesSlides/notesSlide60.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1295C"/>
        </a:solidFill>
        <a:effectLst/>
      </p:bgPr>
    </p:bg>
    <p:spTree>
      <p:nvGrpSpPr>
        <p:cNvPr id="1" name=""/>
        <p:cNvGrpSpPr/>
        <p:nvPr/>
      </p:nvGrpSpPr>
      <p:grpSpPr>
        <a:xfrm>
          <a:off x="0" y="0"/>
          <a:ext cx="0" cy="0"/>
          <a:chOff x="0" y="0"/>
          <a:chExt cx="0" cy="0"/>
        </a:xfrm>
      </p:grpSpPr>
      <p:sp>
        <p:nvSpPr>
          <p:cNvPr id="2" name="Shape 0"/>
          <p:cNvSpPr/>
          <p:nvPr/>
        </p:nvSpPr>
        <p:spPr>
          <a:xfrm>
            <a:off x="548640" y="1828800"/>
            <a:ext cx="91440" cy="3200400"/>
          </a:xfrm>
          <a:prstGeom prst="rect">
            <a:avLst/>
          </a:prstGeom>
          <a:solidFill>
            <a:srgbClr val="F2B632"/>
          </a:solidFill>
          <a:ln/>
        </p:spPr>
        <p:txBody>
          <a:bodyPr/>
          <a:lstStyle/>
          <a:p>
            <a:endParaRPr lang="en-GB"/>
          </a:p>
        </p:txBody>
      </p:sp>
      <p:sp>
        <p:nvSpPr>
          <p:cNvPr id="3" name="Text 1"/>
          <p:cNvSpPr/>
          <p:nvPr/>
        </p:nvSpPr>
        <p:spPr>
          <a:xfrm>
            <a:off x="914400" y="1828800"/>
            <a:ext cx="10515600" cy="1097280"/>
          </a:xfrm>
          <a:prstGeom prst="rect">
            <a:avLst/>
          </a:prstGeom>
          <a:noFill/>
          <a:ln/>
        </p:spPr>
        <p:txBody>
          <a:bodyPr wrap="square" lIns="0" tIns="0" rIns="0" bIns="0" rtlCol="0" anchor="ctr"/>
          <a:lstStyle/>
          <a:p>
            <a:pPr marL="0" indent="0">
              <a:buNone/>
            </a:pPr>
            <a:r>
              <a:rPr lang="en-US" sz="4400" b="1" dirty="0">
                <a:solidFill>
                  <a:srgbClr val="FFFFFF"/>
                </a:solidFill>
                <a:latin typeface="Georgia" pitchFamily="34" charset="0"/>
                <a:ea typeface="Georgia" pitchFamily="34" charset="-122"/>
                <a:cs typeface="Georgia" pitchFamily="34" charset="-120"/>
              </a:rPr>
              <a:t>λ-sweep over an LP relaxation</a:t>
            </a:r>
            <a:endParaRPr lang="en-US" sz="4400" dirty="0"/>
          </a:p>
        </p:txBody>
      </p:sp>
      <p:sp>
        <p:nvSpPr>
          <p:cNvPr id="4" name="Text 2"/>
          <p:cNvSpPr/>
          <p:nvPr/>
        </p:nvSpPr>
        <p:spPr>
          <a:xfrm>
            <a:off x="914400" y="3017520"/>
            <a:ext cx="10515600" cy="731520"/>
          </a:xfrm>
          <a:prstGeom prst="rect">
            <a:avLst/>
          </a:prstGeom>
          <a:noFill/>
          <a:ln/>
        </p:spPr>
        <p:txBody>
          <a:bodyPr wrap="square" lIns="0" tIns="0" rIns="0" bIns="0" rtlCol="0" anchor="ctr"/>
          <a:lstStyle/>
          <a:p>
            <a:pPr marL="0" indent="0">
              <a:buNone/>
            </a:pPr>
            <a:r>
              <a:rPr lang="en-US" sz="2200" i="1" dirty="0">
                <a:solidFill>
                  <a:srgbClr val="CADCFC"/>
                </a:solidFill>
                <a:latin typeface="Calibri" pitchFamily="34" charset="0"/>
                <a:ea typeface="Calibri" pitchFamily="34" charset="-122"/>
                <a:cs typeface="Calibri" pitchFamily="34" charset="-120"/>
              </a:rPr>
              <a:t>Pareto frontiers, integrality gaps, and what the Netherlands sweep tells us</a:t>
            </a:r>
            <a:endParaRPr lang="en-US" sz="2200" dirty="0"/>
          </a:p>
        </p:txBody>
      </p:sp>
      <p:sp>
        <p:nvSpPr>
          <p:cNvPr id="5" name="Text 3"/>
          <p:cNvSpPr/>
          <p:nvPr/>
        </p:nvSpPr>
        <p:spPr>
          <a:xfrm>
            <a:off x="914400" y="6035040"/>
            <a:ext cx="10515600" cy="365760"/>
          </a:xfrm>
          <a:prstGeom prst="rect">
            <a:avLst/>
          </a:prstGeom>
          <a:noFill/>
          <a:ln/>
        </p:spPr>
        <p:txBody>
          <a:bodyPr wrap="square" lIns="0" tIns="0" rIns="0" bIns="0" rtlCol="0" anchor="ctr"/>
          <a:lstStyle/>
          <a:p>
            <a:pPr marL="0" indent="0">
              <a:buNone/>
            </a:pPr>
            <a:r>
              <a:rPr lang="en-US" sz="1200" dirty="0">
                <a:solidFill>
                  <a:srgbClr val="8CA3C9"/>
                </a:solidFill>
                <a:latin typeface="Calibri" pitchFamily="34" charset="0"/>
                <a:ea typeface="Calibri" pitchFamily="34" charset="-122"/>
                <a:cs typeface="Calibri" pitchFamily="34" charset="-120"/>
              </a:rPr>
              <a:t>lambda_sweep.jl  ·  NetworkModel_EU / ServiceAccess  ·  May 2026</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310896"/>
            <a:ext cx="8229600" cy="274320"/>
          </a:xfrm>
          <a:prstGeom prst="rect">
            <a:avLst/>
          </a:prstGeom>
          <a:noFill/>
          <a:ln/>
        </p:spPr>
        <p:txBody>
          <a:bodyPr wrap="square" rtlCol="0" anchor="ctr"/>
          <a:lstStyle/>
          <a:p>
            <a:pPr marL="0" indent="0">
              <a:buNone/>
            </a:pPr>
            <a:r>
              <a:rPr lang="en-US" sz="1200" b="1" kern="0" spc="200" dirty="0">
                <a:solidFill>
                  <a:srgbClr val="0B6E99"/>
                </a:solidFill>
              </a:rPr>
              <a:t>AGENDA</a:t>
            </a:r>
            <a:endParaRPr lang="en-US" sz="1200" dirty="0"/>
          </a:p>
        </p:txBody>
      </p:sp>
      <p:sp>
        <p:nvSpPr>
          <p:cNvPr id="3" name="Text 1"/>
          <p:cNvSpPr/>
          <p:nvPr/>
        </p:nvSpPr>
        <p:spPr>
          <a:xfrm>
            <a:off x="411480" y="566928"/>
            <a:ext cx="11430000" cy="457200"/>
          </a:xfrm>
          <a:prstGeom prst="rect">
            <a:avLst/>
          </a:prstGeom>
          <a:noFill/>
          <a:ln/>
        </p:spPr>
        <p:txBody>
          <a:bodyPr wrap="square" rtlCol="0" anchor="ctr"/>
          <a:lstStyle/>
          <a:p>
            <a:pPr marL="0" indent="0">
              <a:buNone/>
            </a:pPr>
            <a:r>
              <a:rPr lang="en-US" sz="2400" b="1" dirty="0">
                <a:solidFill>
                  <a:srgbClr val="12233A"/>
                </a:solidFill>
                <a:latin typeface="Georgia" pitchFamily="34" charset="0"/>
                <a:ea typeface="Georgia" pitchFamily="34" charset="-122"/>
                <a:cs typeface="Georgia" pitchFamily="34" charset="-120"/>
              </a:rPr>
              <a:t>Proposed agenda  </a:t>
            </a:r>
            <a:r>
              <a:rPr lang="en-US" sz="2400" dirty="0">
                <a:solidFill>
                  <a:srgbClr val="1C3D5A"/>
                </a:solidFill>
                <a:latin typeface="Georgia" pitchFamily="34" charset="0"/>
                <a:ea typeface="Georgia" pitchFamily="34" charset="-122"/>
                <a:cs typeface="Georgia" pitchFamily="34" charset="-120"/>
              </a:rPr>
              <a:t>— assessing the current pharmacy distribution</a:t>
            </a:r>
            <a:endParaRPr lang="en-US" sz="2400" dirty="0"/>
          </a:p>
        </p:txBody>
      </p:sp>
      <p:sp>
        <p:nvSpPr>
          <p:cNvPr id="4" name="Shape 2"/>
          <p:cNvSpPr/>
          <p:nvPr/>
        </p:nvSpPr>
        <p:spPr>
          <a:xfrm>
            <a:off x="457200" y="1463040"/>
            <a:ext cx="402336" cy="402336"/>
          </a:xfrm>
          <a:prstGeom prst="roundRect">
            <a:avLst>
              <a:gd name="adj" fmla="val 50000"/>
            </a:avLst>
          </a:prstGeom>
          <a:solidFill>
            <a:srgbClr val="1C3D5A"/>
          </a:solidFill>
          <a:ln w="12700">
            <a:solidFill>
              <a:srgbClr val="333333"/>
            </a:solidFill>
            <a:prstDash val="solid"/>
          </a:ln>
        </p:spPr>
        <p:txBody>
          <a:bodyPr/>
          <a:lstStyle/>
          <a:p>
            <a:endParaRPr lang="en-GB"/>
          </a:p>
        </p:txBody>
      </p:sp>
      <p:sp>
        <p:nvSpPr>
          <p:cNvPr id="5" name="Text 3"/>
          <p:cNvSpPr/>
          <p:nvPr/>
        </p:nvSpPr>
        <p:spPr>
          <a:xfrm>
            <a:off x="457200" y="1463040"/>
            <a:ext cx="402336" cy="402336"/>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6" name="Text 4"/>
          <p:cNvSpPr/>
          <p:nvPr/>
        </p:nvSpPr>
        <p:spPr>
          <a:xfrm>
            <a:off x="1024128" y="1435608"/>
            <a:ext cx="10607040" cy="292608"/>
          </a:xfrm>
          <a:prstGeom prst="rect">
            <a:avLst/>
          </a:prstGeom>
          <a:noFill/>
          <a:ln/>
        </p:spPr>
        <p:txBody>
          <a:bodyPr wrap="square" rtlCol="0" anchor="ctr"/>
          <a:lstStyle/>
          <a:p>
            <a:pPr marL="0" indent="0">
              <a:buNone/>
            </a:pPr>
            <a:r>
              <a:rPr lang="en-US" sz="1500" b="1" dirty="0">
                <a:solidFill>
                  <a:srgbClr val="12233A"/>
                </a:solidFill>
                <a:latin typeface="Calibri" pitchFamily="34" charset="0"/>
                <a:ea typeface="Calibri" pitchFamily="34" charset="-122"/>
                <a:cs typeface="Calibri" pitchFamily="34" charset="-120"/>
              </a:rPr>
              <a:t>Scope &amp; method</a:t>
            </a:r>
            <a:endParaRPr lang="en-US" sz="1500" dirty="0"/>
          </a:p>
        </p:txBody>
      </p:sp>
      <p:sp>
        <p:nvSpPr>
          <p:cNvPr id="7" name="Text 5"/>
          <p:cNvSpPr/>
          <p:nvPr/>
        </p:nvSpPr>
        <p:spPr>
          <a:xfrm>
            <a:off x="1024128" y="1728216"/>
            <a:ext cx="10698480" cy="420624"/>
          </a:xfrm>
          <a:prstGeom prst="rect">
            <a:avLst/>
          </a:prstGeom>
          <a:noFill/>
          <a:ln/>
        </p:spPr>
        <p:txBody>
          <a:bodyPr wrap="square" rtlCol="0" anchor="t"/>
          <a:lstStyle/>
          <a:p>
            <a:pPr marL="0" indent="0">
              <a:buNone/>
            </a:pPr>
            <a:r>
              <a:rPr lang="en-US" sz="1150" dirty="0">
                <a:solidFill>
                  <a:srgbClr val="5B6B7B"/>
                </a:solidFill>
                <a:latin typeface="Calibri" pitchFamily="34" charset="0"/>
                <a:ea typeface="Calibri" pitchFamily="34" charset="-122"/>
                <a:cs typeface="Calibri" pitchFamily="34" charset="-120"/>
              </a:rPr>
              <a:t>Tabula-rasa LP allocation + λ-sweep over the road-network OD; how to read the #facilities ↔ travel-cost frontier.</a:t>
            </a:r>
            <a:endParaRPr lang="en-US" sz="1150" dirty="0"/>
          </a:p>
        </p:txBody>
      </p:sp>
      <p:sp>
        <p:nvSpPr>
          <p:cNvPr id="8" name="Shape 6"/>
          <p:cNvSpPr/>
          <p:nvPr/>
        </p:nvSpPr>
        <p:spPr>
          <a:xfrm>
            <a:off x="457200" y="2249424"/>
            <a:ext cx="402336" cy="402336"/>
          </a:xfrm>
          <a:prstGeom prst="roundRect">
            <a:avLst>
              <a:gd name="adj" fmla="val 50000"/>
            </a:avLst>
          </a:prstGeom>
          <a:solidFill>
            <a:srgbClr val="1C3D5A"/>
          </a:solidFill>
          <a:ln w="12700">
            <a:solidFill>
              <a:srgbClr val="333333"/>
            </a:solidFill>
            <a:prstDash val="solid"/>
          </a:ln>
        </p:spPr>
        <p:txBody>
          <a:bodyPr/>
          <a:lstStyle/>
          <a:p>
            <a:endParaRPr lang="en-GB"/>
          </a:p>
        </p:txBody>
      </p:sp>
      <p:sp>
        <p:nvSpPr>
          <p:cNvPr id="9" name="Text 7"/>
          <p:cNvSpPr/>
          <p:nvPr/>
        </p:nvSpPr>
        <p:spPr>
          <a:xfrm>
            <a:off x="457200" y="2249424"/>
            <a:ext cx="402336" cy="402336"/>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10" name="Text 8"/>
          <p:cNvSpPr/>
          <p:nvPr/>
        </p:nvSpPr>
        <p:spPr>
          <a:xfrm>
            <a:off x="1024128" y="2221992"/>
            <a:ext cx="10607040" cy="292608"/>
          </a:xfrm>
          <a:prstGeom prst="rect">
            <a:avLst/>
          </a:prstGeom>
          <a:noFill/>
          <a:ln/>
        </p:spPr>
        <p:txBody>
          <a:bodyPr wrap="square" rtlCol="0" anchor="ctr"/>
          <a:lstStyle/>
          <a:p>
            <a:pPr marL="0" indent="0">
              <a:buNone/>
            </a:pPr>
            <a:r>
              <a:rPr lang="en-US" sz="1500" b="1" dirty="0">
                <a:solidFill>
                  <a:srgbClr val="12233A"/>
                </a:solidFill>
                <a:latin typeface="Calibri" pitchFamily="34" charset="0"/>
                <a:ea typeface="Calibri" pitchFamily="34" charset="-122"/>
                <a:cs typeface="Calibri" pitchFamily="34" charset="-120"/>
              </a:rPr>
              <a:t>The current distribution</a:t>
            </a:r>
            <a:endParaRPr lang="en-US" sz="1500" dirty="0"/>
          </a:p>
        </p:txBody>
      </p:sp>
      <p:sp>
        <p:nvSpPr>
          <p:cNvPr id="11" name="Text 9"/>
          <p:cNvSpPr/>
          <p:nvPr/>
        </p:nvSpPr>
        <p:spPr>
          <a:xfrm>
            <a:off x="1024128" y="2514600"/>
            <a:ext cx="10698480" cy="420624"/>
          </a:xfrm>
          <a:prstGeom prst="rect">
            <a:avLst/>
          </a:prstGeom>
          <a:noFill/>
          <a:ln/>
        </p:spPr>
        <p:txBody>
          <a:bodyPr wrap="square" rtlCol="0" anchor="t"/>
          <a:lstStyle/>
          <a:p>
            <a:pPr marL="0" indent="0">
              <a:buNone/>
            </a:pPr>
            <a:r>
              <a:rPr lang="en-US" sz="1150" dirty="0">
                <a:solidFill>
                  <a:srgbClr val="5B6B7B"/>
                </a:solidFill>
                <a:latin typeface="Calibri" pitchFamily="34" charset="0"/>
                <a:ea typeface="Calibri" pitchFamily="34" charset="-122"/>
                <a:cs typeface="Calibri" pitchFamily="34" charset="-120"/>
              </a:rPr>
              <a:t>Descriptive metrics per country &amp; key NUTS1 — residents per pharmacy and catchment-size distributions, by road.</a:t>
            </a:r>
            <a:endParaRPr lang="en-US" sz="1150" dirty="0"/>
          </a:p>
        </p:txBody>
      </p:sp>
      <p:sp>
        <p:nvSpPr>
          <p:cNvPr id="12" name="Shape 10"/>
          <p:cNvSpPr/>
          <p:nvPr/>
        </p:nvSpPr>
        <p:spPr>
          <a:xfrm>
            <a:off x="457200" y="3035808"/>
            <a:ext cx="402336" cy="402336"/>
          </a:xfrm>
          <a:prstGeom prst="roundRect">
            <a:avLst>
              <a:gd name="adj" fmla="val 50000"/>
            </a:avLst>
          </a:prstGeom>
          <a:solidFill>
            <a:srgbClr val="1C3D5A"/>
          </a:solidFill>
          <a:ln w="12700">
            <a:solidFill>
              <a:srgbClr val="333333"/>
            </a:solidFill>
            <a:prstDash val="solid"/>
          </a:ln>
        </p:spPr>
        <p:txBody>
          <a:bodyPr/>
          <a:lstStyle/>
          <a:p>
            <a:endParaRPr lang="en-GB"/>
          </a:p>
        </p:txBody>
      </p:sp>
      <p:sp>
        <p:nvSpPr>
          <p:cNvPr id="13" name="Text 11"/>
          <p:cNvSpPr/>
          <p:nvPr/>
        </p:nvSpPr>
        <p:spPr>
          <a:xfrm>
            <a:off x="457200" y="3035808"/>
            <a:ext cx="402336" cy="402336"/>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14" name="Text 12"/>
          <p:cNvSpPr/>
          <p:nvPr/>
        </p:nvSpPr>
        <p:spPr>
          <a:xfrm>
            <a:off x="1024128" y="3008376"/>
            <a:ext cx="10607040" cy="292608"/>
          </a:xfrm>
          <a:prstGeom prst="rect">
            <a:avLst/>
          </a:prstGeom>
          <a:noFill/>
          <a:ln/>
        </p:spPr>
        <p:txBody>
          <a:bodyPr wrap="square" rtlCol="0" anchor="ctr"/>
          <a:lstStyle/>
          <a:p>
            <a:pPr marL="0" indent="0">
              <a:buNone/>
            </a:pPr>
            <a:r>
              <a:rPr lang="en-US" sz="1500" b="1" dirty="0">
                <a:solidFill>
                  <a:srgbClr val="12233A"/>
                </a:solidFill>
                <a:latin typeface="Calibri" pitchFamily="34" charset="0"/>
                <a:ea typeface="Calibri" pitchFamily="34" charset="-122"/>
                <a:cs typeface="Calibri" pitchFamily="34" charset="-120"/>
              </a:rPr>
              <a:t>Scenario results</a:t>
            </a:r>
            <a:endParaRPr lang="en-US" sz="1500" dirty="0"/>
          </a:p>
        </p:txBody>
      </p:sp>
      <p:sp>
        <p:nvSpPr>
          <p:cNvPr id="15" name="Text 13"/>
          <p:cNvSpPr/>
          <p:nvPr/>
        </p:nvSpPr>
        <p:spPr>
          <a:xfrm>
            <a:off x="1024128" y="3300984"/>
            <a:ext cx="10698480" cy="420624"/>
          </a:xfrm>
          <a:prstGeom prst="rect">
            <a:avLst/>
          </a:prstGeom>
          <a:noFill/>
          <a:ln/>
        </p:spPr>
        <p:txBody>
          <a:bodyPr wrap="square" rtlCol="0" anchor="t"/>
          <a:lstStyle/>
          <a:p>
            <a:pPr marL="0" indent="0">
              <a:buNone/>
            </a:pPr>
            <a:r>
              <a:rPr lang="en-US" sz="1150" dirty="0">
                <a:solidFill>
                  <a:srgbClr val="5B6B7B"/>
                </a:solidFill>
                <a:latin typeface="Calibri" pitchFamily="34" charset="0"/>
                <a:ea typeface="Calibri" pitchFamily="34" charset="-122"/>
                <a:cs typeface="Calibri" pitchFamily="34" charset="-120"/>
              </a:rPr>
              <a:t>S1 (same #, less travel) and S2 (same travel, fewer pharmacies) per country and NUTS1 — what the frontiers show so far.</a:t>
            </a:r>
            <a:endParaRPr lang="en-US" sz="1150" dirty="0"/>
          </a:p>
        </p:txBody>
      </p:sp>
      <p:sp>
        <p:nvSpPr>
          <p:cNvPr id="16" name="Shape 14"/>
          <p:cNvSpPr/>
          <p:nvPr/>
        </p:nvSpPr>
        <p:spPr>
          <a:xfrm>
            <a:off x="457200" y="3822192"/>
            <a:ext cx="402336" cy="402336"/>
          </a:xfrm>
          <a:prstGeom prst="roundRect">
            <a:avLst>
              <a:gd name="adj" fmla="val 50000"/>
            </a:avLst>
          </a:prstGeom>
          <a:solidFill>
            <a:srgbClr val="1C3D5A"/>
          </a:solidFill>
          <a:ln w="12700">
            <a:solidFill>
              <a:srgbClr val="333333"/>
            </a:solidFill>
            <a:prstDash val="solid"/>
          </a:ln>
        </p:spPr>
        <p:txBody>
          <a:bodyPr/>
          <a:lstStyle/>
          <a:p>
            <a:endParaRPr lang="en-GB"/>
          </a:p>
        </p:txBody>
      </p:sp>
      <p:sp>
        <p:nvSpPr>
          <p:cNvPr id="17" name="Text 15"/>
          <p:cNvSpPr/>
          <p:nvPr/>
        </p:nvSpPr>
        <p:spPr>
          <a:xfrm>
            <a:off x="457200" y="3822192"/>
            <a:ext cx="402336" cy="402336"/>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4</a:t>
            </a:r>
            <a:endParaRPr lang="en-US" sz="1600" dirty="0"/>
          </a:p>
        </p:txBody>
      </p:sp>
      <p:sp>
        <p:nvSpPr>
          <p:cNvPr id="18" name="Text 16"/>
          <p:cNvSpPr/>
          <p:nvPr/>
        </p:nvSpPr>
        <p:spPr>
          <a:xfrm>
            <a:off x="1024128" y="3794760"/>
            <a:ext cx="10607040" cy="292608"/>
          </a:xfrm>
          <a:prstGeom prst="rect">
            <a:avLst/>
          </a:prstGeom>
          <a:noFill/>
          <a:ln/>
        </p:spPr>
        <p:txBody>
          <a:bodyPr wrap="square" rtlCol="0" anchor="ctr"/>
          <a:lstStyle/>
          <a:p>
            <a:pPr marL="0" indent="0">
              <a:buNone/>
            </a:pPr>
            <a:r>
              <a:rPr lang="en-US" sz="1500" b="1" dirty="0">
                <a:solidFill>
                  <a:srgbClr val="12233A"/>
                </a:solidFill>
                <a:latin typeface="Calibri" pitchFamily="34" charset="0"/>
                <a:ea typeface="Calibri" pitchFamily="34" charset="-122"/>
                <a:cs typeface="Calibri" pitchFamily="34" charset="-120"/>
              </a:rPr>
              <a:t>Travel-cost function</a:t>
            </a:r>
            <a:r>
              <a:rPr lang="en-US" sz="1100" i="1" dirty="0">
                <a:solidFill>
                  <a:srgbClr val="0B6E99"/>
                </a:solidFill>
                <a:latin typeface="Calibri" pitchFamily="34" charset="0"/>
                <a:ea typeface="Calibri" pitchFamily="34" charset="-122"/>
                <a:cs typeface="Calibri" pitchFamily="34" charset="-120"/>
              </a:rPr>
              <a:t>    ▸ for discussion / decision</a:t>
            </a:r>
            <a:endParaRPr lang="en-US" sz="1500" dirty="0"/>
          </a:p>
        </p:txBody>
      </p:sp>
      <p:sp>
        <p:nvSpPr>
          <p:cNvPr id="19" name="Text 17"/>
          <p:cNvSpPr/>
          <p:nvPr/>
        </p:nvSpPr>
        <p:spPr>
          <a:xfrm>
            <a:off x="1024128" y="4087368"/>
            <a:ext cx="10698480" cy="420624"/>
          </a:xfrm>
          <a:prstGeom prst="rect">
            <a:avLst/>
          </a:prstGeom>
          <a:noFill/>
          <a:ln/>
        </p:spPr>
        <p:txBody>
          <a:bodyPr wrap="square" rtlCol="0" anchor="t"/>
          <a:lstStyle/>
          <a:p>
            <a:pPr marL="0" indent="0">
              <a:buNone/>
            </a:pPr>
            <a:r>
              <a:rPr lang="en-US" sz="1150" dirty="0">
                <a:solidFill>
                  <a:srgbClr val="5B6B7B"/>
                </a:solidFill>
                <a:latin typeface="Calibri" pitchFamily="34" charset="0"/>
                <a:ea typeface="Calibri" pitchFamily="34" charset="-122"/>
                <a:cs typeface="Calibri" pitchFamily="34" charset="-120"/>
              </a:rPr>
              <a:t>Logistic vs linear, and the adapted logit with kinks at ~5 &amp; ~45 min (following page).</a:t>
            </a:r>
            <a:endParaRPr lang="en-US" sz="1150" dirty="0"/>
          </a:p>
        </p:txBody>
      </p:sp>
      <p:sp>
        <p:nvSpPr>
          <p:cNvPr id="20" name="Shape 18"/>
          <p:cNvSpPr/>
          <p:nvPr/>
        </p:nvSpPr>
        <p:spPr>
          <a:xfrm>
            <a:off x="457200" y="4608576"/>
            <a:ext cx="402336" cy="402336"/>
          </a:xfrm>
          <a:prstGeom prst="roundRect">
            <a:avLst>
              <a:gd name="adj" fmla="val 50000"/>
            </a:avLst>
          </a:prstGeom>
          <a:solidFill>
            <a:srgbClr val="1C3D5A"/>
          </a:solidFill>
          <a:ln w="12700">
            <a:solidFill>
              <a:srgbClr val="333333"/>
            </a:solidFill>
            <a:prstDash val="solid"/>
          </a:ln>
        </p:spPr>
        <p:txBody>
          <a:bodyPr/>
          <a:lstStyle/>
          <a:p>
            <a:endParaRPr lang="en-GB"/>
          </a:p>
        </p:txBody>
      </p:sp>
      <p:sp>
        <p:nvSpPr>
          <p:cNvPr id="21" name="Text 19"/>
          <p:cNvSpPr/>
          <p:nvPr/>
        </p:nvSpPr>
        <p:spPr>
          <a:xfrm>
            <a:off x="457200" y="4608576"/>
            <a:ext cx="402336" cy="402336"/>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5</a:t>
            </a:r>
            <a:endParaRPr lang="en-US" sz="1600" dirty="0"/>
          </a:p>
        </p:txBody>
      </p:sp>
      <p:sp>
        <p:nvSpPr>
          <p:cNvPr id="22" name="Text 20"/>
          <p:cNvSpPr/>
          <p:nvPr/>
        </p:nvSpPr>
        <p:spPr>
          <a:xfrm>
            <a:off x="1024128" y="4581144"/>
            <a:ext cx="10607040" cy="292608"/>
          </a:xfrm>
          <a:prstGeom prst="rect">
            <a:avLst/>
          </a:prstGeom>
          <a:noFill/>
          <a:ln/>
        </p:spPr>
        <p:txBody>
          <a:bodyPr wrap="square" rtlCol="0" anchor="ctr"/>
          <a:lstStyle/>
          <a:p>
            <a:pPr marL="0" indent="0">
              <a:buNone/>
            </a:pPr>
            <a:r>
              <a:rPr lang="en-US" sz="1500" b="1" dirty="0">
                <a:solidFill>
                  <a:srgbClr val="12233A"/>
                </a:solidFill>
                <a:latin typeface="Calibri" pitchFamily="34" charset="0"/>
                <a:ea typeface="Calibri" pitchFamily="34" charset="-122"/>
                <a:cs typeface="Calibri" pitchFamily="34" charset="-120"/>
              </a:rPr>
              <a:t>Cap / threshold ladder</a:t>
            </a:r>
            <a:r>
              <a:rPr lang="en-US" sz="1100" i="1" dirty="0">
                <a:solidFill>
                  <a:srgbClr val="0B6E99"/>
                </a:solidFill>
                <a:latin typeface="Calibri" pitchFamily="34" charset="0"/>
                <a:ea typeface="Calibri" pitchFamily="34" charset="-122"/>
                <a:cs typeface="Calibri" pitchFamily="34" charset="-120"/>
              </a:rPr>
              <a:t>    ▸ for discussion / decision</a:t>
            </a:r>
            <a:endParaRPr lang="en-US" sz="1500" dirty="0"/>
          </a:p>
        </p:txBody>
      </p:sp>
      <p:sp>
        <p:nvSpPr>
          <p:cNvPr id="23" name="Text 21"/>
          <p:cNvSpPr/>
          <p:nvPr/>
        </p:nvSpPr>
        <p:spPr>
          <a:xfrm>
            <a:off x="1024128" y="4873752"/>
            <a:ext cx="10698480" cy="420624"/>
          </a:xfrm>
          <a:prstGeom prst="rect">
            <a:avLst/>
          </a:prstGeom>
          <a:noFill/>
          <a:ln/>
        </p:spPr>
        <p:txBody>
          <a:bodyPr wrap="square" rtlCol="0" anchor="t"/>
          <a:lstStyle/>
          <a:p>
            <a:pPr marL="0" indent="0">
              <a:buNone/>
            </a:pPr>
            <a:r>
              <a:rPr lang="en-US" sz="1150" dirty="0">
                <a:solidFill>
                  <a:srgbClr val="5B6B7B"/>
                </a:solidFill>
                <a:latin typeface="Calibri" pitchFamily="34" charset="0"/>
                <a:ea typeface="Calibri" pitchFamily="34" charset="-122"/>
                <a:cs typeface="Calibri" pitchFamily="34" charset="-120"/>
              </a:rPr>
              <a:t>A proposed shortcut to the λ-sweep — but catchments vary so widely that realistic min/max bounds are hard to set. Pursue or drop?</a:t>
            </a:r>
            <a:endParaRPr lang="en-US" sz="1150" dirty="0"/>
          </a:p>
        </p:txBody>
      </p:sp>
      <p:sp>
        <p:nvSpPr>
          <p:cNvPr id="24" name="Shape 22"/>
          <p:cNvSpPr/>
          <p:nvPr/>
        </p:nvSpPr>
        <p:spPr>
          <a:xfrm>
            <a:off x="457200" y="5394960"/>
            <a:ext cx="402336" cy="402336"/>
          </a:xfrm>
          <a:prstGeom prst="roundRect">
            <a:avLst>
              <a:gd name="adj" fmla="val 50000"/>
            </a:avLst>
          </a:prstGeom>
          <a:solidFill>
            <a:srgbClr val="1C3D5A"/>
          </a:solidFill>
          <a:ln w="12700">
            <a:solidFill>
              <a:srgbClr val="333333"/>
            </a:solidFill>
            <a:prstDash val="solid"/>
          </a:ln>
        </p:spPr>
        <p:txBody>
          <a:bodyPr/>
          <a:lstStyle/>
          <a:p>
            <a:endParaRPr lang="en-GB"/>
          </a:p>
        </p:txBody>
      </p:sp>
      <p:sp>
        <p:nvSpPr>
          <p:cNvPr id="25" name="Text 23"/>
          <p:cNvSpPr/>
          <p:nvPr/>
        </p:nvSpPr>
        <p:spPr>
          <a:xfrm>
            <a:off x="457200" y="5394960"/>
            <a:ext cx="402336" cy="402336"/>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6</a:t>
            </a:r>
            <a:endParaRPr lang="en-US" sz="1600" dirty="0"/>
          </a:p>
        </p:txBody>
      </p:sp>
      <p:sp>
        <p:nvSpPr>
          <p:cNvPr id="26" name="Text 24"/>
          <p:cNvSpPr/>
          <p:nvPr/>
        </p:nvSpPr>
        <p:spPr>
          <a:xfrm>
            <a:off x="1024128" y="5367528"/>
            <a:ext cx="10607040" cy="292608"/>
          </a:xfrm>
          <a:prstGeom prst="rect">
            <a:avLst/>
          </a:prstGeom>
          <a:noFill/>
          <a:ln/>
        </p:spPr>
        <p:txBody>
          <a:bodyPr wrap="square" rtlCol="0" anchor="ctr"/>
          <a:lstStyle/>
          <a:p>
            <a:pPr marL="0" indent="0">
              <a:buNone/>
            </a:pPr>
            <a:r>
              <a:rPr lang="en-US" sz="1500" b="1" dirty="0">
                <a:solidFill>
                  <a:srgbClr val="12233A"/>
                </a:solidFill>
                <a:latin typeface="Calibri" pitchFamily="34" charset="0"/>
                <a:ea typeface="Calibri" pitchFamily="34" charset="-122"/>
                <a:cs typeface="Calibri" pitchFamily="34" charset="-120"/>
              </a:rPr>
              <a:t>Known issues &amp; roadmap</a:t>
            </a:r>
            <a:endParaRPr lang="en-US" sz="1500" dirty="0"/>
          </a:p>
        </p:txBody>
      </p:sp>
      <p:sp>
        <p:nvSpPr>
          <p:cNvPr id="27" name="Text 25"/>
          <p:cNvSpPr/>
          <p:nvPr/>
        </p:nvSpPr>
        <p:spPr>
          <a:xfrm>
            <a:off x="1024128" y="5660136"/>
            <a:ext cx="10698480" cy="420624"/>
          </a:xfrm>
          <a:prstGeom prst="rect">
            <a:avLst/>
          </a:prstGeom>
          <a:noFill/>
          <a:ln/>
        </p:spPr>
        <p:txBody>
          <a:bodyPr wrap="square" rtlCol="0" anchor="t"/>
          <a:lstStyle/>
          <a:p>
            <a:pPr marL="0" indent="0">
              <a:buNone/>
            </a:pPr>
            <a:r>
              <a:rPr lang="en-US" sz="1150" dirty="0">
                <a:solidFill>
                  <a:srgbClr val="5B6B7B"/>
                </a:solidFill>
                <a:latin typeface="Calibri" pitchFamily="34" charset="0"/>
                <a:ea typeface="Calibri" pitchFamily="34" charset="-122"/>
                <a:cs typeface="Calibri" pitchFamily="34" charset="-120"/>
              </a:rPr>
              <a:t>Baseline consistency (FRM / ITG / SE2; clients with no reachable pharmacy); priorities and next steps.</a:t>
            </a:r>
            <a:endParaRPr lang="en-US" sz="1150" dirty="0"/>
          </a:p>
        </p:txBody>
      </p:sp>
      <p:sp>
        <p:nvSpPr>
          <p:cNvPr id="28" name="Text 26"/>
          <p:cNvSpPr/>
          <p:nvPr/>
        </p:nvSpPr>
        <p:spPr>
          <a:xfrm>
            <a:off x="411480" y="6364224"/>
            <a:ext cx="11430000" cy="365760"/>
          </a:xfrm>
          <a:prstGeom prst="rect">
            <a:avLst/>
          </a:prstGeom>
          <a:noFill/>
          <a:ln/>
        </p:spPr>
        <p:txBody>
          <a:bodyPr wrap="square" rtlCol="0" anchor="t"/>
          <a:lstStyle/>
          <a:p>
            <a:pPr marL="0" indent="0">
              <a:buNone/>
            </a:pPr>
            <a:r>
              <a:rPr lang="en-US" sz="1000" b="1" i="1" dirty="0">
                <a:solidFill>
                  <a:srgbClr val="1C3D5A"/>
                </a:solidFill>
                <a:latin typeface="Calibri" pitchFamily="34" charset="0"/>
                <a:ea typeface="Calibri" pitchFamily="34" charset="-122"/>
                <a:cs typeface="Calibri" pitchFamily="34" charset="-120"/>
              </a:rPr>
              <a:t>Decisions sought:  </a:t>
            </a:r>
            <a:r>
              <a:rPr lang="en-US" sz="1000" i="1" dirty="0">
                <a:solidFill>
                  <a:srgbClr val="5B6B7B"/>
                </a:solidFill>
                <a:latin typeface="Calibri" pitchFamily="34" charset="0"/>
                <a:ea typeface="Calibri" pitchFamily="34" charset="-122"/>
                <a:cs typeface="Calibri" pitchFamily="34" charset="-120"/>
              </a:rPr>
              <a:t>travel-cost shape (logistic vs linear / adapted logit)  ·  whether the cap–threshold ladder is worth pursuing  ·  how to communicate λ.</a:t>
            </a:r>
            <a:endParaRPr lang="en-US" sz="1000" dirty="0"/>
          </a:p>
        </p:txBody>
      </p:sp>
    </p:spTree>
    <p:extLst>
      <p:ext uri="{BB962C8B-B14F-4D97-AF65-F5344CB8AC3E}">
        <p14:creationId xmlns:p14="http://schemas.microsoft.com/office/powerpoint/2010/main" val="427859554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74320"/>
            <a:ext cx="8229600" cy="274320"/>
          </a:xfrm>
          <a:prstGeom prst="rect">
            <a:avLst/>
          </a:prstGeom>
          <a:noFill/>
          <a:ln/>
        </p:spPr>
        <p:txBody>
          <a:bodyPr wrap="square" rtlCol="0" anchor="ctr"/>
          <a:lstStyle/>
          <a:p>
            <a:pPr marL="0" indent="0">
              <a:buNone/>
            </a:pPr>
            <a:r>
              <a:rPr lang="en-US" sz="1200" b="1" kern="0" spc="200" dirty="0">
                <a:solidFill>
                  <a:srgbClr val="0B6E99"/>
                </a:solidFill>
              </a:rPr>
              <a:t>MODEL</a:t>
            </a:r>
            <a:endParaRPr lang="en-US" sz="1200" dirty="0"/>
          </a:p>
        </p:txBody>
      </p:sp>
      <p:sp>
        <p:nvSpPr>
          <p:cNvPr id="3" name="Text 1"/>
          <p:cNvSpPr/>
          <p:nvPr/>
        </p:nvSpPr>
        <p:spPr>
          <a:xfrm>
            <a:off x="411480" y="512064"/>
            <a:ext cx="1143000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The optimization problem  </a:t>
            </a:r>
            <a:r>
              <a:rPr lang="en-US" sz="2200" dirty="0">
                <a:solidFill>
                  <a:srgbClr val="1C3D5A"/>
                </a:solidFill>
                <a:latin typeface="Georgia" pitchFamily="34" charset="0"/>
                <a:ea typeface="Georgia" pitchFamily="34" charset="-122"/>
                <a:cs typeface="Georgia" pitchFamily="34" charset="-120"/>
              </a:rPr>
              <a:t>— uncapacitated facility location on the road OD</a:t>
            </a:r>
            <a:endParaRPr lang="en-US" sz="2200" dirty="0"/>
          </a:p>
        </p:txBody>
      </p:sp>
      <p:sp>
        <p:nvSpPr>
          <p:cNvPr id="4" name="Shape 2"/>
          <p:cNvSpPr/>
          <p:nvPr/>
        </p:nvSpPr>
        <p:spPr>
          <a:xfrm>
            <a:off x="457200" y="1234440"/>
            <a:ext cx="6035040" cy="3108960"/>
          </a:xfrm>
          <a:prstGeom prst="roundRect">
            <a:avLst>
              <a:gd name="adj" fmla="val 1765"/>
            </a:avLst>
          </a:prstGeom>
          <a:solidFill>
            <a:srgbClr val="12233A"/>
          </a:solidFill>
          <a:ln w="12700">
            <a:solidFill>
              <a:srgbClr val="333333"/>
            </a:solidFill>
            <a:prstDash val="solid"/>
          </a:ln>
        </p:spPr>
        <p:txBody>
          <a:bodyPr/>
          <a:lstStyle/>
          <a:p>
            <a:endParaRPr lang="en-GB"/>
          </a:p>
        </p:txBody>
      </p:sp>
      <p:sp>
        <p:nvSpPr>
          <p:cNvPr id="5" name="Text 3"/>
          <p:cNvSpPr/>
          <p:nvPr/>
        </p:nvSpPr>
        <p:spPr>
          <a:xfrm>
            <a:off x="731520" y="1371600"/>
            <a:ext cx="5577840" cy="365760"/>
          </a:xfrm>
          <a:prstGeom prst="rect">
            <a:avLst/>
          </a:prstGeom>
          <a:noFill/>
          <a:ln/>
        </p:spPr>
        <p:txBody>
          <a:bodyPr wrap="square" rtlCol="0" anchor="ctr"/>
          <a:lstStyle/>
          <a:p>
            <a:pPr marL="0" indent="0">
              <a:buNone/>
            </a:pPr>
            <a:r>
              <a:rPr lang="en-US" sz="1400" b="1" dirty="0">
                <a:solidFill>
                  <a:srgbClr val="8FD4F0"/>
                </a:solidFill>
                <a:latin typeface="Cambria Math" pitchFamily="34" charset="0"/>
                <a:ea typeface="Cambria Math" pitchFamily="34" charset="-122"/>
                <a:cs typeface="Cambria Math" pitchFamily="34" charset="-120"/>
              </a:rPr>
              <a:t>min</a:t>
            </a:r>
            <a:r>
              <a:rPr lang="en-US" sz="1000" baseline="-40000" dirty="0">
                <a:solidFill>
                  <a:srgbClr val="8FD4F0"/>
                </a:solidFill>
                <a:latin typeface="Cambria Math" pitchFamily="34" charset="0"/>
                <a:ea typeface="Cambria Math" pitchFamily="34" charset="-122"/>
                <a:cs typeface="Cambria Math" pitchFamily="34" charset="-120"/>
              </a:rPr>
              <a:t>x,y</a:t>
            </a:r>
            <a:r>
              <a:rPr lang="en-US" sz="1400" dirty="0">
                <a:solidFill>
                  <a:srgbClr val="FFFFFF"/>
                </a:solidFill>
                <a:latin typeface="Cambria Math" pitchFamily="34" charset="0"/>
                <a:ea typeface="Cambria Math" pitchFamily="34" charset="-122"/>
                <a:cs typeface="Cambria Math" pitchFamily="34" charset="-120"/>
              </a:rPr>
              <a:t>   Σᵢ popᵢ · [ Σⱼ c(tᵢⱼ)·yᵢⱼ  +  BIG·(1 − Σⱼ yᵢⱼ) ]   +   λ · Σⱼ xⱼ</a:t>
            </a:r>
            <a:endParaRPr lang="en-US" sz="1400" dirty="0"/>
          </a:p>
        </p:txBody>
      </p:sp>
      <p:sp>
        <p:nvSpPr>
          <p:cNvPr id="6" name="Text 4"/>
          <p:cNvSpPr/>
          <p:nvPr/>
        </p:nvSpPr>
        <p:spPr>
          <a:xfrm>
            <a:off x="731520" y="1737360"/>
            <a:ext cx="5577840" cy="228600"/>
          </a:xfrm>
          <a:prstGeom prst="rect">
            <a:avLst/>
          </a:prstGeom>
          <a:noFill/>
          <a:ln/>
        </p:spPr>
        <p:txBody>
          <a:bodyPr wrap="square" rtlCol="0" anchor="ctr"/>
          <a:lstStyle/>
          <a:p>
            <a:pPr marL="0" indent="0">
              <a:buNone/>
            </a:pPr>
            <a:r>
              <a:rPr lang="en-US" sz="900" i="1" dirty="0">
                <a:solidFill>
                  <a:srgbClr val="9FB0C2"/>
                </a:solidFill>
                <a:latin typeface="Calibri" pitchFamily="34" charset="0"/>
                <a:ea typeface="Calibri" pitchFamily="34" charset="-122"/>
                <a:cs typeface="Calibri" pitchFamily="34" charset="-120"/>
              </a:rPr>
              <a:t>travel of the served share   +   the unserved share, priced at BIG   +   facility cost</a:t>
            </a:r>
            <a:endParaRPr lang="en-US" sz="900" dirty="0"/>
          </a:p>
        </p:txBody>
      </p:sp>
      <p:sp>
        <p:nvSpPr>
          <p:cNvPr id="7" name="Text 5"/>
          <p:cNvSpPr/>
          <p:nvPr/>
        </p:nvSpPr>
        <p:spPr>
          <a:xfrm>
            <a:off x="731520" y="2057400"/>
            <a:ext cx="5577840" cy="1280160"/>
          </a:xfrm>
          <a:prstGeom prst="rect">
            <a:avLst/>
          </a:prstGeom>
          <a:noFill/>
          <a:ln/>
        </p:spPr>
        <p:txBody>
          <a:bodyPr wrap="square" rtlCol="0" anchor="ctr"/>
          <a:lstStyle/>
          <a:p>
            <a:pPr marL="0" indent="0">
              <a:lnSpc>
                <a:spcPct val="135000"/>
              </a:lnSpc>
              <a:buNone/>
            </a:pPr>
            <a:r>
              <a:rPr lang="en-US" sz="1500" b="1" dirty="0">
                <a:solidFill>
                  <a:srgbClr val="8FD4F0"/>
                </a:solidFill>
                <a:latin typeface="Cambria Math" pitchFamily="34" charset="0"/>
                <a:ea typeface="Cambria Math" pitchFamily="34" charset="-122"/>
                <a:cs typeface="Cambria Math" pitchFamily="34" charset="-120"/>
              </a:rPr>
              <a:t>s.t.</a:t>
            </a:r>
            <a:r>
              <a:rPr lang="en-US" sz="1500" dirty="0">
                <a:solidFill>
                  <a:srgbClr val="FFFFFF"/>
                </a:solidFill>
                <a:latin typeface="Cambria Math" pitchFamily="34" charset="0"/>
                <a:ea typeface="Cambria Math" pitchFamily="34" charset="-122"/>
                <a:cs typeface="Cambria Math" pitchFamily="34" charset="-120"/>
              </a:rPr>
              <a:t>  Σⱼ yᵢⱼ  ≤  1</a:t>
            </a:r>
            <a:r>
              <a:rPr lang="en-US" sz="1050" dirty="0">
                <a:solidFill>
                  <a:srgbClr val="FFD9A0"/>
                </a:solidFill>
                <a:latin typeface="Calibri" pitchFamily="34" charset="0"/>
                <a:ea typeface="Calibri" pitchFamily="34" charset="-122"/>
                <a:cs typeface="Calibri" pitchFamily="34" charset="-120"/>
              </a:rPr>
              <a:t>          a client MAY be left unserved</a:t>
            </a:r>
            <a:endParaRPr lang="en-US" sz="1500" dirty="0"/>
          </a:p>
          <a:p>
            <a:pPr marL="0" indent="0">
              <a:lnSpc>
                <a:spcPct val="135000"/>
              </a:lnSpc>
              <a:buNone/>
            </a:pPr>
            <a:r>
              <a:rPr lang="en-US" sz="1500" dirty="0">
                <a:solidFill>
                  <a:srgbClr val="FFFFFF"/>
                </a:solidFill>
                <a:latin typeface="Cambria Math" pitchFamily="34" charset="0"/>
                <a:ea typeface="Cambria Math" pitchFamily="34" charset="-122"/>
                <a:cs typeface="Cambria Math" pitchFamily="34" charset="-120"/>
              </a:rPr>
              <a:t>      yᵢⱼ  ≤  xⱼ</a:t>
            </a:r>
            <a:r>
              <a:rPr lang="en-US" sz="1050" dirty="0">
                <a:solidFill>
                  <a:srgbClr val="9FB0C2"/>
                </a:solidFill>
                <a:latin typeface="Calibri" pitchFamily="34" charset="0"/>
                <a:ea typeface="Calibri" pitchFamily="34" charset="-122"/>
                <a:cs typeface="Calibri" pitchFamily="34" charset="-120"/>
              </a:rPr>
              <a:t>            only to open pharmacies</a:t>
            </a:r>
            <a:endParaRPr lang="en-US" sz="1500" dirty="0"/>
          </a:p>
          <a:p>
            <a:pPr marL="0" indent="0">
              <a:lnSpc>
                <a:spcPct val="135000"/>
              </a:lnSpc>
              <a:buNone/>
            </a:pPr>
            <a:r>
              <a:rPr lang="en-US" sz="1500" dirty="0">
                <a:solidFill>
                  <a:srgbClr val="FFFFFF"/>
                </a:solidFill>
                <a:latin typeface="Cambria Math" pitchFamily="34" charset="0"/>
                <a:ea typeface="Cambria Math" pitchFamily="34" charset="-122"/>
                <a:cs typeface="Cambria Math" pitchFamily="34" charset="-120"/>
              </a:rPr>
              <a:t>      xⱼ ∈ {0,1}</a:t>
            </a:r>
            <a:r>
              <a:rPr lang="en-US" sz="1500" dirty="0">
                <a:solidFill>
                  <a:srgbClr val="FFD9A0"/>
                </a:solidFill>
                <a:latin typeface="Cambria Math" pitchFamily="34" charset="0"/>
                <a:ea typeface="Cambria Math" pitchFamily="34" charset="-122"/>
                <a:cs typeface="Cambria Math" pitchFamily="34" charset="-120"/>
              </a:rPr>
              <a:t>  →  relaxed to  0 ≤ xⱼ ≤ 1,   yᵢⱼ ≥ 0</a:t>
            </a:r>
            <a:endParaRPr lang="en-US" sz="1500" dirty="0"/>
          </a:p>
        </p:txBody>
      </p:sp>
      <p:sp>
        <p:nvSpPr>
          <p:cNvPr id="8" name="Text 6"/>
          <p:cNvSpPr/>
          <p:nvPr/>
        </p:nvSpPr>
        <p:spPr>
          <a:xfrm>
            <a:off x="731520" y="3364992"/>
            <a:ext cx="5532120" cy="868680"/>
          </a:xfrm>
          <a:prstGeom prst="rect">
            <a:avLst/>
          </a:prstGeom>
          <a:noFill/>
          <a:ln/>
        </p:spPr>
        <p:txBody>
          <a:bodyPr wrap="square" rtlCol="0" anchor="t"/>
          <a:lstStyle/>
          <a:p>
            <a:pPr marL="0" indent="0">
              <a:buNone/>
            </a:pPr>
            <a:r>
              <a:rPr lang="en-US" sz="1100" i="1" dirty="0">
                <a:solidFill>
                  <a:srgbClr val="FFFFFF"/>
                </a:solidFill>
                <a:latin typeface="Cambria Math" pitchFamily="34" charset="0"/>
                <a:ea typeface="Cambria Math" pitchFamily="34" charset="-122"/>
                <a:cs typeface="Cambria Math" pitchFamily="34" charset="-120"/>
              </a:rPr>
              <a:t>i</a:t>
            </a:r>
            <a:r>
              <a:rPr lang="en-US" sz="1050" dirty="0">
                <a:solidFill>
                  <a:srgbClr val="C7D2DD"/>
                </a:solidFill>
                <a:latin typeface="Calibri" pitchFamily="34" charset="0"/>
                <a:ea typeface="Calibri" pitchFamily="34" charset="-122"/>
                <a:cs typeface="Calibri" pitchFamily="34" charset="-120"/>
              </a:rPr>
              <a:t> = populated 1 km² cells (clients) · </a:t>
            </a:r>
            <a:r>
              <a:rPr lang="en-US" sz="1100" i="1" dirty="0">
                <a:solidFill>
                  <a:srgbClr val="FFFFFF"/>
                </a:solidFill>
                <a:latin typeface="Cambria Math" pitchFamily="34" charset="0"/>
                <a:ea typeface="Cambria Math" pitchFamily="34" charset="-122"/>
                <a:cs typeface="Cambria Math" pitchFamily="34" charset="-120"/>
              </a:rPr>
              <a:t>j</a:t>
            </a:r>
            <a:r>
              <a:rPr lang="en-US" sz="1050" dirty="0">
                <a:solidFill>
                  <a:srgbClr val="C7D2DD"/>
                </a:solidFill>
                <a:latin typeface="Calibri" pitchFamily="34" charset="0"/>
                <a:ea typeface="Calibri" pitchFamily="34" charset="-122"/>
                <a:cs typeface="Calibri" pitchFamily="34" charset="-120"/>
              </a:rPr>
              <a:t> = candidate pharmacy cells · </a:t>
            </a:r>
            <a:r>
              <a:rPr lang="en-US" sz="1100" i="1" dirty="0">
                <a:solidFill>
                  <a:srgbClr val="FFFFFF"/>
                </a:solidFill>
                <a:latin typeface="Cambria Math" pitchFamily="34" charset="0"/>
                <a:ea typeface="Cambria Math" pitchFamily="34" charset="-122"/>
                <a:cs typeface="Cambria Math" pitchFamily="34" charset="-120"/>
              </a:rPr>
              <a:t>(i,j)</a:t>
            </a:r>
            <a:r>
              <a:rPr lang="en-US" sz="1050" dirty="0">
                <a:solidFill>
                  <a:srgbClr val="C7D2DD"/>
                </a:solidFill>
                <a:latin typeface="Calibri" pitchFamily="34" charset="0"/>
                <a:ea typeface="Calibri" pitchFamily="34" charset="-122"/>
                <a:cs typeface="Calibri" pitchFamily="34" charset="-120"/>
              </a:rPr>
              <a:t> only where the road network gives tᵢⱼ ≤ t_max — the exported OD.  </a:t>
            </a:r>
            <a:r>
              <a:rPr lang="en-US" sz="1100" i="1" dirty="0">
                <a:solidFill>
                  <a:srgbClr val="FFD9A0"/>
                </a:solidFill>
                <a:latin typeface="Cambria Math" pitchFamily="34" charset="0"/>
                <a:ea typeface="Cambria Math" pitchFamily="34" charset="-122"/>
                <a:cs typeface="Cambria Math" pitchFamily="34" charset="-120"/>
              </a:rPr>
              <a:t>BIG</a:t>
            </a:r>
            <a:r>
              <a:rPr lang="en-US" sz="1050" dirty="0">
                <a:solidFill>
                  <a:srgbClr val="C7D2DD"/>
                </a:solidFill>
                <a:latin typeface="Calibri" pitchFamily="34" charset="0"/>
                <a:ea typeface="Calibri" pitchFamily="34" charset="-122"/>
                <a:cs typeface="Calibri" pitchFamily="34" charset="-120"/>
              </a:rPr>
              <a:t> = price of leaving a client unserved: 120 min (linear) / 1.0 (logistic saturation). Opening a facility only pays off where it saves more travel than λ.</a:t>
            </a:r>
            <a:endParaRPr lang="en-US" sz="1100" dirty="0"/>
          </a:p>
        </p:txBody>
      </p:sp>
      <p:sp>
        <p:nvSpPr>
          <p:cNvPr id="9" name="Text 7"/>
          <p:cNvSpPr/>
          <p:nvPr/>
        </p:nvSpPr>
        <p:spPr>
          <a:xfrm>
            <a:off x="6812280" y="1280160"/>
            <a:ext cx="4937760" cy="256032"/>
          </a:xfrm>
          <a:prstGeom prst="rect">
            <a:avLst/>
          </a:prstGeom>
          <a:noFill/>
          <a:ln/>
        </p:spPr>
        <p:txBody>
          <a:bodyPr wrap="square" rtlCol="0" anchor="ctr"/>
          <a:lstStyle/>
          <a:p>
            <a:pPr marL="0" indent="0">
              <a:buNone/>
            </a:pPr>
            <a:r>
              <a:rPr lang="en-US" sz="1250" b="1" dirty="0">
                <a:solidFill>
                  <a:srgbClr val="1C3D5A"/>
                </a:solidFill>
                <a:latin typeface="Calibri" pitchFamily="34" charset="0"/>
                <a:ea typeface="Calibri" pitchFamily="34" charset="-122"/>
                <a:cs typeface="Calibri" pitchFamily="34" charset="-120"/>
              </a:rPr>
              <a:t>c(t) — travel cost, t in minutes</a:t>
            </a:r>
            <a:endParaRPr lang="en-US" sz="1250" dirty="0"/>
          </a:p>
        </p:txBody>
      </p:sp>
      <p:sp>
        <p:nvSpPr>
          <p:cNvPr id="10" name="Text 8"/>
          <p:cNvSpPr/>
          <p:nvPr/>
        </p:nvSpPr>
        <p:spPr>
          <a:xfrm>
            <a:off x="6812280" y="1527048"/>
            <a:ext cx="4937760" cy="566928"/>
          </a:xfrm>
          <a:prstGeom prst="rect">
            <a:avLst/>
          </a:prstGeom>
          <a:noFill/>
          <a:ln/>
        </p:spPr>
        <p:txBody>
          <a:bodyPr wrap="square" rtlCol="0" anchor="t"/>
          <a:lstStyle/>
          <a:p>
            <a:pPr marL="0" indent="0">
              <a:buNone/>
            </a:pPr>
            <a:r>
              <a:rPr lang="en-US" sz="1050" dirty="0">
                <a:solidFill>
                  <a:srgbClr val="5B6B7B"/>
                </a:solidFill>
                <a:latin typeface="Calibri" pitchFamily="34" charset="0"/>
                <a:ea typeface="Calibri" pitchFamily="34" charset="-122"/>
                <a:cs typeface="Calibri" pitchFamily="34" charset="-120"/>
              </a:rPr>
              <a:t>LINEAR c(t)=t; LOGISTIC (adapted logit) c(t)=1/(1+e^−(t−25)/10). The swept LPs run once per function.</a:t>
            </a:r>
            <a:endParaRPr lang="en-US" sz="1050" dirty="0"/>
          </a:p>
        </p:txBody>
      </p:sp>
      <p:sp>
        <p:nvSpPr>
          <p:cNvPr id="11" name="Text 9"/>
          <p:cNvSpPr/>
          <p:nvPr/>
        </p:nvSpPr>
        <p:spPr>
          <a:xfrm>
            <a:off x="6812280" y="2121408"/>
            <a:ext cx="4937760" cy="256032"/>
          </a:xfrm>
          <a:prstGeom prst="rect">
            <a:avLst/>
          </a:prstGeom>
          <a:noFill/>
          <a:ln/>
        </p:spPr>
        <p:txBody>
          <a:bodyPr wrap="square" rtlCol="0" anchor="ctr"/>
          <a:lstStyle/>
          <a:p>
            <a:pPr marL="0" indent="0">
              <a:buNone/>
            </a:pPr>
            <a:r>
              <a:rPr lang="en-US" sz="1250" b="1" dirty="0">
                <a:solidFill>
                  <a:srgbClr val="1C3D5A"/>
                </a:solidFill>
                <a:latin typeface="Calibri" pitchFamily="34" charset="0"/>
                <a:ea typeface="Calibri" pitchFamily="34" charset="-122"/>
                <a:cs typeface="Calibri" pitchFamily="34" charset="-120"/>
              </a:rPr>
              <a:t>λ = w · €100,000 — the price of a pharmacy</a:t>
            </a:r>
            <a:endParaRPr lang="en-US" sz="1250" dirty="0"/>
          </a:p>
        </p:txBody>
      </p:sp>
      <p:sp>
        <p:nvSpPr>
          <p:cNvPr id="12" name="Text 10"/>
          <p:cNvSpPr/>
          <p:nvPr/>
        </p:nvSpPr>
        <p:spPr>
          <a:xfrm>
            <a:off x="6812280" y="2368296"/>
            <a:ext cx="4937760" cy="566928"/>
          </a:xfrm>
          <a:prstGeom prst="rect">
            <a:avLst/>
          </a:prstGeom>
          <a:noFill/>
          <a:ln/>
        </p:spPr>
        <p:txBody>
          <a:bodyPr wrap="square" rtlCol="0" anchor="t"/>
          <a:lstStyle/>
          <a:p>
            <a:pPr marL="0" indent="0">
              <a:buNone/>
            </a:pPr>
            <a:r>
              <a:rPr lang="en-US" sz="1050" dirty="0">
                <a:solidFill>
                  <a:srgbClr val="5B6B7B"/>
                </a:solidFill>
                <a:latin typeface="Calibri" pitchFamily="34" charset="0"/>
                <a:ea typeface="Calibri" pitchFamily="34" charset="-122"/>
                <a:cs typeface="Calibri" pitchFamily="34" charset="-120"/>
              </a:rPr>
              <a:t>Linear facility cost a+b·q reduces to λ·#open: the b·q part is ~constant while (nearly) all demand is served, so only the fixed cost a matters. Under soft coverage it cancels only approximately — the unserved share carries no b·q.</a:t>
            </a:r>
            <a:endParaRPr lang="en-US" sz="1050" dirty="0"/>
          </a:p>
        </p:txBody>
      </p:sp>
      <p:sp>
        <p:nvSpPr>
          <p:cNvPr id="13" name="Text 11"/>
          <p:cNvSpPr/>
          <p:nvPr/>
        </p:nvSpPr>
        <p:spPr>
          <a:xfrm>
            <a:off x="6812280" y="2962656"/>
            <a:ext cx="4937760" cy="256032"/>
          </a:xfrm>
          <a:prstGeom prst="rect">
            <a:avLst/>
          </a:prstGeom>
          <a:noFill/>
          <a:ln/>
        </p:spPr>
        <p:txBody>
          <a:bodyPr wrap="square" rtlCol="0" anchor="ctr"/>
          <a:lstStyle/>
          <a:p>
            <a:pPr marL="0" indent="0">
              <a:buNone/>
            </a:pPr>
            <a:r>
              <a:rPr lang="en-US" sz="1250" b="1" dirty="0">
                <a:solidFill>
                  <a:srgbClr val="1C3D5A"/>
                </a:solidFill>
                <a:latin typeface="Calibri" pitchFamily="34" charset="0"/>
                <a:ea typeface="Calibri" pitchFamily="34" charset="-122"/>
                <a:cs typeface="Calibri" pitchFamily="34" charset="-120"/>
              </a:rPr>
              <a:t>One LP per λ, exact</a:t>
            </a:r>
            <a:endParaRPr lang="en-US" sz="1250" dirty="0"/>
          </a:p>
        </p:txBody>
      </p:sp>
      <p:sp>
        <p:nvSpPr>
          <p:cNvPr id="14" name="Text 12"/>
          <p:cNvSpPr/>
          <p:nvPr/>
        </p:nvSpPr>
        <p:spPr>
          <a:xfrm>
            <a:off x="6812280" y="3209544"/>
            <a:ext cx="4937760" cy="566928"/>
          </a:xfrm>
          <a:prstGeom prst="rect">
            <a:avLst/>
          </a:prstGeom>
          <a:noFill/>
          <a:ln/>
        </p:spPr>
        <p:txBody>
          <a:bodyPr wrap="square" rtlCol="0" anchor="t"/>
          <a:lstStyle/>
          <a:p>
            <a:pPr marL="0" indent="0">
              <a:buNone/>
            </a:pPr>
            <a:r>
              <a:rPr lang="en-US" sz="1050" dirty="0">
                <a:solidFill>
                  <a:srgbClr val="5B6B7B"/>
                </a:solidFill>
                <a:latin typeface="Calibri" pitchFamily="34" charset="0"/>
                <a:ea typeface="Calibri" pitchFamily="34" charset="-122"/>
                <a:cs typeface="Calibri" pitchFamily="34" charset="-120"/>
              </a:rPr>
              <a:t>JuMP + HiGHS dual simplex; the model is built once and re-solved along the w-grid from the previous optimal basis (lp_run.jl solve_at_w!) — millions of yᵢⱼ, minutes per point.</a:t>
            </a:r>
            <a:endParaRPr lang="en-US" sz="1050" dirty="0"/>
          </a:p>
        </p:txBody>
      </p:sp>
      <p:sp>
        <p:nvSpPr>
          <p:cNvPr id="15" name="Shape 13"/>
          <p:cNvSpPr/>
          <p:nvPr/>
        </p:nvSpPr>
        <p:spPr>
          <a:xfrm>
            <a:off x="6812280" y="3858768"/>
            <a:ext cx="4937760" cy="713232"/>
          </a:xfrm>
          <a:prstGeom prst="roundRect">
            <a:avLst>
              <a:gd name="adj" fmla="val 6410"/>
            </a:avLst>
          </a:prstGeom>
          <a:solidFill>
            <a:srgbClr val="FBF5EA"/>
          </a:solidFill>
          <a:ln w="12700">
            <a:solidFill>
              <a:srgbClr val="B9791C"/>
            </a:solidFill>
            <a:prstDash val="solid"/>
          </a:ln>
        </p:spPr>
        <p:txBody>
          <a:bodyPr/>
          <a:lstStyle/>
          <a:p>
            <a:endParaRPr lang="en-GB"/>
          </a:p>
        </p:txBody>
      </p:sp>
      <p:sp>
        <p:nvSpPr>
          <p:cNvPr id="16" name="Text 14"/>
          <p:cNvSpPr/>
          <p:nvPr/>
        </p:nvSpPr>
        <p:spPr>
          <a:xfrm>
            <a:off x="6931152" y="3913632"/>
            <a:ext cx="4718304" cy="621792"/>
          </a:xfrm>
          <a:prstGeom prst="rect">
            <a:avLst/>
          </a:prstGeom>
          <a:noFill/>
          <a:ln/>
        </p:spPr>
        <p:txBody>
          <a:bodyPr wrap="square" rtlCol="0" anchor="t"/>
          <a:lstStyle/>
          <a:p>
            <a:pPr marL="0" indent="0">
              <a:lnSpc>
                <a:spcPct val="98000"/>
              </a:lnSpc>
              <a:buNone/>
            </a:pPr>
            <a:r>
              <a:rPr lang="en-US" sz="830" b="1" dirty="0">
                <a:solidFill>
                  <a:srgbClr val="B9791C"/>
                </a:solidFill>
                <a:latin typeface="Calibri" pitchFamily="34" charset="0"/>
                <a:ea typeface="Calibri" pitchFamily="34" charset="-122"/>
                <a:cs typeface="Calibri" pitchFamily="34" charset="-120"/>
              </a:rPr>
              <a:t>⚠ For review:  </a:t>
            </a:r>
            <a:r>
              <a:rPr lang="en-US" sz="830" dirty="0">
                <a:solidFill>
                  <a:srgbClr val="12233A"/>
                </a:solidFill>
                <a:latin typeface="Calibri" pitchFamily="34" charset="0"/>
                <a:ea typeface="Calibri" pitchFamily="34" charset="-122"/>
                <a:cs typeface="Calibri" pitchFamily="34" charset="-120"/>
              </a:rPr>
              <a:t>each client's OD holds every candidate out to its 5 nearest EXISTING pharmacies (max_nr_facilities_per_client) — it shrinks the LP but limits reassignment choice. Clients unreachable within t_max (islands / sparse interior, e.g. ITG) are now priced at BIG on BOTH sides — stranded in the baseline, optionally stranded in the LP — so ★ and frontier are directly comparable. Feedback welcome.</a:t>
            </a:r>
            <a:endParaRPr lang="en-US" sz="830" dirty="0"/>
          </a:p>
        </p:txBody>
      </p:sp>
      <p:sp>
        <p:nvSpPr>
          <p:cNvPr id="17" name="Shape 15"/>
          <p:cNvSpPr/>
          <p:nvPr/>
        </p:nvSpPr>
        <p:spPr>
          <a:xfrm>
            <a:off x="457200" y="4617720"/>
            <a:ext cx="11274552" cy="1691640"/>
          </a:xfrm>
          <a:prstGeom prst="roundRect">
            <a:avLst>
              <a:gd name="adj" fmla="val 3243"/>
            </a:avLst>
          </a:prstGeom>
          <a:solidFill>
            <a:srgbClr val="F2F5F8"/>
          </a:solidFill>
          <a:ln w="12700">
            <a:solidFill>
              <a:srgbClr val="D9E0E7"/>
            </a:solidFill>
            <a:prstDash val="solid"/>
          </a:ln>
        </p:spPr>
        <p:txBody>
          <a:bodyPr/>
          <a:lstStyle/>
          <a:p>
            <a:endParaRPr lang="en-GB"/>
          </a:p>
        </p:txBody>
      </p:sp>
      <p:sp>
        <p:nvSpPr>
          <p:cNvPr id="18" name="Text 16"/>
          <p:cNvSpPr/>
          <p:nvPr/>
        </p:nvSpPr>
        <p:spPr>
          <a:xfrm>
            <a:off x="685800" y="4754880"/>
            <a:ext cx="10835640" cy="1481328"/>
          </a:xfrm>
          <a:prstGeom prst="rect">
            <a:avLst/>
          </a:prstGeom>
          <a:noFill/>
          <a:ln/>
        </p:spPr>
        <p:txBody>
          <a:bodyPr wrap="square" rtlCol="0" anchor="t"/>
          <a:lstStyle/>
          <a:p>
            <a:pPr marL="0" indent="0">
              <a:buNone/>
            </a:pPr>
            <a:r>
              <a:rPr lang="en-US" sz="1000" b="1" dirty="0">
                <a:solidFill>
                  <a:srgbClr val="12233A"/>
                </a:solidFill>
                <a:latin typeface="Calibri" pitchFamily="34" charset="0"/>
                <a:ea typeface="Calibri" pitchFamily="34" charset="-122"/>
                <a:cs typeface="Calibri" pitchFamily="34" charset="-120"/>
              </a:rPr>
              <a:t>Why the relaxation, and what it buys.  </a:t>
            </a:r>
            <a:r>
              <a:rPr lang="en-US" sz="1000" dirty="0">
                <a:solidFill>
                  <a:srgbClr val="5B6B7B"/>
                </a:solidFill>
                <a:latin typeface="Calibri" pitchFamily="34" charset="0"/>
                <a:ea typeface="Calibri" pitchFamily="34" charset="-122"/>
                <a:cs typeface="Calibri" pitchFamily="34" charset="-120"/>
              </a:rPr>
              <a:t>With xⱼ ∈ {0,1} this is the (NP-hard) uncapacitated facility-location problem, in its strong disaggregated formulation — one yᵢⱼ ≤ xⱼ per OD pair — whose LP relaxation is known to be nearly integral, which the sweeps confirm (frac_x stays small). The LP optimum is a certified </a:t>
            </a:r>
            <a:r>
              <a:rPr lang="en-US" sz="1000" b="1" dirty="0">
                <a:solidFill>
                  <a:srgbClr val="5B6B7B"/>
                </a:solidFill>
                <a:latin typeface="Calibri" pitchFamily="34" charset="0"/>
                <a:ea typeface="Calibri" pitchFamily="34" charset="-122"/>
                <a:cs typeface="Calibri" pitchFamily="34" charset="-120"/>
              </a:rPr>
              <a:t>lower bound</a:t>
            </a:r>
            <a:r>
              <a:rPr lang="en-US" sz="1000" dirty="0">
                <a:solidFill>
                  <a:srgbClr val="5B6B7B"/>
                </a:solidFill>
                <a:latin typeface="Calibri" pitchFamily="34" charset="0"/>
                <a:ea typeface="Calibri" pitchFamily="34" charset="-122"/>
                <a:cs typeface="Calibri" pitchFamily="34" charset="-120"/>
              </a:rPr>
              <a:t> (the grey dashed line); rounding x* to a real set of pharmacies (multistart, p. 6) gives a feasible </a:t>
            </a:r>
            <a:r>
              <a:rPr lang="en-US" sz="1000" b="1" dirty="0">
                <a:solidFill>
                  <a:srgbClr val="0B6E99"/>
                </a:solidFill>
                <a:latin typeface="Calibri" pitchFamily="34" charset="0"/>
                <a:ea typeface="Calibri" pitchFamily="34" charset="-122"/>
                <a:cs typeface="Calibri" pitchFamily="34" charset="-120"/>
              </a:rPr>
              <a:t>upper bound</a:t>
            </a:r>
            <a:r>
              <a:rPr lang="en-US" sz="1000" dirty="0">
                <a:solidFill>
                  <a:srgbClr val="5B6B7B"/>
                </a:solidFill>
                <a:latin typeface="Calibri" pitchFamily="34" charset="0"/>
                <a:ea typeface="Calibri" pitchFamily="34" charset="-122"/>
                <a:cs typeface="Calibri" pitchFamily="34" charset="-120"/>
              </a:rPr>
              <a:t> — the integer optimum is pinched between the two (+0–18% LINEAR, +0–4.7% LOGISTIC).</a:t>
            </a:r>
            <a:endParaRPr lang="en-US" sz="1000" dirty="0"/>
          </a:p>
          <a:p>
            <a:pPr marL="0" indent="0">
              <a:buNone/>
            </a:pPr>
            <a:r>
              <a:rPr lang="en-US" sz="1000" b="1" dirty="0">
                <a:solidFill>
                  <a:srgbClr val="12233A"/>
                </a:solidFill>
                <a:latin typeface="Calibri" pitchFamily="34" charset="0"/>
                <a:ea typeface="Calibri" pitchFamily="34" charset="-122"/>
                <a:cs typeface="Calibri" pitchFamily="34" charset="-120"/>
              </a:rPr>
              <a:t>Relation to the p-median problem.  </a:t>
            </a:r>
            <a:r>
              <a:rPr lang="en-US" sz="1000" dirty="0">
                <a:solidFill>
                  <a:srgbClr val="5B6B7B"/>
                </a:solidFill>
                <a:latin typeface="Calibri" pitchFamily="34" charset="0"/>
                <a:ea typeface="Calibri" pitchFamily="34" charset="-122"/>
                <a:cs typeface="Calibri" pitchFamily="34" charset="-120"/>
              </a:rPr>
              <a:t>Imposing the count (Σⱼ xⱼ = p) instead of pricing it gives the p-median problem with costs c(tᵢⱼ) (ReVelle &amp; Swain 1970) — S1 at the baseline count is a p-median instance, in its soft-coverage form: a client may go unserved at BIG rather than be forced onto a far facility (an outside option / p-median with an upper bound on assignment cost). The λ-sweep is its Lagrangian relaxation w.r.t. that constraint (Cornuéjols, Fisher &amp; Nemhauser 1977): it recovers only the p’s on the lower convex envelope of the p-median value function, so p-values in non-convex gaps are unreachable by any λ — there S1/S2 are interpolated between sweep points, or pinned exactly with the cardinality constraint (roadmap: better S1/S2 estimations). The swap polish of p. 6 is the classic p-median vertex-substitution search.</a:t>
            </a:r>
            <a:endParaRPr lang="en-US" sz="1000" dirty="0"/>
          </a:p>
        </p:txBody>
      </p:sp>
      <p:sp>
        <p:nvSpPr>
          <p:cNvPr id="19" name="Text 17"/>
          <p:cNvSpPr/>
          <p:nvPr/>
        </p:nvSpPr>
        <p:spPr>
          <a:xfrm>
            <a:off x="457200" y="6446520"/>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Implementation: lp_run.jl (build_lp_warmstart / solve_at_w!) · weights popᵢ = total residents of cell i (CLIENT_WEIGHT=total_pop) · OD from GeoDMS impedance_matrix_od64, t = seconds/60.</a:t>
            </a:r>
            <a:endParaRPr lang="en-US" sz="850" dirty="0"/>
          </a:p>
        </p:txBody>
      </p:sp>
    </p:spTree>
    <p:extLst>
      <p:ext uri="{BB962C8B-B14F-4D97-AF65-F5344CB8AC3E}">
        <p14:creationId xmlns:p14="http://schemas.microsoft.com/office/powerpoint/2010/main" val="343918537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20040"/>
            <a:ext cx="10972800" cy="274320"/>
          </a:xfrm>
          <a:prstGeom prst="rect">
            <a:avLst/>
          </a:prstGeom>
          <a:noFill/>
          <a:ln/>
        </p:spPr>
        <p:txBody>
          <a:bodyPr wrap="square" lIns="0" tIns="0" rIns="0" bIns="0" rtlCol="0" anchor="ctr"/>
          <a:lstStyle/>
          <a:p>
            <a:pPr marL="0" indent="0">
              <a:buNone/>
            </a:pPr>
            <a:r>
              <a:rPr lang="en-US" sz="1100" kern="0" spc="400" dirty="0">
                <a:solidFill>
                  <a:srgbClr val="1C7293"/>
                </a:solidFill>
                <a:latin typeface="Calibri" pitchFamily="34" charset="0"/>
                <a:ea typeface="Calibri" pitchFamily="34" charset="-122"/>
                <a:cs typeface="Calibri" pitchFamily="34" charset="-120"/>
              </a:rPr>
              <a:t>LAMBDA_SWEEP.JL</a:t>
            </a:r>
            <a:endParaRPr lang="en-US" sz="1100" dirty="0"/>
          </a:p>
        </p:txBody>
      </p:sp>
      <p:sp>
        <p:nvSpPr>
          <p:cNvPr id="3" name="Text 1"/>
          <p:cNvSpPr/>
          <p:nvPr/>
        </p:nvSpPr>
        <p:spPr>
          <a:xfrm>
            <a:off x="548640" y="594360"/>
            <a:ext cx="10972800" cy="731520"/>
          </a:xfrm>
          <a:prstGeom prst="rect">
            <a:avLst/>
          </a:prstGeom>
          <a:noFill/>
          <a:ln/>
        </p:spPr>
        <p:txBody>
          <a:bodyPr wrap="square" lIns="0" tIns="0" rIns="0" bIns="0" rtlCol="0" anchor="ctr"/>
          <a:lstStyle/>
          <a:p>
            <a:pPr marL="0" indent="0">
              <a:buNone/>
            </a:pPr>
            <a:r>
              <a:rPr lang="en-US" sz="3200" b="1" dirty="0">
                <a:solidFill>
                  <a:srgbClr val="21295C"/>
                </a:solidFill>
                <a:latin typeface="Georgia" pitchFamily="34" charset="0"/>
                <a:ea typeface="Georgia" pitchFamily="34" charset="-122"/>
                <a:cs typeface="Georgia" pitchFamily="34" charset="-120"/>
              </a:rPr>
              <a:t>Scenarios and what the sweep computes</a:t>
            </a:r>
            <a:endParaRPr lang="en-US" sz="3200" dirty="0"/>
          </a:p>
        </p:txBody>
      </p:sp>
      <p:sp>
        <p:nvSpPr>
          <p:cNvPr id="4" name="Shape 2"/>
          <p:cNvSpPr/>
          <p:nvPr/>
        </p:nvSpPr>
        <p:spPr>
          <a:xfrm>
            <a:off x="548640" y="1554480"/>
            <a:ext cx="5394960" cy="2286000"/>
          </a:xfrm>
          <a:prstGeom prst="rect">
            <a:avLst/>
          </a:prstGeom>
          <a:solidFill>
            <a:srgbClr val="E8EEF3"/>
          </a:solidFill>
          <a:ln w="6350">
            <a:solidFill>
              <a:srgbClr val="DCE3EA"/>
            </a:solidFill>
            <a:prstDash val="solid"/>
          </a:ln>
        </p:spPr>
        <p:txBody>
          <a:bodyPr/>
          <a:lstStyle/>
          <a:p>
            <a:endParaRPr lang="en-GB"/>
          </a:p>
        </p:txBody>
      </p:sp>
      <p:sp>
        <p:nvSpPr>
          <p:cNvPr id="5" name="Shape 3"/>
          <p:cNvSpPr/>
          <p:nvPr/>
        </p:nvSpPr>
        <p:spPr>
          <a:xfrm>
            <a:off x="548640" y="1554480"/>
            <a:ext cx="91440" cy="2286000"/>
          </a:xfrm>
          <a:prstGeom prst="rect">
            <a:avLst/>
          </a:prstGeom>
          <a:solidFill>
            <a:srgbClr val="1C7293"/>
          </a:solidFill>
          <a:ln/>
        </p:spPr>
        <p:txBody>
          <a:bodyPr/>
          <a:lstStyle/>
          <a:p>
            <a:endParaRPr lang="en-GB"/>
          </a:p>
        </p:txBody>
      </p:sp>
      <p:sp>
        <p:nvSpPr>
          <p:cNvPr id="6" name="Shape 4"/>
          <p:cNvSpPr/>
          <p:nvPr/>
        </p:nvSpPr>
        <p:spPr>
          <a:xfrm>
            <a:off x="4572000" y="1737360"/>
            <a:ext cx="1188720" cy="274320"/>
          </a:xfrm>
          <a:prstGeom prst="rect">
            <a:avLst/>
          </a:prstGeom>
          <a:solidFill>
            <a:srgbClr val="1C7293"/>
          </a:solidFill>
          <a:ln/>
        </p:spPr>
        <p:txBody>
          <a:bodyPr/>
          <a:lstStyle/>
          <a:p>
            <a:endParaRPr lang="en-GB"/>
          </a:p>
        </p:txBody>
      </p:sp>
      <p:sp>
        <p:nvSpPr>
          <p:cNvPr id="7" name="Text 5"/>
          <p:cNvSpPr/>
          <p:nvPr/>
        </p:nvSpPr>
        <p:spPr>
          <a:xfrm>
            <a:off x="4572000" y="1737360"/>
            <a:ext cx="1188720" cy="274320"/>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Inputs</a:t>
            </a:r>
            <a:endParaRPr lang="en-US" sz="1000" dirty="0"/>
          </a:p>
        </p:txBody>
      </p:sp>
      <p:sp>
        <p:nvSpPr>
          <p:cNvPr id="8" name="Text 6"/>
          <p:cNvSpPr/>
          <p:nvPr/>
        </p:nvSpPr>
        <p:spPr>
          <a:xfrm>
            <a:off x="822960" y="1719072"/>
            <a:ext cx="3566160" cy="411480"/>
          </a:xfrm>
          <a:prstGeom prst="rect">
            <a:avLst/>
          </a:prstGeom>
          <a:noFill/>
          <a:ln/>
        </p:spPr>
        <p:txBody>
          <a:bodyPr wrap="square" lIns="0" tIns="0" rIns="0" bIns="0" rtlCol="0" anchor="ctr"/>
          <a:lstStyle/>
          <a:p>
            <a:pPr marL="0" indent="0">
              <a:buNone/>
            </a:pPr>
            <a:r>
              <a:rPr lang="en-US" sz="2000" b="1" dirty="0">
                <a:solidFill>
                  <a:srgbClr val="21295C"/>
                </a:solidFill>
                <a:latin typeface="Georgia" pitchFamily="34" charset="0"/>
                <a:ea typeface="Georgia" pitchFamily="34" charset="-122"/>
                <a:cs typeface="Georgia" pitchFamily="34" charset="-120"/>
              </a:rPr>
              <a:t>Baseline</a:t>
            </a:r>
            <a:endParaRPr lang="en-US" sz="2000" dirty="0"/>
          </a:p>
        </p:txBody>
      </p:sp>
      <p:sp>
        <p:nvSpPr>
          <p:cNvPr id="9" name="Text 7"/>
          <p:cNvSpPr/>
          <p:nvPr/>
        </p:nvSpPr>
        <p:spPr>
          <a:xfrm>
            <a:off x="822960" y="2148840"/>
            <a:ext cx="4846320" cy="320040"/>
          </a:xfrm>
          <a:prstGeom prst="rect">
            <a:avLst/>
          </a:prstGeom>
          <a:noFill/>
          <a:ln/>
        </p:spPr>
        <p:txBody>
          <a:bodyPr wrap="square" lIns="0" tIns="0" rIns="0" bIns="0" rtlCol="0" anchor="ctr"/>
          <a:lstStyle/>
          <a:p>
            <a:pPr marL="0" indent="0">
              <a:buNone/>
            </a:pPr>
            <a:r>
              <a:rPr lang="en-US" sz="1300" i="1" dirty="0">
                <a:solidFill>
                  <a:srgbClr val="1C7293"/>
                </a:solidFill>
                <a:latin typeface="Calibri" pitchFamily="34" charset="0"/>
                <a:ea typeface="Calibri" pitchFamily="34" charset="-122"/>
                <a:cs typeface="Calibri" pitchFamily="34" charset="-120"/>
              </a:rPr>
              <a:t>Current pharmacy network</a:t>
            </a:r>
            <a:endParaRPr lang="en-US" sz="1300" dirty="0"/>
          </a:p>
        </p:txBody>
      </p:sp>
      <p:sp>
        <p:nvSpPr>
          <p:cNvPr id="10" name="Text 8"/>
          <p:cNvSpPr/>
          <p:nvPr/>
        </p:nvSpPr>
        <p:spPr>
          <a:xfrm>
            <a:off x="822960" y="2514600"/>
            <a:ext cx="4846320" cy="1234440"/>
          </a:xfrm>
          <a:prstGeom prst="rect">
            <a:avLst/>
          </a:prstGeom>
          <a:noFill/>
          <a:ln/>
        </p:spPr>
        <p:txBody>
          <a:bodyPr wrap="square" lIns="0" tIns="0" rIns="0" bIns="0" rtlCol="0" anchor="t"/>
          <a:lstStyle/>
          <a:p>
            <a:pPr marL="0" indent="0">
              <a:buNone/>
            </a:pPr>
            <a:r>
              <a:rPr lang="en-US" sz="1200" dirty="0">
                <a:solidFill>
                  <a:srgbClr val="1F2937"/>
                </a:solidFill>
                <a:latin typeface="Calibri" pitchFamily="34" charset="0"/>
                <a:ea typeface="Calibri" pitchFamily="34" charset="-122"/>
                <a:cs typeface="Calibri" pitchFamily="34" charset="-120"/>
              </a:rPr>
              <a:t>Each client → nearest existing pharmacy.</a:t>
            </a:r>
            <a:endParaRPr lang="en-US" sz="1200" dirty="0"/>
          </a:p>
          <a:p>
            <a:pPr marL="0" indent="0">
              <a:buNone/>
            </a:pPr>
            <a:r>
              <a:rPr lang="en-US" sz="1200" dirty="0">
                <a:solidFill>
                  <a:srgbClr val="1F2937"/>
                </a:solidFill>
                <a:latin typeface="Calibri" pitchFamily="34" charset="0"/>
                <a:ea typeface="Calibri" pitchFamily="34" charset="-122"/>
                <a:cs typeface="Calibri" pitchFamily="34" charset="-120"/>
              </a:rPr>
              <a:t>Reports total travel cost, mean travel time, and the count of grid cells with at least one pharmacy (target_cells).</a:t>
            </a:r>
            <a:endParaRPr lang="en-US" sz="1200" dirty="0"/>
          </a:p>
        </p:txBody>
      </p:sp>
      <p:sp>
        <p:nvSpPr>
          <p:cNvPr id="11" name="Shape 9"/>
          <p:cNvSpPr/>
          <p:nvPr/>
        </p:nvSpPr>
        <p:spPr>
          <a:xfrm>
            <a:off x="6217920" y="1554480"/>
            <a:ext cx="5394960" cy="2286000"/>
          </a:xfrm>
          <a:prstGeom prst="rect">
            <a:avLst/>
          </a:prstGeom>
          <a:solidFill>
            <a:srgbClr val="E8EEF3"/>
          </a:solidFill>
          <a:ln w="6350">
            <a:solidFill>
              <a:srgbClr val="DCE3EA"/>
            </a:solidFill>
            <a:prstDash val="solid"/>
          </a:ln>
        </p:spPr>
        <p:txBody>
          <a:bodyPr/>
          <a:lstStyle/>
          <a:p>
            <a:endParaRPr lang="en-GB"/>
          </a:p>
        </p:txBody>
      </p:sp>
      <p:sp>
        <p:nvSpPr>
          <p:cNvPr id="12" name="Shape 10"/>
          <p:cNvSpPr/>
          <p:nvPr/>
        </p:nvSpPr>
        <p:spPr>
          <a:xfrm>
            <a:off x="6217920" y="1554480"/>
            <a:ext cx="91440" cy="2286000"/>
          </a:xfrm>
          <a:prstGeom prst="rect">
            <a:avLst/>
          </a:prstGeom>
          <a:solidFill>
            <a:srgbClr val="065A82"/>
          </a:solidFill>
          <a:ln/>
        </p:spPr>
        <p:txBody>
          <a:bodyPr/>
          <a:lstStyle/>
          <a:p>
            <a:endParaRPr lang="en-GB"/>
          </a:p>
        </p:txBody>
      </p:sp>
      <p:sp>
        <p:nvSpPr>
          <p:cNvPr id="13" name="Shape 11"/>
          <p:cNvSpPr/>
          <p:nvPr/>
        </p:nvSpPr>
        <p:spPr>
          <a:xfrm>
            <a:off x="10241280" y="1737360"/>
            <a:ext cx="1188720" cy="274320"/>
          </a:xfrm>
          <a:prstGeom prst="rect">
            <a:avLst/>
          </a:prstGeom>
          <a:solidFill>
            <a:srgbClr val="065A82"/>
          </a:solidFill>
          <a:ln/>
        </p:spPr>
        <p:txBody>
          <a:bodyPr/>
          <a:lstStyle/>
          <a:p>
            <a:endParaRPr lang="en-GB"/>
          </a:p>
        </p:txBody>
      </p:sp>
      <p:sp>
        <p:nvSpPr>
          <p:cNvPr id="14" name="Text 12"/>
          <p:cNvSpPr/>
          <p:nvPr/>
        </p:nvSpPr>
        <p:spPr>
          <a:xfrm>
            <a:off x="10241280" y="1737360"/>
            <a:ext cx="1188720" cy="274320"/>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Equal cost</a:t>
            </a:r>
            <a:endParaRPr lang="en-US" sz="1000" dirty="0"/>
          </a:p>
        </p:txBody>
      </p:sp>
      <p:sp>
        <p:nvSpPr>
          <p:cNvPr id="15" name="Text 13"/>
          <p:cNvSpPr/>
          <p:nvPr/>
        </p:nvSpPr>
        <p:spPr>
          <a:xfrm>
            <a:off x="6492240" y="1719072"/>
            <a:ext cx="3566160" cy="411480"/>
          </a:xfrm>
          <a:prstGeom prst="rect">
            <a:avLst/>
          </a:prstGeom>
          <a:noFill/>
          <a:ln/>
        </p:spPr>
        <p:txBody>
          <a:bodyPr wrap="square" lIns="0" tIns="0" rIns="0" bIns="0" rtlCol="0" anchor="ctr"/>
          <a:lstStyle/>
          <a:p>
            <a:pPr marL="0" indent="0">
              <a:buNone/>
            </a:pPr>
            <a:r>
              <a:rPr lang="en-US" sz="2000" b="1" dirty="0">
                <a:solidFill>
                  <a:srgbClr val="21295C"/>
                </a:solidFill>
                <a:latin typeface="Georgia" pitchFamily="34" charset="0"/>
                <a:ea typeface="Georgia" pitchFamily="34" charset="-122"/>
                <a:cs typeface="Georgia" pitchFamily="34" charset="-120"/>
              </a:rPr>
              <a:t>S1 — fix #facilities</a:t>
            </a:r>
            <a:endParaRPr lang="en-US" sz="2000" dirty="0"/>
          </a:p>
        </p:txBody>
      </p:sp>
      <p:sp>
        <p:nvSpPr>
          <p:cNvPr id="16" name="Text 14"/>
          <p:cNvSpPr/>
          <p:nvPr/>
        </p:nvSpPr>
        <p:spPr>
          <a:xfrm>
            <a:off x="6492240" y="2148840"/>
            <a:ext cx="4846320" cy="320040"/>
          </a:xfrm>
          <a:prstGeom prst="rect">
            <a:avLst/>
          </a:prstGeom>
          <a:noFill/>
          <a:ln/>
        </p:spPr>
        <p:txBody>
          <a:bodyPr wrap="square" lIns="0" tIns="0" rIns="0" bIns="0" rtlCol="0" anchor="ctr"/>
          <a:lstStyle/>
          <a:p>
            <a:pPr marL="0" indent="0">
              <a:buNone/>
            </a:pPr>
            <a:r>
              <a:rPr lang="en-US" sz="1300" i="1" dirty="0">
                <a:solidFill>
                  <a:srgbClr val="1C7293"/>
                </a:solidFill>
                <a:latin typeface="Calibri" pitchFamily="34" charset="0"/>
                <a:ea typeface="Calibri" pitchFamily="34" charset="-122"/>
                <a:cs typeface="Calibri" pitchFamily="34" charset="-120"/>
              </a:rPr>
              <a:t>Reduce travel time at sum_x ≈ target_cells</a:t>
            </a:r>
            <a:endParaRPr lang="en-US" sz="1300" dirty="0"/>
          </a:p>
        </p:txBody>
      </p:sp>
      <p:sp>
        <p:nvSpPr>
          <p:cNvPr id="17" name="Text 15"/>
          <p:cNvSpPr/>
          <p:nvPr/>
        </p:nvSpPr>
        <p:spPr>
          <a:xfrm>
            <a:off x="6492240" y="2514600"/>
            <a:ext cx="4846320" cy="1234440"/>
          </a:xfrm>
          <a:prstGeom prst="rect">
            <a:avLst/>
          </a:prstGeom>
          <a:noFill/>
          <a:ln/>
        </p:spPr>
        <p:txBody>
          <a:bodyPr wrap="square" lIns="0" tIns="0" rIns="0" bIns="0" rtlCol="0" anchor="t"/>
          <a:lstStyle/>
          <a:p>
            <a:pPr marL="0" indent="0">
              <a:buNone/>
            </a:pPr>
            <a:r>
              <a:rPr lang="en-US" sz="1200" dirty="0">
                <a:solidFill>
                  <a:srgbClr val="1F2937"/>
                </a:solidFill>
                <a:latin typeface="Calibri" pitchFamily="34" charset="0"/>
                <a:ea typeface="Calibri" pitchFamily="34" charset="-122"/>
                <a:cs typeface="Calibri" pitchFamily="34" charset="-120"/>
              </a:rPr>
              <a:t>min Σ wᵢ·c(tᵢⱼ)·yₖ + λ·Σⱼxⱼ</a:t>
            </a:r>
            <a:endParaRPr lang="en-US" sz="1200" dirty="0"/>
          </a:p>
          <a:p>
            <a:pPr marL="0" indent="0">
              <a:buNone/>
            </a:pPr>
            <a:r>
              <a:rPr lang="en-US" sz="1200" dirty="0">
                <a:solidFill>
                  <a:srgbClr val="1F2937"/>
                </a:solidFill>
                <a:latin typeface="Calibri" pitchFamily="34" charset="0"/>
                <a:ea typeface="Calibri" pitchFamily="34" charset="-122"/>
                <a:cs typeface="Calibri" pitchFamily="34" charset="-120"/>
              </a:rPr>
              <a:t>Sweep λ to land sum_x at the baseline cell count.</a:t>
            </a:r>
            <a:endParaRPr lang="en-US" sz="1200" dirty="0"/>
          </a:p>
          <a:p>
            <a:pPr marL="0" indent="0">
              <a:buNone/>
            </a:pPr>
            <a:r>
              <a:rPr lang="en-US" sz="1200" dirty="0">
                <a:solidFill>
                  <a:srgbClr val="1F2937"/>
                </a:solidFill>
                <a:latin typeface="Calibri" pitchFamily="34" charset="0"/>
                <a:ea typeface="Calibri" pitchFamily="34" charset="-122"/>
                <a:cs typeface="Calibri" pitchFamily="34" charset="-120"/>
              </a:rPr>
              <a:t>LP-relaxation of UFLP, strong linking yₖ ≤ x_{j(k)}.</a:t>
            </a:r>
            <a:endParaRPr lang="en-US" sz="1200" dirty="0"/>
          </a:p>
        </p:txBody>
      </p:sp>
      <p:sp>
        <p:nvSpPr>
          <p:cNvPr id="18" name="Shape 16"/>
          <p:cNvSpPr/>
          <p:nvPr/>
        </p:nvSpPr>
        <p:spPr>
          <a:xfrm>
            <a:off x="548640" y="4114800"/>
            <a:ext cx="5394960" cy="2286000"/>
          </a:xfrm>
          <a:prstGeom prst="rect">
            <a:avLst/>
          </a:prstGeom>
          <a:solidFill>
            <a:srgbClr val="E8EEF3"/>
          </a:solidFill>
          <a:ln w="6350">
            <a:solidFill>
              <a:srgbClr val="DCE3EA"/>
            </a:solidFill>
            <a:prstDash val="solid"/>
          </a:ln>
        </p:spPr>
        <p:txBody>
          <a:bodyPr/>
          <a:lstStyle/>
          <a:p>
            <a:endParaRPr lang="en-GB"/>
          </a:p>
        </p:txBody>
      </p:sp>
      <p:sp>
        <p:nvSpPr>
          <p:cNvPr id="19" name="Shape 17"/>
          <p:cNvSpPr/>
          <p:nvPr/>
        </p:nvSpPr>
        <p:spPr>
          <a:xfrm>
            <a:off x="548640" y="4114800"/>
            <a:ext cx="91440" cy="2286000"/>
          </a:xfrm>
          <a:prstGeom prst="rect">
            <a:avLst/>
          </a:prstGeom>
          <a:solidFill>
            <a:srgbClr val="065A82"/>
          </a:solidFill>
          <a:ln/>
        </p:spPr>
        <p:txBody>
          <a:bodyPr/>
          <a:lstStyle/>
          <a:p>
            <a:endParaRPr lang="en-GB"/>
          </a:p>
        </p:txBody>
      </p:sp>
      <p:sp>
        <p:nvSpPr>
          <p:cNvPr id="20" name="Shape 18"/>
          <p:cNvSpPr/>
          <p:nvPr/>
        </p:nvSpPr>
        <p:spPr>
          <a:xfrm>
            <a:off x="4572000" y="4297680"/>
            <a:ext cx="1188720" cy="274320"/>
          </a:xfrm>
          <a:prstGeom prst="rect">
            <a:avLst/>
          </a:prstGeom>
          <a:solidFill>
            <a:srgbClr val="065A82"/>
          </a:solidFill>
          <a:ln/>
        </p:spPr>
        <p:txBody>
          <a:bodyPr/>
          <a:lstStyle/>
          <a:p>
            <a:endParaRPr lang="en-GB"/>
          </a:p>
        </p:txBody>
      </p:sp>
      <p:sp>
        <p:nvSpPr>
          <p:cNvPr id="21" name="Text 19"/>
          <p:cNvSpPr/>
          <p:nvPr/>
        </p:nvSpPr>
        <p:spPr>
          <a:xfrm>
            <a:off x="4572000" y="4297680"/>
            <a:ext cx="1188720" cy="274320"/>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Equal access</a:t>
            </a:r>
            <a:endParaRPr lang="en-US" sz="1000" dirty="0"/>
          </a:p>
        </p:txBody>
      </p:sp>
      <p:sp>
        <p:nvSpPr>
          <p:cNvPr id="22" name="Text 20"/>
          <p:cNvSpPr/>
          <p:nvPr/>
        </p:nvSpPr>
        <p:spPr>
          <a:xfrm>
            <a:off x="822960" y="4279392"/>
            <a:ext cx="3566160" cy="411480"/>
          </a:xfrm>
          <a:prstGeom prst="rect">
            <a:avLst/>
          </a:prstGeom>
          <a:noFill/>
          <a:ln/>
        </p:spPr>
        <p:txBody>
          <a:bodyPr wrap="square" lIns="0" tIns="0" rIns="0" bIns="0" rtlCol="0" anchor="ctr"/>
          <a:lstStyle/>
          <a:p>
            <a:pPr marL="0" indent="0">
              <a:buNone/>
            </a:pPr>
            <a:r>
              <a:rPr lang="en-US" sz="2000" b="1" dirty="0">
                <a:solidFill>
                  <a:srgbClr val="21295C"/>
                </a:solidFill>
                <a:latin typeface="Georgia" pitchFamily="34" charset="0"/>
                <a:ea typeface="Georgia" pitchFamily="34" charset="-122"/>
                <a:cs typeface="Georgia" pitchFamily="34" charset="-120"/>
              </a:rPr>
              <a:t>S2 — fix travel cost</a:t>
            </a:r>
            <a:endParaRPr lang="en-US" sz="2000" dirty="0"/>
          </a:p>
        </p:txBody>
      </p:sp>
      <p:sp>
        <p:nvSpPr>
          <p:cNvPr id="23" name="Text 21"/>
          <p:cNvSpPr/>
          <p:nvPr/>
        </p:nvSpPr>
        <p:spPr>
          <a:xfrm>
            <a:off x="822960" y="4709160"/>
            <a:ext cx="4846320" cy="320040"/>
          </a:xfrm>
          <a:prstGeom prst="rect">
            <a:avLst/>
          </a:prstGeom>
          <a:noFill/>
          <a:ln/>
        </p:spPr>
        <p:txBody>
          <a:bodyPr wrap="square" lIns="0" tIns="0" rIns="0" bIns="0" rtlCol="0" anchor="ctr"/>
          <a:lstStyle/>
          <a:p>
            <a:pPr marL="0" indent="0">
              <a:buNone/>
            </a:pPr>
            <a:r>
              <a:rPr lang="en-US" sz="1300" i="1" dirty="0">
                <a:solidFill>
                  <a:srgbClr val="1C7293"/>
                </a:solidFill>
                <a:latin typeface="Calibri" pitchFamily="34" charset="0"/>
                <a:ea typeface="Calibri" pitchFamily="34" charset="-122"/>
                <a:cs typeface="Calibri" pitchFamily="34" charset="-120"/>
              </a:rPr>
              <a:t>Reduce #facilities at C ≈ baseline cost</a:t>
            </a:r>
            <a:endParaRPr lang="en-US" sz="1300" dirty="0"/>
          </a:p>
        </p:txBody>
      </p:sp>
      <p:sp>
        <p:nvSpPr>
          <p:cNvPr id="24" name="Text 22"/>
          <p:cNvSpPr/>
          <p:nvPr/>
        </p:nvSpPr>
        <p:spPr>
          <a:xfrm>
            <a:off x="822960" y="5074920"/>
            <a:ext cx="4846320" cy="1234440"/>
          </a:xfrm>
          <a:prstGeom prst="rect">
            <a:avLst/>
          </a:prstGeom>
          <a:noFill/>
          <a:ln/>
        </p:spPr>
        <p:txBody>
          <a:bodyPr wrap="square" lIns="0" tIns="0" rIns="0" bIns="0" rtlCol="0" anchor="t"/>
          <a:lstStyle/>
          <a:p>
            <a:pPr marL="0" indent="0">
              <a:buNone/>
            </a:pPr>
            <a:r>
              <a:rPr lang="en-US" sz="1200" dirty="0">
                <a:solidFill>
                  <a:srgbClr val="1F2937"/>
                </a:solidFill>
                <a:latin typeface="Calibri" pitchFamily="34" charset="0"/>
                <a:ea typeface="Calibri" pitchFamily="34" charset="-122"/>
                <a:cs typeface="Calibri" pitchFamily="34" charset="-120"/>
              </a:rPr>
              <a:t>Same objective, different λ target.</a:t>
            </a:r>
            <a:endParaRPr lang="en-US" sz="1200" dirty="0"/>
          </a:p>
          <a:p>
            <a:pPr marL="0" indent="0">
              <a:buNone/>
            </a:pPr>
            <a:r>
              <a:rPr lang="en-US" sz="1200" dirty="0">
                <a:solidFill>
                  <a:srgbClr val="1F2937"/>
                </a:solidFill>
                <a:latin typeface="Calibri" pitchFamily="34" charset="0"/>
                <a:ea typeface="Calibri" pitchFamily="34" charset="-122"/>
                <a:cs typeface="Calibri" pitchFamily="34" charset="-120"/>
              </a:rPr>
              <a:t>Closest point on sweep to the baseline travel cost; trade fewer pharmacies for the same access.</a:t>
            </a:r>
            <a:endParaRPr lang="en-US" sz="1200" dirty="0"/>
          </a:p>
        </p:txBody>
      </p:sp>
      <p:sp>
        <p:nvSpPr>
          <p:cNvPr id="25" name="Shape 23"/>
          <p:cNvSpPr/>
          <p:nvPr/>
        </p:nvSpPr>
        <p:spPr>
          <a:xfrm>
            <a:off x="6217920" y="4114800"/>
            <a:ext cx="5394960" cy="2286000"/>
          </a:xfrm>
          <a:prstGeom prst="rect">
            <a:avLst/>
          </a:prstGeom>
          <a:solidFill>
            <a:srgbClr val="E8EEF3"/>
          </a:solidFill>
          <a:ln w="6350">
            <a:solidFill>
              <a:srgbClr val="DCE3EA"/>
            </a:solidFill>
            <a:prstDash val="solid"/>
          </a:ln>
        </p:spPr>
        <p:txBody>
          <a:bodyPr/>
          <a:lstStyle/>
          <a:p>
            <a:endParaRPr lang="en-GB"/>
          </a:p>
        </p:txBody>
      </p:sp>
      <p:sp>
        <p:nvSpPr>
          <p:cNvPr id="26" name="Shape 24"/>
          <p:cNvSpPr/>
          <p:nvPr/>
        </p:nvSpPr>
        <p:spPr>
          <a:xfrm>
            <a:off x="6217920" y="4114800"/>
            <a:ext cx="91440" cy="2286000"/>
          </a:xfrm>
          <a:prstGeom prst="rect">
            <a:avLst/>
          </a:prstGeom>
          <a:solidFill>
            <a:srgbClr val="F2B632"/>
          </a:solidFill>
          <a:ln/>
        </p:spPr>
        <p:txBody>
          <a:bodyPr/>
          <a:lstStyle/>
          <a:p>
            <a:endParaRPr lang="en-GB"/>
          </a:p>
        </p:txBody>
      </p:sp>
      <p:sp>
        <p:nvSpPr>
          <p:cNvPr id="27" name="Shape 25"/>
          <p:cNvSpPr/>
          <p:nvPr/>
        </p:nvSpPr>
        <p:spPr>
          <a:xfrm>
            <a:off x="10241280" y="4297680"/>
            <a:ext cx="1188720" cy="274320"/>
          </a:xfrm>
          <a:prstGeom prst="rect">
            <a:avLst/>
          </a:prstGeom>
          <a:solidFill>
            <a:srgbClr val="F2B632"/>
          </a:solidFill>
          <a:ln/>
        </p:spPr>
        <p:txBody>
          <a:bodyPr/>
          <a:lstStyle/>
          <a:p>
            <a:endParaRPr lang="en-GB"/>
          </a:p>
        </p:txBody>
      </p:sp>
      <p:sp>
        <p:nvSpPr>
          <p:cNvPr id="28" name="Text 26"/>
          <p:cNvSpPr/>
          <p:nvPr/>
        </p:nvSpPr>
        <p:spPr>
          <a:xfrm>
            <a:off x="10241280" y="4297680"/>
            <a:ext cx="1188720" cy="274320"/>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Pareto sweep</a:t>
            </a:r>
            <a:endParaRPr lang="en-US" sz="1000" dirty="0"/>
          </a:p>
        </p:txBody>
      </p:sp>
      <p:sp>
        <p:nvSpPr>
          <p:cNvPr id="29" name="Text 27"/>
          <p:cNvSpPr/>
          <p:nvPr/>
        </p:nvSpPr>
        <p:spPr>
          <a:xfrm>
            <a:off x="6492240" y="4279392"/>
            <a:ext cx="3566160" cy="411480"/>
          </a:xfrm>
          <a:prstGeom prst="rect">
            <a:avLst/>
          </a:prstGeom>
          <a:noFill/>
          <a:ln/>
        </p:spPr>
        <p:txBody>
          <a:bodyPr wrap="square" lIns="0" tIns="0" rIns="0" bIns="0" rtlCol="0" anchor="ctr"/>
          <a:lstStyle/>
          <a:p>
            <a:pPr marL="0" indent="0">
              <a:buNone/>
            </a:pPr>
            <a:r>
              <a:rPr lang="en-US" sz="2000" b="1" dirty="0">
                <a:solidFill>
                  <a:srgbClr val="21295C"/>
                </a:solidFill>
                <a:latin typeface="Georgia" pitchFamily="34" charset="0"/>
                <a:ea typeface="Georgia" pitchFamily="34" charset="-122"/>
                <a:cs typeface="Georgia" pitchFamily="34" charset="-120"/>
              </a:rPr>
              <a:t>S3 — reduce both</a:t>
            </a:r>
            <a:endParaRPr lang="en-US" sz="2000" dirty="0"/>
          </a:p>
        </p:txBody>
      </p:sp>
      <p:sp>
        <p:nvSpPr>
          <p:cNvPr id="30" name="Text 28"/>
          <p:cNvSpPr/>
          <p:nvPr/>
        </p:nvSpPr>
        <p:spPr>
          <a:xfrm>
            <a:off x="6492240" y="4709160"/>
            <a:ext cx="4846320" cy="320040"/>
          </a:xfrm>
          <a:prstGeom prst="rect">
            <a:avLst/>
          </a:prstGeom>
          <a:noFill/>
          <a:ln/>
        </p:spPr>
        <p:txBody>
          <a:bodyPr wrap="square" lIns="0" tIns="0" rIns="0" bIns="0" rtlCol="0" anchor="ctr"/>
          <a:lstStyle/>
          <a:p>
            <a:pPr marL="0" indent="0">
              <a:buNone/>
            </a:pPr>
            <a:r>
              <a:rPr lang="en-US" sz="1300" i="1" dirty="0">
                <a:solidFill>
                  <a:srgbClr val="1C7293"/>
                </a:solidFill>
                <a:latin typeface="Calibri" pitchFamily="34" charset="0"/>
                <a:ea typeface="Calibri" pitchFamily="34" charset="-122"/>
                <a:cs typeface="Calibri" pitchFamily="34" charset="-120"/>
              </a:rPr>
              <a:t>Trace the full Pareto frontier</a:t>
            </a:r>
            <a:endParaRPr lang="en-US" sz="1300" dirty="0"/>
          </a:p>
        </p:txBody>
      </p:sp>
      <p:sp>
        <p:nvSpPr>
          <p:cNvPr id="31" name="Text 29"/>
          <p:cNvSpPr/>
          <p:nvPr/>
        </p:nvSpPr>
        <p:spPr>
          <a:xfrm>
            <a:off x="6492240" y="5074920"/>
            <a:ext cx="4846320" cy="1234440"/>
          </a:xfrm>
          <a:prstGeom prst="rect">
            <a:avLst/>
          </a:prstGeom>
          <a:noFill/>
          <a:ln/>
        </p:spPr>
        <p:txBody>
          <a:bodyPr wrap="square" lIns="0" tIns="0" rIns="0" bIns="0" rtlCol="0" anchor="t"/>
          <a:lstStyle/>
          <a:p>
            <a:pPr marL="0" indent="0">
              <a:buNone/>
            </a:pPr>
            <a:r>
              <a:rPr lang="en-US" sz="1200" dirty="0">
                <a:solidFill>
                  <a:srgbClr val="1F2937"/>
                </a:solidFill>
                <a:latin typeface="Calibri" pitchFamily="34" charset="0"/>
                <a:ea typeface="Calibri" pitchFamily="34" charset="-122"/>
                <a:cs typeface="Calibri" pitchFamily="34" charset="-120"/>
              </a:rPr>
              <a:t>Coarse sweep w ∈ {1e-5 … 1e3}, then fine sweep bracketing the S1 and S2 targets.</a:t>
            </a:r>
            <a:endParaRPr lang="en-US" sz="1200" dirty="0"/>
          </a:p>
          <a:p>
            <a:pPr marL="0" indent="0">
              <a:buNone/>
            </a:pPr>
            <a:r>
              <a:rPr lang="en-US" sz="1200" dirty="0">
                <a:solidFill>
                  <a:srgbClr val="1F2937"/>
                </a:solidFill>
                <a:latin typeface="Calibri" pitchFamily="34" charset="0"/>
                <a:ea typeface="Calibri" pitchFamily="34" charset="-122"/>
                <a:cs typeface="Calibri" pitchFamily="34" charset="-120"/>
              </a:rPr>
              <a:t>Report sum_x and travel cost at each λ.</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20040"/>
            <a:ext cx="10972800" cy="274320"/>
          </a:xfrm>
          <a:prstGeom prst="rect">
            <a:avLst/>
          </a:prstGeom>
          <a:noFill/>
          <a:ln/>
        </p:spPr>
        <p:txBody>
          <a:bodyPr wrap="square" lIns="0" tIns="0" rIns="0" bIns="0" rtlCol="0" anchor="ctr"/>
          <a:lstStyle/>
          <a:p>
            <a:pPr marL="0" indent="0">
              <a:buNone/>
            </a:pPr>
            <a:r>
              <a:rPr lang="en-US" sz="1100" kern="0" spc="400" dirty="0">
                <a:solidFill>
                  <a:srgbClr val="1C7293"/>
                </a:solidFill>
                <a:latin typeface="Calibri" pitchFamily="34" charset="0"/>
                <a:ea typeface="Calibri" pitchFamily="34" charset="-122"/>
                <a:cs typeface="Calibri" pitchFamily="34" charset="-120"/>
              </a:rPr>
              <a:t>WHAT THE SWEEP TRACES</a:t>
            </a:r>
            <a:endParaRPr lang="en-US" sz="1100" dirty="0"/>
          </a:p>
        </p:txBody>
      </p:sp>
      <p:sp>
        <p:nvSpPr>
          <p:cNvPr id="3" name="Text 1"/>
          <p:cNvSpPr/>
          <p:nvPr/>
        </p:nvSpPr>
        <p:spPr>
          <a:xfrm>
            <a:off x="548640" y="594360"/>
            <a:ext cx="10972800" cy="731520"/>
          </a:xfrm>
          <a:prstGeom prst="rect">
            <a:avLst/>
          </a:prstGeom>
          <a:noFill/>
          <a:ln/>
        </p:spPr>
        <p:txBody>
          <a:bodyPr wrap="square" lIns="0" tIns="0" rIns="0" bIns="0" rtlCol="0" anchor="ctr"/>
          <a:lstStyle/>
          <a:p>
            <a:pPr marL="0" indent="0">
              <a:buNone/>
            </a:pPr>
            <a:r>
              <a:rPr lang="en-US" sz="3200" b="1" dirty="0">
                <a:solidFill>
                  <a:srgbClr val="21295C"/>
                </a:solidFill>
                <a:latin typeface="Georgia" pitchFamily="34" charset="0"/>
                <a:ea typeface="Georgia" pitchFamily="34" charset="-122"/>
                <a:cs typeface="Georgia" pitchFamily="34" charset="-120"/>
              </a:rPr>
              <a:t>The Pareto frontier</a:t>
            </a:r>
            <a:endParaRPr lang="en-US" sz="3200" dirty="0"/>
          </a:p>
        </p:txBody>
      </p:sp>
      <p:sp>
        <p:nvSpPr>
          <p:cNvPr id="4" name="Text 2"/>
          <p:cNvSpPr/>
          <p:nvPr/>
        </p:nvSpPr>
        <p:spPr>
          <a:xfrm>
            <a:off x="548640" y="1554480"/>
            <a:ext cx="5303520" cy="457200"/>
          </a:xfrm>
          <a:prstGeom prst="rect">
            <a:avLst/>
          </a:prstGeom>
          <a:noFill/>
          <a:ln/>
        </p:spPr>
        <p:txBody>
          <a:bodyPr wrap="square" lIns="0" tIns="0" rIns="0" bIns="0" rtlCol="0" anchor="ctr"/>
          <a:lstStyle/>
          <a:p>
            <a:pPr marL="0" indent="0">
              <a:buNone/>
            </a:pPr>
            <a:r>
              <a:rPr lang="en-US" sz="2000" b="1" dirty="0">
                <a:solidFill>
                  <a:srgbClr val="21295C"/>
                </a:solidFill>
                <a:latin typeface="Georgia" pitchFamily="34" charset="0"/>
                <a:ea typeface="Georgia" pitchFamily="34" charset="-122"/>
                <a:cs typeface="Georgia" pitchFamily="34" charset="-120"/>
              </a:rPr>
              <a:t>Two competing objectives</a:t>
            </a:r>
            <a:endParaRPr lang="en-US" sz="2000" dirty="0"/>
          </a:p>
        </p:txBody>
      </p:sp>
      <p:sp>
        <p:nvSpPr>
          <p:cNvPr id="5" name="Text 3"/>
          <p:cNvSpPr/>
          <p:nvPr/>
        </p:nvSpPr>
        <p:spPr>
          <a:xfrm>
            <a:off x="548640" y="2011680"/>
            <a:ext cx="5303520" cy="1097280"/>
          </a:xfrm>
          <a:prstGeom prst="rect">
            <a:avLst/>
          </a:prstGeom>
          <a:noFill/>
          <a:ln/>
        </p:spPr>
        <p:txBody>
          <a:bodyPr wrap="square" lIns="0" tIns="0" rIns="0" bIns="0" rtlCol="0" anchor="ctr"/>
          <a:lstStyle/>
          <a:p>
            <a:pPr marL="0" indent="0">
              <a:buNone/>
            </a:pPr>
            <a:r>
              <a:rPr lang="en-US" sz="1400" b="1" dirty="0">
                <a:solidFill>
                  <a:srgbClr val="065A82"/>
                </a:solidFill>
                <a:latin typeface="Calibri" pitchFamily="34" charset="0"/>
                <a:ea typeface="Calibri" pitchFamily="34" charset="-122"/>
                <a:cs typeface="Calibri" pitchFamily="34" charset="-120"/>
              </a:rPr>
              <a:t>Travel cost</a:t>
            </a:r>
            <a:r>
              <a:rPr lang="en-US" sz="1400" dirty="0">
                <a:solidFill>
                  <a:srgbClr val="1F2937"/>
                </a:solidFill>
                <a:latin typeface="Calibri" pitchFamily="34" charset="0"/>
                <a:ea typeface="Calibri" pitchFamily="34" charset="-122"/>
                <a:cs typeface="Calibri" pitchFamily="34" charset="-120"/>
              </a:rPr>
              <a:t> — total person-c(t), weighted by population.</a:t>
            </a:r>
            <a:endParaRPr lang="en-US" sz="1400" dirty="0"/>
          </a:p>
          <a:p>
            <a:pPr marL="0" indent="0">
              <a:buNone/>
            </a:pPr>
            <a:r>
              <a:rPr lang="en-US" sz="1400" b="1" dirty="0">
                <a:solidFill>
                  <a:srgbClr val="065A82"/>
                </a:solidFill>
                <a:latin typeface="Calibri" pitchFamily="34" charset="0"/>
                <a:ea typeface="Calibri" pitchFamily="34" charset="-122"/>
                <a:cs typeface="Calibri" pitchFamily="34" charset="-120"/>
              </a:rPr>
              <a:t>Facility count</a:t>
            </a:r>
            <a:r>
              <a:rPr lang="en-US" sz="1400" dirty="0">
                <a:solidFill>
                  <a:srgbClr val="1F2937"/>
                </a:solidFill>
                <a:latin typeface="Calibri" pitchFamily="34" charset="0"/>
                <a:ea typeface="Calibri" pitchFamily="34" charset="-122"/>
                <a:cs typeface="Calibri" pitchFamily="34" charset="-120"/>
              </a:rPr>
              <a:t> — sum_x, the LP-relaxed number of opened pharmacies.</a:t>
            </a:r>
            <a:endParaRPr lang="en-US" sz="1400" dirty="0"/>
          </a:p>
          <a:p>
            <a:pPr marL="0" indent="0">
              <a:buNone/>
            </a:pPr>
            <a:r>
              <a:rPr lang="en-US" sz="1400" dirty="0">
                <a:solidFill>
                  <a:srgbClr val="1F2937"/>
                </a:solidFill>
                <a:latin typeface="Calibri" pitchFamily="34" charset="0"/>
                <a:ea typeface="Calibri" pitchFamily="34" charset="-122"/>
                <a:cs typeface="Calibri" pitchFamily="34" charset="-120"/>
              </a:rPr>
              <a:t> </a:t>
            </a:r>
            <a:endParaRPr lang="en-US" sz="1400" dirty="0"/>
          </a:p>
        </p:txBody>
      </p:sp>
      <p:sp>
        <p:nvSpPr>
          <p:cNvPr id="6" name="Text 4"/>
          <p:cNvSpPr/>
          <p:nvPr/>
        </p:nvSpPr>
        <p:spPr>
          <a:xfrm>
            <a:off x="548640" y="3108960"/>
            <a:ext cx="5303520" cy="411480"/>
          </a:xfrm>
          <a:prstGeom prst="rect">
            <a:avLst/>
          </a:prstGeom>
          <a:noFill/>
          <a:ln/>
        </p:spPr>
        <p:txBody>
          <a:bodyPr wrap="square" lIns="0" tIns="0" rIns="0" bIns="0" rtlCol="0" anchor="ctr"/>
          <a:lstStyle/>
          <a:p>
            <a:pPr marL="0" indent="0">
              <a:buNone/>
            </a:pPr>
            <a:r>
              <a:rPr lang="en-US" sz="1800" b="1" dirty="0">
                <a:solidFill>
                  <a:srgbClr val="21295C"/>
                </a:solidFill>
                <a:latin typeface="Georgia" pitchFamily="34" charset="0"/>
                <a:ea typeface="Georgia" pitchFamily="34" charset="-122"/>
                <a:cs typeface="Georgia" pitchFamily="34" charset="-120"/>
              </a:rPr>
              <a:t>How the sweep works</a:t>
            </a:r>
            <a:endParaRPr lang="en-US" sz="1800" dirty="0"/>
          </a:p>
        </p:txBody>
      </p:sp>
      <p:sp>
        <p:nvSpPr>
          <p:cNvPr id="7" name="Text 5"/>
          <p:cNvSpPr/>
          <p:nvPr/>
        </p:nvSpPr>
        <p:spPr>
          <a:xfrm>
            <a:off x="548640" y="3520440"/>
            <a:ext cx="5303520" cy="2286000"/>
          </a:xfrm>
          <a:prstGeom prst="rect">
            <a:avLst/>
          </a:prstGeom>
          <a:noFill/>
          <a:ln/>
        </p:spPr>
        <p:txBody>
          <a:bodyPr wrap="square" lIns="0" tIns="0" rIns="0" bIns="0" rtlCol="0" anchor="ctr"/>
          <a:lstStyle/>
          <a:p>
            <a:pPr marL="0" indent="0">
              <a:buNone/>
            </a:pPr>
            <a:r>
              <a:rPr lang="en-US" sz="1400" dirty="0">
                <a:solidFill>
                  <a:srgbClr val="1F2937"/>
                </a:solidFill>
                <a:latin typeface="Calibri" pitchFamily="34" charset="0"/>
                <a:ea typeface="Calibri" pitchFamily="34" charset="-122"/>
                <a:cs typeface="Calibri" pitchFamily="34" charset="-120"/>
              </a:rPr>
              <a:t>Each λ gives one Pareto point (sum_x, travel_c).</a:t>
            </a:r>
            <a:endParaRPr lang="en-US" sz="1400" dirty="0"/>
          </a:p>
          <a:p>
            <a:pPr marL="0" indent="0">
              <a:buNone/>
            </a:pPr>
            <a:r>
              <a:rPr lang="en-US" sz="1400" dirty="0">
                <a:solidFill>
                  <a:srgbClr val="1F2937"/>
                </a:solidFill>
                <a:latin typeface="Calibri" pitchFamily="34" charset="0"/>
                <a:ea typeface="Calibri" pitchFamily="34" charset="-122"/>
                <a:cs typeface="Calibri" pitchFamily="34" charset="-120"/>
              </a:rPr>
              <a:t>Low λ → many cheap facilities, low travel.</a:t>
            </a:r>
            <a:endParaRPr lang="en-US" sz="1400" dirty="0"/>
          </a:p>
          <a:p>
            <a:pPr marL="0" indent="0">
              <a:buNone/>
            </a:pPr>
            <a:r>
              <a:rPr lang="en-US" sz="1400" dirty="0">
                <a:solidFill>
                  <a:srgbClr val="1F2937"/>
                </a:solidFill>
                <a:latin typeface="Calibri" pitchFamily="34" charset="0"/>
                <a:ea typeface="Calibri" pitchFamily="34" charset="-122"/>
                <a:cs typeface="Calibri" pitchFamily="34" charset="-120"/>
              </a:rPr>
              <a:t>High λ → few expensive facilities, high travel.</a:t>
            </a:r>
            <a:endParaRPr lang="en-US" sz="1400" dirty="0"/>
          </a:p>
          <a:p>
            <a:pPr marL="0" indent="0">
              <a:buNone/>
            </a:pPr>
            <a:r>
              <a:rPr lang="en-US" sz="1400" dirty="0">
                <a:solidFill>
                  <a:srgbClr val="1F2937"/>
                </a:solidFill>
                <a:latin typeface="Calibri" pitchFamily="34" charset="0"/>
                <a:ea typeface="Calibri" pitchFamily="34" charset="-122"/>
                <a:cs typeface="Calibri" pitchFamily="34" charset="-120"/>
              </a:rPr>
              <a:t>S1 and S2 are two specific points on the same curve.</a:t>
            </a:r>
            <a:endParaRPr lang="en-US" sz="1400" dirty="0"/>
          </a:p>
          <a:p>
            <a:pPr marL="0" indent="0">
              <a:buNone/>
            </a:pPr>
            <a:r>
              <a:rPr lang="en-US" sz="1400" dirty="0">
                <a:solidFill>
                  <a:srgbClr val="1F2937"/>
                </a:solidFill>
                <a:latin typeface="Calibri" pitchFamily="34" charset="0"/>
                <a:ea typeface="Calibri" pitchFamily="34" charset="-122"/>
                <a:cs typeface="Calibri" pitchFamily="34" charset="-120"/>
              </a:rPr>
              <a:t>The full sweep traces the curve between and beyond them.</a:t>
            </a:r>
            <a:endParaRPr lang="en-US" sz="1400" dirty="0"/>
          </a:p>
        </p:txBody>
      </p:sp>
      <p:sp>
        <p:nvSpPr>
          <p:cNvPr id="8" name="Shape 6"/>
          <p:cNvSpPr/>
          <p:nvPr/>
        </p:nvSpPr>
        <p:spPr>
          <a:xfrm>
            <a:off x="6400800" y="1691640"/>
            <a:ext cx="5120640" cy="4206240"/>
          </a:xfrm>
          <a:prstGeom prst="rect">
            <a:avLst/>
          </a:prstGeom>
          <a:solidFill>
            <a:srgbClr val="FFFFFF"/>
          </a:solidFill>
          <a:ln w="6350">
            <a:solidFill>
              <a:srgbClr val="DCE3EA"/>
            </a:solidFill>
            <a:prstDash val="solid"/>
          </a:ln>
        </p:spPr>
        <p:txBody>
          <a:bodyPr/>
          <a:lstStyle/>
          <a:p>
            <a:endParaRPr lang="en-GB"/>
          </a:p>
        </p:txBody>
      </p:sp>
      <p:sp>
        <p:nvSpPr>
          <p:cNvPr id="9" name="Text 7"/>
          <p:cNvSpPr/>
          <p:nvPr/>
        </p:nvSpPr>
        <p:spPr>
          <a:xfrm>
            <a:off x="6400800" y="1371600"/>
            <a:ext cx="5120640" cy="274320"/>
          </a:xfrm>
          <a:prstGeom prst="rect">
            <a:avLst/>
          </a:prstGeom>
          <a:noFill/>
          <a:ln/>
        </p:spPr>
        <p:txBody>
          <a:bodyPr wrap="square" lIns="0" tIns="0" rIns="0" bIns="0" rtlCol="0" anchor="ctr"/>
          <a:lstStyle/>
          <a:p>
            <a:pPr marL="0" indent="0" algn="ctr">
              <a:buNone/>
            </a:pPr>
            <a:r>
              <a:rPr lang="en-US" sz="1200" i="1" dirty="0">
                <a:solidFill>
                  <a:srgbClr val="64748B"/>
                </a:solidFill>
                <a:latin typeface="Calibri" pitchFamily="34" charset="0"/>
                <a:ea typeface="Calibri" pitchFamily="34" charset="-122"/>
                <a:cs typeface="Calibri" pitchFamily="34" charset="-120"/>
              </a:rPr>
              <a:t>Pareto frontier (schematic)</a:t>
            </a:r>
            <a:endParaRPr lang="en-US" sz="1200" dirty="0"/>
          </a:p>
        </p:txBody>
      </p:sp>
      <p:sp>
        <p:nvSpPr>
          <p:cNvPr id="10" name="Shape 8"/>
          <p:cNvSpPr/>
          <p:nvPr/>
        </p:nvSpPr>
        <p:spPr>
          <a:xfrm>
            <a:off x="6949440" y="2811780"/>
            <a:ext cx="4389120" cy="0"/>
          </a:xfrm>
          <a:prstGeom prst="line">
            <a:avLst/>
          </a:prstGeom>
          <a:noFill/>
          <a:ln w="6350">
            <a:solidFill>
              <a:srgbClr val="DCE3EA"/>
            </a:solidFill>
            <a:prstDash val="solid"/>
          </a:ln>
        </p:spPr>
        <p:txBody>
          <a:bodyPr/>
          <a:lstStyle/>
          <a:p>
            <a:endParaRPr lang="en-GB"/>
          </a:p>
        </p:txBody>
      </p:sp>
      <p:sp>
        <p:nvSpPr>
          <p:cNvPr id="11" name="Shape 9"/>
          <p:cNvSpPr/>
          <p:nvPr/>
        </p:nvSpPr>
        <p:spPr>
          <a:xfrm>
            <a:off x="6949440" y="3657600"/>
            <a:ext cx="4389120" cy="0"/>
          </a:xfrm>
          <a:prstGeom prst="line">
            <a:avLst/>
          </a:prstGeom>
          <a:noFill/>
          <a:ln w="6350">
            <a:solidFill>
              <a:srgbClr val="DCE3EA"/>
            </a:solidFill>
            <a:prstDash val="solid"/>
          </a:ln>
        </p:spPr>
        <p:txBody>
          <a:bodyPr/>
          <a:lstStyle/>
          <a:p>
            <a:endParaRPr lang="en-GB"/>
          </a:p>
        </p:txBody>
      </p:sp>
      <p:sp>
        <p:nvSpPr>
          <p:cNvPr id="12" name="Shape 10"/>
          <p:cNvSpPr/>
          <p:nvPr/>
        </p:nvSpPr>
        <p:spPr>
          <a:xfrm>
            <a:off x="6949440" y="4503420"/>
            <a:ext cx="4389120" cy="0"/>
          </a:xfrm>
          <a:prstGeom prst="line">
            <a:avLst/>
          </a:prstGeom>
          <a:noFill/>
          <a:ln w="6350">
            <a:solidFill>
              <a:srgbClr val="DCE3EA"/>
            </a:solidFill>
            <a:prstDash val="solid"/>
          </a:ln>
        </p:spPr>
        <p:txBody>
          <a:bodyPr/>
          <a:lstStyle/>
          <a:p>
            <a:endParaRPr lang="en-GB"/>
          </a:p>
        </p:txBody>
      </p:sp>
      <p:sp>
        <p:nvSpPr>
          <p:cNvPr id="13" name="Shape 11"/>
          <p:cNvSpPr/>
          <p:nvPr/>
        </p:nvSpPr>
        <p:spPr>
          <a:xfrm>
            <a:off x="6949440" y="5349240"/>
            <a:ext cx="4389120" cy="0"/>
          </a:xfrm>
          <a:prstGeom prst="line">
            <a:avLst/>
          </a:prstGeom>
          <a:noFill/>
          <a:ln w="9525">
            <a:solidFill>
              <a:srgbClr val="64748B"/>
            </a:solidFill>
            <a:prstDash val="solid"/>
          </a:ln>
        </p:spPr>
        <p:txBody>
          <a:bodyPr/>
          <a:lstStyle/>
          <a:p>
            <a:endParaRPr lang="en-GB"/>
          </a:p>
        </p:txBody>
      </p:sp>
      <p:sp>
        <p:nvSpPr>
          <p:cNvPr id="14" name="Shape 12"/>
          <p:cNvSpPr/>
          <p:nvPr/>
        </p:nvSpPr>
        <p:spPr>
          <a:xfrm>
            <a:off x="6949440" y="1965960"/>
            <a:ext cx="0" cy="3383280"/>
          </a:xfrm>
          <a:prstGeom prst="line">
            <a:avLst/>
          </a:prstGeom>
          <a:noFill/>
          <a:ln w="9525">
            <a:solidFill>
              <a:srgbClr val="64748B"/>
            </a:solidFill>
            <a:prstDash val="solid"/>
          </a:ln>
        </p:spPr>
        <p:txBody>
          <a:bodyPr/>
          <a:lstStyle/>
          <a:p>
            <a:endParaRPr lang="en-GB"/>
          </a:p>
        </p:txBody>
      </p:sp>
      <p:sp>
        <p:nvSpPr>
          <p:cNvPr id="15" name="Shape 13"/>
          <p:cNvSpPr/>
          <p:nvPr/>
        </p:nvSpPr>
        <p:spPr>
          <a:xfrm>
            <a:off x="6949440" y="1965960"/>
            <a:ext cx="109728" cy="410450"/>
          </a:xfrm>
          <a:prstGeom prst="line">
            <a:avLst/>
          </a:prstGeom>
          <a:noFill/>
          <a:ln w="25400">
            <a:solidFill>
              <a:srgbClr val="065A82"/>
            </a:solidFill>
            <a:prstDash val="solid"/>
          </a:ln>
        </p:spPr>
        <p:txBody>
          <a:bodyPr/>
          <a:lstStyle/>
          <a:p>
            <a:endParaRPr lang="en-GB"/>
          </a:p>
        </p:txBody>
      </p:sp>
      <p:sp>
        <p:nvSpPr>
          <p:cNvPr id="16" name="Shape 14"/>
          <p:cNvSpPr/>
          <p:nvPr/>
        </p:nvSpPr>
        <p:spPr>
          <a:xfrm>
            <a:off x="7059168" y="2376410"/>
            <a:ext cx="109728" cy="336647"/>
          </a:xfrm>
          <a:prstGeom prst="line">
            <a:avLst/>
          </a:prstGeom>
          <a:noFill/>
          <a:ln w="25400">
            <a:solidFill>
              <a:srgbClr val="065A82"/>
            </a:solidFill>
            <a:prstDash val="solid"/>
          </a:ln>
        </p:spPr>
        <p:txBody>
          <a:bodyPr/>
          <a:lstStyle/>
          <a:p>
            <a:endParaRPr lang="en-GB"/>
          </a:p>
        </p:txBody>
      </p:sp>
      <p:sp>
        <p:nvSpPr>
          <p:cNvPr id="17" name="Shape 15"/>
          <p:cNvSpPr/>
          <p:nvPr/>
        </p:nvSpPr>
        <p:spPr>
          <a:xfrm>
            <a:off x="7168896" y="2713057"/>
            <a:ext cx="109728" cy="281107"/>
          </a:xfrm>
          <a:prstGeom prst="line">
            <a:avLst/>
          </a:prstGeom>
          <a:noFill/>
          <a:ln w="25400">
            <a:solidFill>
              <a:srgbClr val="065A82"/>
            </a:solidFill>
            <a:prstDash val="solid"/>
          </a:ln>
        </p:spPr>
        <p:txBody>
          <a:bodyPr/>
          <a:lstStyle/>
          <a:p>
            <a:endParaRPr lang="en-GB"/>
          </a:p>
        </p:txBody>
      </p:sp>
      <p:sp>
        <p:nvSpPr>
          <p:cNvPr id="18" name="Shape 16"/>
          <p:cNvSpPr/>
          <p:nvPr/>
        </p:nvSpPr>
        <p:spPr>
          <a:xfrm>
            <a:off x="7278624" y="2994164"/>
            <a:ext cx="109728" cy="238265"/>
          </a:xfrm>
          <a:prstGeom prst="line">
            <a:avLst/>
          </a:prstGeom>
          <a:noFill/>
          <a:ln w="25400">
            <a:solidFill>
              <a:srgbClr val="065A82"/>
            </a:solidFill>
            <a:prstDash val="solid"/>
          </a:ln>
        </p:spPr>
        <p:txBody>
          <a:bodyPr/>
          <a:lstStyle/>
          <a:p>
            <a:endParaRPr lang="en-GB"/>
          </a:p>
        </p:txBody>
      </p:sp>
      <p:sp>
        <p:nvSpPr>
          <p:cNvPr id="19" name="Shape 17"/>
          <p:cNvSpPr/>
          <p:nvPr/>
        </p:nvSpPr>
        <p:spPr>
          <a:xfrm>
            <a:off x="7388352" y="3232428"/>
            <a:ext cx="109728" cy="204523"/>
          </a:xfrm>
          <a:prstGeom prst="line">
            <a:avLst/>
          </a:prstGeom>
          <a:noFill/>
          <a:ln w="25400">
            <a:solidFill>
              <a:srgbClr val="065A82"/>
            </a:solidFill>
            <a:prstDash val="solid"/>
          </a:ln>
        </p:spPr>
        <p:txBody>
          <a:bodyPr/>
          <a:lstStyle/>
          <a:p>
            <a:endParaRPr lang="en-GB"/>
          </a:p>
        </p:txBody>
      </p:sp>
      <p:sp>
        <p:nvSpPr>
          <p:cNvPr id="20" name="Shape 18"/>
          <p:cNvSpPr/>
          <p:nvPr/>
        </p:nvSpPr>
        <p:spPr>
          <a:xfrm>
            <a:off x="7498080" y="3436951"/>
            <a:ext cx="109728" cy="177475"/>
          </a:xfrm>
          <a:prstGeom prst="line">
            <a:avLst/>
          </a:prstGeom>
          <a:noFill/>
          <a:ln w="25400">
            <a:solidFill>
              <a:srgbClr val="065A82"/>
            </a:solidFill>
            <a:prstDash val="solid"/>
          </a:ln>
        </p:spPr>
        <p:txBody>
          <a:bodyPr/>
          <a:lstStyle/>
          <a:p>
            <a:endParaRPr lang="en-GB"/>
          </a:p>
        </p:txBody>
      </p:sp>
      <p:sp>
        <p:nvSpPr>
          <p:cNvPr id="21" name="Shape 19"/>
          <p:cNvSpPr/>
          <p:nvPr/>
        </p:nvSpPr>
        <p:spPr>
          <a:xfrm>
            <a:off x="7607808" y="3614426"/>
            <a:ext cx="109728" cy="155459"/>
          </a:xfrm>
          <a:prstGeom prst="line">
            <a:avLst/>
          </a:prstGeom>
          <a:noFill/>
          <a:ln w="25400">
            <a:solidFill>
              <a:srgbClr val="065A82"/>
            </a:solidFill>
            <a:prstDash val="solid"/>
          </a:ln>
        </p:spPr>
        <p:txBody>
          <a:bodyPr/>
          <a:lstStyle/>
          <a:p>
            <a:endParaRPr lang="en-GB"/>
          </a:p>
        </p:txBody>
      </p:sp>
      <p:sp>
        <p:nvSpPr>
          <p:cNvPr id="22" name="Shape 20"/>
          <p:cNvSpPr/>
          <p:nvPr/>
        </p:nvSpPr>
        <p:spPr>
          <a:xfrm>
            <a:off x="7717536" y="3769885"/>
            <a:ext cx="109728" cy="137301"/>
          </a:xfrm>
          <a:prstGeom prst="line">
            <a:avLst/>
          </a:prstGeom>
          <a:noFill/>
          <a:ln w="25400">
            <a:solidFill>
              <a:srgbClr val="065A82"/>
            </a:solidFill>
            <a:prstDash val="solid"/>
          </a:ln>
        </p:spPr>
        <p:txBody>
          <a:bodyPr/>
          <a:lstStyle/>
          <a:p>
            <a:endParaRPr lang="en-GB"/>
          </a:p>
        </p:txBody>
      </p:sp>
      <p:sp>
        <p:nvSpPr>
          <p:cNvPr id="23" name="Shape 21"/>
          <p:cNvSpPr/>
          <p:nvPr/>
        </p:nvSpPr>
        <p:spPr>
          <a:xfrm>
            <a:off x="7827264" y="3907186"/>
            <a:ext cx="109728" cy="122149"/>
          </a:xfrm>
          <a:prstGeom prst="line">
            <a:avLst/>
          </a:prstGeom>
          <a:noFill/>
          <a:ln w="25400">
            <a:solidFill>
              <a:srgbClr val="065A82"/>
            </a:solidFill>
            <a:prstDash val="solid"/>
          </a:ln>
        </p:spPr>
        <p:txBody>
          <a:bodyPr/>
          <a:lstStyle/>
          <a:p>
            <a:endParaRPr lang="en-GB"/>
          </a:p>
        </p:txBody>
      </p:sp>
      <p:sp>
        <p:nvSpPr>
          <p:cNvPr id="24" name="Shape 22"/>
          <p:cNvSpPr/>
          <p:nvPr/>
        </p:nvSpPr>
        <p:spPr>
          <a:xfrm>
            <a:off x="7936992" y="4029335"/>
            <a:ext cx="109728" cy="109374"/>
          </a:xfrm>
          <a:prstGeom prst="line">
            <a:avLst/>
          </a:prstGeom>
          <a:noFill/>
          <a:ln w="25400">
            <a:solidFill>
              <a:srgbClr val="065A82"/>
            </a:solidFill>
            <a:prstDash val="solid"/>
          </a:ln>
        </p:spPr>
        <p:txBody>
          <a:bodyPr/>
          <a:lstStyle/>
          <a:p>
            <a:endParaRPr lang="en-GB"/>
          </a:p>
        </p:txBody>
      </p:sp>
      <p:sp>
        <p:nvSpPr>
          <p:cNvPr id="25" name="Shape 23"/>
          <p:cNvSpPr/>
          <p:nvPr/>
        </p:nvSpPr>
        <p:spPr>
          <a:xfrm>
            <a:off x="8046720" y="4138709"/>
            <a:ext cx="109728" cy="98503"/>
          </a:xfrm>
          <a:prstGeom prst="line">
            <a:avLst/>
          </a:prstGeom>
          <a:noFill/>
          <a:ln w="25400">
            <a:solidFill>
              <a:srgbClr val="065A82"/>
            </a:solidFill>
            <a:prstDash val="solid"/>
          </a:ln>
        </p:spPr>
        <p:txBody>
          <a:bodyPr/>
          <a:lstStyle/>
          <a:p>
            <a:endParaRPr lang="en-GB"/>
          </a:p>
        </p:txBody>
      </p:sp>
      <p:sp>
        <p:nvSpPr>
          <p:cNvPr id="26" name="Shape 24"/>
          <p:cNvSpPr/>
          <p:nvPr/>
        </p:nvSpPr>
        <p:spPr>
          <a:xfrm>
            <a:off x="8156448" y="4237212"/>
            <a:ext cx="109728" cy="89176"/>
          </a:xfrm>
          <a:prstGeom prst="line">
            <a:avLst/>
          </a:prstGeom>
          <a:noFill/>
          <a:ln w="25400">
            <a:solidFill>
              <a:srgbClr val="065A82"/>
            </a:solidFill>
            <a:prstDash val="solid"/>
          </a:ln>
        </p:spPr>
        <p:txBody>
          <a:bodyPr/>
          <a:lstStyle/>
          <a:p>
            <a:endParaRPr lang="en-GB"/>
          </a:p>
        </p:txBody>
      </p:sp>
      <p:sp>
        <p:nvSpPr>
          <p:cNvPr id="27" name="Shape 25"/>
          <p:cNvSpPr/>
          <p:nvPr/>
        </p:nvSpPr>
        <p:spPr>
          <a:xfrm>
            <a:off x="8266176" y="4326388"/>
            <a:ext cx="109728" cy="81114"/>
          </a:xfrm>
          <a:prstGeom prst="line">
            <a:avLst/>
          </a:prstGeom>
          <a:noFill/>
          <a:ln w="25400">
            <a:solidFill>
              <a:srgbClr val="065A82"/>
            </a:solidFill>
            <a:prstDash val="solid"/>
          </a:ln>
        </p:spPr>
        <p:txBody>
          <a:bodyPr/>
          <a:lstStyle/>
          <a:p>
            <a:endParaRPr lang="en-GB"/>
          </a:p>
        </p:txBody>
      </p:sp>
      <p:sp>
        <p:nvSpPr>
          <p:cNvPr id="28" name="Shape 26"/>
          <p:cNvSpPr/>
          <p:nvPr/>
        </p:nvSpPr>
        <p:spPr>
          <a:xfrm>
            <a:off x="8375904" y="4407502"/>
            <a:ext cx="109728" cy="74098"/>
          </a:xfrm>
          <a:prstGeom prst="line">
            <a:avLst/>
          </a:prstGeom>
          <a:noFill/>
          <a:ln w="25400">
            <a:solidFill>
              <a:srgbClr val="065A82"/>
            </a:solidFill>
            <a:prstDash val="solid"/>
          </a:ln>
        </p:spPr>
        <p:txBody>
          <a:bodyPr/>
          <a:lstStyle/>
          <a:p>
            <a:endParaRPr lang="en-GB"/>
          </a:p>
        </p:txBody>
      </p:sp>
      <p:sp>
        <p:nvSpPr>
          <p:cNvPr id="29" name="Shape 27"/>
          <p:cNvSpPr/>
          <p:nvPr/>
        </p:nvSpPr>
        <p:spPr>
          <a:xfrm>
            <a:off x="8485632" y="4481601"/>
            <a:ext cx="109728" cy="67955"/>
          </a:xfrm>
          <a:prstGeom prst="line">
            <a:avLst/>
          </a:prstGeom>
          <a:noFill/>
          <a:ln w="25400">
            <a:solidFill>
              <a:srgbClr val="065A82"/>
            </a:solidFill>
            <a:prstDash val="solid"/>
          </a:ln>
        </p:spPr>
        <p:txBody>
          <a:bodyPr/>
          <a:lstStyle/>
          <a:p>
            <a:endParaRPr lang="en-GB"/>
          </a:p>
        </p:txBody>
      </p:sp>
      <p:sp>
        <p:nvSpPr>
          <p:cNvPr id="30" name="Shape 28"/>
          <p:cNvSpPr/>
          <p:nvPr/>
        </p:nvSpPr>
        <p:spPr>
          <a:xfrm>
            <a:off x="8595360" y="4549556"/>
            <a:ext cx="109728" cy="62545"/>
          </a:xfrm>
          <a:prstGeom prst="line">
            <a:avLst/>
          </a:prstGeom>
          <a:noFill/>
          <a:ln w="25400">
            <a:solidFill>
              <a:srgbClr val="065A82"/>
            </a:solidFill>
            <a:prstDash val="solid"/>
          </a:ln>
        </p:spPr>
        <p:txBody>
          <a:bodyPr/>
          <a:lstStyle/>
          <a:p>
            <a:endParaRPr lang="en-GB"/>
          </a:p>
        </p:txBody>
      </p:sp>
      <p:sp>
        <p:nvSpPr>
          <p:cNvPr id="31" name="Shape 29"/>
          <p:cNvSpPr/>
          <p:nvPr/>
        </p:nvSpPr>
        <p:spPr>
          <a:xfrm>
            <a:off x="8705088" y="4612101"/>
            <a:ext cx="109728" cy="57757"/>
          </a:xfrm>
          <a:prstGeom prst="line">
            <a:avLst/>
          </a:prstGeom>
          <a:noFill/>
          <a:ln w="25400">
            <a:solidFill>
              <a:srgbClr val="065A82"/>
            </a:solidFill>
            <a:prstDash val="solid"/>
          </a:ln>
        </p:spPr>
        <p:txBody>
          <a:bodyPr/>
          <a:lstStyle/>
          <a:p>
            <a:endParaRPr lang="en-GB"/>
          </a:p>
        </p:txBody>
      </p:sp>
      <p:sp>
        <p:nvSpPr>
          <p:cNvPr id="32" name="Shape 30"/>
          <p:cNvSpPr/>
          <p:nvPr/>
        </p:nvSpPr>
        <p:spPr>
          <a:xfrm>
            <a:off x="8814816" y="4669857"/>
            <a:ext cx="109728" cy="53498"/>
          </a:xfrm>
          <a:prstGeom prst="line">
            <a:avLst/>
          </a:prstGeom>
          <a:noFill/>
          <a:ln w="25400">
            <a:solidFill>
              <a:srgbClr val="065A82"/>
            </a:solidFill>
            <a:prstDash val="solid"/>
          </a:ln>
        </p:spPr>
        <p:txBody>
          <a:bodyPr/>
          <a:lstStyle/>
          <a:p>
            <a:endParaRPr lang="en-GB"/>
          </a:p>
        </p:txBody>
      </p:sp>
      <p:sp>
        <p:nvSpPr>
          <p:cNvPr id="33" name="Shape 31"/>
          <p:cNvSpPr/>
          <p:nvPr/>
        </p:nvSpPr>
        <p:spPr>
          <a:xfrm>
            <a:off x="8924544" y="4723355"/>
            <a:ext cx="109728" cy="49693"/>
          </a:xfrm>
          <a:prstGeom prst="line">
            <a:avLst/>
          </a:prstGeom>
          <a:noFill/>
          <a:ln w="25400">
            <a:solidFill>
              <a:srgbClr val="065A82"/>
            </a:solidFill>
            <a:prstDash val="solid"/>
          </a:ln>
        </p:spPr>
        <p:txBody>
          <a:bodyPr/>
          <a:lstStyle/>
          <a:p>
            <a:endParaRPr lang="en-GB"/>
          </a:p>
        </p:txBody>
      </p:sp>
      <p:sp>
        <p:nvSpPr>
          <p:cNvPr id="34" name="Shape 32"/>
          <p:cNvSpPr/>
          <p:nvPr/>
        </p:nvSpPr>
        <p:spPr>
          <a:xfrm>
            <a:off x="9034272" y="4773048"/>
            <a:ext cx="109728" cy="46280"/>
          </a:xfrm>
          <a:prstGeom prst="line">
            <a:avLst/>
          </a:prstGeom>
          <a:noFill/>
          <a:ln w="25400">
            <a:solidFill>
              <a:srgbClr val="065A82"/>
            </a:solidFill>
            <a:prstDash val="solid"/>
          </a:ln>
        </p:spPr>
        <p:txBody>
          <a:bodyPr/>
          <a:lstStyle/>
          <a:p>
            <a:endParaRPr lang="en-GB"/>
          </a:p>
        </p:txBody>
      </p:sp>
      <p:sp>
        <p:nvSpPr>
          <p:cNvPr id="35" name="Shape 33"/>
          <p:cNvSpPr/>
          <p:nvPr/>
        </p:nvSpPr>
        <p:spPr>
          <a:xfrm>
            <a:off x="9144000" y="4819329"/>
            <a:ext cx="109728" cy="43208"/>
          </a:xfrm>
          <a:prstGeom prst="line">
            <a:avLst/>
          </a:prstGeom>
          <a:noFill/>
          <a:ln w="25400">
            <a:solidFill>
              <a:srgbClr val="065A82"/>
            </a:solidFill>
            <a:prstDash val="solid"/>
          </a:ln>
        </p:spPr>
        <p:txBody>
          <a:bodyPr/>
          <a:lstStyle/>
          <a:p>
            <a:endParaRPr lang="en-GB"/>
          </a:p>
        </p:txBody>
      </p:sp>
      <p:sp>
        <p:nvSpPr>
          <p:cNvPr id="36" name="Shape 34"/>
          <p:cNvSpPr/>
          <p:nvPr/>
        </p:nvSpPr>
        <p:spPr>
          <a:xfrm>
            <a:off x="9253728" y="4862536"/>
            <a:ext cx="109728" cy="40431"/>
          </a:xfrm>
          <a:prstGeom prst="line">
            <a:avLst/>
          </a:prstGeom>
          <a:noFill/>
          <a:ln w="25400">
            <a:solidFill>
              <a:srgbClr val="065A82"/>
            </a:solidFill>
            <a:prstDash val="solid"/>
          </a:ln>
        </p:spPr>
        <p:txBody>
          <a:bodyPr/>
          <a:lstStyle/>
          <a:p>
            <a:endParaRPr lang="en-GB"/>
          </a:p>
        </p:txBody>
      </p:sp>
      <p:sp>
        <p:nvSpPr>
          <p:cNvPr id="37" name="Shape 35"/>
          <p:cNvSpPr/>
          <p:nvPr/>
        </p:nvSpPr>
        <p:spPr>
          <a:xfrm>
            <a:off x="9363456" y="4902967"/>
            <a:ext cx="109728" cy="37914"/>
          </a:xfrm>
          <a:prstGeom prst="line">
            <a:avLst/>
          </a:prstGeom>
          <a:noFill/>
          <a:ln w="25400">
            <a:solidFill>
              <a:srgbClr val="065A82"/>
            </a:solidFill>
            <a:prstDash val="solid"/>
          </a:ln>
        </p:spPr>
        <p:txBody>
          <a:bodyPr/>
          <a:lstStyle/>
          <a:p>
            <a:endParaRPr lang="en-GB"/>
          </a:p>
        </p:txBody>
      </p:sp>
      <p:sp>
        <p:nvSpPr>
          <p:cNvPr id="38" name="Shape 36"/>
          <p:cNvSpPr/>
          <p:nvPr/>
        </p:nvSpPr>
        <p:spPr>
          <a:xfrm>
            <a:off x="9473184" y="4940881"/>
            <a:ext cx="109728" cy="35625"/>
          </a:xfrm>
          <a:prstGeom prst="line">
            <a:avLst/>
          </a:prstGeom>
          <a:noFill/>
          <a:ln w="25400">
            <a:solidFill>
              <a:srgbClr val="065A82"/>
            </a:solidFill>
            <a:prstDash val="solid"/>
          </a:ln>
        </p:spPr>
        <p:txBody>
          <a:bodyPr/>
          <a:lstStyle/>
          <a:p>
            <a:endParaRPr lang="en-GB"/>
          </a:p>
        </p:txBody>
      </p:sp>
      <p:sp>
        <p:nvSpPr>
          <p:cNvPr id="39" name="Shape 37"/>
          <p:cNvSpPr/>
          <p:nvPr/>
        </p:nvSpPr>
        <p:spPr>
          <a:xfrm>
            <a:off x="9582912" y="4976506"/>
            <a:ext cx="109728" cy="33536"/>
          </a:xfrm>
          <a:prstGeom prst="line">
            <a:avLst/>
          </a:prstGeom>
          <a:noFill/>
          <a:ln w="25400">
            <a:solidFill>
              <a:srgbClr val="065A82"/>
            </a:solidFill>
            <a:prstDash val="solid"/>
          </a:ln>
        </p:spPr>
        <p:txBody>
          <a:bodyPr/>
          <a:lstStyle/>
          <a:p>
            <a:endParaRPr lang="en-GB"/>
          </a:p>
        </p:txBody>
      </p:sp>
      <p:sp>
        <p:nvSpPr>
          <p:cNvPr id="40" name="Shape 38"/>
          <p:cNvSpPr/>
          <p:nvPr/>
        </p:nvSpPr>
        <p:spPr>
          <a:xfrm>
            <a:off x="9692640" y="5010042"/>
            <a:ext cx="109728" cy="31627"/>
          </a:xfrm>
          <a:prstGeom prst="line">
            <a:avLst/>
          </a:prstGeom>
          <a:noFill/>
          <a:ln w="25400">
            <a:solidFill>
              <a:srgbClr val="065A82"/>
            </a:solidFill>
            <a:prstDash val="solid"/>
          </a:ln>
        </p:spPr>
        <p:txBody>
          <a:bodyPr/>
          <a:lstStyle/>
          <a:p>
            <a:endParaRPr lang="en-GB"/>
          </a:p>
        </p:txBody>
      </p:sp>
      <p:sp>
        <p:nvSpPr>
          <p:cNvPr id="41" name="Shape 39"/>
          <p:cNvSpPr/>
          <p:nvPr/>
        </p:nvSpPr>
        <p:spPr>
          <a:xfrm>
            <a:off x="9802368" y="5041669"/>
            <a:ext cx="109728" cy="29876"/>
          </a:xfrm>
          <a:prstGeom prst="line">
            <a:avLst/>
          </a:prstGeom>
          <a:noFill/>
          <a:ln w="25400">
            <a:solidFill>
              <a:srgbClr val="065A82"/>
            </a:solidFill>
            <a:prstDash val="solid"/>
          </a:ln>
        </p:spPr>
        <p:txBody>
          <a:bodyPr/>
          <a:lstStyle/>
          <a:p>
            <a:endParaRPr lang="en-GB"/>
          </a:p>
        </p:txBody>
      </p:sp>
      <p:sp>
        <p:nvSpPr>
          <p:cNvPr id="42" name="Shape 40"/>
          <p:cNvSpPr/>
          <p:nvPr/>
        </p:nvSpPr>
        <p:spPr>
          <a:xfrm>
            <a:off x="9912096" y="5071545"/>
            <a:ext cx="109728" cy="28266"/>
          </a:xfrm>
          <a:prstGeom prst="line">
            <a:avLst/>
          </a:prstGeom>
          <a:noFill/>
          <a:ln w="25400">
            <a:solidFill>
              <a:srgbClr val="065A82"/>
            </a:solidFill>
            <a:prstDash val="solid"/>
          </a:ln>
        </p:spPr>
        <p:txBody>
          <a:bodyPr/>
          <a:lstStyle/>
          <a:p>
            <a:endParaRPr lang="en-GB"/>
          </a:p>
        </p:txBody>
      </p:sp>
      <p:sp>
        <p:nvSpPr>
          <p:cNvPr id="43" name="Shape 41"/>
          <p:cNvSpPr/>
          <p:nvPr/>
        </p:nvSpPr>
        <p:spPr>
          <a:xfrm>
            <a:off x="10021824" y="5099811"/>
            <a:ext cx="109728" cy="26783"/>
          </a:xfrm>
          <a:prstGeom prst="line">
            <a:avLst/>
          </a:prstGeom>
          <a:noFill/>
          <a:ln w="25400">
            <a:solidFill>
              <a:srgbClr val="065A82"/>
            </a:solidFill>
            <a:prstDash val="solid"/>
          </a:ln>
        </p:spPr>
        <p:txBody>
          <a:bodyPr/>
          <a:lstStyle/>
          <a:p>
            <a:endParaRPr lang="en-GB"/>
          </a:p>
        </p:txBody>
      </p:sp>
      <p:sp>
        <p:nvSpPr>
          <p:cNvPr id="44" name="Shape 42"/>
          <p:cNvSpPr/>
          <p:nvPr/>
        </p:nvSpPr>
        <p:spPr>
          <a:xfrm>
            <a:off x="10131552" y="5126594"/>
            <a:ext cx="109728" cy="25414"/>
          </a:xfrm>
          <a:prstGeom prst="line">
            <a:avLst/>
          </a:prstGeom>
          <a:noFill/>
          <a:ln w="25400">
            <a:solidFill>
              <a:srgbClr val="065A82"/>
            </a:solidFill>
            <a:prstDash val="solid"/>
          </a:ln>
        </p:spPr>
        <p:txBody>
          <a:bodyPr/>
          <a:lstStyle/>
          <a:p>
            <a:endParaRPr lang="en-GB"/>
          </a:p>
        </p:txBody>
      </p:sp>
      <p:sp>
        <p:nvSpPr>
          <p:cNvPr id="45" name="Shape 43"/>
          <p:cNvSpPr/>
          <p:nvPr/>
        </p:nvSpPr>
        <p:spPr>
          <a:xfrm>
            <a:off x="10241280" y="5152008"/>
            <a:ext cx="109728" cy="24147"/>
          </a:xfrm>
          <a:prstGeom prst="line">
            <a:avLst/>
          </a:prstGeom>
          <a:noFill/>
          <a:ln w="25400">
            <a:solidFill>
              <a:srgbClr val="065A82"/>
            </a:solidFill>
            <a:prstDash val="solid"/>
          </a:ln>
        </p:spPr>
        <p:txBody>
          <a:bodyPr/>
          <a:lstStyle/>
          <a:p>
            <a:endParaRPr lang="en-GB"/>
          </a:p>
        </p:txBody>
      </p:sp>
      <p:sp>
        <p:nvSpPr>
          <p:cNvPr id="46" name="Shape 44"/>
          <p:cNvSpPr/>
          <p:nvPr/>
        </p:nvSpPr>
        <p:spPr>
          <a:xfrm>
            <a:off x="10351008" y="5176156"/>
            <a:ext cx="109728" cy="22973"/>
          </a:xfrm>
          <a:prstGeom prst="line">
            <a:avLst/>
          </a:prstGeom>
          <a:noFill/>
          <a:ln w="25400">
            <a:solidFill>
              <a:srgbClr val="065A82"/>
            </a:solidFill>
            <a:prstDash val="solid"/>
          </a:ln>
        </p:spPr>
        <p:txBody>
          <a:bodyPr/>
          <a:lstStyle/>
          <a:p>
            <a:endParaRPr lang="en-GB"/>
          </a:p>
        </p:txBody>
      </p:sp>
      <p:sp>
        <p:nvSpPr>
          <p:cNvPr id="47" name="Shape 45"/>
          <p:cNvSpPr/>
          <p:nvPr/>
        </p:nvSpPr>
        <p:spPr>
          <a:xfrm>
            <a:off x="10460736" y="5199129"/>
            <a:ext cx="109728" cy="21882"/>
          </a:xfrm>
          <a:prstGeom prst="line">
            <a:avLst/>
          </a:prstGeom>
          <a:noFill/>
          <a:ln w="25400">
            <a:solidFill>
              <a:srgbClr val="065A82"/>
            </a:solidFill>
            <a:prstDash val="solid"/>
          </a:ln>
        </p:spPr>
        <p:txBody>
          <a:bodyPr/>
          <a:lstStyle/>
          <a:p>
            <a:endParaRPr lang="en-GB"/>
          </a:p>
        </p:txBody>
      </p:sp>
      <p:sp>
        <p:nvSpPr>
          <p:cNvPr id="48" name="Shape 46"/>
          <p:cNvSpPr/>
          <p:nvPr/>
        </p:nvSpPr>
        <p:spPr>
          <a:xfrm>
            <a:off x="10570464" y="5221011"/>
            <a:ext cx="109728" cy="20867"/>
          </a:xfrm>
          <a:prstGeom prst="line">
            <a:avLst/>
          </a:prstGeom>
          <a:noFill/>
          <a:ln w="25400">
            <a:solidFill>
              <a:srgbClr val="065A82"/>
            </a:solidFill>
            <a:prstDash val="solid"/>
          </a:ln>
        </p:spPr>
        <p:txBody>
          <a:bodyPr/>
          <a:lstStyle/>
          <a:p>
            <a:endParaRPr lang="en-GB"/>
          </a:p>
        </p:txBody>
      </p:sp>
      <p:sp>
        <p:nvSpPr>
          <p:cNvPr id="49" name="Shape 47"/>
          <p:cNvSpPr/>
          <p:nvPr/>
        </p:nvSpPr>
        <p:spPr>
          <a:xfrm>
            <a:off x="10680192" y="5241878"/>
            <a:ext cx="109728" cy="19921"/>
          </a:xfrm>
          <a:prstGeom prst="line">
            <a:avLst/>
          </a:prstGeom>
          <a:noFill/>
          <a:ln w="25400">
            <a:solidFill>
              <a:srgbClr val="065A82"/>
            </a:solidFill>
            <a:prstDash val="solid"/>
          </a:ln>
        </p:spPr>
        <p:txBody>
          <a:bodyPr/>
          <a:lstStyle/>
          <a:p>
            <a:endParaRPr lang="en-GB"/>
          </a:p>
        </p:txBody>
      </p:sp>
      <p:sp>
        <p:nvSpPr>
          <p:cNvPr id="50" name="Shape 48"/>
          <p:cNvSpPr/>
          <p:nvPr/>
        </p:nvSpPr>
        <p:spPr>
          <a:xfrm>
            <a:off x="10789920" y="5261799"/>
            <a:ext cx="109728" cy="19038"/>
          </a:xfrm>
          <a:prstGeom prst="line">
            <a:avLst/>
          </a:prstGeom>
          <a:noFill/>
          <a:ln w="25400">
            <a:solidFill>
              <a:srgbClr val="065A82"/>
            </a:solidFill>
            <a:prstDash val="solid"/>
          </a:ln>
        </p:spPr>
        <p:txBody>
          <a:bodyPr/>
          <a:lstStyle/>
          <a:p>
            <a:endParaRPr lang="en-GB"/>
          </a:p>
        </p:txBody>
      </p:sp>
      <p:sp>
        <p:nvSpPr>
          <p:cNvPr id="51" name="Shape 49"/>
          <p:cNvSpPr/>
          <p:nvPr/>
        </p:nvSpPr>
        <p:spPr>
          <a:xfrm>
            <a:off x="10899648" y="5280838"/>
            <a:ext cx="109728" cy="18213"/>
          </a:xfrm>
          <a:prstGeom prst="line">
            <a:avLst/>
          </a:prstGeom>
          <a:noFill/>
          <a:ln w="25400">
            <a:solidFill>
              <a:srgbClr val="065A82"/>
            </a:solidFill>
            <a:prstDash val="solid"/>
          </a:ln>
        </p:spPr>
        <p:txBody>
          <a:bodyPr/>
          <a:lstStyle/>
          <a:p>
            <a:endParaRPr lang="en-GB"/>
          </a:p>
        </p:txBody>
      </p:sp>
      <p:sp>
        <p:nvSpPr>
          <p:cNvPr id="52" name="Shape 50"/>
          <p:cNvSpPr/>
          <p:nvPr/>
        </p:nvSpPr>
        <p:spPr>
          <a:xfrm>
            <a:off x="11009376" y="5299051"/>
            <a:ext cx="109728" cy="17440"/>
          </a:xfrm>
          <a:prstGeom prst="line">
            <a:avLst/>
          </a:prstGeom>
          <a:noFill/>
          <a:ln w="25400">
            <a:solidFill>
              <a:srgbClr val="065A82"/>
            </a:solidFill>
            <a:prstDash val="solid"/>
          </a:ln>
        </p:spPr>
        <p:txBody>
          <a:bodyPr/>
          <a:lstStyle/>
          <a:p>
            <a:endParaRPr lang="en-GB"/>
          </a:p>
        </p:txBody>
      </p:sp>
      <p:sp>
        <p:nvSpPr>
          <p:cNvPr id="53" name="Shape 51"/>
          <p:cNvSpPr/>
          <p:nvPr/>
        </p:nvSpPr>
        <p:spPr>
          <a:xfrm>
            <a:off x="11119104" y="5316490"/>
            <a:ext cx="109728" cy="16715"/>
          </a:xfrm>
          <a:prstGeom prst="line">
            <a:avLst/>
          </a:prstGeom>
          <a:noFill/>
          <a:ln w="25400">
            <a:solidFill>
              <a:srgbClr val="065A82"/>
            </a:solidFill>
            <a:prstDash val="solid"/>
          </a:ln>
        </p:spPr>
        <p:txBody>
          <a:bodyPr/>
          <a:lstStyle/>
          <a:p>
            <a:endParaRPr lang="en-GB"/>
          </a:p>
        </p:txBody>
      </p:sp>
      <p:sp>
        <p:nvSpPr>
          <p:cNvPr id="54" name="Shape 52"/>
          <p:cNvSpPr/>
          <p:nvPr/>
        </p:nvSpPr>
        <p:spPr>
          <a:xfrm>
            <a:off x="11228832" y="5333205"/>
            <a:ext cx="109728" cy="16035"/>
          </a:xfrm>
          <a:prstGeom prst="line">
            <a:avLst/>
          </a:prstGeom>
          <a:noFill/>
          <a:ln w="25400">
            <a:solidFill>
              <a:srgbClr val="065A82"/>
            </a:solidFill>
            <a:prstDash val="solid"/>
          </a:ln>
        </p:spPr>
        <p:txBody>
          <a:bodyPr/>
          <a:lstStyle/>
          <a:p>
            <a:endParaRPr lang="en-GB"/>
          </a:p>
        </p:txBody>
      </p:sp>
      <p:sp>
        <p:nvSpPr>
          <p:cNvPr id="55" name="Shape 53"/>
          <p:cNvSpPr/>
          <p:nvPr/>
        </p:nvSpPr>
        <p:spPr>
          <a:xfrm>
            <a:off x="10645541" y="3665694"/>
            <a:ext cx="0" cy="1569700"/>
          </a:xfrm>
          <a:prstGeom prst="line">
            <a:avLst/>
          </a:prstGeom>
          <a:noFill/>
          <a:ln w="9525">
            <a:solidFill>
              <a:srgbClr val="64748B"/>
            </a:solidFill>
            <a:prstDash val="dash"/>
          </a:ln>
        </p:spPr>
        <p:txBody>
          <a:bodyPr/>
          <a:lstStyle/>
          <a:p>
            <a:endParaRPr lang="en-GB"/>
          </a:p>
        </p:txBody>
      </p:sp>
      <p:sp>
        <p:nvSpPr>
          <p:cNvPr id="56" name="Shape 54"/>
          <p:cNvSpPr/>
          <p:nvPr/>
        </p:nvSpPr>
        <p:spPr>
          <a:xfrm>
            <a:off x="7642459" y="3665694"/>
            <a:ext cx="3003082" cy="0"/>
          </a:xfrm>
          <a:prstGeom prst="line">
            <a:avLst/>
          </a:prstGeom>
          <a:noFill/>
          <a:ln w="9525">
            <a:solidFill>
              <a:srgbClr val="64748B"/>
            </a:solidFill>
            <a:prstDash val="dash"/>
          </a:ln>
        </p:spPr>
        <p:txBody>
          <a:bodyPr/>
          <a:lstStyle/>
          <a:p>
            <a:endParaRPr lang="en-GB"/>
          </a:p>
        </p:txBody>
      </p:sp>
      <p:sp>
        <p:nvSpPr>
          <p:cNvPr id="57" name="Shape 55"/>
          <p:cNvSpPr/>
          <p:nvPr/>
        </p:nvSpPr>
        <p:spPr>
          <a:xfrm>
            <a:off x="7532731" y="3555966"/>
            <a:ext cx="219456" cy="219456"/>
          </a:xfrm>
          <a:prstGeom prst="ellipse">
            <a:avLst/>
          </a:prstGeom>
          <a:solidFill>
            <a:srgbClr val="065A82"/>
          </a:solidFill>
          <a:ln w="9525">
            <a:solidFill>
              <a:srgbClr val="21295C"/>
            </a:solidFill>
            <a:prstDash val="solid"/>
          </a:ln>
        </p:spPr>
        <p:txBody>
          <a:bodyPr/>
          <a:lstStyle/>
          <a:p>
            <a:endParaRPr lang="en-GB"/>
          </a:p>
        </p:txBody>
      </p:sp>
      <p:sp>
        <p:nvSpPr>
          <p:cNvPr id="58" name="Text 56"/>
          <p:cNvSpPr/>
          <p:nvPr/>
        </p:nvSpPr>
        <p:spPr>
          <a:xfrm>
            <a:off x="7185259" y="3208494"/>
            <a:ext cx="914400" cy="274320"/>
          </a:xfrm>
          <a:prstGeom prst="rect">
            <a:avLst/>
          </a:prstGeom>
          <a:noFill/>
          <a:ln/>
        </p:spPr>
        <p:txBody>
          <a:bodyPr wrap="square" lIns="0" tIns="0" rIns="0" bIns="0" rtlCol="0" anchor="ctr"/>
          <a:lstStyle/>
          <a:p>
            <a:pPr marL="0" indent="0" algn="ctr">
              <a:buNone/>
            </a:pPr>
            <a:r>
              <a:rPr lang="en-US" sz="1100" b="1" dirty="0">
                <a:solidFill>
                  <a:srgbClr val="21295C"/>
                </a:solidFill>
                <a:latin typeface="Calibri" pitchFamily="34" charset="0"/>
                <a:ea typeface="Calibri" pitchFamily="34" charset="-122"/>
                <a:cs typeface="Calibri" pitchFamily="34" charset="-120"/>
              </a:rPr>
              <a:t>S2</a:t>
            </a:r>
            <a:endParaRPr lang="en-US" sz="1100" dirty="0"/>
          </a:p>
        </p:txBody>
      </p:sp>
      <p:sp>
        <p:nvSpPr>
          <p:cNvPr id="59" name="Shape 57"/>
          <p:cNvSpPr/>
          <p:nvPr/>
        </p:nvSpPr>
        <p:spPr>
          <a:xfrm>
            <a:off x="10535813" y="5125666"/>
            <a:ext cx="219456" cy="219456"/>
          </a:xfrm>
          <a:prstGeom prst="ellipse">
            <a:avLst/>
          </a:prstGeom>
          <a:solidFill>
            <a:srgbClr val="065A82"/>
          </a:solidFill>
          <a:ln w="9525">
            <a:solidFill>
              <a:srgbClr val="21295C"/>
            </a:solidFill>
            <a:prstDash val="solid"/>
          </a:ln>
        </p:spPr>
        <p:txBody>
          <a:bodyPr/>
          <a:lstStyle/>
          <a:p>
            <a:endParaRPr lang="en-GB"/>
          </a:p>
        </p:txBody>
      </p:sp>
      <p:sp>
        <p:nvSpPr>
          <p:cNvPr id="60" name="Text 58"/>
          <p:cNvSpPr/>
          <p:nvPr/>
        </p:nvSpPr>
        <p:spPr>
          <a:xfrm>
            <a:off x="10188341" y="4778194"/>
            <a:ext cx="914400" cy="274320"/>
          </a:xfrm>
          <a:prstGeom prst="rect">
            <a:avLst/>
          </a:prstGeom>
          <a:noFill/>
          <a:ln/>
        </p:spPr>
        <p:txBody>
          <a:bodyPr wrap="square" lIns="0" tIns="0" rIns="0" bIns="0" rtlCol="0" anchor="ctr"/>
          <a:lstStyle/>
          <a:p>
            <a:pPr marL="0" indent="0" algn="ctr">
              <a:buNone/>
            </a:pPr>
            <a:r>
              <a:rPr lang="en-US" sz="1100" b="1" dirty="0">
                <a:solidFill>
                  <a:srgbClr val="21295C"/>
                </a:solidFill>
                <a:latin typeface="Calibri" pitchFamily="34" charset="0"/>
                <a:ea typeface="Calibri" pitchFamily="34" charset="-122"/>
                <a:cs typeface="Calibri" pitchFamily="34" charset="-120"/>
              </a:rPr>
              <a:t>S1</a:t>
            </a:r>
            <a:endParaRPr lang="en-US" sz="1100" dirty="0"/>
          </a:p>
        </p:txBody>
      </p:sp>
      <p:sp>
        <p:nvSpPr>
          <p:cNvPr id="61" name="Shape 59"/>
          <p:cNvSpPr/>
          <p:nvPr/>
        </p:nvSpPr>
        <p:spPr>
          <a:xfrm>
            <a:off x="10535813" y="3555966"/>
            <a:ext cx="219456" cy="219456"/>
          </a:xfrm>
          <a:prstGeom prst="ellipse">
            <a:avLst/>
          </a:prstGeom>
          <a:solidFill>
            <a:srgbClr val="F2B632"/>
          </a:solidFill>
          <a:ln w="9525">
            <a:solidFill>
              <a:srgbClr val="21295C"/>
            </a:solidFill>
            <a:prstDash val="solid"/>
          </a:ln>
        </p:spPr>
        <p:txBody>
          <a:bodyPr/>
          <a:lstStyle/>
          <a:p>
            <a:endParaRPr lang="en-GB"/>
          </a:p>
        </p:txBody>
      </p:sp>
      <p:sp>
        <p:nvSpPr>
          <p:cNvPr id="62" name="Text 60"/>
          <p:cNvSpPr/>
          <p:nvPr/>
        </p:nvSpPr>
        <p:spPr>
          <a:xfrm>
            <a:off x="10188341" y="3208494"/>
            <a:ext cx="914400" cy="274320"/>
          </a:xfrm>
          <a:prstGeom prst="rect">
            <a:avLst/>
          </a:prstGeom>
          <a:noFill/>
          <a:ln/>
        </p:spPr>
        <p:txBody>
          <a:bodyPr wrap="square" lIns="0" tIns="0" rIns="0" bIns="0" rtlCol="0" anchor="ctr"/>
          <a:lstStyle/>
          <a:p>
            <a:pPr marL="0" indent="0" algn="ctr">
              <a:buNone/>
            </a:pPr>
            <a:r>
              <a:rPr lang="en-US" sz="1100" b="1" dirty="0">
                <a:solidFill>
                  <a:srgbClr val="21295C"/>
                </a:solidFill>
                <a:latin typeface="Calibri" pitchFamily="34" charset="0"/>
                <a:ea typeface="Calibri" pitchFamily="34" charset="-122"/>
                <a:cs typeface="Calibri" pitchFamily="34" charset="-120"/>
              </a:rPr>
              <a:t>baseline</a:t>
            </a:r>
            <a:endParaRPr lang="en-US" sz="1100" dirty="0"/>
          </a:p>
        </p:txBody>
      </p:sp>
      <p:sp>
        <p:nvSpPr>
          <p:cNvPr id="63" name="Text 61"/>
          <p:cNvSpPr/>
          <p:nvPr/>
        </p:nvSpPr>
        <p:spPr>
          <a:xfrm>
            <a:off x="6949440" y="5486400"/>
            <a:ext cx="4389120" cy="274320"/>
          </a:xfrm>
          <a:prstGeom prst="rect">
            <a:avLst/>
          </a:prstGeom>
          <a:noFill/>
          <a:ln/>
        </p:spPr>
        <p:txBody>
          <a:bodyPr wrap="square" lIns="0" tIns="0" rIns="0" bIns="0" rtlCol="0" anchor="ctr"/>
          <a:lstStyle/>
          <a:p>
            <a:pPr marL="0" indent="0" algn="ctr">
              <a:buNone/>
            </a:pPr>
            <a:r>
              <a:rPr lang="en-US" sz="1000" dirty="0">
                <a:solidFill>
                  <a:srgbClr val="64748B"/>
                </a:solidFill>
                <a:latin typeface="Calibri" pitchFamily="34" charset="0"/>
                <a:ea typeface="Calibri" pitchFamily="34" charset="-122"/>
                <a:cs typeface="Calibri" pitchFamily="34" charset="-120"/>
              </a:rPr>
              <a:t>← fewer facilities     sum_x     more facilities →</a:t>
            </a:r>
            <a:endParaRPr lang="en-US" sz="1000" dirty="0"/>
          </a:p>
        </p:txBody>
      </p:sp>
      <p:sp>
        <p:nvSpPr>
          <p:cNvPr id="64" name="Text 62"/>
          <p:cNvSpPr/>
          <p:nvPr/>
        </p:nvSpPr>
        <p:spPr>
          <a:xfrm rot="16200000">
            <a:off x="6446520" y="3520440"/>
            <a:ext cx="457200" cy="274320"/>
          </a:xfrm>
          <a:prstGeom prst="rect">
            <a:avLst/>
          </a:prstGeom>
          <a:noFill/>
          <a:ln/>
        </p:spPr>
        <p:txBody>
          <a:bodyPr wrap="square" lIns="0" tIns="0" rIns="0" bIns="0" rtlCol="0" anchor="ctr"/>
          <a:lstStyle/>
          <a:p>
            <a:pPr marL="0" indent="0" algn="ctr">
              <a:buNone/>
            </a:pPr>
            <a:r>
              <a:rPr lang="en-US" sz="1000" dirty="0">
                <a:solidFill>
                  <a:srgbClr val="64748B"/>
                </a:solidFill>
                <a:latin typeface="Calibri" pitchFamily="34" charset="0"/>
                <a:ea typeface="Calibri" pitchFamily="34" charset="-122"/>
                <a:cs typeface="Calibri" pitchFamily="34" charset="-120"/>
              </a:rPr>
              <a:t>travel cost</a:t>
            </a:r>
            <a:endParaRPr lang="en-US" sz="1000" dirty="0"/>
          </a:p>
        </p:txBody>
      </p:sp>
      <p:sp>
        <p:nvSpPr>
          <p:cNvPr id="65" name="Text 63"/>
          <p:cNvSpPr/>
          <p:nvPr/>
        </p:nvSpPr>
        <p:spPr>
          <a:xfrm>
            <a:off x="6217920" y="6263640"/>
            <a:ext cx="5486400" cy="320040"/>
          </a:xfrm>
          <a:prstGeom prst="rect">
            <a:avLst/>
          </a:prstGeom>
          <a:noFill/>
          <a:ln/>
        </p:spPr>
        <p:txBody>
          <a:bodyPr wrap="square" lIns="0" tIns="0" rIns="0" bIns="0" rtlCol="0" anchor="ctr"/>
          <a:lstStyle/>
          <a:p>
            <a:pPr marL="0" indent="0">
              <a:buNone/>
            </a:pPr>
            <a:r>
              <a:rPr lang="en-US" sz="1000" i="1" dirty="0">
                <a:solidFill>
                  <a:srgbClr val="64748B"/>
                </a:solidFill>
                <a:latin typeface="Calibri" pitchFamily="34" charset="0"/>
                <a:ea typeface="Calibri" pitchFamily="34" charset="-122"/>
                <a:cs typeface="Calibri" pitchFamily="34" charset="-120"/>
              </a:rPr>
              <a:t>With the strong-linking LP, sum_x is a continuous lower bound on integer facility count.</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74320"/>
            <a:ext cx="8229600" cy="274320"/>
          </a:xfrm>
          <a:prstGeom prst="rect">
            <a:avLst/>
          </a:prstGeom>
          <a:noFill/>
          <a:ln/>
        </p:spPr>
        <p:txBody>
          <a:bodyPr wrap="square" rtlCol="0" anchor="ctr"/>
          <a:lstStyle/>
          <a:p>
            <a:pPr marL="0" indent="0">
              <a:buNone/>
            </a:pPr>
            <a:r>
              <a:rPr lang="en-US" sz="1200" b="1" kern="0" spc="200" dirty="0">
                <a:solidFill>
                  <a:srgbClr val="0B6E99"/>
                </a:solidFill>
              </a:rPr>
              <a:t>FROM FRACTIONS TO PHARMACIES</a:t>
            </a:r>
            <a:endParaRPr lang="en-US" sz="1200" dirty="0"/>
          </a:p>
        </p:txBody>
      </p:sp>
      <p:sp>
        <p:nvSpPr>
          <p:cNvPr id="3" name="Text 1"/>
          <p:cNvSpPr/>
          <p:nvPr/>
        </p:nvSpPr>
        <p:spPr>
          <a:xfrm>
            <a:off x="411480" y="512064"/>
            <a:ext cx="1143000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How multistart rounds the LP relaxation  </a:t>
            </a:r>
            <a:r>
              <a:rPr lang="en-US" sz="2200" dirty="0">
                <a:solidFill>
                  <a:srgbClr val="1C3D5A"/>
                </a:solidFill>
                <a:latin typeface="Georgia" pitchFamily="34" charset="0"/>
                <a:ea typeface="Georgia" pitchFamily="34" charset="-122"/>
                <a:cs typeface="Georgia" pitchFamily="34" charset="-120"/>
              </a:rPr>
              <a:t>— and why it is an upper bound</a:t>
            </a:r>
            <a:endParaRPr lang="en-US" sz="2200" dirty="0"/>
          </a:p>
        </p:txBody>
      </p:sp>
      <p:sp>
        <p:nvSpPr>
          <p:cNvPr id="4" name="Shape 2"/>
          <p:cNvSpPr/>
          <p:nvPr/>
        </p:nvSpPr>
        <p:spPr>
          <a:xfrm>
            <a:off x="457200" y="1298448"/>
            <a:ext cx="402336" cy="402336"/>
          </a:xfrm>
          <a:prstGeom prst="roundRect">
            <a:avLst>
              <a:gd name="adj" fmla="val 50000"/>
            </a:avLst>
          </a:prstGeom>
          <a:solidFill>
            <a:srgbClr val="1C3D5A"/>
          </a:solidFill>
          <a:ln w="12700">
            <a:solidFill>
              <a:srgbClr val="333333"/>
            </a:solidFill>
            <a:prstDash val="solid"/>
          </a:ln>
        </p:spPr>
        <p:txBody>
          <a:bodyPr/>
          <a:lstStyle/>
          <a:p>
            <a:endParaRPr lang="en-GB"/>
          </a:p>
        </p:txBody>
      </p:sp>
      <p:sp>
        <p:nvSpPr>
          <p:cNvPr id="5" name="Text 3"/>
          <p:cNvSpPr/>
          <p:nvPr/>
        </p:nvSpPr>
        <p:spPr>
          <a:xfrm>
            <a:off x="457200" y="1298448"/>
            <a:ext cx="402336" cy="402336"/>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6" name="Text 4"/>
          <p:cNvSpPr/>
          <p:nvPr/>
        </p:nvSpPr>
        <p:spPr>
          <a:xfrm>
            <a:off x="1024128" y="1280160"/>
            <a:ext cx="5852160" cy="274320"/>
          </a:xfrm>
          <a:prstGeom prst="rect">
            <a:avLst/>
          </a:prstGeom>
          <a:noFill/>
          <a:ln/>
        </p:spPr>
        <p:txBody>
          <a:bodyPr wrap="square" rtlCol="0" anchor="ctr"/>
          <a:lstStyle/>
          <a:p>
            <a:pPr marL="0" indent="0">
              <a:buNone/>
            </a:pPr>
            <a:r>
              <a:rPr lang="en-US" sz="1400" b="1" dirty="0">
                <a:solidFill>
                  <a:srgbClr val="12233A"/>
                </a:solidFill>
                <a:latin typeface="Calibri" pitchFamily="34" charset="0"/>
                <a:ea typeface="Calibri" pitchFamily="34" charset="-122"/>
                <a:cs typeface="Calibri" pitchFamily="34" charset="-120"/>
              </a:rPr>
              <a:t>Fix the count</a:t>
            </a:r>
            <a:endParaRPr lang="en-US" sz="1400" dirty="0"/>
          </a:p>
        </p:txBody>
      </p:sp>
      <p:sp>
        <p:nvSpPr>
          <p:cNvPr id="7" name="Text 5"/>
          <p:cNvSpPr/>
          <p:nvPr/>
        </p:nvSpPr>
        <p:spPr>
          <a:xfrm>
            <a:off x="1024128" y="1545336"/>
            <a:ext cx="5989320" cy="621792"/>
          </a:xfrm>
          <a:prstGeom prst="rect">
            <a:avLst/>
          </a:prstGeom>
          <a:noFill/>
          <a:ln/>
        </p:spPr>
        <p:txBody>
          <a:bodyPr wrap="square" rtlCol="0" anchor="t"/>
          <a:lstStyle/>
          <a:p>
            <a:pPr marL="0" indent="0">
              <a:buNone/>
            </a:pPr>
            <a:r>
              <a:rPr lang="en-US" sz="1050" dirty="0">
                <a:solidFill>
                  <a:srgbClr val="5B6B7B"/>
                </a:solidFill>
                <a:latin typeface="Calibri" pitchFamily="34" charset="0"/>
                <a:ea typeface="Calibri" pitchFamily="34" charset="-122"/>
                <a:cs typeface="Calibri" pitchFamily="34" charset="-120"/>
              </a:rPr>
              <a:t>p = round(Σ xⱼ*) — the integer pharmacy count nearest the LP's fractional total, so every rounded point stays on the same axis as the relaxation.</a:t>
            </a:r>
            <a:endParaRPr lang="en-US" sz="1050" dirty="0"/>
          </a:p>
        </p:txBody>
      </p:sp>
      <p:sp>
        <p:nvSpPr>
          <p:cNvPr id="8" name="Shape 6"/>
          <p:cNvSpPr/>
          <p:nvPr/>
        </p:nvSpPr>
        <p:spPr>
          <a:xfrm>
            <a:off x="457200" y="2194560"/>
            <a:ext cx="402336" cy="402336"/>
          </a:xfrm>
          <a:prstGeom prst="roundRect">
            <a:avLst>
              <a:gd name="adj" fmla="val 50000"/>
            </a:avLst>
          </a:prstGeom>
          <a:solidFill>
            <a:srgbClr val="1C3D5A"/>
          </a:solidFill>
          <a:ln w="12700">
            <a:solidFill>
              <a:srgbClr val="333333"/>
            </a:solidFill>
            <a:prstDash val="solid"/>
          </a:ln>
        </p:spPr>
        <p:txBody>
          <a:bodyPr/>
          <a:lstStyle/>
          <a:p>
            <a:endParaRPr lang="en-GB"/>
          </a:p>
        </p:txBody>
      </p:sp>
      <p:sp>
        <p:nvSpPr>
          <p:cNvPr id="9" name="Text 7"/>
          <p:cNvSpPr/>
          <p:nvPr/>
        </p:nvSpPr>
        <p:spPr>
          <a:xfrm>
            <a:off x="457200" y="2194560"/>
            <a:ext cx="402336" cy="402336"/>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10" name="Text 8"/>
          <p:cNvSpPr/>
          <p:nvPr/>
        </p:nvSpPr>
        <p:spPr>
          <a:xfrm>
            <a:off x="1024128" y="2176272"/>
            <a:ext cx="5852160" cy="274320"/>
          </a:xfrm>
          <a:prstGeom prst="rect">
            <a:avLst/>
          </a:prstGeom>
          <a:noFill/>
          <a:ln/>
        </p:spPr>
        <p:txBody>
          <a:bodyPr wrap="square" rtlCol="0" anchor="ctr"/>
          <a:lstStyle/>
          <a:p>
            <a:pPr marL="0" indent="0">
              <a:buNone/>
            </a:pPr>
            <a:r>
              <a:rPr lang="en-US" sz="1400" b="1" dirty="0">
                <a:solidFill>
                  <a:srgbClr val="12233A"/>
                </a:solidFill>
                <a:latin typeface="Calibri" pitchFamily="34" charset="0"/>
                <a:ea typeface="Calibri" pitchFamily="34" charset="-122"/>
                <a:cs typeface="Calibri" pitchFamily="34" charset="-120"/>
              </a:rPr>
              <a:t>Seed 10 candidate sets</a:t>
            </a:r>
            <a:endParaRPr lang="en-US" sz="1400" dirty="0"/>
          </a:p>
        </p:txBody>
      </p:sp>
      <p:sp>
        <p:nvSpPr>
          <p:cNvPr id="11" name="Text 9"/>
          <p:cNvSpPr/>
          <p:nvPr/>
        </p:nvSpPr>
        <p:spPr>
          <a:xfrm>
            <a:off x="1024128" y="2441448"/>
            <a:ext cx="5989320" cy="621792"/>
          </a:xfrm>
          <a:prstGeom prst="rect">
            <a:avLst/>
          </a:prstGeom>
          <a:noFill/>
          <a:ln/>
        </p:spPr>
        <p:txBody>
          <a:bodyPr wrap="square" rtlCol="0" anchor="t"/>
          <a:lstStyle/>
          <a:p>
            <a:pPr marL="0" indent="0">
              <a:buNone/>
            </a:pPr>
            <a:r>
              <a:rPr lang="en-US" sz="1050" dirty="0">
                <a:solidFill>
                  <a:srgbClr val="5B6B7B"/>
                </a:solidFill>
                <a:latin typeface="Calibri" pitchFamily="34" charset="0"/>
                <a:ea typeface="Calibri" pitchFamily="34" charset="-122"/>
                <a:cs typeface="Calibri" pitchFamily="34" charset="-120"/>
              </a:rPr>
              <a:t>top-p by x* and the lazy-greedy set (CELF, Leskovec et al. 2007 — marginal travel gains are submodular), so the result can never be worse than either; plus 8 x*-weighted random draws (Efraimidis–Spirakis 2006 A-Res); must-open pharmacies (x*≈1) are always kept.</a:t>
            </a:r>
            <a:endParaRPr lang="en-US" sz="1050" dirty="0"/>
          </a:p>
        </p:txBody>
      </p:sp>
      <p:sp>
        <p:nvSpPr>
          <p:cNvPr id="12" name="Shape 10"/>
          <p:cNvSpPr/>
          <p:nvPr/>
        </p:nvSpPr>
        <p:spPr>
          <a:xfrm>
            <a:off x="457200" y="3090672"/>
            <a:ext cx="402336" cy="402336"/>
          </a:xfrm>
          <a:prstGeom prst="roundRect">
            <a:avLst>
              <a:gd name="adj" fmla="val 50000"/>
            </a:avLst>
          </a:prstGeom>
          <a:solidFill>
            <a:srgbClr val="1C3D5A"/>
          </a:solidFill>
          <a:ln w="12700">
            <a:solidFill>
              <a:srgbClr val="333333"/>
            </a:solidFill>
            <a:prstDash val="solid"/>
          </a:ln>
        </p:spPr>
        <p:txBody>
          <a:bodyPr/>
          <a:lstStyle/>
          <a:p>
            <a:endParaRPr lang="en-GB"/>
          </a:p>
        </p:txBody>
      </p:sp>
      <p:sp>
        <p:nvSpPr>
          <p:cNvPr id="13" name="Text 11"/>
          <p:cNvSpPr/>
          <p:nvPr/>
        </p:nvSpPr>
        <p:spPr>
          <a:xfrm>
            <a:off x="457200" y="3090672"/>
            <a:ext cx="402336" cy="402336"/>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14" name="Text 12"/>
          <p:cNvSpPr/>
          <p:nvPr/>
        </p:nvSpPr>
        <p:spPr>
          <a:xfrm>
            <a:off x="1024128" y="3072384"/>
            <a:ext cx="5852160" cy="274320"/>
          </a:xfrm>
          <a:prstGeom prst="rect">
            <a:avLst/>
          </a:prstGeom>
          <a:noFill/>
          <a:ln/>
        </p:spPr>
        <p:txBody>
          <a:bodyPr wrap="square" rtlCol="0" anchor="ctr"/>
          <a:lstStyle/>
          <a:p>
            <a:pPr marL="0" indent="0">
              <a:buNone/>
            </a:pPr>
            <a:r>
              <a:rPr lang="en-US" sz="1400" b="1" dirty="0">
                <a:solidFill>
                  <a:srgbClr val="12233A"/>
                </a:solidFill>
                <a:latin typeface="Calibri" pitchFamily="34" charset="0"/>
                <a:ea typeface="Calibri" pitchFamily="34" charset="-122"/>
                <a:cs typeface="Calibri" pitchFamily="34" charset="-120"/>
              </a:rPr>
              <a:t>Polish by swaps</a:t>
            </a:r>
            <a:endParaRPr lang="en-US" sz="1400" dirty="0"/>
          </a:p>
        </p:txBody>
      </p:sp>
      <p:sp>
        <p:nvSpPr>
          <p:cNvPr id="15" name="Text 13"/>
          <p:cNvSpPr/>
          <p:nvPr/>
        </p:nvSpPr>
        <p:spPr>
          <a:xfrm>
            <a:off x="1024128" y="3337560"/>
            <a:ext cx="5989320" cy="621792"/>
          </a:xfrm>
          <a:prstGeom prst="rect">
            <a:avLst/>
          </a:prstGeom>
          <a:noFill/>
          <a:ln/>
        </p:spPr>
        <p:txBody>
          <a:bodyPr wrap="square" rtlCol="0" anchor="t"/>
          <a:lstStyle/>
          <a:p>
            <a:pPr marL="0" indent="0">
              <a:buNone/>
            </a:pPr>
            <a:r>
              <a:rPr lang="en-US" sz="1050" dirty="0">
                <a:solidFill>
                  <a:srgbClr val="5B6B7B"/>
                </a:solidFill>
                <a:latin typeface="Calibri" pitchFamily="34" charset="0"/>
                <a:ea typeface="Calibri" pitchFamily="34" charset="-122"/>
                <a:cs typeface="Calibri" pitchFamily="34" charset="-120"/>
              </a:rPr>
              <a:t>best-improving open↔closed swaps over the fractional pool — the classic p-median vertex-substitution search, in its fast-interchange form (Resende &amp; Werneck 2007). Each swap is accepted only if the exact travel delta improves — cost strictly decreases, ≤ 12 rounds per seed.</a:t>
            </a:r>
            <a:endParaRPr lang="en-US" sz="1050" dirty="0"/>
          </a:p>
        </p:txBody>
      </p:sp>
      <p:sp>
        <p:nvSpPr>
          <p:cNvPr id="16" name="Shape 14"/>
          <p:cNvSpPr/>
          <p:nvPr/>
        </p:nvSpPr>
        <p:spPr>
          <a:xfrm>
            <a:off x="457200" y="3986784"/>
            <a:ext cx="402336" cy="402336"/>
          </a:xfrm>
          <a:prstGeom prst="roundRect">
            <a:avLst>
              <a:gd name="adj" fmla="val 50000"/>
            </a:avLst>
          </a:prstGeom>
          <a:solidFill>
            <a:srgbClr val="1C3D5A"/>
          </a:solidFill>
          <a:ln w="12700">
            <a:solidFill>
              <a:srgbClr val="333333"/>
            </a:solidFill>
            <a:prstDash val="solid"/>
          </a:ln>
        </p:spPr>
        <p:txBody>
          <a:bodyPr/>
          <a:lstStyle/>
          <a:p>
            <a:endParaRPr lang="en-GB"/>
          </a:p>
        </p:txBody>
      </p:sp>
      <p:sp>
        <p:nvSpPr>
          <p:cNvPr id="17" name="Text 15"/>
          <p:cNvSpPr/>
          <p:nvPr/>
        </p:nvSpPr>
        <p:spPr>
          <a:xfrm>
            <a:off x="457200" y="3986784"/>
            <a:ext cx="402336" cy="402336"/>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4</a:t>
            </a:r>
            <a:endParaRPr lang="en-US" sz="1600" dirty="0"/>
          </a:p>
        </p:txBody>
      </p:sp>
      <p:sp>
        <p:nvSpPr>
          <p:cNvPr id="18" name="Text 16"/>
          <p:cNvSpPr/>
          <p:nvPr/>
        </p:nvSpPr>
        <p:spPr>
          <a:xfrm>
            <a:off x="1024128" y="3968496"/>
            <a:ext cx="5852160" cy="274320"/>
          </a:xfrm>
          <a:prstGeom prst="rect">
            <a:avLst/>
          </a:prstGeom>
          <a:noFill/>
          <a:ln/>
        </p:spPr>
        <p:txBody>
          <a:bodyPr wrap="square" rtlCol="0" anchor="ctr"/>
          <a:lstStyle/>
          <a:p>
            <a:pPr marL="0" indent="0">
              <a:buNone/>
            </a:pPr>
            <a:r>
              <a:rPr lang="en-US" sz="1400" b="1" dirty="0">
                <a:solidFill>
                  <a:srgbClr val="12233A"/>
                </a:solidFill>
                <a:latin typeface="Calibri" pitchFamily="34" charset="0"/>
                <a:ea typeface="Calibri" pitchFamily="34" charset="-122"/>
                <a:cs typeface="Calibri" pitchFamily="34" charset="-120"/>
              </a:rPr>
              <a:t>Score coverage-honestly, keep the best</a:t>
            </a:r>
            <a:endParaRPr lang="en-US" sz="1400" dirty="0"/>
          </a:p>
        </p:txBody>
      </p:sp>
      <p:sp>
        <p:nvSpPr>
          <p:cNvPr id="19" name="Text 17"/>
          <p:cNvSpPr/>
          <p:nvPr/>
        </p:nvSpPr>
        <p:spPr>
          <a:xfrm>
            <a:off x="1024128" y="4233672"/>
            <a:ext cx="5989320" cy="621792"/>
          </a:xfrm>
          <a:prstGeom prst="rect">
            <a:avLst/>
          </a:prstGeom>
          <a:noFill/>
          <a:ln/>
        </p:spPr>
        <p:txBody>
          <a:bodyPr wrap="square" rtlCol="0" anchor="t"/>
          <a:lstStyle/>
          <a:p>
            <a:pPr marL="0" indent="0">
              <a:buNone/>
            </a:pPr>
            <a:r>
              <a:rPr lang="en-US" sz="1050" dirty="0">
                <a:solidFill>
                  <a:srgbClr val="5B6B7B"/>
                </a:solidFill>
                <a:latin typeface="Calibri" pitchFamily="34" charset="0"/>
                <a:ea typeface="Calibri" pitchFamily="34" charset="-122"/>
                <a:cs typeface="Calibri" pitchFamily="34" charset="-120"/>
              </a:rPr>
              <a:t>every client priced at its nearest open pharmacy, c(t); a client left with no open pharmacy in the OD (stranded) is priced at BIG — 120 min (linear) / 1.0 (logistic), the same price as in the LP and the baseline, so abandoning remote clusters is never free. Lowest total wins.</a:t>
            </a:r>
            <a:endParaRPr lang="en-US" sz="1050" dirty="0"/>
          </a:p>
        </p:txBody>
      </p:sp>
      <p:sp>
        <p:nvSpPr>
          <p:cNvPr id="20" name="Shape 18"/>
          <p:cNvSpPr/>
          <p:nvPr/>
        </p:nvSpPr>
        <p:spPr>
          <a:xfrm>
            <a:off x="7315200" y="1298448"/>
            <a:ext cx="4416552" cy="3566160"/>
          </a:xfrm>
          <a:prstGeom prst="roundRect">
            <a:avLst>
              <a:gd name="adj" fmla="val 1538"/>
            </a:avLst>
          </a:prstGeom>
          <a:solidFill>
            <a:srgbClr val="F0F6F2"/>
          </a:solidFill>
          <a:ln w="12700">
            <a:solidFill>
              <a:srgbClr val="1E7A52"/>
            </a:solidFill>
            <a:prstDash val="solid"/>
          </a:ln>
        </p:spPr>
        <p:txBody>
          <a:bodyPr/>
          <a:lstStyle/>
          <a:p>
            <a:endParaRPr lang="en-GB"/>
          </a:p>
        </p:txBody>
      </p:sp>
      <p:sp>
        <p:nvSpPr>
          <p:cNvPr id="21" name="Text 19"/>
          <p:cNvSpPr/>
          <p:nvPr/>
        </p:nvSpPr>
        <p:spPr>
          <a:xfrm>
            <a:off x="7498080" y="1408176"/>
            <a:ext cx="4069080" cy="274320"/>
          </a:xfrm>
          <a:prstGeom prst="rect">
            <a:avLst/>
          </a:prstGeom>
          <a:noFill/>
          <a:ln/>
        </p:spPr>
        <p:txBody>
          <a:bodyPr wrap="square" rtlCol="0" anchor="ctr"/>
          <a:lstStyle/>
          <a:p>
            <a:pPr marL="0" indent="0">
              <a:buNone/>
            </a:pPr>
            <a:r>
              <a:rPr lang="en-US" sz="1300" b="1" dirty="0">
                <a:solidFill>
                  <a:srgbClr val="1E7A52"/>
                </a:solidFill>
                <a:latin typeface="Calibri" pitchFamily="34" charset="0"/>
                <a:ea typeface="Calibri" pitchFamily="34" charset="-122"/>
                <a:cs typeface="Calibri" pitchFamily="34" charset="-120"/>
              </a:rPr>
              <a:t>Why this is an upper bound ✓</a:t>
            </a:r>
            <a:endParaRPr lang="en-US" sz="1300" dirty="0"/>
          </a:p>
        </p:txBody>
      </p:sp>
      <p:sp>
        <p:nvSpPr>
          <p:cNvPr id="22" name="Text 20"/>
          <p:cNvSpPr/>
          <p:nvPr/>
        </p:nvSpPr>
        <p:spPr>
          <a:xfrm>
            <a:off x="7498080" y="1719072"/>
            <a:ext cx="4069080" cy="3063240"/>
          </a:xfrm>
          <a:prstGeom prst="rect">
            <a:avLst/>
          </a:prstGeom>
          <a:noFill/>
          <a:ln/>
        </p:spPr>
        <p:txBody>
          <a:bodyPr wrap="square" rtlCol="0" anchor="t"/>
          <a:lstStyle/>
          <a:p>
            <a:pPr marL="0" indent="0">
              <a:lnSpc>
                <a:spcPct val="104000"/>
              </a:lnSpc>
              <a:buNone/>
            </a:pPr>
            <a:r>
              <a:rPr lang="en-US" sz="1050" dirty="0">
                <a:solidFill>
                  <a:srgbClr val="12233A"/>
                </a:solidFill>
                <a:latin typeface="Calibri" pitchFamily="34" charset="0"/>
                <a:ea typeface="Calibri" pitchFamily="34" charset="-122"/>
                <a:cs typeface="Calibri" pitchFamily="34" charset="-120"/>
              </a:rPr>
              <a:t>The rounded set is a feasible point of the same (soft-coverage) problem: exactly p pharmacies actually open (x integer), and every client is either assigned to its nearest open pharmacy or explicitly left unserved at BIG. Feasible ⟹ its objective can only be ≥ the integer optimum, which is ≥ the LP optimum:</a:t>
            </a:r>
            <a:endParaRPr lang="en-US" sz="1050" dirty="0"/>
          </a:p>
          <a:p>
            <a:pPr marL="0" indent="0">
              <a:lnSpc>
                <a:spcPct val="104000"/>
              </a:lnSpc>
              <a:buNone/>
            </a:pPr>
            <a:endParaRPr lang="en-US" sz="1050" dirty="0"/>
          </a:p>
          <a:p>
            <a:pPr marL="0" indent="0" algn="ctr">
              <a:lnSpc>
                <a:spcPct val="104000"/>
              </a:lnSpc>
              <a:buNone/>
            </a:pPr>
            <a:r>
              <a:rPr lang="en-US" sz="1050" b="1" dirty="0">
                <a:solidFill>
                  <a:srgbClr val="1E7A52"/>
                </a:solidFill>
                <a:latin typeface="Calibri" pitchFamily="34" charset="0"/>
                <a:ea typeface="Calibri" pitchFamily="34" charset="-122"/>
                <a:cs typeface="Calibri" pitchFamily="34" charset="-120"/>
              </a:rPr>
              <a:t>LP relax  ≤  integer optimum  ≤  multistart</a:t>
            </a:r>
            <a:endParaRPr lang="en-US" sz="1050" dirty="0"/>
          </a:p>
          <a:p>
            <a:pPr marL="0" indent="0">
              <a:lnSpc>
                <a:spcPct val="104000"/>
              </a:lnSpc>
              <a:buNone/>
            </a:pPr>
            <a:endParaRPr lang="en-US" sz="1050" dirty="0"/>
          </a:p>
          <a:p>
            <a:pPr marL="0" indent="0">
              <a:lnSpc>
                <a:spcPct val="104000"/>
              </a:lnSpc>
              <a:buNone/>
            </a:pPr>
            <a:r>
              <a:rPr lang="en-US" sz="1050" dirty="0">
                <a:solidFill>
                  <a:srgbClr val="5B6B7B"/>
                </a:solidFill>
                <a:latin typeface="Calibri" pitchFamily="34" charset="0"/>
                <a:ea typeface="Calibri" pitchFamily="34" charset="-122"/>
                <a:cs typeface="Calibri" pitchFamily="34" charset="-120"/>
              </a:rPr>
              <a:t>Rigorous throughout — no caveat needed. Under soft coverage leaving a client unserved is part of the feasible space, and it is priced at the same BIG in the LP bound, in the rounding and in the baseline. The unserved count is reported next to every figure.</a:t>
            </a:r>
            <a:endParaRPr lang="en-US" sz="1050" dirty="0"/>
          </a:p>
          <a:p>
            <a:pPr marL="0" indent="0">
              <a:lnSpc>
                <a:spcPct val="104000"/>
              </a:lnSpc>
              <a:buNone/>
            </a:pPr>
            <a:endParaRPr lang="en-US" sz="1050" dirty="0"/>
          </a:p>
          <a:p>
            <a:pPr marL="0" indent="0">
              <a:lnSpc>
                <a:spcPct val="104000"/>
              </a:lnSpc>
              <a:buNone/>
            </a:pPr>
            <a:r>
              <a:rPr lang="en-US" sz="1050" i="1" dirty="0">
                <a:solidFill>
                  <a:srgbClr val="12233A"/>
                </a:solidFill>
                <a:latin typeface="Calibri" pitchFamily="34" charset="0"/>
                <a:ea typeface="Calibri" pitchFamily="34" charset="-122"/>
                <a:cs typeface="Calibri" pitchFamily="34" charset="-120"/>
              </a:rPr>
              <a:t>The multi-vs-relax column in the end tables is therefore a certified optimality gap: the integer optimum lies inside it.</a:t>
            </a:r>
            <a:endParaRPr lang="en-US" sz="1050" dirty="0"/>
          </a:p>
        </p:txBody>
      </p:sp>
      <p:sp>
        <p:nvSpPr>
          <p:cNvPr id="23" name="Shape 21"/>
          <p:cNvSpPr/>
          <p:nvPr/>
        </p:nvSpPr>
        <p:spPr>
          <a:xfrm>
            <a:off x="457200" y="5029200"/>
            <a:ext cx="11274552" cy="1143000"/>
          </a:xfrm>
          <a:prstGeom prst="roundRect">
            <a:avLst>
              <a:gd name="adj" fmla="val 4800"/>
            </a:avLst>
          </a:prstGeom>
          <a:solidFill>
            <a:srgbClr val="F2F5F8"/>
          </a:solidFill>
          <a:ln w="12700">
            <a:solidFill>
              <a:srgbClr val="D9E0E7"/>
            </a:solidFill>
            <a:prstDash val="solid"/>
          </a:ln>
        </p:spPr>
        <p:txBody>
          <a:bodyPr/>
          <a:lstStyle/>
          <a:p>
            <a:endParaRPr lang="en-GB"/>
          </a:p>
        </p:txBody>
      </p:sp>
      <p:sp>
        <p:nvSpPr>
          <p:cNvPr id="24" name="Text 22"/>
          <p:cNvSpPr/>
          <p:nvPr/>
        </p:nvSpPr>
        <p:spPr>
          <a:xfrm>
            <a:off x="685800" y="5166360"/>
            <a:ext cx="10835640" cy="914400"/>
          </a:xfrm>
          <a:prstGeom prst="rect">
            <a:avLst/>
          </a:prstGeom>
          <a:noFill/>
          <a:ln/>
        </p:spPr>
        <p:txBody>
          <a:bodyPr wrap="square" rtlCol="0" anchor="t"/>
          <a:lstStyle/>
          <a:p>
            <a:pPr marL="0" indent="0">
              <a:buNone/>
            </a:pPr>
            <a:r>
              <a:rPr lang="en-US" sz="1100" b="1" dirty="0">
                <a:solidFill>
                  <a:srgbClr val="12233A"/>
                </a:solidFill>
                <a:latin typeface="Calibri" pitchFamily="34" charset="0"/>
                <a:ea typeface="Calibri" pitchFamily="34" charset="-122"/>
                <a:cs typeface="Calibri" pitchFamily="34" charset="-120"/>
              </a:rPr>
              <a:t>Checked against the implementation (lp_run.jl).  </a:t>
            </a:r>
            <a:r>
              <a:rPr lang="en-US" sz="1100" dirty="0">
                <a:solidFill>
                  <a:srgbClr val="5B6B7B"/>
                </a:solidFill>
                <a:latin typeface="Calibri" pitchFamily="34" charset="0"/>
                <a:ea typeface="Calibri" pitchFamily="34" charset="-122"/>
                <a:cs typeface="Calibri" pitchFamily="34" charset="-120"/>
              </a:rPr>
              <a:t>An LP-guided matheuristic. The swap profit is the exact per-swap travel change (gain − loss + interaction term — verified case-by-case), so polish is monotone and multistart ≤ min(top-p, greedy) by construction; the final choice re-evaluates every polished set from scratch (travel_of). Deterministic: fixed RNG seed, so decks reproduce. Cost: seconds per point — the LP solve dominates.</a:t>
            </a:r>
            <a:endParaRPr lang="en-US" sz="1100" dirty="0"/>
          </a:p>
        </p:txBody>
      </p:sp>
      <p:sp>
        <p:nvSpPr>
          <p:cNvPr id="25" name="Text 23"/>
          <p:cNvSpPr/>
          <p:nvPr/>
        </p:nvSpPr>
        <p:spPr>
          <a:xfrm>
            <a:off x="457200" y="6355080"/>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lp_run.jl: multistart_round (seeds), swap_round! (fast interchange), travel_of (coverage-honest metric), assign_nearest (final assignment) · MS_RESTARTS=10, MS_ROUNDS=12, MS_SEED fixed.</a:t>
            </a:r>
            <a:endParaRPr lang="en-US" sz="850" dirty="0"/>
          </a:p>
        </p:txBody>
      </p:sp>
    </p:spTree>
    <p:extLst>
      <p:ext uri="{BB962C8B-B14F-4D97-AF65-F5344CB8AC3E}">
        <p14:creationId xmlns:p14="http://schemas.microsoft.com/office/powerpoint/2010/main" val="193680113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20040"/>
            <a:ext cx="10972800" cy="274320"/>
          </a:xfrm>
          <a:prstGeom prst="rect">
            <a:avLst/>
          </a:prstGeom>
          <a:noFill/>
          <a:ln/>
        </p:spPr>
        <p:txBody>
          <a:bodyPr wrap="square" lIns="0" tIns="0" rIns="0" bIns="0" rtlCol="0" anchor="ctr"/>
          <a:lstStyle/>
          <a:p>
            <a:pPr marL="0" indent="0">
              <a:buNone/>
            </a:pPr>
            <a:r>
              <a:rPr lang="en-US" sz="1100" kern="0" spc="400" dirty="0">
                <a:solidFill>
                  <a:srgbClr val="1C7293"/>
                </a:solidFill>
                <a:latin typeface="Calibri" pitchFamily="34" charset="0"/>
                <a:ea typeface="Calibri" pitchFamily="34" charset="-122"/>
                <a:cs typeface="Calibri" pitchFamily="34" charset="-120"/>
              </a:rPr>
              <a:t>WHY FRACTIONAL SUM_X IS INFORMATIVE, NOT NOISE</a:t>
            </a:r>
            <a:endParaRPr lang="en-US" sz="1100" dirty="0"/>
          </a:p>
        </p:txBody>
      </p:sp>
      <p:sp>
        <p:nvSpPr>
          <p:cNvPr id="3" name="Text 1"/>
          <p:cNvSpPr/>
          <p:nvPr/>
        </p:nvSpPr>
        <p:spPr>
          <a:xfrm>
            <a:off x="548640" y="594360"/>
            <a:ext cx="10972800" cy="731520"/>
          </a:xfrm>
          <a:prstGeom prst="rect">
            <a:avLst/>
          </a:prstGeom>
          <a:noFill/>
          <a:ln/>
        </p:spPr>
        <p:txBody>
          <a:bodyPr wrap="square" lIns="0" tIns="0" rIns="0" bIns="0" rtlCol="0" anchor="ctr"/>
          <a:lstStyle/>
          <a:p>
            <a:pPr marL="0" indent="0">
              <a:buNone/>
            </a:pPr>
            <a:r>
              <a:rPr lang="en-US" sz="3200" b="1" dirty="0">
                <a:solidFill>
                  <a:srgbClr val="21295C"/>
                </a:solidFill>
                <a:latin typeface="Georgia" pitchFamily="34" charset="0"/>
                <a:ea typeface="Georgia" pitchFamily="34" charset="-122"/>
                <a:cs typeface="Georgia" pitchFamily="34" charset="-120"/>
              </a:rPr>
              <a:t>Integrality gap: LP can strictly beat IP</a:t>
            </a:r>
            <a:endParaRPr lang="en-US" sz="3200" dirty="0"/>
          </a:p>
        </p:txBody>
      </p:sp>
      <p:sp>
        <p:nvSpPr>
          <p:cNvPr id="4" name="Shape 2"/>
          <p:cNvSpPr/>
          <p:nvPr/>
        </p:nvSpPr>
        <p:spPr>
          <a:xfrm>
            <a:off x="548640" y="1554480"/>
            <a:ext cx="5029200" cy="4754880"/>
          </a:xfrm>
          <a:prstGeom prst="rect">
            <a:avLst/>
          </a:prstGeom>
          <a:solidFill>
            <a:srgbClr val="E8EEF3"/>
          </a:solidFill>
          <a:ln w="6350">
            <a:solidFill>
              <a:srgbClr val="DCE3EA"/>
            </a:solidFill>
            <a:prstDash val="solid"/>
          </a:ln>
        </p:spPr>
        <p:txBody>
          <a:bodyPr/>
          <a:lstStyle/>
          <a:p>
            <a:endParaRPr lang="en-GB"/>
          </a:p>
        </p:txBody>
      </p:sp>
      <p:sp>
        <p:nvSpPr>
          <p:cNvPr id="5" name="Shape 3"/>
          <p:cNvSpPr/>
          <p:nvPr/>
        </p:nvSpPr>
        <p:spPr>
          <a:xfrm flipH="1">
            <a:off x="1717060" y="2560320"/>
            <a:ext cx="1346180" cy="2331720"/>
          </a:xfrm>
          <a:prstGeom prst="line">
            <a:avLst/>
          </a:prstGeom>
          <a:noFill/>
          <a:ln w="19050">
            <a:solidFill>
              <a:srgbClr val="64748B"/>
            </a:solidFill>
            <a:prstDash val="solid"/>
            <a:headEnd type="none"/>
            <a:tailEnd type="none"/>
          </a:ln>
        </p:spPr>
        <p:txBody>
          <a:bodyPr/>
          <a:lstStyle/>
          <a:p>
            <a:endParaRPr lang="en-GB"/>
          </a:p>
        </p:txBody>
      </p:sp>
      <p:sp>
        <p:nvSpPr>
          <p:cNvPr id="6" name="Shape 4"/>
          <p:cNvSpPr/>
          <p:nvPr/>
        </p:nvSpPr>
        <p:spPr>
          <a:xfrm>
            <a:off x="1717060" y="4892040"/>
            <a:ext cx="2692359" cy="0"/>
          </a:xfrm>
          <a:prstGeom prst="line">
            <a:avLst/>
          </a:prstGeom>
          <a:noFill/>
          <a:ln w="19050">
            <a:solidFill>
              <a:srgbClr val="64748B"/>
            </a:solidFill>
            <a:prstDash val="solid"/>
            <a:headEnd type="none"/>
            <a:tailEnd type="none"/>
          </a:ln>
        </p:spPr>
        <p:txBody>
          <a:bodyPr/>
          <a:lstStyle/>
          <a:p>
            <a:endParaRPr lang="en-GB"/>
          </a:p>
        </p:txBody>
      </p:sp>
      <p:sp>
        <p:nvSpPr>
          <p:cNvPr id="7" name="Shape 5"/>
          <p:cNvSpPr/>
          <p:nvPr/>
        </p:nvSpPr>
        <p:spPr>
          <a:xfrm flipH="1" flipV="1">
            <a:off x="3063240" y="2560320"/>
            <a:ext cx="1346180" cy="2331720"/>
          </a:xfrm>
          <a:prstGeom prst="line">
            <a:avLst/>
          </a:prstGeom>
          <a:noFill/>
          <a:ln w="19050">
            <a:solidFill>
              <a:srgbClr val="64748B"/>
            </a:solidFill>
            <a:prstDash val="solid"/>
            <a:headEnd type="none"/>
            <a:tailEnd type="none"/>
          </a:ln>
        </p:spPr>
        <p:txBody>
          <a:bodyPr/>
          <a:lstStyle/>
          <a:p>
            <a:endParaRPr lang="en-GB"/>
          </a:p>
        </p:txBody>
      </p:sp>
      <p:sp>
        <p:nvSpPr>
          <p:cNvPr id="8" name="Shape 6"/>
          <p:cNvSpPr/>
          <p:nvPr/>
        </p:nvSpPr>
        <p:spPr>
          <a:xfrm>
            <a:off x="2880360" y="2377440"/>
            <a:ext cx="365760" cy="365760"/>
          </a:xfrm>
          <a:prstGeom prst="ellipse">
            <a:avLst/>
          </a:prstGeom>
          <a:solidFill>
            <a:srgbClr val="065A82"/>
          </a:solidFill>
          <a:ln w="6350">
            <a:solidFill>
              <a:srgbClr val="21295C"/>
            </a:solidFill>
            <a:prstDash val="solid"/>
          </a:ln>
        </p:spPr>
        <p:txBody>
          <a:bodyPr/>
          <a:lstStyle/>
          <a:p>
            <a:endParaRPr lang="en-GB"/>
          </a:p>
        </p:txBody>
      </p:sp>
      <p:sp>
        <p:nvSpPr>
          <p:cNvPr id="9" name="Text 7"/>
          <p:cNvSpPr/>
          <p:nvPr/>
        </p:nvSpPr>
        <p:spPr>
          <a:xfrm>
            <a:off x="2880360" y="2377440"/>
            <a:ext cx="365760" cy="36576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i₃</a:t>
            </a:r>
            <a:endParaRPr lang="en-US" sz="1300" dirty="0"/>
          </a:p>
        </p:txBody>
      </p:sp>
      <p:sp>
        <p:nvSpPr>
          <p:cNvPr id="10" name="Shape 8"/>
          <p:cNvSpPr/>
          <p:nvPr/>
        </p:nvSpPr>
        <p:spPr>
          <a:xfrm>
            <a:off x="1534180" y="4709160"/>
            <a:ext cx="365760" cy="365760"/>
          </a:xfrm>
          <a:prstGeom prst="ellipse">
            <a:avLst/>
          </a:prstGeom>
          <a:solidFill>
            <a:srgbClr val="065A82"/>
          </a:solidFill>
          <a:ln w="6350">
            <a:solidFill>
              <a:srgbClr val="21295C"/>
            </a:solidFill>
            <a:prstDash val="solid"/>
          </a:ln>
        </p:spPr>
        <p:txBody>
          <a:bodyPr/>
          <a:lstStyle/>
          <a:p>
            <a:endParaRPr lang="en-GB"/>
          </a:p>
        </p:txBody>
      </p:sp>
      <p:sp>
        <p:nvSpPr>
          <p:cNvPr id="11" name="Text 9"/>
          <p:cNvSpPr/>
          <p:nvPr/>
        </p:nvSpPr>
        <p:spPr>
          <a:xfrm>
            <a:off x="1534180" y="4709160"/>
            <a:ext cx="365760" cy="36576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i₁</a:t>
            </a:r>
            <a:endParaRPr lang="en-US" sz="1300" dirty="0"/>
          </a:p>
        </p:txBody>
      </p:sp>
      <p:sp>
        <p:nvSpPr>
          <p:cNvPr id="12" name="Shape 10"/>
          <p:cNvSpPr/>
          <p:nvPr/>
        </p:nvSpPr>
        <p:spPr>
          <a:xfrm>
            <a:off x="4226540" y="4709160"/>
            <a:ext cx="365760" cy="365760"/>
          </a:xfrm>
          <a:prstGeom prst="ellipse">
            <a:avLst/>
          </a:prstGeom>
          <a:solidFill>
            <a:srgbClr val="065A82"/>
          </a:solidFill>
          <a:ln w="6350">
            <a:solidFill>
              <a:srgbClr val="21295C"/>
            </a:solidFill>
            <a:prstDash val="solid"/>
          </a:ln>
        </p:spPr>
        <p:txBody>
          <a:bodyPr/>
          <a:lstStyle/>
          <a:p>
            <a:endParaRPr lang="en-GB"/>
          </a:p>
        </p:txBody>
      </p:sp>
      <p:sp>
        <p:nvSpPr>
          <p:cNvPr id="13" name="Text 11"/>
          <p:cNvSpPr/>
          <p:nvPr/>
        </p:nvSpPr>
        <p:spPr>
          <a:xfrm>
            <a:off x="4226540" y="4709160"/>
            <a:ext cx="365760" cy="36576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i₂</a:t>
            </a:r>
            <a:endParaRPr lang="en-US" sz="1300" dirty="0"/>
          </a:p>
        </p:txBody>
      </p:sp>
      <p:sp>
        <p:nvSpPr>
          <p:cNvPr id="14" name="Shape 12"/>
          <p:cNvSpPr/>
          <p:nvPr/>
        </p:nvSpPr>
        <p:spPr>
          <a:xfrm>
            <a:off x="2207270" y="3543300"/>
            <a:ext cx="365760" cy="365760"/>
          </a:xfrm>
          <a:prstGeom prst="rect">
            <a:avLst/>
          </a:prstGeom>
          <a:solidFill>
            <a:srgbClr val="F2B632"/>
          </a:solidFill>
          <a:ln w="6350">
            <a:solidFill>
              <a:srgbClr val="8A6510"/>
            </a:solidFill>
            <a:prstDash val="solid"/>
          </a:ln>
        </p:spPr>
        <p:txBody>
          <a:bodyPr/>
          <a:lstStyle/>
          <a:p>
            <a:endParaRPr lang="en-GB"/>
          </a:p>
        </p:txBody>
      </p:sp>
      <p:sp>
        <p:nvSpPr>
          <p:cNvPr id="15" name="Text 13"/>
          <p:cNvSpPr/>
          <p:nvPr/>
        </p:nvSpPr>
        <p:spPr>
          <a:xfrm>
            <a:off x="2207270" y="3543300"/>
            <a:ext cx="365760" cy="365760"/>
          </a:xfrm>
          <a:prstGeom prst="rect">
            <a:avLst/>
          </a:prstGeom>
          <a:noFill/>
          <a:ln/>
        </p:spPr>
        <p:txBody>
          <a:bodyPr wrap="square" lIns="0" tIns="0" rIns="0" bIns="0" rtlCol="0" anchor="ctr"/>
          <a:lstStyle/>
          <a:p>
            <a:pPr marL="0" indent="0" algn="ctr">
              <a:buNone/>
            </a:pPr>
            <a:r>
              <a:rPr lang="en-US" sz="1200" b="1" dirty="0">
                <a:solidFill>
                  <a:srgbClr val="21295C"/>
                </a:solidFill>
                <a:latin typeface="Calibri" pitchFamily="34" charset="0"/>
                <a:ea typeface="Calibri" pitchFamily="34" charset="-122"/>
                <a:cs typeface="Calibri" pitchFamily="34" charset="-120"/>
              </a:rPr>
              <a:t>j₂</a:t>
            </a:r>
            <a:endParaRPr lang="en-US" sz="1200" dirty="0"/>
          </a:p>
        </p:txBody>
      </p:sp>
      <p:sp>
        <p:nvSpPr>
          <p:cNvPr id="16" name="Shape 14"/>
          <p:cNvSpPr/>
          <p:nvPr/>
        </p:nvSpPr>
        <p:spPr>
          <a:xfrm>
            <a:off x="3553450" y="3543300"/>
            <a:ext cx="365760" cy="365760"/>
          </a:xfrm>
          <a:prstGeom prst="rect">
            <a:avLst/>
          </a:prstGeom>
          <a:solidFill>
            <a:srgbClr val="F2B632"/>
          </a:solidFill>
          <a:ln w="6350">
            <a:solidFill>
              <a:srgbClr val="8A6510"/>
            </a:solidFill>
            <a:prstDash val="solid"/>
          </a:ln>
        </p:spPr>
        <p:txBody>
          <a:bodyPr/>
          <a:lstStyle/>
          <a:p>
            <a:endParaRPr lang="en-GB"/>
          </a:p>
        </p:txBody>
      </p:sp>
      <p:sp>
        <p:nvSpPr>
          <p:cNvPr id="17" name="Text 15"/>
          <p:cNvSpPr/>
          <p:nvPr/>
        </p:nvSpPr>
        <p:spPr>
          <a:xfrm>
            <a:off x="3553450" y="3543300"/>
            <a:ext cx="365760" cy="365760"/>
          </a:xfrm>
          <a:prstGeom prst="rect">
            <a:avLst/>
          </a:prstGeom>
          <a:noFill/>
          <a:ln/>
        </p:spPr>
        <p:txBody>
          <a:bodyPr wrap="square" lIns="0" tIns="0" rIns="0" bIns="0" rtlCol="0" anchor="ctr"/>
          <a:lstStyle/>
          <a:p>
            <a:pPr marL="0" indent="0" algn="ctr">
              <a:buNone/>
            </a:pPr>
            <a:r>
              <a:rPr lang="en-US" sz="1200" b="1" dirty="0">
                <a:solidFill>
                  <a:srgbClr val="21295C"/>
                </a:solidFill>
                <a:latin typeface="Calibri" pitchFamily="34" charset="0"/>
                <a:ea typeface="Calibri" pitchFamily="34" charset="-122"/>
                <a:cs typeface="Calibri" pitchFamily="34" charset="-120"/>
              </a:rPr>
              <a:t>j₃</a:t>
            </a:r>
            <a:endParaRPr lang="en-US" sz="1200" dirty="0"/>
          </a:p>
        </p:txBody>
      </p:sp>
      <p:sp>
        <p:nvSpPr>
          <p:cNvPr id="18" name="Shape 16"/>
          <p:cNvSpPr/>
          <p:nvPr/>
        </p:nvSpPr>
        <p:spPr>
          <a:xfrm>
            <a:off x="2880360" y="4709160"/>
            <a:ext cx="365760" cy="365760"/>
          </a:xfrm>
          <a:prstGeom prst="rect">
            <a:avLst/>
          </a:prstGeom>
          <a:solidFill>
            <a:srgbClr val="F2B632"/>
          </a:solidFill>
          <a:ln w="6350">
            <a:solidFill>
              <a:srgbClr val="8A6510"/>
            </a:solidFill>
            <a:prstDash val="solid"/>
          </a:ln>
        </p:spPr>
        <p:txBody>
          <a:bodyPr/>
          <a:lstStyle/>
          <a:p>
            <a:endParaRPr lang="en-GB"/>
          </a:p>
        </p:txBody>
      </p:sp>
      <p:sp>
        <p:nvSpPr>
          <p:cNvPr id="19" name="Text 17"/>
          <p:cNvSpPr/>
          <p:nvPr/>
        </p:nvSpPr>
        <p:spPr>
          <a:xfrm>
            <a:off x="2880360" y="4709160"/>
            <a:ext cx="365760" cy="365760"/>
          </a:xfrm>
          <a:prstGeom prst="rect">
            <a:avLst/>
          </a:prstGeom>
          <a:noFill/>
          <a:ln/>
        </p:spPr>
        <p:txBody>
          <a:bodyPr wrap="square" lIns="0" tIns="0" rIns="0" bIns="0" rtlCol="0" anchor="ctr"/>
          <a:lstStyle/>
          <a:p>
            <a:pPr marL="0" indent="0" algn="ctr">
              <a:buNone/>
            </a:pPr>
            <a:r>
              <a:rPr lang="en-US" sz="1200" b="1" dirty="0">
                <a:solidFill>
                  <a:srgbClr val="21295C"/>
                </a:solidFill>
                <a:latin typeface="Calibri" pitchFamily="34" charset="0"/>
                <a:ea typeface="Calibri" pitchFamily="34" charset="-122"/>
                <a:cs typeface="Calibri" pitchFamily="34" charset="-120"/>
              </a:rPr>
              <a:t>j₁</a:t>
            </a:r>
            <a:endParaRPr lang="en-US" sz="1200" dirty="0"/>
          </a:p>
        </p:txBody>
      </p:sp>
      <p:sp>
        <p:nvSpPr>
          <p:cNvPr id="20" name="Text 18"/>
          <p:cNvSpPr/>
          <p:nvPr/>
        </p:nvSpPr>
        <p:spPr>
          <a:xfrm>
            <a:off x="2280422" y="4553712"/>
            <a:ext cx="228600" cy="228600"/>
          </a:xfrm>
          <a:prstGeom prst="rect">
            <a:avLst/>
          </a:prstGeom>
          <a:noFill/>
          <a:ln/>
        </p:spPr>
        <p:txBody>
          <a:bodyPr wrap="square" lIns="0" tIns="0" rIns="0" bIns="0" rtlCol="0" anchor="ctr"/>
          <a:lstStyle/>
          <a:p>
            <a:pPr marL="0" indent="0" algn="ctr">
              <a:buNone/>
            </a:pPr>
            <a:r>
              <a:rPr lang="en-US" sz="1100" i="1" dirty="0">
                <a:solidFill>
                  <a:srgbClr val="64748B"/>
                </a:solidFill>
                <a:latin typeface="Calibri" pitchFamily="34" charset="0"/>
                <a:ea typeface="Calibri" pitchFamily="34" charset="-122"/>
                <a:cs typeface="Calibri" pitchFamily="34" charset="-120"/>
              </a:rPr>
              <a:t>1</a:t>
            </a:r>
            <a:endParaRPr lang="en-US" sz="1100" dirty="0"/>
          </a:p>
        </p:txBody>
      </p:sp>
      <p:sp>
        <p:nvSpPr>
          <p:cNvPr id="21" name="Text 19"/>
          <p:cNvSpPr/>
          <p:nvPr/>
        </p:nvSpPr>
        <p:spPr>
          <a:xfrm>
            <a:off x="3626602" y="4553712"/>
            <a:ext cx="228600" cy="228600"/>
          </a:xfrm>
          <a:prstGeom prst="rect">
            <a:avLst/>
          </a:prstGeom>
          <a:noFill/>
          <a:ln/>
        </p:spPr>
        <p:txBody>
          <a:bodyPr wrap="square" lIns="0" tIns="0" rIns="0" bIns="0" rtlCol="0" anchor="ctr"/>
          <a:lstStyle/>
          <a:p>
            <a:pPr marL="0" indent="0" algn="ctr">
              <a:buNone/>
            </a:pPr>
            <a:r>
              <a:rPr lang="en-US" sz="1100" i="1" dirty="0">
                <a:solidFill>
                  <a:srgbClr val="64748B"/>
                </a:solidFill>
                <a:latin typeface="Calibri" pitchFamily="34" charset="0"/>
                <a:ea typeface="Calibri" pitchFamily="34" charset="-122"/>
                <a:cs typeface="Calibri" pitchFamily="34" charset="-120"/>
              </a:rPr>
              <a:t>1</a:t>
            </a:r>
            <a:endParaRPr lang="en-US" sz="1100" dirty="0"/>
          </a:p>
        </p:txBody>
      </p:sp>
      <p:sp>
        <p:nvSpPr>
          <p:cNvPr id="22" name="Text 20"/>
          <p:cNvSpPr/>
          <p:nvPr/>
        </p:nvSpPr>
        <p:spPr>
          <a:xfrm>
            <a:off x="1687845" y="4199382"/>
            <a:ext cx="228600" cy="228600"/>
          </a:xfrm>
          <a:prstGeom prst="rect">
            <a:avLst/>
          </a:prstGeom>
          <a:noFill/>
          <a:ln/>
        </p:spPr>
        <p:txBody>
          <a:bodyPr wrap="square" lIns="0" tIns="0" rIns="0" bIns="0" rtlCol="0" anchor="ctr"/>
          <a:lstStyle/>
          <a:p>
            <a:pPr marL="0" indent="0" algn="ctr">
              <a:buNone/>
            </a:pPr>
            <a:r>
              <a:rPr lang="en-US" sz="1100" i="1" dirty="0">
                <a:solidFill>
                  <a:srgbClr val="64748B"/>
                </a:solidFill>
                <a:latin typeface="Calibri" pitchFamily="34" charset="0"/>
                <a:ea typeface="Calibri" pitchFamily="34" charset="-122"/>
                <a:cs typeface="Calibri" pitchFamily="34" charset="-120"/>
              </a:rPr>
              <a:t>1</a:t>
            </a:r>
            <a:endParaRPr lang="en-US" sz="1100" dirty="0"/>
          </a:p>
        </p:txBody>
      </p:sp>
      <p:sp>
        <p:nvSpPr>
          <p:cNvPr id="23" name="Text 21"/>
          <p:cNvSpPr/>
          <p:nvPr/>
        </p:nvSpPr>
        <p:spPr>
          <a:xfrm>
            <a:off x="2360935" y="3033522"/>
            <a:ext cx="228600" cy="228600"/>
          </a:xfrm>
          <a:prstGeom prst="rect">
            <a:avLst/>
          </a:prstGeom>
          <a:noFill/>
          <a:ln/>
        </p:spPr>
        <p:txBody>
          <a:bodyPr wrap="square" lIns="0" tIns="0" rIns="0" bIns="0" rtlCol="0" anchor="ctr"/>
          <a:lstStyle/>
          <a:p>
            <a:pPr marL="0" indent="0" algn="ctr">
              <a:buNone/>
            </a:pPr>
            <a:r>
              <a:rPr lang="en-US" sz="1100" i="1" dirty="0">
                <a:solidFill>
                  <a:srgbClr val="64748B"/>
                </a:solidFill>
                <a:latin typeface="Calibri" pitchFamily="34" charset="0"/>
                <a:ea typeface="Calibri" pitchFamily="34" charset="-122"/>
                <a:cs typeface="Calibri" pitchFamily="34" charset="-120"/>
              </a:rPr>
              <a:t>1</a:t>
            </a:r>
            <a:endParaRPr lang="en-US" sz="1100" dirty="0"/>
          </a:p>
        </p:txBody>
      </p:sp>
      <p:sp>
        <p:nvSpPr>
          <p:cNvPr id="24" name="Text 22"/>
          <p:cNvSpPr/>
          <p:nvPr/>
        </p:nvSpPr>
        <p:spPr>
          <a:xfrm>
            <a:off x="4210035" y="4199382"/>
            <a:ext cx="228600" cy="228600"/>
          </a:xfrm>
          <a:prstGeom prst="rect">
            <a:avLst/>
          </a:prstGeom>
          <a:noFill/>
          <a:ln/>
        </p:spPr>
        <p:txBody>
          <a:bodyPr wrap="square" lIns="0" tIns="0" rIns="0" bIns="0" rtlCol="0" anchor="ctr"/>
          <a:lstStyle/>
          <a:p>
            <a:pPr marL="0" indent="0" algn="ctr">
              <a:buNone/>
            </a:pPr>
            <a:r>
              <a:rPr lang="en-US" sz="1100" i="1" dirty="0">
                <a:solidFill>
                  <a:srgbClr val="64748B"/>
                </a:solidFill>
                <a:latin typeface="Calibri" pitchFamily="34" charset="0"/>
                <a:ea typeface="Calibri" pitchFamily="34" charset="-122"/>
                <a:cs typeface="Calibri" pitchFamily="34" charset="-120"/>
              </a:rPr>
              <a:t>1</a:t>
            </a:r>
            <a:endParaRPr lang="en-US" sz="1100" dirty="0"/>
          </a:p>
        </p:txBody>
      </p:sp>
      <p:sp>
        <p:nvSpPr>
          <p:cNvPr id="25" name="Text 23"/>
          <p:cNvSpPr/>
          <p:nvPr/>
        </p:nvSpPr>
        <p:spPr>
          <a:xfrm>
            <a:off x="3536945" y="3033522"/>
            <a:ext cx="228600" cy="228600"/>
          </a:xfrm>
          <a:prstGeom prst="rect">
            <a:avLst/>
          </a:prstGeom>
          <a:noFill/>
          <a:ln/>
        </p:spPr>
        <p:txBody>
          <a:bodyPr wrap="square" lIns="0" tIns="0" rIns="0" bIns="0" rtlCol="0" anchor="ctr"/>
          <a:lstStyle/>
          <a:p>
            <a:pPr marL="0" indent="0" algn="ctr">
              <a:buNone/>
            </a:pPr>
            <a:r>
              <a:rPr lang="en-US" sz="1100" i="1" dirty="0">
                <a:solidFill>
                  <a:srgbClr val="64748B"/>
                </a:solidFill>
                <a:latin typeface="Calibri" pitchFamily="34" charset="0"/>
                <a:ea typeface="Calibri" pitchFamily="34" charset="-122"/>
                <a:cs typeface="Calibri" pitchFamily="34" charset="-120"/>
              </a:rPr>
              <a:t>1</a:t>
            </a:r>
            <a:endParaRPr lang="en-US" sz="1100" dirty="0"/>
          </a:p>
        </p:txBody>
      </p:sp>
      <p:sp>
        <p:nvSpPr>
          <p:cNvPr id="26" name="Text 24"/>
          <p:cNvSpPr/>
          <p:nvPr/>
        </p:nvSpPr>
        <p:spPr>
          <a:xfrm>
            <a:off x="640080" y="5943600"/>
            <a:ext cx="4846320" cy="320040"/>
          </a:xfrm>
          <a:prstGeom prst="rect">
            <a:avLst/>
          </a:prstGeom>
          <a:noFill/>
          <a:ln/>
        </p:spPr>
        <p:txBody>
          <a:bodyPr wrap="square" lIns="0" tIns="0" rIns="0" bIns="0" rtlCol="0" anchor="ctr"/>
          <a:lstStyle/>
          <a:p>
            <a:pPr marL="0" indent="0" algn="ctr">
              <a:buNone/>
            </a:pPr>
            <a:r>
              <a:rPr lang="en-US" sz="1100" i="1" dirty="0">
                <a:solidFill>
                  <a:srgbClr val="64748B"/>
                </a:solidFill>
                <a:latin typeface="Calibri" pitchFamily="34" charset="0"/>
                <a:ea typeface="Calibri" pitchFamily="34" charset="-122"/>
                <a:cs typeface="Calibri" pitchFamily="34" charset="-120"/>
              </a:rPr>
              <a:t>3 clients · 3 candidate pharmacies · weight = 1 each · λ = 2</a:t>
            </a:r>
            <a:endParaRPr lang="en-US" sz="1100" dirty="0"/>
          </a:p>
        </p:txBody>
      </p:sp>
      <p:sp>
        <p:nvSpPr>
          <p:cNvPr id="27" name="Text 25"/>
          <p:cNvSpPr/>
          <p:nvPr/>
        </p:nvSpPr>
        <p:spPr>
          <a:xfrm>
            <a:off x="5852160" y="1554480"/>
            <a:ext cx="5760720" cy="365760"/>
          </a:xfrm>
          <a:prstGeom prst="rect">
            <a:avLst/>
          </a:prstGeom>
          <a:noFill/>
          <a:ln/>
        </p:spPr>
        <p:txBody>
          <a:bodyPr wrap="square" lIns="0" tIns="0" rIns="0" bIns="0" rtlCol="0" anchor="ctr"/>
          <a:lstStyle/>
          <a:p>
            <a:pPr marL="0" indent="0">
              <a:buNone/>
            </a:pPr>
            <a:r>
              <a:rPr lang="en-US" sz="1800" b="1" dirty="0">
                <a:solidFill>
                  <a:srgbClr val="21295C"/>
                </a:solidFill>
                <a:latin typeface="Georgia" pitchFamily="34" charset="0"/>
                <a:ea typeface="Georgia" pitchFamily="34" charset="-122"/>
                <a:cs typeface="Georgia" pitchFamily="34" charset="-120"/>
              </a:rPr>
              <a:t>Best integer</a:t>
            </a:r>
            <a:endParaRPr lang="en-US" sz="1800" dirty="0"/>
          </a:p>
        </p:txBody>
      </p:sp>
      <p:sp>
        <p:nvSpPr>
          <p:cNvPr id="28" name="Text 26"/>
          <p:cNvSpPr/>
          <p:nvPr/>
        </p:nvSpPr>
        <p:spPr>
          <a:xfrm>
            <a:off x="5852160" y="1965960"/>
            <a:ext cx="5760720" cy="1143000"/>
          </a:xfrm>
          <a:prstGeom prst="rect">
            <a:avLst/>
          </a:prstGeom>
          <a:noFill/>
          <a:ln/>
        </p:spPr>
        <p:txBody>
          <a:bodyPr wrap="square" lIns="0" tIns="0" rIns="0" bIns="0" rtlCol="0" anchor="t"/>
          <a:lstStyle/>
          <a:p>
            <a:pPr marL="0" indent="0">
              <a:buNone/>
            </a:pPr>
            <a:r>
              <a:rPr lang="en-US" sz="1400" dirty="0">
                <a:solidFill>
                  <a:srgbClr val="1F2937"/>
                </a:solidFill>
                <a:latin typeface="Calibri" pitchFamily="34" charset="0"/>
                <a:ea typeface="Calibri" pitchFamily="34" charset="-122"/>
                <a:cs typeface="Calibri" pitchFamily="34" charset="-120"/>
              </a:rPr>
              <a:t>Open any one pharmacy:  </a:t>
            </a:r>
            <a:r>
              <a:rPr lang="en-US" sz="1400" b="1" dirty="0">
                <a:solidFill>
                  <a:srgbClr val="21295C"/>
                </a:solidFill>
                <a:latin typeface="Calibri" pitchFamily="34" charset="0"/>
                <a:ea typeface="Calibri" pitchFamily="34" charset="-122"/>
                <a:cs typeface="Calibri" pitchFamily="34" charset="-120"/>
              </a:rPr>
              <a:t>1 + 1 + 3 + λ = 7</a:t>
            </a:r>
            <a:endParaRPr lang="en-US" sz="1400" dirty="0"/>
          </a:p>
          <a:p>
            <a:pPr marL="0" indent="0">
              <a:buNone/>
            </a:pPr>
            <a:r>
              <a:rPr lang="en-US" sz="1400" dirty="0">
                <a:solidFill>
                  <a:srgbClr val="1F2937"/>
                </a:solidFill>
                <a:latin typeface="Calibri" pitchFamily="34" charset="0"/>
                <a:ea typeface="Calibri" pitchFamily="34" charset="-122"/>
                <a:cs typeface="Calibri" pitchFamily="34" charset="-120"/>
              </a:rPr>
              <a:t>Open any two:  </a:t>
            </a:r>
            <a:r>
              <a:rPr lang="en-US" sz="1400" b="1" dirty="0">
                <a:solidFill>
                  <a:srgbClr val="21295C"/>
                </a:solidFill>
                <a:latin typeface="Calibri" pitchFamily="34" charset="0"/>
                <a:ea typeface="Calibri" pitchFamily="34" charset="-122"/>
                <a:cs typeface="Calibri" pitchFamily="34" charset="-120"/>
              </a:rPr>
              <a:t>1 + 1 + 1 + 2λ = 7</a:t>
            </a:r>
            <a:endParaRPr lang="en-US" sz="1400" dirty="0"/>
          </a:p>
          <a:p>
            <a:pPr marL="0" indent="0">
              <a:buNone/>
            </a:pPr>
            <a:r>
              <a:rPr lang="en-US" sz="1400" i="1" dirty="0">
                <a:solidFill>
                  <a:srgbClr val="1C7293"/>
                </a:solidFill>
                <a:latin typeface="Calibri" pitchFamily="34" charset="0"/>
                <a:ea typeface="Calibri" pitchFamily="34" charset="-122"/>
                <a:cs typeface="Calibri" pitchFamily="34" charset="-120"/>
              </a:rPr>
              <a:t>→ IP optimum = 7   (1 or 2 facilities)</a:t>
            </a:r>
            <a:endParaRPr lang="en-US" sz="1400" dirty="0"/>
          </a:p>
        </p:txBody>
      </p:sp>
      <p:sp>
        <p:nvSpPr>
          <p:cNvPr id="29" name="Text 27"/>
          <p:cNvSpPr/>
          <p:nvPr/>
        </p:nvSpPr>
        <p:spPr>
          <a:xfrm>
            <a:off x="5852160" y="3246120"/>
            <a:ext cx="5760720" cy="365760"/>
          </a:xfrm>
          <a:prstGeom prst="rect">
            <a:avLst/>
          </a:prstGeom>
          <a:noFill/>
          <a:ln/>
        </p:spPr>
        <p:txBody>
          <a:bodyPr wrap="square" lIns="0" tIns="0" rIns="0" bIns="0" rtlCol="0" anchor="ctr"/>
          <a:lstStyle/>
          <a:p>
            <a:pPr marL="0" indent="0">
              <a:buNone/>
            </a:pPr>
            <a:r>
              <a:rPr lang="en-US" sz="1800" b="1" dirty="0">
                <a:solidFill>
                  <a:srgbClr val="21295C"/>
                </a:solidFill>
                <a:latin typeface="Georgia" pitchFamily="34" charset="0"/>
                <a:ea typeface="Georgia" pitchFamily="34" charset="-122"/>
                <a:cs typeface="Georgia" pitchFamily="34" charset="-120"/>
              </a:rPr>
              <a:t>LP fractional</a:t>
            </a:r>
            <a:endParaRPr lang="en-US" sz="1800" dirty="0"/>
          </a:p>
        </p:txBody>
      </p:sp>
      <p:sp>
        <p:nvSpPr>
          <p:cNvPr id="30" name="Text 28"/>
          <p:cNvSpPr/>
          <p:nvPr/>
        </p:nvSpPr>
        <p:spPr>
          <a:xfrm>
            <a:off x="5852160" y="3657600"/>
            <a:ext cx="5760720" cy="1463040"/>
          </a:xfrm>
          <a:prstGeom prst="rect">
            <a:avLst/>
          </a:prstGeom>
          <a:noFill/>
          <a:ln/>
        </p:spPr>
        <p:txBody>
          <a:bodyPr wrap="square" lIns="0" tIns="0" rIns="0" bIns="0" rtlCol="0" anchor="t"/>
          <a:lstStyle/>
          <a:p>
            <a:pPr marL="0" indent="0">
              <a:buNone/>
            </a:pPr>
            <a:r>
              <a:rPr lang="en-US" sz="1400" dirty="0">
                <a:solidFill>
                  <a:srgbClr val="1F2937"/>
                </a:solidFill>
                <a:latin typeface="Calibri" pitchFamily="34" charset="0"/>
                <a:ea typeface="Calibri" pitchFamily="34" charset="-122"/>
                <a:cs typeface="Calibri" pitchFamily="34" charset="-120"/>
              </a:rPr>
              <a:t>Set </a:t>
            </a:r>
            <a:r>
              <a:rPr lang="en-US" sz="1400" b="1" dirty="0">
                <a:solidFill>
                  <a:srgbClr val="F2B632"/>
                </a:solidFill>
                <a:latin typeface="Calibri" pitchFamily="34" charset="0"/>
                <a:ea typeface="Calibri" pitchFamily="34" charset="-122"/>
                <a:cs typeface="Calibri" pitchFamily="34" charset="-120"/>
              </a:rPr>
              <a:t>x = (½, ½, ½)</a:t>
            </a:r>
            <a:r>
              <a:rPr lang="en-US" sz="1400" dirty="0">
                <a:solidFill>
                  <a:srgbClr val="1F2937"/>
                </a:solidFill>
                <a:latin typeface="Calibri" pitchFamily="34" charset="0"/>
                <a:ea typeface="Calibri" pitchFamily="34" charset="-122"/>
                <a:cs typeface="Calibri" pitchFamily="34" charset="-120"/>
              </a:rPr>
              <a:t>; each client routes ½ + ½ to its two near pharmacies (cost 1 each).</a:t>
            </a:r>
            <a:endParaRPr lang="en-US" sz="1400" dirty="0"/>
          </a:p>
          <a:p>
            <a:pPr marL="0" indent="0">
              <a:buNone/>
            </a:pPr>
            <a:r>
              <a:rPr lang="en-US" sz="1400" dirty="0">
                <a:solidFill>
                  <a:srgbClr val="1F2937"/>
                </a:solidFill>
                <a:latin typeface="Calibri" pitchFamily="34" charset="0"/>
                <a:ea typeface="Calibri" pitchFamily="34" charset="-122"/>
                <a:cs typeface="Calibri" pitchFamily="34" charset="-120"/>
              </a:rPr>
              <a:t>Travel = 3, facility = 3 · ½ · 2 = 3</a:t>
            </a:r>
            <a:endParaRPr lang="en-US" sz="1400" dirty="0"/>
          </a:p>
          <a:p>
            <a:pPr marL="0" indent="0">
              <a:buNone/>
            </a:pPr>
            <a:r>
              <a:rPr lang="en-US" sz="1400" i="1" dirty="0">
                <a:solidFill>
                  <a:srgbClr val="1C7293"/>
                </a:solidFill>
                <a:latin typeface="Calibri" pitchFamily="34" charset="0"/>
                <a:ea typeface="Calibri" pitchFamily="34" charset="-122"/>
                <a:cs typeface="Calibri" pitchFamily="34" charset="-120"/>
              </a:rPr>
              <a:t>→ LP optimum = </a:t>
            </a:r>
            <a:r>
              <a:rPr lang="en-US" sz="1800" b="1" i="1" dirty="0">
                <a:solidFill>
                  <a:srgbClr val="F2B632"/>
                </a:solidFill>
                <a:latin typeface="Calibri" pitchFamily="34" charset="0"/>
                <a:ea typeface="Calibri" pitchFamily="34" charset="-122"/>
                <a:cs typeface="Calibri" pitchFamily="34" charset="-120"/>
              </a:rPr>
              <a:t>6</a:t>
            </a:r>
            <a:r>
              <a:rPr lang="en-US" sz="1400" i="1" dirty="0">
                <a:solidFill>
                  <a:srgbClr val="1C7293"/>
                </a:solidFill>
                <a:latin typeface="Calibri" pitchFamily="34" charset="0"/>
                <a:ea typeface="Calibri" pitchFamily="34" charset="-122"/>
                <a:cs typeface="Calibri" pitchFamily="34" charset="-120"/>
              </a:rPr>
              <a:t>  (sum_x = 1.5, strictly &lt; IP = 7)</a:t>
            </a:r>
            <a:endParaRPr lang="en-US" sz="1400" dirty="0"/>
          </a:p>
        </p:txBody>
      </p:sp>
      <p:sp>
        <p:nvSpPr>
          <p:cNvPr id="31" name="Shape 29"/>
          <p:cNvSpPr/>
          <p:nvPr/>
        </p:nvSpPr>
        <p:spPr>
          <a:xfrm>
            <a:off x="5852160" y="5212080"/>
            <a:ext cx="5760720" cy="1051560"/>
          </a:xfrm>
          <a:prstGeom prst="rect">
            <a:avLst/>
          </a:prstGeom>
          <a:solidFill>
            <a:srgbClr val="21295C"/>
          </a:solidFill>
          <a:ln/>
        </p:spPr>
        <p:txBody>
          <a:bodyPr/>
          <a:lstStyle/>
          <a:p>
            <a:endParaRPr lang="en-GB"/>
          </a:p>
        </p:txBody>
      </p:sp>
      <p:sp>
        <p:nvSpPr>
          <p:cNvPr id="32" name="Text 30"/>
          <p:cNvSpPr/>
          <p:nvPr/>
        </p:nvSpPr>
        <p:spPr>
          <a:xfrm>
            <a:off x="6035040" y="5303520"/>
            <a:ext cx="5486400" cy="914400"/>
          </a:xfrm>
          <a:prstGeom prst="rect">
            <a:avLst/>
          </a:prstGeom>
          <a:noFill/>
          <a:ln/>
        </p:spPr>
        <p:txBody>
          <a:bodyPr wrap="square" lIns="0" tIns="0" rIns="0" bIns="0" rtlCol="0" anchor="t"/>
          <a:lstStyle/>
          <a:p>
            <a:pPr marL="0" indent="0">
              <a:buNone/>
            </a:pPr>
            <a:r>
              <a:rPr lang="en-US" sz="1300" b="1" dirty="0">
                <a:solidFill>
                  <a:srgbClr val="F2B632"/>
                </a:solidFill>
                <a:latin typeface="Calibri" pitchFamily="34" charset="0"/>
                <a:ea typeface="Calibri" pitchFamily="34" charset="-122"/>
                <a:cs typeface="Calibri" pitchFamily="34" charset="-120"/>
              </a:rPr>
              <a:t>Takeaway</a:t>
            </a:r>
            <a:endParaRPr lang="en-US" sz="1300" dirty="0"/>
          </a:p>
          <a:p>
            <a:pPr marL="0" indent="0">
              <a:buNone/>
            </a:pPr>
            <a:r>
              <a:rPr lang="en-US" sz="1200" dirty="0">
                <a:solidFill>
                  <a:srgbClr val="FFFFFF"/>
                </a:solidFill>
                <a:latin typeface="Calibri" pitchFamily="34" charset="0"/>
                <a:ea typeface="Calibri" pitchFamily="34" charset="-122"/>
                <a:cs typeface="Calibri" pitchFamily="34" charset="-120"/>
              </a:rPr>
              <a:t>Fractional sum_x is not a solver artefact. The LP frontier is a true lower bound; geographies that resist clean integer covering show the gap.</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10058400" cy="274320"/>
          </a:xfrm>
          <a:prstGeom prst="rect">
            <a:avLst/>
          </a:prstGeom>
          <a:noFill/>
          <a:ln/>
        </p:spPr>
        <p:txBody>
          <a:bodyPr wrap="square" rtlCol="0" anchor="ctr"/>
          <a:lstStyle/>
          <a:p>
            <a:pPr marL="0" indent="0">
              <a:buNone/>
            </a:pPr>
            <a:r>
              <a:rPr lang="en-US" sz="1200" b="1" kern="0" spc="200" dirty="0">
                <a:solidFill>
                  <a:srgbClr val="0B6E99"/>
                </a:solidFill>
              </a:rPr>
              <a:t>BASELINE · RESIDENTS PER PHARMACY</a:t>
            </a:r>
            <a:endParaRPr lang="en-US" sz="1200" dirty="0"/>
          </a:p>
        </p:txBody>
      </p:sp>
      <p:sp>
        <p:nvSpPr>
          <p:cNvPr id="3" name="Text 1"/>
          <p:cNvSpPr/>
          <p:nvPr/>
        </p:nvSpPr>
        <p:spPr>
          <a:xfrm>
            <a:off x="411480" y="475488"/>
            <a:ext cx="11430000" cy="457200"/>
          </a:xfrm>
          <a:prstGeom prst="rect">
            <a:avLst/>
          </a:prstGeom>
          <a:noFill/>
          <a:ln/>
        </p:spPr>
        <p:txBody>
          <a:bodyPr wrap="square" rtlCol="0" anchor="ctr"/>
          <a:lstStyle/>
          <a:p>
            <a:pPr marL="0" indent="0">
              <a:buNone/>
            </a:pPr>
            <a:r>
              <a:rPr lang="en-US" sz="2100" b="1" dirty="0">
                <a:solidFill>
                  <a:srgbClr val="12233A"/>
                </a:solidFill>
                <a:latin typeface="Georgia" pitchFamily="34" charset="0"/>
                <a:ea typeface="Georgia" pitchFamily="34" charset="-122"/>
                <a:cs typeface="Georgia" pitchFamily="34" charset="-120"/>
              </a:rPr>
              <a:t>Residents per pharmacy  </a:t>
            </a:r>
            <a:r>
              <a:rPr lang="en-US" sz="2100" dirty="0">
                <a:solidFill>
                  <a:srgbClr val="1C3D5A"/>
                </a:solidFill>
                <a:latin typeface="Georgia" pitchFamily="34" charset="0"/>
                <a:ea typeface="Georgia" pitchFamily="34" charset="-122"/>
                <a:cs typeface="Georgia" pitchFamily="34" charset="-120"/>
              </a:rPr>
              <a:t>— per country</a:t>
            </a:r>
            <a:endParaRPr lang="en-US" sz="2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1554480"/>
          <a:ext cx="11274552" cy="914400"/>
        </p:xfrm>
        <a:graphic>
          <a:graphicData uri="http://schemas.openxmlformats.org/drawingml/2006/table">
            <a:tbl>
              <a:tblPr/>
              <a:tblGrid>
                <a:gridCol w="1691640">
                  <a:extLst>
                    <a:ext uri="{9D8B030D-6E8A-4147-A177-3AD203B41FA5}">
                      <a16:colId xmlns:a16="http://schemas.microsoft.com/office/drawing/2014/main" val="20000"/>
                    </a:ext>
                  </a:extLst>
                </a:gridCol>
                <a:gridCol w="960120">
                  <a:extLst>
                    <a:ext uri="{9D8B030D-6E8A-4147-A177-3AD203B41FA5}">
                      <a16:colId xmlns:a16="http://schemas.microsoft.com/office/drawing/2014/main" val="20001"/>
                    </a:ext>
                  </a:extLst>
                </a:gridCol>
                <a:gridCol w="987552">
                  <a:extLst>
                    <a:ext uri="{9D8B030D-6E8A-4147-A177-3AD203B41FA5}">
                      <a16:colId xmlns:a16="http://schemas.microsoft.com/office/drawing/2014/main" val="20002"/>
                    </a:ext>
                  </a:extLst>
                </a:gridCol>
                <a:gridCol w="987552">
                  <a:extLst>
                    <a:ext uri="{9D8B030D-6E8A-4147-A177-3AD203B41FA5}">
                      <a16:colId xmlns:a16="http://schemas.microsoft.com/office/drawing/2014/main" val="20003"/>
                    </a:ext>
                  </a:extLst>
                </a:gridCol>
                <a:gridCol w="822960">
                  <a:extLst>
                    <a:ext uri="{9D8B030D-6E8A-4147-A177-3AD203B41FA5}">
                      <a16:colId xmlns:a16="http://schemas.microsoft.com/office/drawing/2014/main" val="20004"/>
                    </a:ext>
                  </a:extLst>
                </a:gridCol>
                <a:gridCol w="822960">
                  <a:extLst>
                    <a:ext uri="{9D8B030D-6E8A-4147-A177-3AD203B41FA5}">
                      <a16:colId xmlns:a16="http://schemas.microsoft.com/office/drawing/2014/main" val="20005"/>
                    </a:ext>
                  </a:extLst>
                </a:gridCol>
                <a:gridCol w="822960">
                  <a:extLst>
                    <a:ext uri="{9D8B030D-6E8A-4147-A177-3AD203B41FA5}">
                      <a16:colId xmlns:a16="http://schemas.microsoft.com/office/drawing/2014/main" val="20006"/>
                    </a:ext>
                  </a:extLst>
                </a:gridCol>
                <a:gridCol w="822960">
                  <a:extLst>
                    <a:ext uri="{9D8B030D-6E8A-4147-A177-3AD203B41FA5}">
                      <a16:colId xmlns:a16="http://schemas.microsoft.com/office/drawing/2014/main" val="20007"/>
                    </a:ext>
                  </a:extLst>
                </a:gridCol>
                <a:gridCol w="822960">
                  <a:extLst>
                    <a:ext uri="{9D8B030D-6E8A-4147-A177-3AD203B41FA5}">
                      <a16:colId xmlns:a16="http://schemas.microsoft.com/office/drawing/2014/main" val="20008"/>
                    </a:ext>
                  </a:extLst>
                </a:gridCol>
                <a:gridCol w="822960">
                  <a:extLst>
                    <a:ext uri="{9D8B030D-6E8A-4147-A177-3AD203B41FA5}">
                      <a16:colId xmlns:a16="http://schemas.microsoft.com/office/drawing/2014/main" val="20009"/>
                    </a:ext>
                  </a:extLst>
                </a:gridCol>
                <a:gridCol w="822960">
                  <a:extLst>
                    <a:ext uri="{9D8B030D-6E8A-4147-A177-3AD203B41FA5}">
                      <a16:colId xmlns:a16="http://schemas.microsoft.com/office/drawing/2014/main" val="20010"/>
                    </a:ext>
                  </a:extLst>
                </a:gridCol>
                <a:gridCol w="886968">
                  <a:extLst>
                    <a:ext uri="{9D8B030D-6E8A-4147-A177-3AD203B41FA5}">
                      <a16:colId xmlns:a16="http://schemas.microsoft.com/office/drawing/2014/main" val="20011"/>
                    </a:ext>
                  </a:extLst>
                </a:gridCol>
              </a:tblGrid>
              <a:tr h="264160">
                <a:tc>
                  <a:txBody>
                    <a:bodyPr/>
                    <a:lstStyle/>
                    <a:p>
                      <a:pPr marL="0" indent="0" algn="l">
                        <a:buNone/>
                      </a:pPr>
                      <a:r>
                        <a:rPr lang="en-US" sz="850" b="1" dirty="0">
                          <a:solidFill>
                            <a:srgbClr val="FFFFFF"/>
                          </a:solidFill>
                          <a:latin typeface="Calibri" pitchFamily="34" charset="0"/>
                          <a:ea typeface="Calibri" pitchFamily="34" charset="-122"/>
                          <a:cs typeface="Calibri" pitchFamily="34" charset="-120"/>
                        </a:rPr>
                        <a:t>region</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pharm.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residents</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resid/ph</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#empty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min&gt;0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p10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p90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max</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Austria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1,467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8.9M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2,422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3,883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5,666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7,628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10,203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25,354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Belgium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4,860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2,373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961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2,137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3,030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4,053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10,019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2"/>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Czechia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3,932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1,173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2,024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3,463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5,162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7,222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18,348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Denmark</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536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5.8M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10,736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4,892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7,363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10,014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13,242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17,801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35,188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4"/>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Estonia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2,684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834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2,314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3,450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4,778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20,604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France</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20,698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65.3M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3,155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660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1,924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2,869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4,091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5,495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17,502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6"/>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Ireland</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1,652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5.0M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857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1,461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2,420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3,990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5,817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17,055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Italy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12,991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58.7M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4,520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1,040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1,859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3,160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5,410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9,107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85,669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8"/>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Latvia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818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2,313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694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1,154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1,932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4,344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16,587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Lithuania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1,253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2,240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2,866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4,507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13,754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0"/>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Luxembourg</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0.6M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6,042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2,954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3,672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5,610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7,822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10,139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14,020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1"/>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Netherlands</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8,765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2,661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5,060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7,952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11,913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15,567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33,497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2"/>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Norway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1,057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4,835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1,661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2,755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4,300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6,236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8,548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23,011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3"/>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Poland</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13,791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37.1M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878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1,439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2,280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3,488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5,017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19,078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4"/>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Portugal</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2,801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3,680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1,262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2,941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4,439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6,497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19,709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5"/>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Slovenia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5,918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664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2,485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3,571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5,239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7,647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10,075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20,620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6"/>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Sweden</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10.2M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7,078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2,098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3,840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6,208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9,628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12,659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37,107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7"/>
                  </a:ext>
                </a:extLst>
              </a:tr>
            </a:tbl>
          </a:graphicData>
        </a:graphic>
      </p:graphicFrame>
      <p:sp>
        <p:nvSpPr>
          <p:cNvPr id="4" name="Text 2"/>
          <p:cNvSpPr/>
          <p:nvPr/>
        </p:nvSpPr>
        <p:spPr>
          <a:xfrm>
            <a:off x="457200" y="6510528"/>
            <a:ext cx="11274552" cy="274320"/>
          </a:xfrm>
          <a:prstGeom prst="rect">
            <a:avLst/>
          </a:prstGeom>
          <a:noFill/>
          <a:ln/>
        </p:spPr>
        <p:txBody>
          <a:bodyPr wrap="square" rtlCol="0" anchor="ctr"/>
          <a:lstStyle/>
          <a:p>
            <a:pPr marL="0" indent="0">
              <a:buNone/>
            </a:pPr>
            <a:r>
              <a:rPr lang="en-US" sz="800" i="1" dirty="0">
                <a:solidFill>
                  <a:srgbClr val="5B6B7B"/>
                </a:solidFill>
                <a:latin typeface="Calibri" pitchFamily="34" charset="0"/>
                <a:ea typeface="Calibri" pitchFamily="34" charset="-122"/>
                <a:cs typeface="Calibri" pitchFamily="34" charset="-120"/>
              </a:rPr>
              <a:t>Catchment = residents whose nearest pharmacy BY ROAD-NETWORK travel time is this one (a cell's catchment split evenly among the pharmacies in it); p10..max = percentiles of that per-pharmacy catchment. #empty = pharmacies that are never the road-nearest for any populated cell (fully shadowed / disconnected); min&gt;0 = smallest non-zero catchment. Source: pharmacy_descriptives.csv (road OD; Lewis, 22 May).</a:t>
            </a:r>
            <a:endParaRPr lang="en-US" sz="800" dirty="0"/>
          </a:p>
        </p:txBody>
      </p:sp>
    </p:spTree>
    <p:extLst>
      <p:ext uri="{BB962C8B-B14F-4D97-AF65-F5344CB8AC3E}">
        <p14:creationId xmlns:p14="http://schemas.microsoft.com/office/powerpoint/2010/main" val="279490675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10058400" cy="274320"/>
          </a:xfrm>
          <a:prstGeom prst="rect">
            <a:avLst/>
          </a:prstGeom>
          <a:noFill/>
          <a:ln/>
        </p:spPr>
        <p:txBody>
          <a:bodyPr wrap="square" rtlCol="0" anchor="ctr"/>
          <a:lstStyle/>
          <a:p>
            <a:pPr marL="0" indent="0">
              <a:buNone/>
            </a:pPr>
            <a:r>
              <a:rPr lang="en-US" sz="1200" b="1" kern="0" spc="200" dirty="0">
                <a:solidFill>
                  <a:srgbClr val="0B6E99"/>
                </a:solidFill>
              </a:rPr>
              <a:t>BASELINE · RESIDENTS PER PHARMACY</a:t>
            </a:r>
            <a:endParaRPr lang="en-US" sz="1200" dirty="0"/>
          </a:p>
        </p:txBody>
      </p:sp>
      <p:sp>
        <p:nvSpPr>
          <p:cNvPr id="3" name="Text 1"/>
          <p:cNvSpPr/>
          <p:nvPr/>
        </p:nvSpPr>
        <p:spPr>
          <a:xfrm>
            <a:off x="411480" y="475488"/>
            <a:ext cx="11430000" cy="457200"/>
          </a:xfrm>
          <a:prstGeom prst="rect">
            <a:avLst/>
          </a:prstGeom>
          <a:noFill/>
          <a:ln/>
        </p:spPr>
        <p:txBody>
          <a:bodyPr wrap="square" rtlCol="0" anchor="ctr"/>
          <a:lstStyle/>
          <a:p>
            <a:pPr marL="0" indent="0">
              <a:buNone/>
            </a:pPr>
            <a:r>
              <a:rPr lang="en-US" sz="2100" b="1" dirty="0">
                <a:solidFill>
                  <a:srgbClr val="12233A"/>
                </a:solidFill>
                <a:latin typeface="Georgia" pitchFamily="34" charset="0"/>
                <a:ea typeface="Georgia" pitchFamily="34" charset="-122"/>
                <a:cs typeface="Georgia" pitchFamily="34" charset="-120"/>
              </a:rPr>
              <a:t>Residents per pharmacy  </a:t>
            </a:r>
            <a:r>
              <a:rPr lang="en-US" sz="2100" dirty="0">
                <a:solidFill>
                  <a:srgbClr val="1C3D5A"/>
                </a:solidFill>
                <a:latin typeface="Georgia" pitchFamily="34" charset="0"/>
                <a:ea typeface="Georgia" pitchFamily="34" charset="-122"/>
                <a:cs typeface="Georgia" pitchFamily="34" charset="-120"/>
              </a:rPr>
              <a:t>— key NUTS1 regions (FR / IT / SE)</a:t>
            </a:r>
            <a:endParaRPr lang="en-US" sz="21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457200" y="1554480"/>
          <a:ext cx="11274552" cy="914400"/>
        </p:xfrm>
        <a:graphic>
          <a:graphicData uri="http://schemas.openxmlformats.org/drawingml/2006/table">
            <a:tbl>
              <a:tblPr/>
              <a:tblGrid>
                <a:gridCol w="1691640">
                  <a:extLst>
                    <a:ext uri="{9D8B030D-6E8A-4147-A177-3AD203B41FA5}">
                      <a16:colId xmlns:a16="http://schemas.microsoft.com/office/drawing/2014/main" val="20000"/>
                    </a:ext>
                  </a:extLst>
                </a:gridCol>
                <a:gridCol w="960120">
                  <a:extLst>
                    <a:ext uri="{9D8B030D-6E8A-4147-A177-3AD203B41FA5}">
                      <a16:colId xmlns:a16="http://schemas.microsoft.com/office/drawing/2014/main" val="20001"/>
                    </a:ext>
                  </a:extLst>
                </a:gridCol>
                <a:gridCol w="987552">
                  <a:extLst>
                    <a:ext uri="{9D8B030D-6E8A-4147-A177-3AD203B41FA5}">
                      <a16:colId xmlns:a16="http://schemas.microsoft.com/office/drawing/2014/main" val="20002"/>
                    </a:ext>
                  </a:extLst>
                </a:gridCol>
                <a:gridCol w="987552">
                  <a:extLst>
                    <a:ext uri="{9D8B030D-6E8A-4147-A177-3AD203B41FA5}">
                      <a16:colId xmlns:a16="http://schemas.microsoft.com/office/drawing/2014/main" val="20003"/>
                    </a:ext>
                  </a:extLst>
                </a:gridCol>
                <a:gridCol w="822960">
                  <a:extLst>
                    <a:ext uri="{9D8B030D-6E8A-4147-A177-3AD203B41FA5}">
                      <a16:colId xmlns:a16="http://schemas.microsoft.com/office/drawing/2014/main" val="20004"/>
                    </a:ext>
                  </a:extLst>
                </a:gridCol>
                <a:gridCol w="822960">
                  <a:extLst>
                    <a:ext uri="{9D8B030D-6E8A-4147-A177-3AD203B41FA5}">
                      <a16:colId xmlns:a16="http://schemas.microsoft.com/office/drawing/2014/main" val="20005"/>
                    </a:ext>
                  </a:extLst>
                </a:gridCol>
                <a:gridCol w="822960">
                  <a:extLst>
                    <a:ext uri="{9D8B030D-6E8A-4147-A177-3AD203B41FA5}">
                      <a16:colId xmlns:a16="http://schemas.microsoft.com/office/drawing/2014/main" val="20006"/>
                    </a:ext>
                  </a:extLst>
                </a:gridCol>
                <a:gridCol w="822960">
                  <a:extLst>
                    <a:ext uri="{9D8B030D-6E8A-4147-A177-3AD203B41FA5}">
                      <a16:colId xmlns:a16="http://schemas.microsoft.com/office/drawing/2014/main" val="20007"/>
                    </a:ext>
                  </a:extLst>
                </a:gridCol>
                <a:gridCol w="822960">
                  <a:extLst>
                    <a:ext uri="{9D8B030D-6E8A-4147-A177-3AD203B41FA5}">
                      <a16:colId xmlns:a16="http://schemas.microsoft.com/office/drawing/2014/main" val="20008"/>
                    </a:ext>
                  </a:extLst>
                </a:gridCol>
                <a:gridCol w="822960">
                  <a:extLst>
                    <a:ext uri="{9D8B030D-6E8A-4147-A177-3AD203B41FA5}">
                      <a16:colId xmlns:a16="http://schemas.microsoft.com/office/drawing/2014/main" val="20009"/>
                    </a:ext>
                  </a:extLst>
                </a:gridCol>
                <a:gridCol w="822960">
                  <a:extLst>
                    <a:ext uri="{9D8B030D-6E8A-4147-A177-3AD203B41FA5}">
                      <a16:colId xmlns:a16="http://schemas.microsoft.com/office/drawing/2014/main" val="20010"/>
                    </a:ext>
                  </a:extLst>
                </a:gridCol>
                <a:gridCol w="886968">
                  <a:extLst>
                    <a:ext uri="{9D8B030D-6E8A-4147-A177-3AD203B41FA5}">
                      <a16:colId xmlns:a16="http://schemas.microsoft.com/office/drawing/2014/main" val="20011"/>
                    </a:ext>
                  </a:extLst>
                </a:gridCol>
              </a:tblGrid>
              <a:tr h="187452">
                <a:tc>
                  <a:txBody>
                    <a:bodyPr/>
                    <a:lstStyle/>
                    <a:p>
                      <a:pPr marL="0" indent="0" algn="l">
                        <a:buNone/>
                      </a:pPr>
                      <a:r>
                        <a:rPr lang="en-US" sz="850" b="1" dirty="0">
                          <a:solidFill>
                            <a:srgbClr val="FFFFFF"/>
                          </a:solidFill>
                          <a:latin typeface="Calibri" pitchFamily="34" charset="0"/>
                          <a:ea typeface="Calibri" pitchFamily="34" charset="-122"/>
                          <a:cs typeface="Calibri" pitchFamily="34" charset="-120"/>
                        </a:rPr>
                        <a:t>region</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pharm.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residents</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resid/ph</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#empty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min&gt;0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p10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p90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max</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187452">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Netherlands</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1,992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17.5M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8,765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2,661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5,060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7,952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11,913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15,567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33,497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01"/>
                  </a:ext>
                </a:extLst>
              </a:tr>
              <a:tr h="187452">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France</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20,698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65.3M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3,155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660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1,182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1,924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2,869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4,091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5,495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17,502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02"/>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3,488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3,530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1,584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2,155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3,131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4,365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17,502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FRB</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1,439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2,126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4,274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5,672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12,007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4"/>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FRC</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921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3,039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1,374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1,966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2,874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4,868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12,847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FRD</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3,596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1,540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2,271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3,327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4,730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5,991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13,685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6"/>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FRE</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1,943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3,081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1,359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1,935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2,821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3,860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5,058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15,413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FRF</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5.6M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3,502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1,332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2,157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3,248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4,423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5,900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15,870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8"/>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FRG</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1,069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3,589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3,326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4,605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5,898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12,237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FRH</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1,000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3,344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1,419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2,242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3,106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4,283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5,461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12,264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0"/>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FRI</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2,052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2,950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1,149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1,814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3,769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5,023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11,655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1"/>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FRJ</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3,059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1,890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2,724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3,847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5,369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12,011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2"/>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FRK</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2,420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3,353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1,408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2,098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3,040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4,304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5,700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12,834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3"/>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FRL</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5.0M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2,728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956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1,584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2,399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3,605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4,956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14,737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4"/>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2,541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1,401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2,475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3,228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4,762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9,333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5"/>
                  </a:ext>
                </a:extLst>
              </a:tr>
              <a:tr h="187452">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Italy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12,991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58.7M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4,520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1,040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1,859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3,160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5,410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9,107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85,669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16"/>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ITC</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4,463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15.8M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3,548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943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2,740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4,389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7,032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43,077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7"/>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ITF</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1,951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6,831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1,202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2,245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4,006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7,844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14,735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85,669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8"/>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ITG</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1,449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4,352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1,314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2,373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4,226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7,385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61,270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9"/>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ITH</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2,786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4,138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1,058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1,881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3,204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5,345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8,068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47,393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20"/>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ITI</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2,342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11.7M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4,996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1,222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2,130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3,730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6,290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10,199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51,155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21"/>
                  </a:ext>
                </a:extLst>
              </a:tr>
              <a:tr h="187452">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Sweden</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1,448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10.2M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7,078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2,098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3,840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6,208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9,628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12,659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37,107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22"/>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SE1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558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7,310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1,934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3,725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6,194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10,009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13,621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37,107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23"/>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SE2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4.4M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7,276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1,983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3,859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6,453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9,944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13,041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33,444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24"/>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SE3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6,121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2,537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3,741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5,424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8,021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10,842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16,931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25"/>
                  </a:ext>
                </a:extLst>
              </a:tr>
            </a:tbl>
          </a:graphicData>
        </a:graphic>
      </p:graphicFrame>
      <p:sp>
        <p:nvSpPr>
          <p:cNvPr id="5" name="Text 2"/>
          <p:cNvSpPr/>
          <p:nvPr/>
        </p:nvSpPr>
        <p:spPr>
          <a:xfrm>
            <a:off x="457200" y="6510528"/>
            <a:ext cx="11274552" cy="274320"/>
          </a:xfrm>
          <a:prstGeom prst="rect">
            <a:avLst/>
          </a:prstGeom>
          <a:noFill/>
          <a:ln/>
        </p:spPr>
        <p:txBody>
          <a:bodyPr wrap="square" rtlCol="0" anchor="ctr"/>
          <a:lstStyle/>
          <a:p>
            <a:pPr marL="0" indent="0">
              <a:buNone/>
            </a:pPr>
            <a:r>
              <a:rPr lang="en-US" sz="800" i="1" dirty="0">
                <a:solidFill>
                  <a:srgbClr val="5B6B7B"/>
                </a:solidFill>
                <a:latin typeface="Calibri" pitchFamily="34" charset="0"/>
                <a:ea typeface="Calibri" pitchFamily="34" charset="-122"/>
                <a:cs typeface="Calibri" pitchFamily="34" charset="-120"/>
              </a:rPr>
              <a:t>Catchment = residents whose nearest pharmacy BY ROAD-NETWORK travel time is this one (a cell's catchment split evenly among the pharmacies in it); p10..max = percentiles of that per-pharmacy catchment. #empty = pharmacies that are never the road-nearest for any populated cell (fully shadowed / disconnected); min&gt;0 = smallest non-zero catchment. Country rows bold, NUTS1 indented below. Source: pharmacy_descriptives.csv (road OD; Lewis, 22 May).</a:t>
            </a:r>
            <a:endParaRPr lang="en-US" sz="800" dirty="0"/>
          </a:p>
        </p:txBody>
      </p:sp>
    </p:spTree>
    <p:extLst>
      <p:ext uri="{BB962C8B-B14F-4D97-AF65-F5344CB8AC3E}">
        <p14:creationId xmlns:p14="http://schemas.microsoft.com/office/powerpoint/2010/main" val="31038132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10058400" cy="274320"/>
          </a:xfrm>
          <a:prstGeom prst="rect">
            <a:avLst/>
          </a:prstGeom>
          <a:noFill/>
          <a:ln/>
        </p:spPr>
        <p:txBody>
          <a:bodyPr wrap="square" rtlCol="0" anchor="ctr"/>
          <a:lstStyle/>
          <a:p>
            <a:pPr marL="0" indent="0">
              <a:buNone/>
            </a:pPr>
            <a:r>
              <a:rPr lang="en-US" sz="1200" b="1" kern="0" spc="200" dirty="0">
                <a:solidFill>
                  <a:srgbClr val="0B6E99"/>
                </a:solidFill>
              </a:rPr>
              <a:t>BASELINE · RESIDENTS PER 1 KM² LOCATION</a:t>
            </a:r>
            <a:endParaRPr lang="en-US" sz="1200" dirty="0"/>
          </a:p>
        </p:txBody>
      </p:sp>
      <p:sp>
        <p:nvSpPr>
          <p:cNvPr id="3" name="Text 1"/>
          <p:cNvSpPr/>
          <p:nvPr/>
        </p:nvSpPr>
        <p:spPr>
          <a:xfrm>
            <a:off x="411480" y="475488"/>
            <a:ext cx="11430000" cy="457200"/>
          </a:xfrm>
          <a:prstGeom prst="rect">
            <a:avLst/>
          </a:prstGeom>
          <a:noFill/>
          <a:ln/>
        </p:spPr>
        <p:txBody>
          <a:bodyPr wrap="square" rtlCol="0" anchor="ctr"/>
          <a:lstStyle/>
          <a:p>
            <a:pPr marL="0" indent="0">
              <a:buNone/>
            </a:pPr>
            <a:r>
              <a:rPr lang="en-US" sz="2100" b="1" dirty="0">
                <a:solidFill>
                  <a:srgbClr val="12233A"/>
                </a:solidFill>
                <a:latin typeface="Georgia" pitchFamily="34" charset="0"/>
                <a:ea typeface="Georgia" pitchFamily="34" charset="-122"/>
                <a:cs typeface="Georgia" pitchFamily="34" charset="-120"/>
              </a:rPr>
              <a:t>Residents per 1 km² location  </a:t>
            </a:r>
            <a:r>
              <a:rPr lang="en-US" sz="2100" dirty="0">
                <a:solidFill>
                  <a:srgbClr val="1C3D5A"/>
                </a:solidFill>
                <a:latin typeface="Georgia" pitchFamily="34" charset="0"/>
                <a:ea typeface="Georgia" pitchFamily="34" charset="-122"/>
                <a:cs typeface="Georgia" pitchFamily="34" charset="-120"/>
              </a:rPr>
              <a:t>— per country</a:t>
            </a:r>
            <a:endParaRPr lang="en-US" sz="21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457200" y="1554480"/>
          <a:ext cx="11274552" cy="914400"/>
        </p:xfrm>
        <a:graphic>
          <a:graphicData uri="http://schemas.openxmlformats.org/drawingml/2006/table">
            <a:tbl>
              <a:tblPr/>
              <a:tblGrid>
                <a:gridCol w="1691640">
                  <a:extLst>
                    <a:ext uri="{9D8B030D-6E8A-4147-A177-3AD203B41FA5}">
                      <a16:colId xmlns:a16="http://schemas.microsoft.com/office/drawing/2014/main" val="20000"/>
                    </a:ext>
                  </a:extLst>
                </a:gridCol>
                <a:gridCol w="960120">
                  <a:extLst>
                    <a:ext uri="{9D8B030D-6E8A-4147-A177-3AD203B41FA5}">
                      <a16:colId xmlns:a16="http://schemas.microsoft.com/office/drawing/2014/main" val="20001"/>
                    </a:ext>
                  </a:extLst>
                </a:gridCol>
                <a:gridCol w="987552">
                  <a:extLst>
                    <a:ext uri="{9D8B030D-6E8A-4147-A177-3AD203B41FA5}">
                      <a16:colId xmlns:a16="http://schemas.microsoft.com/office/drawing/2014/main" val="20002"/>
                    </a:ext>
                  </a:extLst>
                </a:gridCol>
                <a:gridCol w="987552">
                  <a:extLst>
                    <a:ext uri="{9D8B030D-6E8A-4147-A177-3AD203B41FA5}">
                      <a16:colId xmlns:a16="http://schemas.microsoft.com/office/drawing/2014/main" val="20003"/>
                    </a:ext>
                  </a:extLst>
                </a:gridCol>
                <a:gridCol w="822960">
                  <a:extLst>
                    <a:ext uri="{9D8B030D-6E8A-4147-A177-3AD203B41FA5}">
                      <a16:colId xmlns:a16="http://schemas.microsoft.com/office/drawing/2014/main" val="20004"/>
                    </a:ext>
                  </a:extLst>
                </a:gridCol>
                <a:gridCol w="822960">
                  <a:extLst>
                    <a:ext uri="{9D8B030D-6E8A-4147-A177-3AD203B41FA5}">
                      <a16:colId xmlns:a16="http://schemas.microsoft.com/office/drawing/2014/main" val="20005"/>
                    </a:ext>
                  </a:extLst>
                </a:gridCol>
                <a:gridCol w="822960">
                  <a:extLst>
                    <a:ext uri="{9D8B030D-6E8A-4147-A177-3AD203B41FA5}">
                      <a16:colId xmlns:a16="http://schemas.microsoft.com/office/drawing/2014/main" val="20006"/>
                    </a:ext>
                  </a:extLst>
                </a:gridCol>
                <a:gridCol w="822960">
                  <a:extLst>
                    <a:ext uri="{9D8B030D-6E8A-4147-A177-3AD203B41FA5}">
                      <a16:colId xmlns:a16="http://schemas.microsoft.com/office/drawing/2014/main" val="20007"/>
                    </a:ext>
                  </a:extLst>
                </a:gridCol>
                <a:gridCol w="822960">
                  <a:extLst>
                    <a:ext uri="{9D8B030D-6E8A-4147-A177-3AD203B41FA5}">
                      <a16:colId xmlns:a16="http://schemas.microsoft.com/office/drawing/2014/main" val="20008"/>
                    </a:ext>
                  </a:extLst>
                </a:gridCol>
                <a:gridCol w="822960">
                  <a:extLst>
                    <a:ext uri="{9D8B030D-6E8A-4147-A177-3AD203B41FA5}">
                      <a16:colId xmlns:a16="http://schemas.microsoft.com/office/drawing/2014/main" val="20009"/>
                    </a:ext>
                  </a:extLst>
                </a:gridCol>
                <a:gridCol w="822960">
                  <a:extLst>
                    <a:ext uri="{9D8B030D-6E8A-4147-A177-3AD203B41FA5}">
                      <a16:colId xmlns:a16="http://schemas.microsoft.com/office/drawing/2014/main" val="20010"/>
                    </a:ext>
                  </a:extLst>
                </a:gridCol>
                <a:gridCol w="886968">
                  <a:extLst>
                    <a:ext uri="{9D8B030D-6E8A-4147-A177-3AD203B41FA5}">
                      <a16:colId xmlns:a16="http://schemas.microsoft.com/office/drawing/2014/main" val="20011"/>
                    </a:ext>
                  </a:extLst>
                </a:gridCol>
              </a:tblGrid>
              <a:tr h="264160">
                <a:tc>
                  <a:txBody>
                    <a:bodyPr/>
                    <a:lstStyle/>
                    <a:p>
                      <a:pPr marL="0" indent="0" algn="l">
                        <a:buNone/>
                      </a:pPr>
                      <a:r>
                        <a:rPr lang="en-US" sz="850" b="1" dirty="0">
                          <a:solidFill>
                            <a:srgbClr val="FFFFFF"/>
                          </a:solidFill>
                          <a:latin typeface="Calibri" pitchFamily="34" charset="0"/>
                          <a:ea typeface="Calibri" pitchFamily="34" charset="-122"/>
                          <a:cs typeface="Calibri" pitchFamily="34" charset="-120"/>
                        </a:rPr>
                        <a:t>region</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locations</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residents</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resid/loc</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#empty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min&gt;0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p10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p90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max</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Austria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1,131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8.9M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7,897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3,298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4,971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6,976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9,677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13,119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33,771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Belgium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2,963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1,649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2,295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3,310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4,691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6,549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29,568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2"/>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Czechia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1,627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6,448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2,139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3,688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5,728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8,446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11,723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27,465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Denmark</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466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5.8M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12,349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5,900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8,353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11,182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15,281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20,513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40,606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4"/>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Estonia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4,514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1,242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2,373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3,711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5,421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8,262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20,604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France</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13,863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65.3M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4,711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1,578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2,638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3,991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5,863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8,412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51,246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6"/>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Ireland</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5.0M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5,777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2,259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3,401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5,104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7,221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10,276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28,024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Italy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8,794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58.7M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6,677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1,298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2,547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4,919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8,616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13,684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112,620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8"/>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Latvia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496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3,815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1,551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2,904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5,146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8,093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16,587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Lithuania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4,822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2,622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4,045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6,579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9,157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24,536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0"/>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Luxembourg</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0.6M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7,377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3,472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5,232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6,861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9,508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11,596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22,601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1"/>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Netherlands</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10,797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4,394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6,802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10,167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13,827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17,874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34,905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2"/>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Norway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758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6,737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2,292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3,756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5,758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8,790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12,626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26,897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3"/>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Poland</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7,030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37.1M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5,273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2,997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4,571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6,819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9,712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26,161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4"/>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Portugal</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1,893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5,199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2,740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4,282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6,720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9,811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32,667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5"/>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Slovenia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6,865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664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2,928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4,294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6,106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8,708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11,475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22,559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6"/>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Sweden</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10.2M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9,420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3,080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5,220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8,541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12,284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17,268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37,107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7"/>
                  </a:ext>
                </a:extLst>
              </a:tr>
            </a:tbl>
          </a:graphicData>
        </a:graphic>
      </p:graphicFrame>
      <p:sp>
        <p:nvSpPr>
          <p:cNvPr id="5" name="Text 2"/>
          <p:cNvSpPr/>
          <p:nvPr/>
        </p:nvSpPr>
        <p:spPr>
          <a:xfrm>
            <a:off x="457200" y="6510528"/>
            <a:ext cx="11274552" cy="274320"/>
          </a:xfrm>
          <a:prstGeom prst="rect">
            <a:avLst/>
          </a:prstGeom>
          <a:noFill/>
          <a:ln/>
        </p:spPr>
        <p:txBody>
          <a:bodyPr wrap="square" rtlCol="0" anchor="ctr"/>
          <a:lstStyle/>
          <a:p>
            <a:pPr marL="0" indent="0">
              <a:buNone/>
            </a:pPr>
            <a:r>
              <a:rPr lang="en-US" sz="800" i="1" dirty="0">
                <a:solidFill>
                  <a:srgbClr val="5B6B7B"/>
                </a:solidFill>
                <a:latin typeface="Calibri" pitchFamily="34" charset="0"/>
                <a:ea typeface="Calibri" pitchFamily="34" charset="-122"/>
                <a:cs typeface="Calibri" pitchFamily="34" charset="-120"/>
              </a:rPr>
              <a:t>A location = a unique 1 km² cell with ≥1 pharmacy; catchment = residents whose nearest pharmacy cell BY ROAD is this one; p10..max = percentiles of that per-location catchment. #empty = locations that are never the road-nearest for any populated cell (fully shadowed / disconnected); min&gt;0 = smallest non-zero catchment. Source: pharmacy_descriptives.csv (road OD; Lewis, 22 May).</a:t>
            </a:r>
            <a:endParaRPr lang="en-US" sz="800" dirty="0"/>
          </a:p>
        </p:txBody>
      </p:sp>
    </p:spTree>
    <p:extLst>
      <p:ext uri="{BB962C8B-B14F-4D97-AF65-F5344CB8AC3E}">
        <p14:creationId xmlns:p14="http://schemas.microsoft.com/office/powerpoint/2010/main" val="118485690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10058400" cy="274320"/>
          </a:xfrm>
          <a:prstGeom prst="rect">
            <a:avLst/>
          </a:prstGeom>
          <a:noFill/>
          <a:ln/>
        </p:spPr>
        <p:txBody>
          <a:bodyPr wrap="square" rtlCol="0" anchor="ctr"/>
          <a:lstStyle/>
          <a:p>
            <a:pPr marL="0" indent="0">
              <a:buNone/>
            </a:pPr>
            <a:r>
              <a:rPr lang="en-US" sz="1200" b="1" kern="0" spc="200" dirty="0">
                <a:solidFill>
                  <a:srgbClr val="0B6E99"/>
                </a:solidFill>
              </a:rPr>
              <a:t>BASELINE · RESIDENTS PER 1 KM² LOCATION</a:t>
            </a:r>
            <a:endParaRPr lang="en-US" sz="1200" dirty="0"/>
          </a:p>
        </p:txBody>
      </p:sp>
      <p:sp>
        <p:nvSpPr>
          <p:cNvPr id="3" name="Text 1"/>
          <p:cNvSpPr/>
          <p:nvPr/>
        </p:nvSpPr>
        <p:spPr>
          <a:xfrm>
            <a:off x="411480" y="475488"/>
            <a:ext cx="11430000" cy="457200"/>
          </a:xfrm>
          <a:prstGeom prst="rect">
            <a:avLst/>
          </a:prstGeom>
          <a:noFill/>
          <a:ln/>
        </p:spPr>
        <p:txBody>
          <a:bodyPr wrap="square" rtlCol="0" anchor="ctr"/>
          <a:lstStyle/>
          <a:p>
            <a:pPr marL="0" indent="0">
              <a:buNone/>
            </a:pPr>
            <a:r>
              <a:rPr lang="en-US" sz="2100" b="1" dirty="0">
                <a:solidFill>
                  <a:srgbClr val="12233A"/>
                </a:solidFill>
                <a:latin typeface="Georgia" pitchFamily="34" charset="0"/>
                <a:ea typeface="Georgia" pitchFamily="34" charset="-122"/>
                <a:cs typeface="Georgia" pitchFamily="34" charset="-120"/>
              </a:rPr>
              <a:t>Residents per 1 km² location  </a:t>
            </a:r>
            <a:r>
              <a:rPr lang="en-US" sz="2100" dirty="0">
                <a:solidFill>
                  <a:srgbClr val="1C3D5A"/>
                </a:solidFill>
                <a:latin typeface="Georgia" pitchFamily="34" charset="0"/>
                <a:ea typeface="Georgia" pitchFamily="34" charset="-122"/>
                <a:cs typeface="Georgia" pitchFamily="34" charset="-120"/>
              </a:rPr>
              <a:t>— key NUTS1 regions (FR / IT / SE)</a:t>
            </a:r>
            <a:endParaRPr lang="en-US" sz="21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554480"/>
          <a:ext cx="11274552" cy="914400"/>
        </p:xfrm>
        <a:graphic>
          <a:graphicData uri="http://schemas.openxmlformats.org/drawingml/2006/table">
            <a:tbl>
              <a:tblPr/>
              <a:tblGrid>
                <a:gridCol w="1691640">
                  <a:extLst>
                    <a:ext uri="{9D8B030D-6E8A-4147-A177-3AD203B41FA5}">
                      <a16:colId xmlns:a16="http://schemas.microsoft.com/office/drawing/2014/main" val="20000"/>
                    </a:ext>
                  </a:extLst>
                </a:gridCol>
                <a:gridCol w="960120">
                  <a:extLst>
                    <a:ext uri="{9D8B030D-6E8A-4147-A177-3AD203B41FA5}">
                      <a16:colId xmlns:a16="http://schemas.microsoft.com/office/drawing/2014/main" val="20001"/>
                    </a:ext>
                  </a:extLst>
                </a:gridCol>
                <a:gridCol w="987552">
                  <a:extLst>
                    <a:ext uri="{9D8B030D-6E8A-4147-A177-3AD203B41FA5}">
                      <a16:colId xmlns:a16="http://schemas.microsoft.com/office/drawing/2014/main" val="20002"/>
                    </a:ext>
                  </a:extLst>
                </a:gridCol>
                <a:gridCol w="987552">
                  <a:extLst>
                    <a:ext uri="{9D8B030D-6E8A-4147-A177-3AD203B41FA5}">
                      <a16:colId xmlns:a16="http://schemas.microsoft.com/office/drawing/2014/main" val="20003"/>
                    </a:ext>
                  </a:extLst>
                </a:gridCol>
                <a:gridCol w="822960">
                  <a:extLst>
                    <a:ext uri="{9D8B030D-6E8A-4147-A177-3AD203B41FA5}">
                      <a16:colId xmlns:a16="http://schemas.microsoft.com/office/drawing/2014/main" val="20004"/>
                    </a:ext>
                  </a:extLst>
                </a:gridCol>
                <a:gridCol w="822960">
                  <a:extLst>
                    <a:ext uri="{9D8B030D-6E8A-4147-A177-3AD203B41FA5}">
                      <a16:colId xmlns:a16="http://schemas.microsoft.com/office/drawing/2014/main" val="20005"/>
                    </a:ext>
                  </a:extLst>
                </a:gridCol>
                <a:gridCol w="822960">
                  <a:extLst>
                    <a:ext uri="{9D8B030D-6E8A-4147-A177-3AD203B41FA5}">
                      <a16:colId xmlns:a16="http://schemas.microsoft.com/office/drawing/2014/main" val="20006"/>
                    </a:ext>
                  </a:extLst>
                </a:gridCol>
                <a:gridCol w="822960">
                  <a:extLst>
                    <a:ext uri="{9D8B030D-6E8A-4147-A177-3AD203B41FA5}">
                      <a16:colId xmlns:a16="http://schemas.microsoft.com/office/drawing/2014/main" val="20007"/>
                    </a:ext>
                  </a:extLst>
                </a:gridCol>
                <a:gridCol w="822960">
                  <a:extLst>
                    <a:ext uri="{9D8B030D-6E8A-4147-A177-3AD203B41FA5}">
                      <a16:colId xmlns:a16="http://schemas.microsoft.com/office/drawing/2014/main" val="20008"/>
                    </a:ext>
                  </a:extLst>
                </a:gridCol>
                <a:gridCol w="822960">
                  <a:extLst>
                    <a:ext uri="{9D8B030D-6E8A-4147-A177-3AD203B41FA5}">
                      <a16:colId xmlns:a16="http://schemas.microsoft.com/office/drawing/2014/main" val="20009"/>
                    </a:ext>
                  </a:extLst>
                </a:gridCol>
                <a:gridCol w="822960">
                  <a:extLst>
                    <a:ext uri="{9D8B030D-6E8A-4147-A177-3AD203B41FA5}">
                      <a16:colId xmlns:a16="http://schemas.microsoft.com/office/drawing/2014/main" val="20010"/>
                    </a:ext>
                  </a:extLst>
                </a:gridCol>
                <a:gridCol w="886968">
                  <a:extLst>
                    <a:ext uri="{9D8B030D-6E8A-4147-A177-3AD203B41FA5}">
                      <a16:colId xmlns:a16="http://schemas.microsoft.com/office/drawing/2014/main" val="20011"/>
                    </a:ext>
                  </a:extLst>
                </a:gridCol>
              </a:tblGrid>
              <a:tr h="187452">
                <a:tc>
                  <a:txBody>
                    <a:bodyPr/>
                    <a:lstStyle/>
                    <a:p>
                      <a:pPr marL="0" indent="0" algn="l">
                        <a:buNone/>
                      </a:pPr>
                      <a:r>
                        <a:rPr lang="en-US" sz="850" b="1" dirty="0">
                          <a:solidFill>
                            <a:srgbClr val="FFFFFF"/>
                          </a:solidFill>
                          <a:latin typeface="Calibri" pitchFamily="34" charset="0"/>
                          <a:ea typeface="Calibri" pitchFamily="34" charset="-122"/>
                          <a:cs typeface="Calibri" pitchFamily="34" charset="-120"/>
                        </a:rPr>
                        <a:t>region</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locations</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residents</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resid/loc</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#empty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min&gt;0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p10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p90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max</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187452">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Netherlands</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1,617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17.5M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10,797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4,394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6,802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10,167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13,827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17,874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34,905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01"/>
                  </a:ext>
                </a:extLst>
              </a:tr>
              <a:tr h="187452">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France</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13,863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65.3M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4,711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1,578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2,638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3,991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5,863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8,412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51,246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02"/>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1,452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8,480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2,804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4,317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6,789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10,194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15,712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51,246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FRB</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614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4,194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3,699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5,323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6,899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12,007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4"/>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FRC</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723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1,840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2,590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3,437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4,707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6,508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15,552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FRD</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683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4,828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2,095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3,024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4,549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7,865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15,013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6"/>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FRE</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1,337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4,478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2,006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2,862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3,995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5,644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7,566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17,786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FRF</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1,167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5.6M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4,765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3,035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4,219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5,963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8,069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16,534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8"/>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FRG</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851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4,508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2,836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4,119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5,649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7,539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22,395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FRH</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798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4,190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2,657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5,143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7,300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18,734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0"/>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FRI</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1,590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1,577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2,357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3,448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4,806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6,534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18,820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1"/>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FRJ</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1,424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4,221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2,323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3,646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5,452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7,734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17,607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2"/>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FRK</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1,685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4,815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1,732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2,768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4,149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6,096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8,493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25,354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3"/>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FRL</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1,045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5.0M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4,830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1,333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2,522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4,137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6,229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8,837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25,437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4"/>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3,618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718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3,141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4,337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6,491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14,763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5"/>
                  </a:ext>
                </a:extLst>
              </a:tr>
              <a:tr h="187452">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Italy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8,794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58.7M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6,677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1,298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2,547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4,919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8,616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13,684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112,620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16"/>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ITC</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15.8M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5,475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1,098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2,096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4,197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7,563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11,567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43,077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7"/>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ITF</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10,535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1,587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3,639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6,995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13,080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23,373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112,620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8"/>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ITG</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906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5,818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469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1,200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3,663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7,802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13,929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61,270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9"/>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ITH</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2,087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5,523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1,470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2,596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4,555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7,208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10,599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47,393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20"/>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ITI</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1,644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11.7M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7,117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1,578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3,196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5,533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9,414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14,419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51,155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21"/>
                  </a:ext>
                </a:extLst>
              </a:tr>
              <a:tr h="187452">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Sweden</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10.2M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9,420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3,080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5,220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8,541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12,284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17,268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37,107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22"/>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SE1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10,485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3,114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6,205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9,412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13,654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19,565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38,431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23"/>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SE2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454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4.4M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9,616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2,704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5,307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8,797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12,552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17,034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35,654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24"/>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SE3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7,064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2,566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3,916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5,939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9,425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12,971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25,507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25"/>
                  </a:ext>
                </a:extLst>
              </a:tr>
            </a:tbl>
          </a:graphicData>
        </a:graphic>
      </p:graphicFrame>
      <p:sp>
        <p:nvSpPr>
          <p:cNvPr id="5" name="Text 2"/>
          <p:cNvSpPr/>
          <p:nvPr/>
        </p:nvSpPr>
        <p:spPr>
          <a:xfrm>
            <a:off x="457200" y="6510528"/>
            <a:ext cx="11274552" cy="274320"/>
          </a:xfrm>
          <a:prstGeom prst="rect">
            <a:avLst/>
          </a:prstGeom>
          <a:noFill/>
          <a:ln/>
        </p:spPr>
        <p:txBody>
          <a:bodyPr wrap="square" rtlCol="0" anchor="ctr"/>
          <a:lstStyle/>
          <a:p>
            <a:pPr marL="0" indent="0">
              <a:buNone/>
            </a:pPr>
            <a:r>
              <a:rPr lang="en-US" sz="800" i="1" dirty="0">
                <a:solidFill>
                  <a:srgbClr val="5B6B7B"/>
                </a:solidFill>
                <a:latin typeface="Calibri" pitchFamily="34" charset="0"/>
                <a:ea typeface="Calibri" pitchFamily="34" charset="-122"/>
                <a:cs typeface="Calibri" pitchFamily="34" charset="-120"/>
              </a:rPr>
              <a:t>A location = a unique 1 km² cell with ≥1 pharmacy; catchment = residents whose nearest pharmacy cell BY ROAD is this one; p10..max = percentiles of that per-location catchment. #empty = locations that are never the road-nearest for any populated cell (fully shadowed / disconnected); min&gt;0 = smallest non-zero catchment. Country rows bold, NUTS1 indented below. Source: pharmacy_descriptives.csv (road OD; Lewis, 22 May).</a:t>
            </a:r>
            <a:endParaRPr lang="en-US" sz="800" dirty="0"/>
          </a:p>
        </p:txBody>
      </p:sp>
    </p:spTree>
    <p:extLst>
      <p:ext uri="{BB962C8B-B14F-4D97-AF65-F5344CB8AC3E}">
        <p14:creationId xmlns:p14="http://schemas.microsoft.com/office/powerpoint/2010/main" val="376960449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10972800" cy="274320"/>
          </a:xfrm>
          <a:prstGeom prst="rect">
            <a:avLst/>
          </a:prstGeom>
          <a:noFill/>
          <a:ln/>
        </p:spPr>
        <p:txBody>
          <a:bodyPr wrap="square" rtlCol="0" anchor="ctr"/>
          <a:lstStyle/>
          <a:p>
            <a:pPr marL="0" indent="0">
              <a:buNone/>
            </a:pPr>
            <a:r>
              <a:rPr lang="en-US" sz="1200" b="1" kern="0" spc="200" dirty="0">
                <a:solidFill>
                  <a:srgbClr val="E8A33D"/>
                </a:solidFill>
              </a:rPr>
              <a:t>PRELIMINARY · CATCHMENT-CAP LADDER (NO COST FUNCTION)</a:t>
            </a:r>
            <a:endParaRPr lang="en-US" sz="1200" dirty="0"/>
          </a:p>
        </p:txBody>
      </p:sp>
      <p:sp>
        <p:nvSpPr>
          <p:cNvPr id="3" name="Text 1"/>
          <p:cNvSpPr/>
          <p:nvPr/>
        </p:nvSpPr>
        <p:spPr>
          <a:xfrm>
            <a:off x="411480" y="475488"/>
            <a:ext cx="11430000" cy="457200"/>
          </a:xfrm>
          <a:prstGeom prst="rect">
            <a:avLst/>
          </a:prstGeom>
          <a:noFill/>
          <a:ln/>
        </p:spPr>
        <p:txBody>
          <a:bodyPr wrap="square" rtlCol="0" anchor="ctr"/>
          <a:lstStyle/>
          <a:p>
            <a:pPr marL="0" indent="0">
              <a:buNone/>
            </a:pPr>
            <a:r>
              <a:rPr lang="en-US" sz="1900" b="1" dirty="0">
                <a:solidFill>
                  <a:srgbClr val="12233A"/>
                </a:solidFill>
                <a:latin typeface="Georgia" pitchFamily="34" charset="0"/>
                <a:ea typeface="Georgia" pitchFamily="34" charset="-122"/>
                <a:cs typeface="Georgia" pitchFamily="34" charset="-120"/>
              </a:rPr>
              <a:t>Netherlands — five rungs, capping catchments instead of a cost function  </a:t>
            </a:r>
            <a:r>
              <a:rPr lang="en-US" sz="1900" dirty="0">
                <a:solidFill>
                  <a:srgbClr val="1C3D5A"/>
                </a:solidFill>
                <a:latin typeface="Georgia" pitchFamily="34" charset="0"/>
                <a:ea typeface="Georgia" pitchFamily="34" charset="-122"/>
                <a:cs typeface="Georgia" pitchFamily="34" charset="-120"/>
              </a:rPr>
              <a:t>— S1 fix #, ↓travel · S2 ↓#, hold travel</a:t>
            </a:r>
            <a:endParaRPr lang="en-US" sz="1900" dirty="0"/>
          </a:p>
        </p:txBody>
      </p:sp>
      <p:sp>
        <p:nvSpPr>
          <p:cNvPr id="4" name="Shape 2"/>
          <p:cNvSpPr/>
          <p:nvPr/>
        </p:nvSpPr>
        <p:spPr>
          <a:xfrm>
            <a:off x="457200" y="1325880"/>
            <a:ext cx="3721608" cy="2286000"/>
          </a:xfrm>
          <a:prstGeom prst="roundRect">
            <a:avLst>
              <a:gd name="adj" fmla="val 2400"/>
            </a:avLst>
          </a:prstGeom>
          <a:solidFill>
            <a:srgbClr val="F2F5F8"/>
          </a:solidFill>
          <a:ln w="12700">
            <a:solidFill>
              <a:srgbClr val="0B6E99"/>
            </a:solidFill>
            <a:prstDash val="solid"/>
          </a:ln>
        </p:spPr>
        <p:txBody>
          <a:bodyPr/>
          <a:lstStyle/>
          <a:p>
            <a:endParaRPr lang="en-GB"/>
          </a:p>
        </p:txBody>
      </p:sp>
      <p:sp>
        <p:nvSpPr>
          <p:cNvPr id="5" name="Text 3"/>
          <p:cNvSpPr/>
          <p:nvPr/>
        </p:nvSpPr>
        <p:spPr>
          <a:xfrm>
            <a:off x="621792" y="1426464"/>
            <a:ext cx="3447288" cy="274320"/>
          </a:xfrm>
          <a:prstGeom prst="rect">
            <a:avLst/>
          </a:prstGeom>
          <a:noFill/>
          <a:ln/>
        </p:spPr>
        <p:txBody>
          <a:bodyPr wrap="square" rtlCol="0" anchor="ctr"/>
          <a:lstStyle/>
          <a:p>
            <a:pPr marL="0" indent="0">
              <a:buNone/>
            </a:pPr>
            <a:r>
              <a:rPr lang="en-US" sz="1500" b="1" dirty="0">
                <a:solidFill>
                  <a:srgbClr val="0B6E99"/>
                </a:solidFill>
                <a:latin typeface="Calibri" pitchFamily="34" charset="0"/>
                <a:ea typeface="Calibri" pitchFamily="34" charset="-122"/>
                <a:cs typeface="Calibri" pitchFamily="34" charset="-120"/>
              </a:rPr>
              <a:t>S1 · A</a:t>
            </a:r>
            <a:endParaRPr lang="en-US" sz="1500" dirty="0"/>
          </a:p>
        </p:txBody>
      </p:sp>
      <p:sp>
        <p:nvSpPr>
          <p:cNvPr id="6" name="Text 4"/>
          <p:cNvSpPr/>
          <p:nvPr/>
        </p:nvSpPr>
        <p:spPr>
          <a:xfrm>
            <a:off x="621792" y="1737360"/>
            <a:ext cx="3447288" cy="274320"/>
          </a:xfrm>
          <a:prstGeom prst="rect">
            <a:avLst/>
          </a:prstGeom>
          <a:noFill/>
          <a:ln/>
        </p:spPr>
        <p:txBody>
          <a:bodyPr wrap="square" rtlCol="0" anchor="ctr"/>
          <a:lstStyle/>
          <a:p>
            <a:pPr marL="0" indent="0">
              <a:buNone/>
            </a:pPr>
            <a:r>
              <a:rPr lang="en-US" sz="950" i="1" dirty="0">
                <a:solidFill>
                  <a:srgbClr val="5B6B7B"/>
                </a:solidFill>
                <a:latin typeface="Calibri" pitchFamily="34" charset="0"/>
                <a:ea typeface="Calibri" pitchFamily="34" charset="-122"/>
                <a:cs typeface="Calibri" pitchFamily="34" charset="-120"/>
              </a:rPr>
              <a:t>max cap · multiple per cell</a:t>
            </a:r>
            <a:endParaRPr lang="en-US" sz="950" dirty="0"/>
          </a:p>
        </p:txBody>
      </p:sp>
      <p:sp>
        <p:nvSpPr>
          <p:cNvPr id="7" name="Text 5"/>
          <p:cNvSpPr/>
          <p:nvPr/>
        </p:nvSpPr>
        <p:spPr>
          <a:xfrm>
            <a:off x="621792" y="2103120"/>
            <a:ext cx="3447288" cy="457200"/>
          </a:xfrm>
          <a:prstGeom prst="rect">
            <a:avLst/>
          </a:prstGeom>
          <a:noFill/>
          <a:ln/>
        </p:spPr>
        <p:txBody>
          <a:bodyPr wrap="square" rtlCol="0" anchor="ctr"/>
          <a:lstStyle/>
          <a:p>
            <a:pPr marL="0" indent="0">
              <a:buNone/>
            </a:pPr>
            <a:r>
              <a:rPr lang="en-US" sz="2500" b="1" dirty="0">
                <a:solidFill>
                  <a:srgbClr val="B23A2E"/>
                </a:solidFill>
                <a:latin typeface="Georgia" pitchFamily="34" charset="0"/>
                <a:ea typeface="Georgia" pitchFamily="34" charset="-122"/>
                <a:cs typeface="Georgia" pitchFamily="34" charset="-120"/>
              </a:rPr>
              <a:t>+13.3%</a:t>
            </a:r>
            <a:r>
              <a:rPr lang="en-US" sz="1050" dirty="0">
                <a:solidFill>
                  <a:srgbClr val="5B6B7B"/>
                </a:solidFill>
                <a:latin typeface="Georgia" pitchFamily="34" charset="0"/>
                <a:ea typeface="Georgia" pitchFamily="34" charset="-122"/>
                <a:cs typeface="Georgia" pitchFamily="34" charset="-120"/>
              </a:rPr>
              <a:t>  travel vs today</a:t>
            </a:r>
            <a:endParaRPr lang="en-US" sz="2500" dirty="0"/>
          </a:p>
        </p:txBody>
      </p:sp>
      <p:sp>
        <p:nvSpPr>
          <p:cNvPr id="8" name="Text 6"/>
          <p:cNvSpPr/>
          <p:nvPr/>
        </p:nvSpPr>
        <p:spPr>
          <a:xfrm>
            <a:off x="621792" y="2679192"/>
            <a:ext cx="3447288" cy="868680"/>
          </a:xfrm>
          <a:prstGeom prst="rect">
            <a:avLst/>
          </a:prstGeom>
          <a:noFill/>
          <a:ln/>
        </p:spPr>
        <p:txBody>
          <a:bodyPr wrap="square" rtlCol="0" anchor="t"/>
          <a:lstStyle/>
          <a:p>
            <a:pPr marL="0" indent="0">
              <a:lnSpc>
                <a:spcPct val="105000"/>
              </a:lnSpc>
              <a:buNone/>
            </a:pPr>
            <a:r>
              <a:rPr lang="en-US" sz="1000" dirty="0">
                <a:solidFill>
                  <a:srgbClr val="12233A"/>
                </a:solidFill>
                <a:latin typeface="Calibri" pitchFamily="34" charset="0"/>
                <a:ea typeface="Calibri" pitchFamily="34" charset="-122"/>
                <a:cs typeface="Calibri" pitchFamily="34" charset="-120"/>
              </a:rPr>
              <a:t>1,613 pharmacies · 1,593 cells</a:t>
            </a:r>
            <a:endParaRPr lang="en-US" sz="1000" dirty="0"/>
          </a:p>
          <a:p>
            <a:pPr marL="0" indent="0">
              <a:lnSpc>
                <a:spcPct val="105000"/>
              </a:lnSpc>
              <a:buNone/>
            </a:pPr>
            <a:r>
              <a:rPr lang="en-US" sz="1000" dirty="0">
                <a:solidFill>
                  <a:srgbClr val="12233A"/>
                </a:solidFill>
                <a:latin typeface="Calibri" pitchFamily="34" charset="0"/>
                <a:ea typeface="Calibri" pitchFamily="34" charset="-122"/>
                <a:cs typeface="Calibri" pitchFamily="34" charset="-120"/>
              </a:rPr>
              <a:t>1.9% stranded · cap 35,000</a:t>
            </a:r>
            <a:endParaRPr lang="en-US" sz="1000" dirty="0"/>
          </a:p>
        </p:txBody>
      </p:sp>
      <p:sp>
        <p:nvSpPr>
          <p:cNvPr id="9" name="Shape 7"/>
          <p:cNvSpPr/>
          <p:nvPr/>
        </p:nvSpPr>
        <p:spPr>
          <a:xfrm>
            <a:off x="4361688" y="1325880"/>
            <a:ext cx="3721608" cy="2286000"/>
          </a:xfrm>
          <a:prstGeom prst="roundRect">
            <a:avLst>
              <a:gd name="adj" fmla="val 2400"/>
            </a:avLst>
          </a:prstGeom>
          <a:solidFill>
            <a:srgbClr val="F2F5F8"/>
          </a:solidFill>
          <a:ln w="12700">
            <a:solidFill>
              <a:srgbClr val="0B6E99"/>
            </a:solidFill>
            <a:prstDash val="solid"/>
          </a:ln>
        </p:spPr>
        <p:txBody>
          <a:bodyPr/>
          <a:lstStyle/>
          <a:p>
            <a:endParaRPr lang="en-GB"/>
          </a:p>
        </p:txBody>
      </p:sp>
      <p:sp>
        <p:nvSpPr>
          <p:cNvPr id="10" name="Text 8"/>
          <p:cNvSpPr/>
          <p:nvPr/>
        </p:nvSpPr>
        <p:spPr>
          <a:xfrm>
            <a:off x="4526280" y="1426464"/>
            <a:ext cx="3447288" cy="274320"/>
          </a:xfrm>
          <a:prstGeom prst="rect">
            <a:avLst/>
          </a:prstGeom>
          <a:noFill/>
          <a:ln/>
        </p:spPr>
        <p:txBody>
          <a:bodyPr wrap="square" rtlCol="0" anchor="ctr"/>
          <a:lstStyle/>
          <a:p>
            <a:pPr marL="0" indent="0">
              <a:buNone/>
            </a:pPr>
            <a:r>
              <a:rPr lang="en-US" sz="1500" b="1" dirty="0">
                <a:solidFill>
                  <a:srgbClr val="0B6E99"/>
                </a:solidFill>
                <a:latin typeface="Calibri" pitchFamily="34" charset="0"/>
                <a:ea typeface="Calibri" pitchFamily="34" charset="-122"/>
                <a:cs typeface="Calibri" pitchFamily="34" charset="-120"/>
              </a:rPr>
              <a:t>S1 · B</a:t>
            </a:r>
            <a:endParaRPr lang="en-US" sz="1500" dirty="0"/>
          </a:p>
        </p:txBody>
      </p:sp>
      <p:sp>
        <p:nvSpPr>
          <p:cNvPr id="11" name="Text 9"/>
          <p:cNvSpPr/>
          <p:nvPr/>
        </p:nvSpPr>
        <p:spPr>
          <a:xfrm>
            <a:off x="4526280" y="1737360"/>
            <a:ext cx="3447288" cy="274320"/>
          </a:xfrm>
          <a:prstGeom prst="rect">
            <a:avLst/>
          </a:prstGeom>
          <a:noFill/>
          <a:ln/>
        </p:spPr>
        <p:txBody>
          <a:bodyPr wrap="square" rtlCol="0" anchor="ctr"/>
          <a:lstStyle/>
          <a:p>
            <a:pPr marL="0" indent="0">
              <a:buNone/>
            </a:pPr>
            <a:r>
              <a:rPr lang="en-US" sz="950" i="1" dirty="0">
                <a:solidFill>
                  <a:srgbClr val="5B6B7B"/>
                </a:solidFill>
                <a:latin typeface="Calibri" pitchFamily="34" charset="0"/>
                <a:ea typeface="Calibri" pitchFamily="34" charset="-122"/>
                <a:cs typeface="Calibri" pitchFamily="34" charset="-120"/>
              </a:rPr>
              <a:t>max cap · one per cell</a:t>
            </a:r>
            <a:endParaRPr lang="en-US" sz="950" dirty="0"/>
          </a:p>
        </p:txBody>
      </p:sp>
      <p:sp>
        <p:nvSpPr>
          <p:cNvPr id="12" name="Text 10"/>
          <p:cNvSpPr/>
          <p:nvPr/>
        </p:nvSpPr>
        <p:spPr>
          <a:xfrm>
            <a:off x="4526280" y="2103120"/>
            <a:ext cx="3447288" cy="457200"/>
          </a:xfrm>
          <a:prstGeom prst="rect">
            <a:avLst/>
          </a:prstGeom>
          <a:noFill/>
          <a:ln/>
        </p:spPr>
        <p:txBody>
          <a:bodyPr wrap="square" rtlCol="0" anchor="ctr"/>
          <a:lstStyle/>
          <a:p>
            <a:pPr marL="0" indent="0">
              <a:buNone/>
            </a:pPr>
            <a:r>
              <a:rPr lang="en-US" sz="2500" b="1" dirty="0">
                <a:solidFill>
                  <a:srgbClr val="1E7A52"/>
                </a:solidFill>
                <a:latin typeface="Georgia" pitchFamily="34" charset="0"/>
                <a:ea typeface="Georgia" pitchFamily="34" charset="-122"/>
                <a:cs typeface="Georgia" pitchFamily="34" charset="-120"/>
              </a:rPr>
              <a:t>-6.5%</a:t>
            </a:r>
            <a:r>
              <a:rPr lang="en-US" sz="1050" dirty="0">
                <a:solidFill>
                  <a:srgbClr val="5B6B7B"/>
                </a:solidFill>
                <a:latin typeface="Georgia" pitchFamily="34" charset="0"/>
                <a:ea typeface="Georgia" pitchFamily="34" charset="-122"/>
                <a:cs typeface="Georgia" pitchFamily="34" charset="-120"/>
              </a:rPr>
              <a:t>  travel vs today</a:t>
            </a:r>
            <a:endParaRPr lang="en-US" sz="2500" dirty="0"/>
          </a:p>
        </p:txBody>
      </p:sp>
      <p:sp>
        <p:nvSpPr>
          <p:cNvPr id="13" name="Text 11"/>
          <p:cNvSpPr/>
          <p:nvPr/>
        </p:nvSpPr>
        <p:spPr>
          <a:xfrm>
            <a:off x="4526280" y="2679192"/>
            <a:ext cx="3447288" cy="868680"/>
          </a:xfrm>
          <a:prstGeom prst="rect">
            <a:avLst/>
          </a:prstGeom>
          <a:noFill/>
          <a:ln/>
        </p:spPr>
        <p:txBody>
          <a:bodyPr wrap="square" rtlCol="0" anchor="t"/>
          <a:lstStyle/>
          <a:p>
            <a:pPr marL="0" indent="0">
              <a:lnSpc>
                <a:spcPct val="105000"/>
              </a:lnSpc>
              <a:buNone/>
            </a:pPr>
            <a:r>
              <a:rPr lang="en-US" sz="1000" dirty="0">
                <a:solidFill>
                  <a:srgbClr val="12233A"/>
                </a:solidFill>
                <a:latin typeface="Calibri" pitchFamily="34" charset="0"/>
                <a:ea typeface="Calibri" pitchFamily="34" charset="-122"/>
                <a:cs typeface="Calibri" pitchFamily="34" charset="-120"/>
              </a:rPr>
              <a:t>1,613 pharmacies · 1,613 cells</a:t>
            </a:r>
            <a:endParaRPr lang="en-US" sz="1000" dirty="0"/>
          </a:p>
          <a:p>
            <a:pPr marL="0" indent="0">
              <a:lnSpc>
                <a:spcPct val="105000"/>
              </a:lnSpc>
              <a:buNone/>
            </a:pPr>
            <a:r>
              <a:rPr lang="en-US" sz="1000" dirty="0">
                <a:solidFill>
                  <a:srgbClr val="12233A"/>
                </a:solidFill>
                <a:latin typeface="Calibri" pitchFamily="34" charset="0"/>
                <a:ea typeface="Calibri" pitchFamily="34" charset="-122"/>
                <a:cs typeface="Calibri" pitchFamily="34" charset="-120"/>
              </a:rPr>
              <a:t>0.8% stranded · cap 35,000</a:t>
            </a:r>
            <a:endParaRPr lang="en-US" sz="1000" dirty="0"/>
          </a:p>
        </p:txBody>
      </p:sp>
      <p:sp>
        <p:nvSpPr>
          <p:cNvPr id="14" name="Shape 12"/>
          <p:cNvSpPr/>
          <p:nvPr/>
        </p:nvSpPr>
        <p:spPr>
          <a:xfrm>
            <a:off x="8266176" y="1325880"/>
            <a:ext cx="3721608" cy="2286000"/>
          </a:xfrm>
          <a:prstGeom prst="roundRect">
            <a:avLst>
              <a:gd name="adj" fmla="val 2400"/>
            </a:avLst>
          </a:prstGeom>
          <a:solidFill>
            <a:srgbClr val="F2F5F8"/>
          </a:solidFill>
          <a:ln w="12700">
            <a:solidFill>
              <a:srgbClr val="C9D2DB"/>
            </a:solidFill>
            <a:prstDash val="solid"/>
          </a:ln>
        </p:spPr>
        <p:txBody>
          <a:bodyPr/>
          <a:lstStyle/>
          <a:p>
            <a:endParaRPr lang="en-GB"/>
          </a:p>
        </p:txBody>
      </p:sp>
      <p:sp>
        <p:nvSpPr>
          <p:cNvPr id="15" name="Text 13"/>
          <p:cNvSpPr/>
          <p:nvPr/>
        </p:nvSpPr>
        <p:spPr>
          <a:xfrm>
            <a:off x="8430768" y="1426464"/>
            <a:ext cx="3447288" cy="274320"/>
          </a:xfrm>
          <a:prstGeom prst="rect">
            <a:avLst/>
          </a:prstGeom>
          <a:noFill/>
          <a:ln/>
        </p:spPr>
        <p:txBody>
          <a:bodyPr wrap="square" rtlCol="0" anchor="ctr"/>
          <a:lstStyle/>
          <a:p>
            <a:pPr marL="0" indent="0">
              <a:buNone/>
            </a:pPr>
            <a:r>
              <a:rPr lang="en-US" sz="1500" b="1" dirty="0">
                <a:solidFill>
                  <a:srgbClr val="8A98A6"/>
                </a:solidFill>
                <a:latin typeface="Calibri" pitchFamily="34" charset="0"/>
                <a:ea typeface="Calibri" pitchFamily="34" charset="-122"/>
                <a:cs typeface="Calibri" pitchFamily="34" charset="-120"/>
              </a:rPr>
              <a:t>S1 · C</a:t>
            </a:r>
            <a:endParaRPr lang="en-US" sz="1500" dirty="0"/>
          </a:p>
        </p:txBody>
      </p:sp>
      <p:sp>
        <p:nvSpPr>
          <p:cNvPr id="16" name="Text 14"/>
          <p:cNvSpPr/>
          <p:nvPr/>
        </p:nvSpPr>
        <p:spPr>
          <a:xfrm>
            <a:off x="8430768" y="1737360"/>
            <a:ext cx="3447288" cy="274320"/>
          </a:xfrm>
          <a:prstGeom prst="rect">
            <a:avLst/>
          </a:prstGeom>
          <a:noFill/>
          <a:ln/>
        </p:spPr>
        <p:txBody>
          <a:bodyPr wrap="square" rtlCol="0" anchor="ctr"/>
          <a:lstStyle/>
          <a:p>
            <a:pPr marL="0" indent="0">
              <a:buNone/>
            </a:pPr>
            <a:r>
              <a:rPr lang="en-US" sz="950" i="1" dirty="0">
                <a:solidFill>
                  <a:srgbClr val="5B6B7B"/>
                </a:solidFill>
                <a:latin typeface="Calibri" pitchFamily="34" charset="0"/>
                <a:ea typeface="Calibri" pitchFamily="34" charset="-122"/>
                <a:cs typeface="Calibri" pitchFamily="34" charset="-120"/>
              </a:rPr>
              <a:t>urban fixed · model the rest</a:t>
            </a:r>
            <a:endParaRPr lang="en-US" sz="950" dirty="0"/>
          </a:p>
        </p:txBody>
      </p:sp>
      <p:sp>
        <p:nvSpPr>
          <p:cNvPr id="17" name="Text 15"/>
          <p:cNvSpPr/>
          <p:nvPr/>
        </p:nvSpPr>
        <p:spPr>
          <a:xfrm>
            <a:off x="8430768" y="2194560"/>
            <a:ext cx="3392424" cy="822960"/>
          </a:xfrm>
          <a:prstGeom prst="rect">
            <a:avLst/>
          </a:prstGeom>
          <a:noFill/>
          <a:ln/>
        </p:spPr>
        <p:txBody>
          <a:bodyPr wrap="square" rtlCol="0" anchor="ctr"/>
          <a:lstStyle/>
          <a:p>
            <a:pPr marL="0" indent="0" algn="ctr">
              <a:buNone/>
            </a:pPr>
            <a:r>
              <a:rPr lang="en-US" sz="1200" dirty="0">
                <a:solidFill>
                  <a:srgbClr val="8A98A6"/>
                </a:solidFill>
                <a:latin typeface="Calibri" pitchFamily="34" charset="0"/>
                <a:ea typeface="Calibri" pitchFamily="34" charset="-122"/>
                <a:cs typeface="Calibri" pitchFamily="34" charset="-120"/>
              </a:rPr>
              <a:t>full-scale run</a:t>
            </a:r>
            <a:endParaRPr lang="en-US" sz="1200" dirty="0"/>
          </a:p>
          <a:p>
            <a:pPr marL="0" indent="0" algn="ctr">
              <a:buNone/>
            </a:pPr>
            <a:r>
              <a:rPr lang="en-US" sz="1200" dirty="0">
                <a:solidFill>
                  <a:srgbClr val="8A98A6"/>
                </a:solidFill>
                <a:latin typeface="Calibri" pitchFamily="34" charset="0"/>
                <a:ea typeface="Calibri" pitchFamily="34" charset="-122"/>
                <a:cs typeface="Calibri" pitchFamily="34" charset="-120"/>
              </a:rPr>
              <a:t>pending</a:t>
            </a:r>
            <a:endParaRPr lang="en-US" sz="1200" dirty="0"/>
          </a:p>
        </p:txBody>
      </p:sp>
      <p:sp>
        <p:nvSpPr>
          <p:cNvPr id="18" name="Shape 16"/>
          <p:cNvSpPr/>
          <p:nvPr/>
        </p:nvSpPr>
        <p:spPr>
          <a:xfrm>
            <a:off x="457200" y="3794760"/>
            <a:ext cx="3721608" cy="2286000"/>
          </a:xfrm>
          <a:prstGeom prst="roundRect">
            <a:avLst>
              <a:gd name="adj" fmla="val 2400"/>
            </a:avLst>
          </a:prstGeom>
          <a:solidFill>
            <a:srgbClr val="F2F5F8"/>
          </a:solidFill>
          <a:ln w="12700">
            <a:solidFill>
              <a:srgbClr val="C9D2DB"/>
            </a:solidFill>
            <a:prstDash val="solid"/>
          </a:ln>
        </p:spPr>
        <p:txBody>
          <a:bodyPr/>
          <a:lstStyle/>
          <a:p>
            <a:endParaRPr lang="en-GB"/>
          </a:p>
        </p:txBody>
      </p:sp>
      <p:sp>
        <p:nvSpPr>
          <p:cNvPr id="19" name="Text 17"/>
          <p:cNvSpPr/>
          <p:nvPr/>
        </p:nvSpPr>
        <p:spPr>
          <a:xfrm>
            <a:off x="621792" y="3895344"/>
            <a:ext cx="3447288" cy="274320"/>
          </a:xfrm>
          <a:prstGeom prst="rect">
            <a:avLst/>
          </a:prstGeom>
          <a:noFill/>
          <a:ln/>
        </p:spPr>
        <p:txBody>
          <a:bodyPr wrap="square" rtlCol="0" anchor="ctr"/>
          <a:lstStyle/>
          <a:p>
            <a:pPr marL="0" indent="0">
              <a:buNone/>
            </a:pPr>
            <a:r>
              <a:rPr lang="en-US" sz="1500" b="1" dirty="0">
                <a:solidFill>
                  <a:srgbClr val="8A98A6"/>
                </a:solidFill>
                <a:latin typeface="Calibri" pitchFamily="34" charset="0"/>
                <a:ea typeface="Calibri" pitchFamily="34" charset="-122"/>
                <a:cs typeface="Calibri" pitchFamily="34" charset="-120"/>
              </a:rPr>
              <a:t>S2 · A</a:t>
            </a:r>
            <a:endParaRPr lang="en-US" sz="1500" dirty="0"/>
          </a:p>
        </p:txBody>
      </p:sp>
      <p:sp>
        <p:nvSpPr>
          <p:cNvPr id="20" name="Text 18"/>
          <p:cNvSpPr/>
          <p:nvPr/>
        </p:nvSpPr>
        <p:spPr>
          <a:xfrm>
            <a:off x="621792" y="4206240"/>
            <a:ext cx="3447288" cy="274320"/>
          </a:xfrm>
          <a:prstGeom prst="rect">
            <a:avLst/>
          </a:prstGeom>
          <a:noFill/>
          <a:ln/>
        </p:spPr>
        <p:txBody>
          <a:bodyPr wrap="square" rtlCol="0" anchor="ctr"/>
          <a:lstStyle/>
          <a:p>
            <a:pPr marL="0" indent="0">
              <a:buNone/>
            </a:pPr>
            <a:r>
              <a:rPr lang="en-US" sz="950" i="1" dirty="0">
                <a:solidFill>
                  <a:srgbClr val="5B6B7B"/>
                </a:solidFill>
                <a:latin typeface="Calibri" pitchFamily="34" charset="0"/>
                <a:ea typeface="Calibri" pitchFamily="34" charset="-122"/>
                <a:cs typeface="Calibri" pitchFamily="34" charset="-120"/>
              </a:rPr>
              <a:t>min + max cap · all facilities</a:t>
            </a:r>
            <a:endParaRPr lang="en-US" sz="950" dirty="0"/>
          </a:p>
        </p:txBody>
      </p:sp>
      <p:sp>
        <p:nvSpPr>
          <p:cNvPr id="21" name="Text 19"/>
          <p:cNvSpPr/>
          <p:nvPr/>
        </p:nvSpPr>
        <p:spPr>
          <a:xfrm>
            <a:off x="621792" y="4663440"/>
            <a:ext cx="3392424" cy="822960"/>
          </a:xfrm>
          <a:prstGeom prst="rect">
            <a:avLst/>
          </a:prstGeom>
          <a:noFill/>
          <a:ln/>
        </p:spPr>
        <p:txBody>
          <a:bodyPr wrap="square" rtlCol="0" anchor="ctr"/>
          <a:lstStyle/>
          <a:p>
            <a:pPr marL="0" indent="0" algn="ctr">
              <a:buNone/>
            </a:pPr>
            <a:r>
              <a:rPr lang="en-US" sz="1200" dirty="0">
                <a:solidFill>
                  <a:srgbClr val="8A98A6"/>
                </a:solidFill>
                <a:latin typeface="Calibri" pitchFamily="34" charset="0"/>
                <a:ea typeface="Calibri" pitchFamily="34" charset="-122"/>
                <a:cs typeface="Calibri" pitchFamily="34" charset="-120"/>
              </a:rPr>
              <a:t>full-scale run</a:t>
            </a:r>
            <a:endParaRPr lang="en-US" sz="1200" dirty="0"/>
          </a:p>
          <a:p>
            <a:pPr marL="0" indent="0" algn="ctr">
              <a:buNone/>
            </a:pPr>
            <a:r>
              <a:rPr lang="en-US" sz="1200" dirty="0">
                <a:solidFill>
                  <a:srgbClr val="8A98A6"/>
                </a:solidFill>
                <a:latin typeface="Calibri" pitchFamily="34" charset="0"/>
                <a:ea typeface="Calibri" pitchFamily="34" charset="-122"/>
                <a:cs typeface="Calibri" pitchFamily="34" charset="-120"/>
              </a:rPr>
              <a:t>pending</a:t>
            </a:r>
            <a:endParaRPr lang="en-US" sz="1200" dirty="0"/>
          </a:p>
        </p:txBody>
      </p:sp>
      <p:sp>
        <p:nvSpPr>
          <p:cNvPr id="22" name="Shape 20"/>
          <p:cNvSpPr/>
          <p:nvPr/>
        </p:nvSpPr>
        <p:spPr>
          <a:xfrm>
            <a:off x="4361688" y="3794760"/>
            <a:ext cx="3721608" cy="2286000"/>
          </a:xfrm>
          <a:prstGeom prst="roundRect">
            <a:avLst>
              <a:gd name="adj" fmla="val 2400"/>
            </a:avLst>
          </a:prstGeom>
          <a:solidFill>
            <a:srgbClr val="F2F5F8"/>
          </a:solidFill>
          <a:ln w="12700">
            <a:solidFill>
              <a:srgbClr val="C9D2DB"/>
            </a:solidFill>
            <a:prstDash val="solid"/>
          </a:ln>
        </p:spPr>
        <p:txBody>
          <a:bodyPr/>
          <a:lstStyle/>
          <a:p>
            <a:endParaRPr lang="en-GB"/>
          </a:p>
        </p:txBody>
      </p:sp>
      <p:sp>
        <p:nvSpPr>
          <p:cNvPr id="23" name="Text 21"/>
          <p:cNvSpPr/>
          <p:nvPr/>
        </p:nvSpPr>
        <p:spPr>
          <a:xfrm>
            <a:off x="4526280" y="3895344"/>
            <a:ext cx="3447288" cy="274320"/>
          </a:xfrm>
          <a:prstGeom prst="rect">
            <a:avLst/>
          </a:prstGeom>
          <a:noFill/>
          <a:ln/>
        </p:spPr>
        <p:txBody>
          <a:bodyPr wrap="square" rtlCol="0" anchor="ctr"/>
          <a:lstStyle/>
          <a:p>
            <a:pPr marL="0" indent="0">
              <a:buNone/>
            </a:pPr>
            <a:r>
              <a:rPr lang="en-US" sz="1500" b="1" dirty="0">
                <a:solidFill>
                  <a:srgbClr val="8A98A6"/>
                </a:solidFill>
                <a:latin typeface="Calibri" pitchFamily="34" charset="0"/>
                <a:ea typeface="Calibri" pitchFamily="34" charset="-122"/>
                <a:cs typeface="Calibri" pitchFamily="34" charset="-120"/>
              </a:rPr>
              <a:t>S2 · B</a:t>
            </a:r>
            <a:endParaRPr lang="en-US" sz="1500" dirty="0"/>
          </a:p>
        </p:txBody>
      </p:sp>
      <p:sp>
        <p:nvSpPr>
          <p:cNvPr id="24" name="Text 22"/>
          <p:cNvSpPr/>
          <p:nvPr/>
        </p:nvSpPr>
        <p:spPr>
          <a:xfrm>
            <a:off x="4526280" y="4206240"/>
            <a:ext cx="3447288" cy="274320"/>
          </a:xfrm>
          <a:prstGeom prst="rect">
            <a:avLst/>
          </a:prstGeom>
          <a:noFill/>
          <a:ln/>
        </p:spPr>
        <p:txBody>
          <a:bodyPr wrap="square" rtlCol="0" anchor="ctr"/>
          <a:lstStyle/>
          <a:p>
            <a:pPr marL="0" indent="0">
              <a:buNone/>
            </a:pPr>
            <a:r>
              <a:rPr lang="en-US" sz="950" i="1" dirty="0">
                <a:solidFill>
                  <a:srgbClr val="5B6B7B"/>
                </a:solidFill>
                <a:latin typeface="Calibri" pitchFamily="34" charset="0"/>
                <a:ea typeface="Calibri" pitchFamily="34" charset="-122"/>
                <a:cs typeface="Calibri" pitchFamily="34" charset="-120"/>
              </a:rPr>
              <a:t>min + max cap · outside urban</a:t>
            </a:r>
            <a:endParaRPr lang="en-US" sz="950" dirty="0"/>
          </a:p>
        </p:txBody>
      </p:sp>
      <p:sp>
        <p:nvSpPr>
          <p:cNvPr id="25" name="Text 23"/>
          <p:cNvSpPr/>
          <p:nvPr/>
        </p:nvSpPr>
        <p:spPr>
          <a:xfrm>
            <a:off x="4526280" y="4663440"/>
            <a:ext cx="3392424" cy="822960"/>
          </a:xfrm>
          <a:prstGeom prst="rect">
            <a:avLst/>
          </a:prstGeom>
          <a:noFill/>
          <a:ln/>
        </p:spPr>
        <p:txBody>
          <a:bodyPr wrap="square" rtlCol="0" anchor="ctr"/>
          <a:lstStyle/>
          <a:p>
            <a:pPr marL="0" indent="0" algn="ctr">
              <a:buNone/>
            </a:pPr>
            <a:r>
              <a:rPr lang="en-US" sz="1200" dirty="0">
                <a:solidFill>
                  <a:srgbClr val="8A98A6"/>
                </a:solidFill>
                <a:latin typeface="Calibri" pitchFamily="34" charset="0"/>
                <a:ea typeface="Calibri" pitchFamily="34" charset="-122"/>
                <a:cs typeface="Calibri" pitchFamily="34" charset="-120"/>
              </a:rPr>
              <a:t>full-scale run</a:t>
            </a:r>
            <a:endParaRPr lang="en-US" sz="1200" dirty="0"/>
          </a:p>
          <a:p>
            <a:pPr marL="0" indent="0" algn="ctr">
              <a:buNone/>
            </a:pPr>
            <a:r>
              <a:rPr lang="en-US" sz="1200" dirty="0">
                <a:solidFill>
                  <a:srgbClr val="8A98A6"/>
                </a:solidFill>
                <a:latin typeface="Calibri" pitchFamily="34" charset="0"/>
                <a:ea typeface="Calibri" pitchFamily="34" charset="-122"/>
                <a:cs typeface="Calibri" pitchFamily="34" charset="-120"/>
              </a:rPr>
              <a:t>pending</a:t>
            </a:r>
            <a:endParaRPr lang="en-US" sz="1200" dirty="0"/>
          </a:p>
        </p:txBody>
      </p:sp>
      <p:sp>
        <p:nvSpPr>
          <p:cNvPr id="26" name="Text 24"/>
          <p:cNvSpPr/>
          <p:nvPr/>
        </p:nvSpPr>
        <p:spPr>
          <a:xfrm>
            <a:off x="8019288" y="3794760"/>
            <a:ext cx="3703320" cy="2286000"/>
          </a:xfrm>
          <a:prstGeom prst="rect">
            <a:avLst/>
          </a:prstGeom>
          <a:noFill/>
          <a:ln/>
        </p:spPr>
        <p:txBody>
          <a:bodyPr wrap="square" rtlCol="0" anchor="t"/>
          <a:lstStyle/>
          <a:p>
            <a:pPr marL="0" indent="0">
              <a:buNone/>
            </a:pPr>
            <a:r>
              <a:rPr lang="en-US" sz="1100" b="1" dirty="0">
                <a:solidFill>
                  <a:srgbClr val="0B6E99"/>
                </a:solidFill>
                <a:latin typeface="Calibri" pitchFamily="34" charset="0"/>
                <a:ea typeface="Calibri" pitchFamily="34" charset="-122"/>
                <a:cs typeface="Calibri" pitchFamily="34" charset="-120"/>
              </a:rPr>
              <a:t>S1 </a:t>
            </a:r>
            <a:r>
              <a:rPr lang="en-US" sz="1100" dirty="0">
                <a:solidFill>
                  <a:srgbClr val="12233A"/>
                </a:solidFill>
                <a:latin typeface="Calibri" pitchFamily="34" charset="0"/>
                <a:ea typeface="Calibri" pitchFamily="34" charset="-122"/>
                <a:cs typeface="Calibri" pitchFamily="34" charset="-120"/>
              </a:rPr>
              <a:t>keeps today's count, minimises travel under a max catchment cap.  </a:t>
            </a:r>
            <a:r>
              <a:rPr lang="en-US" sz="1100" b="1" dirty="0">
                <a:solidFill>
                  <a:srgbClr val="0B6E99"/>
                </a:solidFill>
                <a:latin typeface="Calibri" pitchFamily="34" charset="0"/>
                <a:ea typeface="Calibri" pitchFamily="34" charset="-122"/>
                <a:cs typeface="Calibri" pitchFamily="34" charset="-120"/>
              </a:rPr>
              <a:t>S2 </a:t>
            </a:r>
            <a:r>
              <a:rPr lang="en-US" sz="1100" dirty="0">
                <a:solidFill>
                  <a:srgbClr val="12233A"/>
                </a:solidFill>
                <a:latin typeface="Calibri" pitchFamily="34" charset="0"/>
                <a:ea typeface="Calibri" pitchFamily="34" charset="-122"/>
                <a:cs typeface="Calibri" pitchFamily="34" charset="-120"/>
              </a:rPr>
              <a:t>minimises the count under a min (viability) + max catchment, holding travel ≈ today.  Cost-function rung (S1-D / S2-C) = the λ-sweep that follows.</a:t>
            </a:r>
            <a:endParaRPr lang="en-US" sz="1100" dirty="0"/>
          </a:p>
        </p:txBody>
      </p:sp>
      <p:sp>
        <p:nvSpPr>
          <p:cNvPr id="27" name="Text 25"/>
          <p:cNvSpPr/>
          <p:nvPr/>
        </p:nvSpPr>
        <p:spPr>
          <a:xfrm>
            <a:off x="411480" y="6144768"/>
            <a:ext cx="11430000" cy="502920"/>
          </a:xfrm>
          <a:prstGeom prst="rect">
            <a:avLst/>
          </a:prstGeom>
          <a:noFill/>
          <a:ln/>
        </p:spPr>
        <p:txBody>
          <a:bodyPr wrap="square" rtlCol="0" anchor="t"/>
          <a:lstStyle/>
          <a:p>
            <a:pPr marL="0" indent="0">
              <a:buNone/>
            </a:pPr>
            <a:r>
              <a:rPr lang="en-US" sz="850" b="1" i="1" dirty="0">
                <a:solidFill>
                  <a:srgbClr val="B23A2E"/>
                </a:solidFill>
                <a:latin typeface="Calibri" pitchFamily="34" charset="0"/>
                <a:ea typeface="Calibri" pitchFamily="34" charset="-122"/>
                <a:cs typeface="Calibri" pitchFamily="34" charset="-120"/>
              </a:rPr>
              <a:t>PRELIMINARY — INDICATIVE ONLY. </a:t>
            </a:r>
            <a:r>
              <a:rPr lang="en-US" sz="850" i="1" dirty="0">
                <a:solidFill>
                  <a:srgbClr val="5B6B7B"/>
                </a:solidFill>
                <a:latin typeface="Calibri" pitchFamily="34" charset="0"/>
                <a:ea typeface="Calibri" pitchFamily="34" charset="-122"/>
                <a:cs typeface="Calibri" pitchFamily="34" charset="-120"/>
              </a:rPr>
              <a:t>Full-scale ladder run incomplete; S1 (fixed-count) figures are sensitive to LP-relaxation rounding and can shift on re-run (robust multistart rounding still to be ported) — read the direction, not the exact %. LINEAR travel cost; max cap = NL observed cell-catchment max (~35k). 'stranded' = demand the cap can't serve within reach, priced at that run's c(t_max) (the λ-sweep now prices stranding at BIG).</a:t>
            </a:r>
            <a:endParaRPr lang="en-US" sz="850" dirty="0"/>
          </a:p>
        </p:txBody>
      </p:sp>
    </p:spTree>
    <p:extLst>
      <p:ext uri="{BB962C8B-B14F-4D97-AF65-F5344CB8AC3E}">
        <p14:creationId xmlns:p14="http://schemas.microsoft.com/office/powerpoint/2010/main" val="53930923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NETHERLANDS</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Netherlands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1,615 cells · 3.48 min mean · </a:t>
            </a:r>
            <a:r>
              <a:rPr lang="en-US" sz="1000" dirty="0">
                <a:solidFill>
                  <a:srgbClr val="5B6B7B"/>
                </a:solidFill>
                <a:latin typeface="Calibri" pitchFamily="34" charset="0"/>
                <a:ea typeface="Calibri" pitchFamily="34" charset="-122"/>
                <a:cs typeface="Calibri" pitchFamily="34" charset="-120"/>
              </a:rPr>
              <a:t>travel (stranded at BIG)  LIN 60.7M · LOG 1.9M</a:t>
            </a:r>
            <a:endParaRPr lang="en-US" sz="1000" dirty="0"/>
          </a:p>
        </p:txBody>
      </p:sp>
      <p:pic>
        <p:nvPicPr>
          <p:cNvPr id="5" name="Image 0" descr="E:\prj\JRC\NetworkModel_EU\doc\charts\Netherlands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Netherlands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1900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0.500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831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1788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0.00376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1057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sum_x;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18613164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AB8C311F-7253-4AED-9701-7FC0708C41C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E2384209-CB15-4CDF-9D31-C44FD9A3F20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2666617" y="-2666188"/>
            <a:ext cx="6858000" cy="12191233"/>
          </a:xfrm>
          <a:prstGeom prst="rect">
            <a:avLst/>
          </a:prstGeom>
          <a:gradFill>
            <a:gsLst>
              <a:gs pos="8000">
                <a:schemeClr val="accent1"/>
              </a:gs>
              <a:gs pos="100000">
                <a:schemeClr val="accent1">
                  <a:lumMod val="5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2633B3B5-CC90-43F0-8714-D31D1F3F020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2311" y="0"/>
            <a:ext cx="9070846" cy="6857572"/>
          </a:xfrm>
          <a:prstGeom prst="rect">
            <a:avLst/>
          </a:prstGeom>
          <a:gradFill>
            <a:gsLst>
              <a:gs pos="8000">
                <a:srgbClr val="000000">
                  <a:alpha val="52000"/>
                </a:srgbClr>
              </a:gs>
              <a:gs pos="100000">
                <a:schemeClr val="accent1"/>
              </a:gs>
            </a:gsLst>
            <a:lin ang="4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A8D57A06-A426-446D-B02C-A2DC6B62E45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3649491" y="-1685840"/>
            <a:ext cx="4894564" cy="12193546"/>
          </a:xfrm>
          <a:prstGeom prst="rect">
            <a:avLst/>
          </a:prstGeom>
          <a:gradFill>
            <a:gsLst>
              <a:gs pos="0">
                <a:schemeClr val="accent5">
                  <a:lumMod val="60000"/>
                  <a:lumOff val="40000"/>
                  <a:alpha val="0"/>
                </a:schemeClr>
              </a:gs>
              <a:gs pos="100000">
                <a:srgbClr val="000000">
                  <a:alpha val="46000"/>
                </a:srgbClr>
              </a:gs>
            </a:gsLst>
            <a:lin ang="1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 name="Picture 2">
            <a:extLst>
              <a:ext uri="{FF2B5EF4-FFF2-40B4-BE49-F238E27FC236}">
                <a16:creationId xmlns:a16="http://schemas.microsoft.com/office/drawing/2014/main" id="{87825B26-4E0C-84C7-DBD5-CEE4003AEBB7}"/>
              </a:ext>
            </a:extLst>
          </p:cNvPr>
          <p:cNvPicPr>
            <a:picLocks noChangeAspect="1"/>
          </p:cNvPicPr>
          <p:nvPr/>
        </p:nvPicPr>
        <p:blipFill>
          <a:blip r:embed="rId2"/>
          <a:stretch>
            <a:fillRect/>
          </a:stretch>
        </p:blipFill>
        <p:spPr>
          <a:xfrm>
            <a:off x="457200" y="976123"/>
            <a:ext cx="11277600" cy="4905754"/>
          </a:xfrm>
          <a:prstGeom prst="rect">
            <a:avLst/>
          </a:prstGeom>
        </p:spPr>
      </p:pic>
    </p:spTree>
    <p:extLst>
      <p:ext uri="{BB962C8B-B14F-4D97-AF65-F5344CB8AC3E}">
        <p14:creationId xmlns:p14="http://schemas.microsoft.com/office/powerpoint/2010/main" val="177867594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LUXEMBOURG</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Luxembourg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86 cells · 3.79 min mean · </a:t>
            </a:r>
            <a:r>
              <a:rPr lang="en-US" sz="1000" dirty="0">
                <a:solidFill>
                  <a:srgbClr val="5B6B7B"/>
                </a:solidFill>
                <a:latin typeface="Calibri" pitchFamily="34" charset="0"/>
                <a:ea typeface="Calibri" pitchFamily="34" charset="-122"/>
                <a:cs typeface="Calibri" pitchFamily="34" charset="-120"/>
              </a:rPr>
              <a:t>travel (stranded at BIG)  LIN 2.4M · LOG 71k</a:t>
            </a:r>
            <a:endParaRPr lang="en-US" sz="1000" dirty="0"/>
          </a:p>
        </p:txBody>
      </p:sp>
      <p:pic>
        <p:nvPicPr>
          <p:cNvPr id="5" name="Image 0" descr="E:\prj\JRC\NetworkModel_EU\doc\charts\Luxembourg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Luxembourg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0.251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0.00266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sum_x;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213815004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ESTONIA</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Estonia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292 cells · 4.51 min mean · </a:t>
            </a:r>
            <a:r>
              <a:rPr lang="en-US" sz="1000" dirty="0">
                <a:solidFill>
                  <a:srgbClr val="5B6B7B"/>
                </a:solidFill>
                <a:latin typeface="Calibri" pitchFamily="34" charset="0"/>
                <a:ea typeface="Calibri" pitchFamily="34" charset="-122"/>
                <a:cs typeface="Calibri" pitchFamily="34" charset="-120"/>
              </a:rPr>
              <a:t>travel (stranded at BIG)  LIN 5.9M · LOG 174k</a:t>
            </a:r>
            <a:endParaRPr lang="en-US" sz="1000" dirty="0"/>
          </a:p>
        </p:txBody>
      </p:sp>
      <p:pic>
        <p:nvPicPr>
          <p:cNvPr id="5" name="Image 0" descr="E:\prj\JRC\NetworkModel_EU\doc\charts\Estonia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Estonia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319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0.192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199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232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0.00299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sum_x;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5472803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LATVIA</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Latvia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496 cells · 3.96 min mean · </a:t>
            </a:r>
            <a:r>
              <a:rPr lang="en-US" sz="1000" dirty="0">
                <a:solidFill>
                  <a:srgbClr val="5B6B7B"/>
                </a:solidFill>
                <a:latin typeface="Calibri" pitchFamily="34" charset="0"/>
                <a:ea typeface="Calibri" pitchFamily="34" charset="-122"/>
                <a:cs typeface="Calibri" pitchFamily="34" charset="-120"/>
              </a:rPr>
              <a:t>travel (stranded at BIG)  LIN 7.5M · LOG 230k</a:t>
            </a:r>
            <a:endParaRPr lang="en-US" sz="1000" dirty="0"/>
          </a:p>
        </p:txBody>
      </p:sp>
      <p:pic>
        <p:nvPicPr>
          <p:cNvPr id="5" name="Image 0" descr="E:\prj\JRC\NetworkModel_EU\doc\charts\Latvia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Latvia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447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0.141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354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504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317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sum_x;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37208781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SLOVENIA</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Slovenia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306 cells · 5.58 min mean · </a:t>
            </a:r>
            <a:r>
              <a:rPr lang="en-US" sz="1000" dirty="0">
                <a:solidFill>
                  <a:srgbClr val="5B6B7B"/>
                </a:solidFill>
                <a:latin typeface="Calibri" pitchFamily="34" charset="0"/>
                <a:ea typeface="Calibri" pitchFamily="34" charset="-122"/>
                <a:cs typeface="Calibri" pitchFamily="34" charset="-120"/>
              </a:rPr>
              <a:t>travel (stranded at BIG)  LIN 11.7M · LOG 284k</a:t>
            </a:r>
            <a:endParaRPr lang="en-US" sz="1000" dirty="0"/>
          </a:p>
        </p:txBody>
      </p:sp>
      <p:pic>
        <p:nvPicPr>
          <p:cNvPr id="5" name="Image 0" descr="E:\prj\JRC\NetworkModel_EU\doc\charts\Slovenia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Slovenia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271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0.251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226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299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0.00355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208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sum_x;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256155687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LITHUANIA</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Lithuania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582 cells · 4.39 min mean · </a:t>
            </a:r>
            <a:r>
              <a:rPr lang="en-US" sz="1000" dirty="0">
                <a:solidFill>
                  <a:srgbClr val="5B6B7B"/>
                </a:solidFill>
                <a:latin typeface="Calibri" pitchFamily="34" charset="0"/>
                <a:ea typeface="Calibri" pitchFamily="34" charset="-122"/>
                <a:cs typeface="Calibri" pitchFamily="34" charset="-120"/>
              </a:rPr>
              <a:t>travel (stranded at BIG)  LIN 12.3M · LOG 361k</a:t>
            </a:r>
            <a:endParaRPr lang="en-US" sz="1000" dirty="0"/>
          </a:p>
        </p:txBody>
      </p:sp>
      <p:pic>
        <p:nvPicPr>
          <p:cNvPr id="5" name="Image 0" descr="E:\prj\JRC\NetworkModel_EU\doc\charts\Lithuania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Lithuania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614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375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663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0.00316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308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sum_x;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33803083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IRELAND</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Ireland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862 cells · 4.71 min mean · </a:t>
            </a:r>
            <a:r>
              <a:rPr lang="en-US" sz="1000" dirty="0">
                <a:solidFill>
                  <a:srgbClr val="5B6B7B"/>
                </a:solidFill>
                <a:latin typeface="Calibri" pitchFamily="34" charset="0"/>
                <a:ea typeface="Calibri" pitchFamily="34" charset="-122"/>
                <a:cs typeface="Calibri" pitchFamily="34" charset="-120"/>
              </a:rPr>
              <a:t>travel (stranded at BIG)  LIN 23.6M · LOG 630k</a:t>
            </a:r>
            <a:endParaRPr lang="en-US" sz="1000" dirty="0"/>
          </a:p>
        </p:txBody>
      </p:sp>
      <p:pic>
        <p:nvPicPr>
          <p:cNvPr id="5" name="Image 0" descr="E:\prj\JRC\NetworkModel_EU\doc\charts\Ireland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Ireland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652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652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712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0.00266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571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sum_x;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156727098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NORWAY</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Norway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755 cells · 7.99 min mean · </a:t>
            </a:r>
            <a:r>
              <a:rPr lang="en-US" sz="1000" dirty="0">
                <a:solidFill>
                  <a:srgbClr val="5B6B7B"/>
                </a:solidFill>
                <a:latin typeface="Calibri" pitchFamily="34" charset="0"/>
                <a:ea typeface="Calibri" pitchFamily="34" charset="-122"/>
                <a:cs typeface="Calibri" pitchFamily="34" charset="-120"/>
              </a:rPr>
              <a:t>travel (stranded at BIG)  LIN 40.8M · LOG 896k</a:t>
            </a:r>
            <a:endParaRPr lang="en-US" sz="1000" dirty="0"/>
          </a:p>
        </p:txBody>
      </p:sp>
      <p:pic>
        <p:nvPicPr>
          <p:cNvPr id="5" name="Image 0" descr="E:\prj\JRC\NetworkModel_EU\doc\charts\Norway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Norway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844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0.500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429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0.00500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547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0.00841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396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sum_x;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32862672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DENMARK</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Denmark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466 cells · 6.52 min mean · </a:t>
            </a:r>
            <a:r>
              <a:rPr lang="en-US" sz="1000" dirty="0">
                <a:solidFill>
                  <a:srgbClr val="5B6B7B"/>
                </a:solidFill>
                <a:latin typeface="Calibri" pitchFamily="34" charset="0"/>
                <a:ea typeface="Calibri" pitchFamily="34" charset="-122"/>
                <a:cs typeface="Calibri" pitchFamily="34" charset="-120"/>
              </a:rPr>
              <a:t>travel (stranded at BIG)  LIN 37.5M · LOG 860k</a:t>
            </a:r>
            <a:endParaRPr lang="en-US" sz="1000" dirty="0"/>
          </a:p>
        </p:txBody>
      </p:sp>
      <p:pic>
        <p:nvPicPr>
          <p:cNvPr id="5" name="Image 0" descr="E:\prj\JRC\NetworkModel_EU\doc\charts\Denmark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Denmark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0.500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365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0.557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334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0.00500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424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154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0.00878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298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sum_x;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104694222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AUSTRIA</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Austria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1,129 cells · 4.82 min mean · </a:t>
            </a:r>
            <a:r>
              <a:rPr lang="en-US" sz="1000" dirty="0">
                <a:solidFill>
                  <a:srgbClr val="5B6B7B"/>
                </a:solidFill>
                <a:latin typeface="Calibri" pitchFamily="34" charset="0"/>
                <a:ea typeface="Calibri" pitchFamily="34" charset="-122"/>
                <a:cs typeface="Calibri" pitchFamily="34" charset="-120"/>
              </a:rPr>
              <a:t>travel (stranded at BIG)  LIN 43.1M · LOG 1.2M</a:t>
            </a:r>
            <a:endParaRPr lang="en-US" sz="1000" dirty="0"/>
          </a:p>
        </p:txBody>
      </p:sp>
      <p:pic>
        <p:nvPicPr>
          <p:cNvPr id="5" name="Image 0" descr="E:\prj\JRC\NetworkModel_EU\doc\charts\Austria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Austria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1055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1055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1142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0.00500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629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181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sum_x;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51203599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PORTUGAL</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Portugal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1,882 cells · 8.56 min mean · </a:t>
            </a:r>
            <a:r>
              <a:rPr lang="en-US" sz="1000" dirty="0">
                <a:solidFill>
                  <a:srgbClr val="5B6B7B"/>
                </a:solidFill>
                <a:latin typeface="Calibri" pitchFamily="34" charset="0"/>
                <a:ea typeface="Calibri" pitchFamily="34" charset="-122"/>
                <a:cs typeface="Calibri" pitchFamily="34" charset="-120"/>
              </a:rPr>
              <a:t>travel (stranded at BIG)  LIN 88.1M · LOG 1.5M</a:t>
            </a:r>
            <a:endParaRPr lang="en-US" sz="1000" dirty="0"/>
          </a:p>
        </p:txBody>
      </p:sp>
      <p:pic>
        <p:nvPicPr>
          <p:cNvPr id="5" name="Image 0" descr="E:\prj\JRC\NetworkModel_EU\doc\charts\Portugal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Portugal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1733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351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0.500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864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505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1308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1704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277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437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0.00528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850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494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1265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sum_x;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199452655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CZECHIA</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Czechia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1,624 cells · 4.23 min mean · </a:t>
            </a:r>
            <a:r>
              <a:rPr lang="en-US" sz="1000" dirty="0">
                <a:solidFill>
                  <a:srgbClr val="5B6B7B"/>
                </a:solidFill>
                <a:latin typeface="Calibri" pitchFamily="34" charset="0"/>
                <a:ea typeface="Calibri" pitchFamily="34" charset="-122"/>
                <a:cs typeface="Calibri" pitchFamily="34" charset="-120"/>
              </a:rPr>
              <a:t>travel (stranded at BIG)  LIN 44.4M · LOG 1.3M</a:t>
            </a:r>
            <a:endParaRPr lang="en-US" sz="1000" dirty="0"/>
          </a:p>
        </p:txBody>
      </p:sp>
      <p:pic>
        <p:nvPicPr>
          <p:cNvPr id="5" name="Image 0" descr="E:\prj\JRC\NetworkModel_EU\doc\charts\Czechia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Czechia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1276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1276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1337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0.00282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1024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sum_x;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416913267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BELGIUM</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Belgium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2,958 cells · 1.87 min mean · </a:t>
            </a:r>
            <a:r>
              <a:rPr lang="en-US" sz="1000" dirty="0">
                <a:solidFill>
                  <a:srgbClr val="5B6B7B"/>
                </a:solidFill>
                <a:latin typeface="Calibri" pitchFamily="34" charset="0"/>
                <a:ea typeface="Calibri" pitchFamily="34" charset="-122"/>
                <a:cs typeface="Calibri" pitchFamily="34" charset="-120"/>
              </a:rPr>
              <a:t>travel (stranded at BIG)  LIN 21.5M · LOG 1.1M</a:t>
            </a:r>
            <a:endParaRPr lang="en-US" sz="1000" dirty="0"/>
          </a:p>
        </p:txBody>
      </p:sp>
      <p:pic>
        <p:nvPicPr>
          <p:cNvPr id="5" name="Image 0" descr="E:\prj\JRC\NetworkModel_EU\doc\charts\Belgium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Belgium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0.0500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3208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0.0738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2426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150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0.000500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2934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0.000648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2453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220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sum_x;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70238330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POLAND</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Poland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7,027 cells · 3.59 min mean · </a:t>
            </a:r>
            <a:r>
              <a:rPr lang="en-US" sz="1000" dirty="0">
                <a:solidFill>
                  <a:srgbClr val="5B6B7B"/>
                </a:solidFill>
                <a:latin typeface="Calibri" pitchFamily="34" charset="0"/>
                <a:ea typeface="Calibri" pitchFamily="34" charset="-122"/>
                <a:cs typeface="Calibri" pitchFamily="34" charset="-120"/>
              </a:rPr>
              <a:t>travel (stranded at BIG)  LIN 133M · LOG 4.1M</a:t>
            </a:r>
            <a:endParaRPr lang="en-US" sz="1000" dirty="0"/>
          </a:p>
        </p:txBody>
      </p:sp>
      <p:pic>
        <p:nvPicPr>
          <p:cNvPr id="5" name="Image 0" descr="E:\prj\JRC\NetworkModel_EU\doc\charts\Poland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Poland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7139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663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0.158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5156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430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7297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885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0.00183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4900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1260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sum_x;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220671256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FR1</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Île-de-France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1,449 cells · 1.03 min mean · </a:t>
            </a:r>
            <a:r>
              <a:rPr lang="en-US" sz="1000" dirty="0">
                <a:solidFill>
                  <a:srgbClr val="5B6B7B"/>
                </a:solidFill>
                <a:latin typeface="Calibri" pitchFamily="34" charset="0"/>
                <a:ea typeface="Calibri" pitchFamily="34" charset="-122"/>
                <a:cs typeface="Calibri" pitchFamily="34" charset="-120"/>
              </a:rPr>
              <a:t>travel (stranded at BIG)  LIN 12.7M · LOG 1.0M</a:t>
            </a:r>
            <a:endParaRPr lang="en-US" sz="1000" dirty="0"/>
          </a:p>
        </p:txBody>
      </p:sp>
      <p:pic>
        <p:nvPicPr>
          <p:cNvPr id="5" name="Image 0" descr="E:\prj\JRC\NetworkModel_EU\doc\charts\FR1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1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0.141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1325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0.165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1230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1499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0.00154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1188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sum_x;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408857096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FRB</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Centre-Val de Loire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613 cells · 4.36 min mean · </a:t>
            </a:r>
            <a:r>
              <a:rPr lang="en-US" sz="1000" dirty="0">
                <a:solidFill>
                  <a:srgbClr val="5B6B7B"/>
                </a:solidFill>
                <a:latin typeface="Calibri" pitchFamily="34" charset="0"/>
                <a:ea typeface="Calibri" pitchFamily="34" charset="-122"/>
                <a:cs typeface="Calibri" pitchFamily="34" charset="-120"/>
              </a:rPr>
              <a:t>travel (stranded at BIG)  LIN 11.2M · LOG 309k</a:t>
            </a:r>
            <a:endParaRPr lang="en-US" sz="1000" dirty="0"/>
          </a:p>
        </p:txBody>
      </p:sp>
      <p:pic>
        <p:nvPicPr>
          <p:cNvPr id="5" name="Image 0" descr="E:\prj\JRC\NetworkModel_EU\doc\charts\FRB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B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613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0.137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482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650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0.00168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455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sum_x;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1073144101"/>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FRC</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Bourgogne-Franche-Comté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723 cells · 4.78 min mean · </a:t>
            </a:r>
            <a:r>
              <a:rPr lang="en-US" sz="1000" dirty="0">
                <a:solidFill>
                  <a:srgbClr val="5B6B7B"/>
                </a:solidFill>
                <a:latin typeface="Calibri" pitchFamily="34" charset="0"/>
                <a:ea typeface="Calibri" pitchFamily="34" charset="-122"/>
                <a:cs typeface="Calibri" pitchFamily="34" charset="-120"/>
              </a:rPr>
              <a:t>travel (stranded at BIG)  LIN 13.4M · LOG 351k</a:t>
            </a:r>
            <a:endParaRPr lang="en-US" sz="1000" dirty="0"/>
          </a:p>
        </p:txBody>
      </p:sp>
      <p:pic>
        <p:nvPicPr>
          <p:cNvPr id="5" name="Image 0" descr="E:\prj\JRC\NetworkModel_EU\doc\charts\FRC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C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708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708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760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0.00168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524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sum_x;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242701167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FRD</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Normandie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679 cells · 4.31 min mean · </a:t>
            </a:r>
            <a:r>
              <a:rPr lang="en-US" sz="1000" dirty="0">
                <a:solidFill>
                  <a:srgbClr val="5B6B7B"/>
                </a:solidFill>
                <a:latin typeface="Calibri" pitchFamily="34" charset="0"/>
                <a:ea typeface="Calibri" pitchFamily="34" charset="-122"/>
                <a:cs typeface="Calibri" pitchFamily="34" charset="-120"/>
              </a:rPr>
              <a:t>travel (stranded at BIG)  LIN 14.2M · LOG 391k</a:t>
            </a:r>
            <a:endParaRPr lang="en-US" sz="1000" dirty="0"/>
          </a:p>
        </p:txBody>
      </p:sp>
      <p:pic>
        <p:nvPicPr>
          <p:cNvPr id="5" name="Image 0" descr="E:\prj\JRC\NetworkModel_EU\doc\charts\FRD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D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733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420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757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201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0.00183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495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197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sum_x;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71406120"/>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FRE</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Hauts-de-France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1,333 cells · 2.92 min mean · </a:t>
            </a:r>
            <a:r>
              <a:rPr lang="en-US" sz="1000" dirty="0">
                <a:solidFill>
                  <a:srgbClr val="5B6B7B"/>
                </a:solidFill>
                <a:latin typeface="Calibri" pitchFamily="34" charset="0"/>
                <a:ea typeface="Calibri" pitchFamily="34" charset="-122"/>
                <a:cs typeface="Calibri" pitchFamily="34" charset="-120"/>
              </a:rPr>
              <a:t>travel (stranded at BIG)  LIN 17.5M · LOG 619k</a:t>
            </a:r>
            <a:endParaRPr lang="en-US" sz="1000" dirty="0"/>
          </a:p>
        </p:txBody>
      </p:sp>
      <p:pic>
        <p:nvPicPr>
          <p:cNvPr id="5" name="Image 0" descr="E:\prj\JRC\NetworkModel_EU\doc\charts\FRE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E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1222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0.116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1082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186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0.00124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1007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323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sum_x;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55953348"/>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FRF</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Grand Est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1,167 cells · 3.85 min mean · </a:t>
            </a:r>
            <a:r>
              <a:rPr lang="en-US" sz="1000" dirty="0">
                <a:solidFill>
                  <a:srgbClr val="5B6B7B"/>
                </a:solidFill>
                <a:latin typeface="Calibri" pitchFamily="34" charset="0"/>
                <a:ea typeface="Calibri" pitchFamily="34" charset="-122"/>
                <a:cs typeface="Calibri" pitchFamily="34" charset="-120"/>
              </a:rPr>
              <a:t>travel (stranded at BIG)  LIN 21.4M · LOG 636k</a:t>
            </a:r>
            <a:endParaRPr lang="en-US" sz="1000" dirty="0"/>
          </a:p>
        </p:txBody>
      </p:sp>
      <p:pic>
        <p:nvPicPr>
          <p:cNvPr id="5" name="Image 0" descr="E:\prj\JRC\NetworkModel_EU\doc\charts\FRF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F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1232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707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1247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0.00168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864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sum_x;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22142141"/>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FRG</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Pays de la Loire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848 cells · 4.06 min mean · </a:t>
            </a:r>
            <a:r>
              <a:rPr lang="en-US" sz="1000" dirty="0">
                <a:solidFill>
                  <a:srgbClr val="5B6B7B"/>
                </a:solidFill>
                <a:latin typeface="Calibri" pitchFamily="34" charset="0"/>
                <a:ea typeface="Calibri" pitchFamily="34" charset="-122"/>
                <a:cs typeface="Calibri" pitchFamily="34" charset="-120"/>
              </a:rPr>
              <a:t>travel (stranded at BIG)  LIN 15.6M · LOG 446k</a:t>
            </a:r>
            <a:endParaRPr lang="en-US" sz="1000" dirty="0"/>
          </a:p>
        </p:txBody>
      </p:sp>
      <p:pic>
        <p:nvPicPr>
          <p:cNvPr id="5" name="Image 0" descr="E:\prj\JRC\NetworkModel_EU\doc\charts\FRG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G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909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522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922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0.00176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622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sum_x;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43895598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FRH</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Bretagne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793 cells · 4.34 min mean · </a:t>
            </a:r>
            <a:r>
              <a:rPr lang="en-US" sz="1000" dirty="0">
                <a:solidFill>
                  <a:srgbClr val="5B6B7B"/>
                </a:solidFill>
                <a:latin typeface="Calibri" pitchFamily="34" charset="0"/>
                <a:ea typeface="Calibri" pitchFamily="34" charset="-122"/>
                <a:cs typeface="Calibri" pitchFamily="34" charset="-120"/>
              </a:rPr>
              <a:t>travel (stranded at BIG)  LIN 14.5M · LOG 397k</a:t>
            </a:r>
            <a:endParaRPr lang="en-US" sz="1000" dirty="0"/>
          </a:p>
        </p:txBody>
      </p:sp>
      <p:pic>
        <p:nvPicPr>
          <p:cNvPr id="5" name="Image 0" descr="E:\prj\JRC\NetworkModel_EU\doc\charts\FRH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H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782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782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809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0.00168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570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sum_x;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99586768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FRI</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Nouvelle-Aquitaine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1,584 cells · 4.54 min mean · </a:t>
            </a:r>
            <a:r>
              <a:rPr lang="en-US" sz="1000" dirty="0">
                <a:solidFill>
                  <a:srgbClr val="5B6B7B"/>
                </a:solidFill>
                <a:latin typeface="Calibri" pitchFamily="34" charset="0"/>
                <a:ea typeface="Calibri" pitchFamily="34" charset="-122"/>
                <a:cs typeface="Calibri" pitchFamily="34" charset="-120"/>
              </a:rPr>
              <a:t>travel (stranded at BIG)  LIN 27.5M · LOG 741k</a:t>
            </a:r>
            <a:endParaRPr lang="en-US" sz="1000" dirty="0"/>
          </a:p>
        </p:txBody>
      </p:sp>
      <p:pic>
        <p:nvPicPr>
          <p:cNvPr id="5" name="Image 0" descr="E:\prj\JRC\NetworkModel_EU\doc\charts\FRI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I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1477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1477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1559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414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0.00154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1154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355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sum_x;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42387995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FRJ</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Occitanie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1,424 cells · 3.91 min mean · </a:t>
            </a:r>
            <a:r>
              <a:rPr lang="en-US" sz="1000" dirty="0">
                <a:solidFill>
                  <a:srgbClr val="5B6B7B"/>
                </a:solidFill>
                <a:latin typeface="Calibri" pitchFamily="34" charset="0"/>
                <a:ea typeface="Calibri" pitchFamily="34" charset="-122"/>
                <a:cs typeface="Calibri" pitchFamily="34" charset="-120"/>
              </a:rPr>
              <a:t>travel (stranded at BIG)  LIN 23.5M · LOG 695k</a:t>
            </a:r>
            <a:endParaRPr lang="en-US" sz="1000" dirty="0"/>
          </a:p>
        </p:txBody>
      </p:sp>
      <p:pic>
        <p:nvPicPr>
          <p:cNvPr id="5" name="Image 0" descr="E:\prj\JRC\NetworkModel_EU\doc\charts\FRJ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J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1383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1383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1432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235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0.00161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1046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sum_x;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97166043"/>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FRK</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Auvergne-Rhône-Alpes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1,685 cells · 3.62 min mean · </a:t>
            </a:r>
            <a:r>
              <a:rPr lang="en-US" sz="1000" dirty="0">
                <a:solidFill>
                  <a:srgbClr val="5B6B7B"/>
                </a:solidFill>
                <a:latin typeface="Calibri" pitchFamily="34" charset="0"/>
                <a:ea typeface="Calibri" pitchFamily="34" charset="-122"/>
                <a:cs typeface="Calibri" pitchFamily="34" charset="-120"/>
              </a:rPr>
              <a:t>travel (stranded at BIG)  LIN 29.4M · LOG 912k</a:t>
            </a:r>
            <a:endParaRPr lang="en-US" sz="1000" dirty="0"/>
          </a:p>
        </p:txBody>
      </p:sp>
      <p:pic>
        <p:nvPicPr>
          <p:cNvPr id="5" name="Image 0" descr="E:\prj\JRC\NetworkModel_EU\doc\charts\FRK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K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1706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1706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1765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0.00168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1238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sum_x;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2615549465"/>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FRL</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Provence-Alpes-Côte d'Azur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1,026 cells · 2.60 min mean · </a:t>
            </a:r>
            <a:r>
              <a:rPr lang="en-US" sz="1000" dirty="0">
                <a:solidFill>
                  <a:srgbClr val="5B6B7B"/>
                </a:solidFill>
                <a:latin typeface="Calibri" pitchFamily="34" charset="0"/>
                <a:ea typeface="Calibri" pitchFamily="34" charset="-122"/>
                <a:cs typeface="Calibri" pitchFamily="34" charset="-120"/>
              </a:rPr>
              <a:t>travel (stranded at BIG)  LIN 13.1M · LOG 515k</a:t>
            </a:r>
            <a:endParaRPr lang="en-US" sz="1000" dirty="0"/>
          </a:p>
        </p:txBody>
      </p:sp>
      <p:pic>
        <p:nvPicPr>
          <p:cNvPr id="5" name="Image 0" descr="E:\prj\JRC\NetworkModel_EU\doc\charts\FRL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L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1006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0.141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786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1006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0.00154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751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sum_x;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532593114"/>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FRM</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Corse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87 cells · 5.11 min mean · </a:t>
            </a:r>
            <a:r>
              <a:rPr lang="en-US" sz="1000" dirty="0">
                <a:solidFill>
                  <a:srgbClr val="5B6B7B"/>
                </a:solidFill>
                <a:latin typeface="Calibri" pitchFamily="34" charset="0"/>
                <a:ea typeface="Calibri" pitchFamily="34" charset="-122"/>
                <a:cs typeface="Calibri" pitchFamily="34" charset="-120"/>
              </a:rPr>
              <a:t>travel (stranded at BIG)  LIN 1.7M · LOG 45k</a:t>
            </a:r>
            <a:endParaRPr lang="en-US" sz="1000" dirty="0"/>
          </a:p>
        </p:txBody>
      </p:sp>
      <p:pic>
        <p:nvPicPr>
          <p:cNvPr id="5" name="Image 0" descr="E:\prj\JRC\NetworkModel_EU\doc\charts\FRM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M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0.168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0.00259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sum_x;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265762986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ITALY · ITC</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Nord-Ovest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2,890 cells · 2.93 min mean · </a:t>
            </a:r>
            <a:r>
              <a:rPr lang="en-US" sz="1000" dirty="0">
                <a:solidFill>
                  <a:srgbClr val="5B6B7B"/>
                </a:solidFill>
                <a:latin typeface="Calibri" pitchFamily="34" charset="0"/>
                <a:ea typeface="Calibri" pitchFamily="34" charset="-122"/>
                <a:cs typeface="Calibri" pitchFamily="34" charset="-120"/>
              </a:rPr>
              <a:t>travel (stranded at BIG)  LIN 46.4M · LOG 1.7M</a:t>
            </a:r>
            <a:endParaRPr lang="en-US" sz="1000" dirty="0"/>
          </a:p>
        </p:txBody>
      </p:sp>
      <p:pic>
        <p:nvPicPr>
          <p:cNvPr id="5" name="Image 0" descr="E:\prj\JRC\NetworkModel_EU\doc\charts\ITC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ITC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2975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1792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2884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0.00224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1661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237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sum_x;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244110874"/>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ITALY · ITF</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Sud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1,253 cells · 6.67 min mean · </a:t>
            </a:r>
            <a:r>
              <a:rPr lang="en-US" sz="1000" dirty="0">
                <a:solidFill>
                  <a:srgbClr val="5B6B7B"/>
                </a:solidFill>
                <a:latin typeface="Calibri" pitchFamily="34" charset="0"/>
                <a:ea typeface="Calibri" pitchFamily="34" charset="-122"/>
                <a:cs typeface="Calibri" pitchFamily="34" charset="-120"/>
              </a:rPr>
              <a:t>travel (stranded at BIG)  LIN 88.9M · LOG 2.1M</a:t>
            </a:r>
            <a:endParaRPr lang="en-US" sz="1000" dirty="0"/>
          </a:p>
        </p:txBody>
      </p:sp>
      <p:pic>
        <p:nvPicPr>
          <p:cNvPr id="5" name="Image 0" descr="E:\prj\JRC\NetworkModel_EU\doc\charts\ITF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ITF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0.500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850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522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203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241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0.00500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953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181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0.0165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472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403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730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sum_x;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274413238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ITALY · ITG</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Isole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884 cells · 22.30 min mean · </a:t>
            </a:r>
            <a:r>
              <a:rPr lang="en-US" sz="1000" dirty="0">
                <a:solidFill>
                  <a:srgbClr val="5B6B7B"/>
                </a:solidFill>
                <a:latin typeface="Calibri" pitchFamily="34" charset="0"/>
                <a:ea typeface="Calibri" pitchFamily="34" charset="-122"/>
                <a:cs typeface="Calibri" pitchFamily="34" charset="-120"/>
              </a:rPr>
              <a:t>travel (stranded at BIG)  LIN 139M · LOG 1.6M</a:t>
            </a:r>
            <a:endParaRPr lang="en-US" sz="1000" dirty="0"/>
          </a:p>
        </p:txBody>
      </p:sp>
      <p:pic>
        <p:nvPicPr>
          <p:cNvPr id="5" name="Image 0" descr="E:\prj\JRC\NetworkModel_EU\doc\charts\ITG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ITG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39"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656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1725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2.78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279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2409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0.00500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987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1470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0.0224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295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2202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sum_x;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928825475"/>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ITALY · ITH</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Nord-Est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2,079 cells · 4.20 min mean · </a:t>
            </a:r>
            <a:r>
              <a:rPr lang="en-US" sz="1000" dirty="0">
                <a:solidFill>
                  <a:srgbClr val="5B6B7B"/>
                </a:solidFill>
                <a:latin typeface="Calibri" pitchFamily="34" charset="0"/>
                <a:ea typeface="Calibri" pitchFamily="34" charset="-122"/>
                <a:cs typeface="Calibri" pitchFamily="34" charset="-120"/>
              </a:rPr>
              <a:t>travel (stranded at BIG)  LIN 48.4M · LOG 1.4M</a:t>
            </a:r>
            <a:endParaRPr lang="en-US" sz="1000" dirty="0"/>
          </a:p>
        </p:txBody>
      </p:sp>
      <p:pic>
        <p:nvPicPr>
          <p:cNvPr id="5" name="Image 0" descr="E:\prj\JRC\NetworkModel_EU\doc\charts\ITH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ITH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2434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1429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2386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0.00282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1147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232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sum_x;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7041724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ITALY · ITI</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Centro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1,631 cells · 4.19 min mean · </a:t>
            </a:r>
            <a:r>
              <a:rPr lang="en-US" sz="1000" dirty="0">
                <a:solidFill>
                  <a:srgbClr val="5B6B7B"/>
                </a:solidFill>
                <a:latin typeface="Calibri" pitchFamily="34" charset="0"/>
                <a:ea typeface="Calibri" pitchFamily="34" charset="-122"/>
                <a:cs typeface="Calibri" pitchFamily="34" charset="-120"/>
              </a:rPr>
              <a:t>travel (stranded at BIG)  LIN 49.0M · LOG 1.4M</a:t>
            </a:r>
            <a:endParaRPr lang="en-US" sz="1000" dirty="0"/>
          </a:p>
        </p:txBody>
      </p:sp>
      <p:pic>
        <p:nvPicPr>
          <p:cNvPr id="5" name="Image 0" descr="E:\prj\JRC\NetworkModel_EU\doc\charts\ITI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ITI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41"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1396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0.500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707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1417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0.00421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857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183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sum_x;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2926290269"/>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SWEDEN · SE1</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Östra Sverige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388 cells · 5.41 min mean · </a:t>
            </a:r>
            <a:r>
              <a:rPr lang="en-US" sz="1000" dirty="0">
                <a:solidFill>
                  <a:srgbClr val="5B6B7B"/>
                </a:solidFill>
                <a:latin typeface="Calibri" pitchFamily="34" charset="0"/>
                <a:ea typeface="Calibri" pitchFamily="34" charset="-122"/>
                <a:cs typeface="Calibri" pitchFamily="34" charset="-120"/>
              </a:rPr>
              <a:t>travel (stranded at BIG)  LIN 22.1M · LOG 573k</a:t>
            </a:r>
            <a:endParaRPr lang="en-US" sz="1000" dirty="0"/>
          </a:p>
        </p:txBody>
      </p:sp>
      <p:pic>
        <p:nvPicPr>
          <p:cNvPr id="5" name="Image 0" descr="E:\prj\JRC\NetworkModel_EU\doc\charts\SE1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SE1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501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0.500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224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0.00500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268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0.00707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201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sum_x;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1798438355"/>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SWEDEN · SE2</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Södra Sverige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452 cells · 8.05 min mean · </a:t>
            </a:r>
            <a:r>
              <a:rPr lang="en-US" sz="1000" dirty="0">
                <a:solidFill>
                  <a:srgbClr val="5B6B7B"/>
                </a:solidFill>
                <a:latin typeface="Calibri" pitchFamily="34" charset="0"/>
                <a:ea typeface="Calibri" pitchFamily="34" charset="-122"/>
                <a:cs typeface="Calibri" pitchFamily="34" charset="-120"/>
              </a:rPr>
              <a:t>travel (stranded at BIG)  LIN 35.4M · LOG 747k</a:t>
            </a:r>
            <a:endParaRPr lang="en-US" sz="1000" dirty="0"/>
          </a:p>
        </p:txBody>
      </p:sp>
      <p:pic>
        <p:nvPicPr>
          <p:cNvPr id="5" name="Image 0" descr="E:\prj\JRC\NetworkModel_EU\doc\charts\SE2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SE2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43"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0.500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315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0.500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315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0.00500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384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0.00979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252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sum_x;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41546575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SWEDEN · SE3</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Norra Sverige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246 cells · 9.46 min mean · </a:t>
            </a:r>
            <a:r>
              <a:rPr lang="en-US" sz="1000" dirty="0">
                <a:solidFill>
                  <a:srgbClr val="5B6B7B"/>
                </a:solidFill>
                <a:latin typeface="Calibri" pitchFamily="34" charset="0"/>
                <a:ea typeface="Calibri" pitchFamily="34" charset="-122"/>
                <a:cs typeface="Calibri" pitchFamily="34" charset="-120"/>
              </a:rPr>
              <a:t>travel (stranded at BIG)  LIN 16.4M · LOG 350k</a:t>
            </a:r>
            <a:endParaRPr lang="en-US" sz="1000" dirty="0"/>
          </a:p>
        </p:txBody>
      </p:sp>
      <p:pic>
        <p:nvPicPr>
          <p:cNvPr id="5" name="Image 0" descr="E:\prj\JRC\NetworkModel_EU\doc\charts\SE3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SE3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44"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308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0.534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166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0.00500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222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0.00937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156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168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sum_x;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2427352236"/>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POLAND · PL2</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Południowy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1,442 cells · 3.21 min mean · </a:t>
            </a:r>
            <a:r>
              <a:rPr lang="en-US" sz="1000" dirty="0">
                <a:solidFill>
                  <a:srgbClr val="5B6B7B"/>
                </a:solidFill>
                <a:latin typeface="Calibri" pitchFamily="34" charset="0"/>
                <a:ea typeface="Calibri" pitchFamily="34" charset="-122"/>
                <a:cs typeface="Calibri" pitchFamily="34" charset="-120"/>
              </a:rPr>
              <a:t>travel (stranded at BIG)  LIN 24.5M · LOG 811k</a:t>
            </a:r>
            <a:endParaRPr lang="en-US" sz="1000" dirty="0"/>
          </a:p>
        </p:txBody>
      </p:sp>
      <p:pic>
        <p:nvPicPr>
          <p:cNvPr id="5" name="Image 0" descr="E:\prj\JRC\NetworkModel_EU\doc\charts\PL2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PL2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1402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159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0.154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1024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1387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0.00168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994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158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sum_x;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339429245"/>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POLAND · PL4</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Północno-Zachodni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1,200 cells · 3.66 min mean · </a:t>
            </a:r>
            <a:r>
              <a:rPr lang="en-US" sz="1000" dirty="0">
                <a:solidFill>
                  <a:srgbClr val="5B6B7B"/>
                </a:solidFill>
                <a:latin typeface="Calibri" pitchFamily="34" charset="0"/>
                <a:ea typeface="Calibri" pitchFamily="34" charset="-122"/>
                <a:cs typeface="Calibri" pitchFamily="34" charset="-120"/>
              </a:rPr>
              <a:t>travel (stranded at BIG)  LIN 22.1M · LOG 685k</a:t>
            </a:r>
            <a:endParaRPr lang="en-US" sz="1000" dirty="0"/>
          </a:p>
        </p:txBody>
      </p:sp>
      <p:pic>
        <p:nvPicPr>
          <p:cNvPr id="5" name="Image 0" descr="E:\prj\JRC\NetworkModel_EU\doc\charts\PL4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PL4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1192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726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1246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0.00192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sum_x;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971635210"/>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POLAND · PL5</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Południowo-Zachodni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688 cells · 3.41 min mean · </a:t>
            </a:r>
            <a:r>
              <a:rPr lang="en-US" sz="1000" dirty="0">
                <a:solidFill>
                  <a:srgbClr val="5B6B7B"/>
                </a:solidFill>
                <a:latin typeface="Calibri" pitchFamily="34" charset="0"/>
                <a:ea typeface="Calibri" pitchFamily="34" charset="-122"/>
                <a:cs typeface="Calibri" pitchFamily="34" charset="-120"/>
              </a:rPr>
              <a:t>travel (stranded at BIG)  LIN 12.8M · LOG 411k</a:t>
            </a:r>
            <a:endParaRPr lang="en-US" sz="1000" dirty="0"/>
          </a:p>
        </p:txBody>
      </p:sp>
      <p:pic>
        <p:nvPicPr>
          <p:cNvPr id="5" name="Image 0" descr="E:\prj\JRC\NetworkModel_EU\doc\charts\PL5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PL5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713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0.156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509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712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0.00192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465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sum_x;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989117549"/>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POLAND · PL6</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Północny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1,023 cells · 3.78 min mean · </a:t>
            </a:r>
            <a:r>
              <a:rPr lang="en-US" sz="1000" dirty="0">
                <a:solidFill>
                  <a:srgbClr val="5B6B7B"/>
                </a:solidFill>
                <a:latin typeface="Calibri" pitchFamily="34" charset="0"/>
                <a:ea typeface="Calibri" pitchFamily="34" charset="-122"/>
                <a:cs typeface="Calibri" pitchFamily="34" charset="-120"/>
              </a:rPr>
              <a:t>travel (stranded at BIG)  LIN 21.1M · LOG 642k</a:t>
            </a:r>
            <a:endParaRPr lang="en-US" sz="1000" dirty="0"/>
          </a:p>
        </p:txBody>
      </p:sp>
      <p:pic>
        <p:nvPicPr>
          <p:cNvPr id="5" name="Image 0" descr="E:\prj\JRC\NetworkModel_EU\doc\charts\PL6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PL6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1111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691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1150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0.00224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689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sum_x;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26868846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POLAND · PL7</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Centralny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675 cells · 3.84 min mean · </a:t>
            </a:r>
            <a:r>
              <a:rPr lang="en-US" sz="1000" dirty="0">
                <a:solidFill>
                  <a:srgbClr val="5B6B7B"/>
                </a:solidFill>
                <a:latin typeface="Calibri" pitchFamily="34" charset="0"/>
                <a:ea typeface="Calibri" pitchFamily="34" charset="-122"/>
                <a:cs typeface="Calibri" pitchFamily="34" charset="-120"/>
              </a:rPr>
              <a:t>travel (stranded at BIG)  LIN 13.6M · LOG 405k</a:t>
            </a:r>
            <a:endParaRPr lang="en-US" sz="1000" dirty="0"/>
          </a:p>
        </p:txBody>
      </p:sp>
      <p:pic>
        <p:nvPicPr>
          <p:cNvPr id="5" name="Image 0" descr="E:\prj\JRC\NetworkModel_EU\doc\charts\PL7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PL7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675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417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701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0.00183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476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sum_x;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027520173"/>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POLAND · PL8</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Wschodni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1,065 cells · 14.56 min mean · </a:t>
            </a:r>
            <a:r>
              <a:rPr lang="en-US" sz="1000" dirty="0">
                <a:solidFill>
                  <a:srgbClr val="5B6B7B"/>
                </a:solidFill>
                <a:latin typeface="Calibri" pitchFamily="34" charset="0"/>
                <a:ea typeface="Calibri" pitchFamily="34" charset="-122"/>
                <a:cs typeface="Calibri" pitchFamily="34" charset="-120"/>
              </a:rPr>
              <a:t>travel (stranded at BIG)  LIN 71.7M · LOG 983k</a:t>
            </a:r>
            <a:endParaRPr lang="en-US" sz="1000" dirty="0"/>
          </a:p>
        </p:txBody>
      </p:sp>
      <p:pic>
        <p:nvPicPr>
          <p:cNvPr id="5" name="Image 0" descr="E:\prj\JRC\NetworkModel_EU\doc\charts\PL8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PL8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1185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1815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0.500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589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295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2218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1108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228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1966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0.00500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594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312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2269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sum_x;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1038136062"/>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POLAND · PL9</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Mazowiecki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933 cells · 3.20 min mean · </a:t>
            </a:r>
            <a:r>
              <a:rPr lang="en-US" sz="1000" dirty="0">
                <a:solidFill>
                  <a:srgbClr val="5B6B7B"/>
                </a:solidFill>
                <a:latin typeface="Calibri" pitchFamily="34" charset="0"/>
                <a:ea typeface="Calibri" pitchFamily="34" charset="-122"/>
                <a:cs typeface="Calibri" pitchFamily="34" charset="-120"/>
              </a:rPr>
              <a:t>travel (stranded at BIG)  LIN 17.5M · LOG 591k</a:t>
            </a:r>
            <a:endParaRPr lang="en-US" sz="1000" dirty="0"/>
          </a:p>
        </p:txBody>
      </p:sp>
      <p:pic>
        <p:nvPicPr>
          <p:cNvPr id="5" name="Image 0" descr="E:\prj\JRC\NetworkModel_EU\doc\charts\PL9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PL9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989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615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994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153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645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sum_x;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750785967"/>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ALL AREAS COMBINED · 41 DISJOINT AREAS</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The aggregated frontier  </a:t>
            </a:r>
            <a:r>
              <a:rPr lang="en-US" sz="2200" dirty="0">
                <a:solidFill>
                  <a:srgbClr val="1C3D5A"/>
                </a:solidFill>
                <a:latin typeface="Georgia" pitchFamily="34" charset="0"/>
                <a:ea typeface="Georgia" pitchFamily="34" charset="-122"/>
                <a:cs typeface="Georgia" pitchFamily="34" charset="-120"/>
              </a:rPr>
              <a:t>— facilities and travel cost summed per λ</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aggregate baseline (current)  </a:t>
            </a:r>
            <a:r>
              <a:rPr lang="en-US" sz="1000" dirty="0">
                <a:solidFill>
                  <a:srgbClr val="12233A"/>
                </a:solidFill>
                <a:latin typeface="Calibri" pitchFamily="34" charset="0"/>
                <a:ea typeface="Calibri" pitchFamily="34" charset="-122"/>
                <a:cs typeface="Calibri" pitchFamily="34" charset="-120"/>
              </a:rPr>
              <a:t>43,313 pharmacy cells · </a:t>
            </a:r>
            <a:r>
              <a:rPr lang="en-US" sz="1000" dirty="0">
                <a:solidFill>
                  <a:srgbClr val="5B6B7B"/>
                </a:solidFill>
                <a:latin typeface="Calibri" pitchFamily="34" charset="0"/>
                <a:ea typeface="Calibri" pitchFamily="34" charset="-122"/>
                <a:cs typeface="Calibri" pitchFamily="34" charset="-120"/>
              </a:rPr>
              <a:t>travel  LIN 1245M · LOG 31.9M</a:t>
            </a:r>
            <a:endParaRPr lang="en-US" sz="1000" dirty="0"/>
          </a:p>
        </p:txBody>
      </p:sp>
      <p:pic>
        <p:nvPicPr>
          <p:cNvPr id="5" name="Image 0" descr="E:\prj\JRC\NetworkModel_EU\doc\charts\AGGREGATE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AGGREGATE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7200" y="4864608"/>
          <a:ext cx="11274552" cy="914400"/>
        </p:xfrm>
        <a:graphic>
          <a:graphicData uri="http://schemas.openxmlformats.org/drawingml/2006/table">
            <a:tbl>
              <a:tblPr/>
              <a:tblGrid>
                <a:gridCol w="1097280">
                  <a:extLst>
                    <a:ext uri="{9D8B030D-6E8A-4147-A177-3AD203B41FA5}">
                      <a16:colId xmlns:a16="http://schemas.microsoft.com/office/drawing/2014/main" val="20000"/>
                    </a:ext>
                  </a:extLst>
                </a:gridCol>
                <a:gridCol w="2286000">
                  <a:extLst>
                    <a:ext uri="{9D8B030D-6E8A-4147-A177-3AD203B41FA5}">
                      <a16:colId xmlns:a16="http://schemas.microsoft.com/office/drawing/2014/main" val="20001"/>
                    </a:ext>
                  </a:extLst>
                </a:gridCol>
                <a:gridCol w="118872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463040">
                  <a:extLst>
                    <a:ext uri="{9D8B030D-6E8A-4147-A177-3AD203B41FA5}">
                      <a16:colId xmlns:a16="http://schemas.microsoft.com/office/drawing/2014/main" val="20004"/>
                    </a:ext>
                  </a:extLst>
                </a:gridCol>
                <a:gridCol w="1920240">
                  <a:extLst>
                    <a:ext uri="{9D8B030D-6E8A-4147-A177-3AD203B41FA5}">
                      <a16:colId xmlns:a16="http://schemas.microsoft.com/office/drawing/2014/main" val="20005"/>
                    </a:ext>
                  </a:extLst>
                </a:gridCol>
                <a:gridCol w="1947672">
                  <a:extLst>
                    <a:ext uri="{9D8B030D-6E8A-4147-A177-3AD203B41FA5}">
                      <a16:colId xmlns:a16="http://schemas.microsoft.com/office/drawing/2014/main" val="20006"/>
                    </a:ext>
                  </a:extLst>
                </a:gridCol>
              </a:tblGrid>
              <a:tr h="256032">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point</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Δ facilities</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Δ travel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56032">
                <a:tc>
                  <a:txBody>
                    <a:bodyPr/>
                    <a:lstStyle/>
                    <a:p>
                      <a:pPr marL="0" indent="0" algn="l">
                        <a:buNone/>
                      </a:pPr>
                      <a:r>
                        <a:rPr lang="en-US" sz="950" dirty="0">
                          <a:solidFill>
                            <a:srgbClr val="12233A"/>
                          </a:solidFill>
                          <a:latin typeface="Calibri" pitchFamily="34" charset="0"/>
                          <a:ea typeface="Calibri" pitchFamily="34" charset="-122"/>
                          <a:cs typeface="Calibri" pitchFamily="34" charset="-120"/>
                        </a:rPr>
                        <a:t>LINEAR</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950" dirty="0">
                          <a:solidFill>
                            <a:srgbClr val="12233A"/>
                          </a:solidFill>
                          <a:latin typeface="Calibri" pitchFamily="34" charset="0"/>
                          <a:ea typeface="Calibri" pitchFamily="34" charset="-122"/>
                          <a:cs typeface="Calibri" pitchFamily="34" charset="-120"/>
                        </a:rPr>
                        <a:t>S1 (same count)</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0.141</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43,783</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+1%</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+0%</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-34%</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56032">
                <a:tc>
                  <a:txBody>
                    <a:bodyPr/>
                    <a:lstStyle/>
                    <a:p>
                      <a:pPr marL="0" indent="0" algn="l">
                        <a:buNone/>
                      </a:pP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950" dirty="0">
                          <a:solidFill>
                            <a:srgbClr val="12233A"/>
                          </a:solidFill>
                          <a:latin typeface="Calibri" pitchFamily="34" charset="0"/>
                          <a:ea typeface="Calibri" pitchFamily="34" charset="-122"/>
                          <a:cs typeface="Calibri" pitchFamily="34" charset="-120"/>
                        </a:rPr>
                        <a:t>fewest facilities swept</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0.200</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33,059</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-24%</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+1%</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-21%</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56032">
                <a:tc>
                  <a:txBody>
                    <a:bodyPr/>
                    <a:lstStyle/>
                    <a:p>
                      <a:pPr marL="0" indent="0" algn="l">
                        <a:buNone/>
                      </a:pP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950" dirty="0">
                          <a:solidFill>
                            <a:srgbClr val="12233A"/>
                          </a:solidFill>
                          <a:latin typeface="Calibri" pitchFamily="34" charset="0"/>
                          <a:ea typeface="Calibri" pitchFamily="34" charset="-122"/>
                          <a:cs typeface="Calibri" pitchFamily="34" charset="-120"/>
                        </a:rPr>
                        <a:t>most facilities swept</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0.000100</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445,178</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+928%</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+0%</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-95%</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56032">
                <a:tc>
                  <a:txBody>
                    <a:bodyPr/>
                    <a:lstStyle/>
                    <a:p>
                      <a:pPr marL="0" indent="0" algn="l">
                        <a:buNone/>
                      </a:pPr>
                      <a:r>
                        <a:rPr lang="en-US" sz="950" dirty="0">
                          <a:solidFill>
                            <a:srgbClr val="12233A"/>
                          </a:solidFill>
                          <a:latin typeface="Calibri" pitchFamily="34" charset="0"/>
                          <a:ea typeface="Calibri" pitchFamily="34" charset="-122"/>
                          <a:cs typeface="Calibri" pitchFamily="34" charset="-120"/>
                        </a:rPr>
                        <a:t>LOGISTIC</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950" dirty="0">
                          <a:solidFill>
                            <a:srgbClr val="12233A"/>
                          </a:solidFill>
                          <a:latin typeface="Calibri" pitchFamily="34" charset="0"/>
                          <a:ea typeface="Calibri" pitchFamily="34" charset="-122"/>
                          <a:cs typeface="Calibri" pitchFamily="34" charset="-120"/>
                        </a:rPr>
                        <a:t>S1 (same count)</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0.00141</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44,158</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+2%</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+0%</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-15%</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256032">
                <a:tc>
                  <a:txBody>
                    <a:bodyPr/>
                    <a:lstStyle/>
                    <a:p>
                      <a:pPr marL="0" indent="0" algn="l">
                        <a:buNone/>
                      </a:pP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950" dirty="0">
                          <a:solidFill>
                            <a:srgbClr val="12233A"/>
                          </a:solidFill>
                          <a:latin typeface="Calibri" pitchFamily="34" charset="0"/>
                          <a:ea typeface="Calibri" pitchFamily="34" charset="-122"/>
                          <a:cs typeface="Calibri" pitchFamily="34" charset="-120"/>
                        </a:rPr>
                        <a:t>S2 (same travel)</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0.00355</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24,420</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-44%</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+1%</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+0%</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5"/>
                  </a:ext>
                </a:extLst>
              </a:tr>
              <a:tr h="256032">
                <a:tc>
                  <a:txBody>
                    <a:bodyPr/>
                    <a:lstStyle/>
                    <a:p>
                      <a:pPr marL="0" indent="0" algn="l">
                        <a:buNone/>
                      </a:pP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950" dirty="0">
                          <a:solidFill>
                            <a:srgbClr val="12233A"/>
                          </a:solidFill>
                          <a:latin typeface="Calibri" pitchFamily="34" charset="0"/>
                          <a:ea typeface="Calibri" pitchFamily="34" charset="-122"/>
                          <a:cs typeface="Calibri" pitchFamily="34" charset="-120"/>
                        </a:rPr>
                        <a:t>fewest facilities swept</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0.0200</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11,180</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-74%</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+11%</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+60%</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256032">
                <a:tc>
                  <a:txBody>
                    <a:bodyPr/>
                    <a:lstStyle/>
                    <a:p>
                      <a:pPr marL="0" indent="0" algn="l">
                        <a:buNone/>
                      </a:pP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950" dirty="0">
                          <a:solidFill>
                            <a:srgbClr val="12233A"/>
                          </a:solidFill>
                          <a:latin typeface="Calibri" pitchFamily="34" charset="0"/>
                          <a:ea typeface="Calibri" pitchFamily="34" charset="-122"/>
                          <a:cs typeface="Calibri" pitchFamily="34" charset="-120"/>
                        </a:rPr>
                        <a:t>most facilities swept</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0.000100</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195,299</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+351%</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+0%</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-35%</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7"/>
                  </a:ext>
                </a:extLst>
              </a:tr>
            </a:tbl>
          </a:graphicData>
        </a:graphic>
      </p:graphicFrame>
      <p:sp>
        <p:nvSpPr>
          <p:cNvPr id="8" name="Text 3"/>
          <p:cNvSpPr/>
          <p:nvPr/>
        </p:nvSpPr>
        <p:spPr>
          <a:xfrm>
            <a:off x="457200" y="6382512"/>
            <a:ext cx="11274552" cy="420624"/>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Exact-by-separability aggregation over 41 disjoint areas (13 countries + FR/IT/SE/PL NUTS-1; country-level Poland excluded in favour of its 7 NUTS-1): at a common λ the sum of the regional optima IS the combined optimum. Summed at the union of swept w-values inside the range every area covers (32 points; an area without that exact λ is log-interpolated between its adjacent sweep points — the λ-table rule). S2 not bracketed: the aggregate baseline (★) lies outside the common λ range, which is capped by the slowest regions' sweep limits (LINEAR: Belgium &amp; FRI time out above w = 0.2) — extending those two sweeps closes it; final frontier segment to follow.</a:t>
            </a:r>
            <a:endParaRPr lang="en-US" sz="850" dirty="0"/>
          </a:p>
        </p:txBody>
      </p:sp>
    </p:spTree>
    <p:extLst>
      <p:ext uri="{BB962C8B-B14F-4D97-AF65-F5344CB8AC3E}">
        <p14:creationId xmlns:p14="http://schemas.microsoft.com/office/powerpoint/2010/main" val="78697044"/>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56032"/>
            <a:ext cx="8229600" cy="274320"/>
          </a:xfrm>
          <a:prstGeom prst="rect">
            <a:avLst/>
          </a:prstGeom>
          <a:noFill/>
          <a:ln/>
        </p:spPr>
        <p:txBody>
          <a:bodyPr wrap="square" rtlCol="0" anchor="ctr"/>
          <a:lstStyle/>
          <a:p>
            <a:pPr marL="0" indent="0">
              <a:buNone/>
            </a:pPr>
            <a:r>
              <a:rPr lang="en-US" sz="1200" b="1" kern="0" spc="200" dirty="0">
                <a:solidFill>
                  <a:srgbClr val="0B6E99"/>
                </a:solidFill>
              </a:rPr>
              <a:t>SCENARIO λ</a:t>
            </a:r>
            <a:endParaRPr lang="en-US" sz="1200" dirty="0"/>
          </a:p>
        </p:txBody>
      </p:sp>
      <p:sp>
        <p:nvSpPr>
          <p:cNvPr id="3" name="Text 1"/>
          <p:cNvSpPr/>
          <p:nvPr/>
        </p:nvSpPr>
        <p:spPr>
          <a:xfrm>
            <a:off x="411480" y="493776"/>
            <a:ext cx="1143000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Interpolated λ for S1 and S2  </a:t>
            </a:r>
            <a:r>
              <a:rPr lang="en-US" sz="2200" dirty="0">
                <a:solidFill>
                  <a:srgbClr val="1C3D5A"/>
                </a:solidFill>
                <a:latin typeface="Georgia" pitchFamily="34" charset="0"/>
                <a:ea typeface="Georgia" pitchFamily="34" charset="-122"/>
                <a:cs typeface="Georgia" pitchFamily="34" charset="-120"/>
              </a:rPr>
              <a:t>— per country, by travel-cost function</a:t>
            </a:r>
            <a:endParaRPr lang="en-US" sz="22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731520" y="1536192"/>
          <a:ext cx="10698480" cy="914400"/>
        </p:xfrm>
        <a:graphic>
          <a:graphicData uri="http://schemas.openxmlformats.org/drawingml/2006/table">
            <a:tbl>
              <a:tblPr/>
              <a:tblGrid>
                <a:gridCol w="237744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737360">
                  <a:extLst>
                    <a:ext uri="{9D8B030D-6E8A-4147-A177-3AD203B41FA5}">
                      <a16:colId xmlns:a16="http://schemas.microsoft.com/office/drawing/2014/main" val="20002"/>
                    </a:ext>
                  </a:extLst>
                </a:gridCol>
                <a:gridCol w="1737360">
                  <a:extLst>
                    <a:ext uri="{9D8B030D-6E8A-4147-A177-3AD203B41FA5}">
                      <a16:colId xmlns:a16="http://schemas.microsoft.com/office/drawing/2014/main" val="20003"/>
                    </a:ext>
                  </a:extLst>
                </a:gridCol>
                <a:gridCol w="1737360">
                  <a:extLst>
                    <a:ext uri="{9D8B030D-6E8A-4147-A177-3AD203B41FA5}">
                      <a16:colId xmlns:a16="http://schemas.microsoft.com/office/drawing/2014/main" val="20004"/>
                    </a:ext>
                  </a:extLst>
                </a:gridCol>
                <a:gridCol w="1737360">
                  <a:extLst>
                    <a:ext uri="{9D8B030D-6E8A-4147-A177-3AD203B41FA5}">
                      <a16:colId xmlns:a16="http://schemas.microsoft.com/office/drawing/2014/main" val="20005"/>
                    </a:ext>
                  </a:extLst>
                </a:gridCol>
              </a:tblGrid>
              <a:tr h="304800">
                <a:tc>
                  <a:txBody>
                    <a:bodyPr/>
                    <a:lstStyle/>
                    <a:p>
                      <a:pPr marL="0" indent="0" algn="l">
                        <a:buNone/>
                      </a:pPr>
                      <a:r>
                        <a:rPr lang="en-US" sz="1100" b="1" dirty="0">
                          <a:solidFill>
                            <a:srgbClr val="FFFFFF"/>
                          </a:solidFill>
                          <a:latin typeface="Calibri" pitchFamily="34" charset="0"/>
                          <a:ea typeface="Calibri" pitchFamily="34" charset="-122"/>
                          <a:cs typeface="Calibri" pitchFamily="34" charset="-120"/>
                        </a:rPr>
                        <a:t>country</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baseline #</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λ · S1 (lin)</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λ · S2 (lin)</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λ · S1 (log)</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λ · S2 (log)</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304800">
                <a:tc>
                  <a:txBody>
                    <a:bodyPr/>
                    <a:lstStyle/>
                    <a:p>
                      <a:pPr marL="0" indent="0" algn="l">
                        <a:buNone/>
                      </a:pPr>
                      <a:r>
                        <a:rPr lang="en-US" sz="1100" dirty="0">
                          <a:solidFill>
                            <a:srgbClr val="12233A"/>
                          </a:solidFill>
                          <a:latin typeface="Calibri" pitchFamily="34" charset="0"/>
                          <a:ea typeface="Calibri" pitchFamily="34" charset="-122"/>
                          <a:cs typeface="Calibri" pitchFamily="34" charset="-120"/>
                        </a:rPr>
                        <a:t>Netherlands</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1,615</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25,531</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33,902</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229</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373</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04800">
                <a:tc>
                  <a:txBody>
                    <a:bodyPr/>
                    <a:lstStyle/>
                    <a:p>
                      <a:pPr marL="0" indent="0" algn="l">
                        <a:buNone/>
                      </a:pPr>
                      <a:r>
                        <a:rPr lang="en-US" sz="1100" dirty="0">
                          <a:solidFill>
                            <a:srgbClr val="12233A"/>
                          </a:solidFill>
                          <a:latin typeface="Calibri" pitchFamily="34" charset="0"/>
                          <a:ea typeface="Calibri" pitchFamily="34" charset="-122"/>
                          <a:cs typeface="Calibri" pitchFamily="34" charset="-120"/>
                        </a:rPr>
                        <a:t>Luxembourg</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86</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15,945</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25,641</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146</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262</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2"/>
                  </a:ext>
                </a:extLst>
              </a:tr>
              <a:tr h="304800">
                <a:tc>
                  <a:txBody>
                    <a:bodyPr/>
                    <a:lstStyle/>
                    <a:p>
                      <a:pPr marL="0" indent="0" algn="l">
                        <a:buNone/>
                      </a:pPr>
                      <a:r>
                        <a:rPr lang="en-US" sz="1100" dirty="0">
                          <a:solidFill>
                            <a:srgbClr val="12233A"/>
                          </a:solidFill>
                          <a:latin typeface="Calibri" pitchFamily="34" charset="0"/>
                          <a:ea typeface="Calibri" pitchFamily="34" charset="-122"/>
                          <a:cs typeface="Calibri" pitchFamily="34" charset="-120"/>
                        </a:rPr>
                        <a:t>Estonia</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292</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11,388</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19,421</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145</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302</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04800">
                <a:tc>
                  <a:txBody>
                    <a:bodyPr/>
                    <a:lstStyle/>
                    <a:p>
                      <a:pPr marL="0" indent="0" algn="l">
                        <a:buNone/>
                      </a:pPr>
                      <a:r>
                        <a:rPr lang="en-US" sz="1100" dirty="0">
                          <a:solidFill>
                            <a:srgbClr val="12233A"/>
                          </a:solidFill>
                          <a:latin typeface="Calibri" pitchFamily="34" charset="0"/>
                          <a:ea typeface="Calibri" pitchFamily="34" charset="-122"/>
                          <a:cs typeface="Calibri" pitchFamily="34" charset="-120"/>
                        </a:rPr>
                        <a:t>Latvia</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496</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8,822</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14,262</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103</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205</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4"/>
                  </a:ext>
                </a:extLst>
              </a:tr>
              <a:tr h="304800">
                <a:tc>
                  <a:txBody>
                    <a:bodyPr/>
                    <a:lstStyle/>
                    <a:p>
                      <a:pPr marL="0" indent="0" algn="l">
                        <a:buNone/>
                      </a:pPr>
                      <a:r>
                        <a:rPr lang="en-US" sz="1100" dirty="0">
                          <a:solidFill>
                            <a:srgbClr val="12233A"/>
                          </a:solidFill>
                          <a:latin typeface="Calibri" pitchFamily="34" charset="0"/>
                          <a:ea typeface="Calibri" pitchFamily="34" charset="-122"/>
                          <a:cs typeface="Calibri" pitchFamily="34" charset="-120"/>
                        </a:rPr>
                        <a:t>Slovenia</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306</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17,680</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25,450</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195</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357</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04800">
                <a:tc>
                  <a:txBody>
                    <a:bodyPr/>
                    <a:lstStyle/>
                    <a:p>
                      <a:pPr marL="0" indent="0" algn="l">
                        <a:buNone/>
                      </a:pPr>
                      <a:r>
                        <a:rPr lang="en-US" sz="1100" dirty="0">
                          <a:solidFill>
                            <a:srgbClr val="12233A"/>
                          </a:solidFill>
                          <a:latin typeface="Calibri" pitchFamily="34" charset="0"/>
                          <a:ea typeface="Calibri" pitchFamily="34" charset="-122"/>
                          <a:cs typeface="Calibri" pitchFamily="34" charset="-120"/>
                        </a:rPr>
                        <a:t>Lithuania</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582</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10,987</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19,834</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128</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309</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6"/>
                  </a:ext>
                </a:extLst>
              </a:tr>
              <a:tr h="304800">
                <a:tc>
                  <a:txBody>
                    <a:bodyPr/>
                    <a:lstStyle/>
                    <a:p>
                      <a:pPr marL="0" indent="0" algn="l">
                        <a:buNone/>
                      </a:pPr>
                      <a:r>
                        <a:rPr lang="en-US" sz="1100" dirty="0">
                          <a:solidFill>
                            <a:srgbClr val="12233A"/>
                          </a:solidFill>
                          <a:latin typeface="Calibri" pitchFamily="34" charset="0"/>
                          <a:ea typeface="Calibri" pitchFamily="34" charset="-122"/>
                          <a:cs typeface="Calibri" pitchFamily="34" charset="-120"/>
                        </a:rPr>
                        <a:t>Ireland</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862</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14,565</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20,893</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158</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270</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304800">
                <a:tc>
                  <a:txBody>
                    <a:bodyPr/>
                    <a:lstStyle/>
                    <a:p>
                      <a:pPr marL="0" indent="0" algn="l">
                        <a:buNone/>
                      </a:pPr>
                      <a:r>
                        <a:rPr lang="en-US" sz="1100" dirty="0">
                          <a:solidFill>
                            <a:srgbClr val="12233A"/>
                          </a:solidFill>
                          <a:latin typeface="Calibri" pitchFamily="34" charset="0"/>
                          <a:ea typeface="Calibri" pitchFamily="34" charset="-122"/>
                          <a:cs typeface="Calibri" pitchFamily="34" charset="-120"/>
                        </a:rPr>
                        <a:t>Norway</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755</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24,343</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49,999</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324</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841</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8"/>
                  </a:ext>
                </a:extLst>
              </a:tr>
              <a:tr h="304800">
                <a:tc>
                  <a:txBody>
                    <a:bodyPr/>
                    <a:lstStyle/>
                    <a:p>
                      <a:pPr marL="0" indent="0" algn="l">
                        <a:buNone/>
                      </a:pPr>
                      <a:r>
                        <a:rPr lang="en-US" sz="1100" dirty="0">
                          <a:solidFill>
                            <a:srgbClr val="12233A"/>
                          </a:solidFill>
                          <a:latin typeface="Calibri" pitchFamily="34" charset="0"/>
                          <a:ea typeface="Calibri" pitchFamily="34" charset="-122"/>
                          <a:cs typeface="Calibri" pitchFamily="34" charset="-120"/>
                        </a:rPr>
                        <a:t>Denmark</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466</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38,823</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55,995</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448</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867</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304800">
                <a:tc>
                  <a:txBody>
                    <a:bodyPr/>
                    <a:lstStyle/>
                    <a:p>
                      <a:pPr marL="0" indent="0" algn="l">
                        <a:buNone/>
                      </a:pPr>
                      <a:r>
                        <a:rPr lang="en-US" sz="1100" dirty="0">
                          <a:solidFill>
                            <a:srgbClr val="12233A"/>
                          </a:solidFill>
                          <a:latin typeface="Calibri" pitchFamily="34" charset="0"/>
                          <a:ea typeface="Calibri" pitchFamily="34" charset="-122"/>
                          <a:cs typeface="Calibri" pitchFamily="34" charset="-120"/>
                        </a:rPr>
                        <a:t>Austria</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1,129</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18,588</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30,277</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204</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496</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0"/>
                  </a:ext>
                </a:extLst>
              </a:tr>
              <a:tr h="304800">
                <a:tc>
                  <a:txBody>
                    <a:bodyPr/>
                    <a:lstStyle/>
                    <a:p>
                      <a:pPr marL="0" indent="0" algn="l">
                        <a:buNone/>
                      </a:pPr>
                      <a:r>
                        <a:rPr lang="en-US" sz="1100" dirty="0">
                          <a:solidFill>
                            <a:srgbClr val="12233A"/>
                          </a:solidFill>
                          <a:latin typeface="Calibri" pitchFamily="34" charset="0"/>
                          <a:ea typeface="Calibri" pitchFamily="34" charset="-122"/>
                          <a:cs typeface="Calibri" pitchFamily="34" charset="-120"/>
                        </a:rPr>
                        <a:t>Portugal</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1,882</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17,958</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175</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526</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1"/>
                  </a:ext>
                </a:extLst>
              </a:tr>
              <a:tr h="304800">
                <a:tc>
                  <a:txBody>
                    <a:bodyPr/>
                    <a:lstStyle/>
                    <a:p>
                      <a:pPr marL="0" indent="0" algn="l">
                        <a:buNone/>
                      </a:pPr>
                      <a:r>
                        <a:rPr lang="en-US" sz="1100" dirty="0">
                          <a:solidFill>
                            <a:srgbClr val="12233A"/>
                          </a:solidFill>
                          <a:latin typeface="Calibri" pitchFamily="34" charset="0"/>
                          <a:ea typeface="Calibri" pitchFamily="34" charset="-122"/>
                          <a:cs typeface="Calibri" pitchFamily="34" charset="-120"/>
                        </a:rPr>
                        <a:t>Czechia</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1,624</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15,064</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22,879</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157</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278</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2"/>
                  </a:ext>
                </a:extLst>
              </a:tr>
              <a:tr h="304800">
                <a:tc>
                  <a:txBody>
                    <a:bodyPr/>
                    <a:lstStyle/>
                    <a:p>
                      <a:pPr marL="0" indent="0" algn="l">
                        <a:buNone/>
                      </a:pPr>
                      <a:r>
                        <a:rPr lang="en-US" sz="1100" dirty="0">
                          <a:solidFill>
                            <a:srgbClr val="12233A"/>
                          </a:solidFill>
                          <a:latin typeface="Calibri" pitchFamily="34" charset="0"/>
                          <a:ea typeface="Calibri" pitchFamily="34" charset="-122"/>
                          <a:cs typeface="Calibri" pitchFamily="34" charset="-120"/>
                        </a:rPr>
                        <a:t>Belgium</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2,958</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5,666</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7,340</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50</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67</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3"/>
                  </a:ext>
                </a:extLst>
              </a:tr>
              <a:tr h="304800">
                <a:tc>
                  <a:txBody>
                    <a:bodyPr/>
                    <a:lstStyle/>
                    <a:p>
                      <a:pPr marL="0" indent="0" algn="l">
                        <a:buNone/>
                      </a:pPr>
                      <a:r>
                        <a:rPr lang="en-US" sz="1100" dirty="0">
                          <a:solidFill>
                            <a:srgbClr val="12233A"/>
                          </a:solidFill>
                          <a:latin typeface="Calibri" pitchFamily="34" charset="0"/>
                          <a:ea typeface="Calibri" pitchFamily="34" charset="-122"/>
                          <a:cs typeface="Calibri" pitchFamily="34" charset="-120"/>
                        </a:rPr>
                        <a:t>Poland</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7,027</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10,254</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15,809</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107</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188</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4"/>
                  </a:ext>
                </a:extLst>
              </a:tr>
            </a:tbl>
          </a:graphicData>
        </a:graphic>
      </p:graphicFrame>
      <p:sp>
        <p:nvSpPr>
          <p:cNvPr id="5" name="Text 2"/>
          <p:cNvSpPr/>
          <p:nvPr/>
        </p:nvSpPr>
        <p:spPr>
          <a:xfrm>
            <a:off x="731520" y="6309360"/>
            <a:ext cx="10698480" cy="457200"/>
          </a:xfrm>
          <a:prstGeom prst="rect">
            <a:avLst/>
          </a:prstGeom>
          <a:noFill/>
          <a:ln/>
        </p:spPr>
        <p:txBody>
          <a:bodyPr wrap="square" rtlCol="0" anchor="t"/>
          <a:lstStyle/>
          <a:p>
            <a:pPr marL="0" indent="0">
              <a:buNone/>
            </a:pPr>
            <a:r>
              <a:rPr lang="en-US" sz="900" b="1" i="1" dirty="0">
                <a:solidFill>
                  <a:srgbClr val="1C3D5A"/>
                </a:solidFill>
                <a:latin typeface="Calibri" pitchFamily="34" charset="0"/>
                <a:ea typeface="Calibri" pitchFamily="34" charset="-122"/>
                <a:cs typeface="Calibri" pitchFamily="34" charset="-120"/>
              </a:rPr>
              <a:t>λ = w · €100,000 (facility fixed-cost weight). </a:t>
            </a:r>
            <a:r>
              <a:rPr lang="en-US" sz="900" i="1" dirty="0">
                <a:solidFill>
                  <a:srgbClr val="5B6B7B"/>
                </a:solidFill>
                <a:latin typeface="Calibri" pitchFamily="34" charset="0"/>
                <a:ea typeface="Calibri" pitchFamily="34" charset="-122"/>
                <a:cs typeface="Calibri" pitchFamily="34" charset="-120"/>
              </a:rPr>
              <a:t>S1 = λ at which the open-facility count equals the baseline #cells; S2 = λ at which the multistart travel cost equals the baseline — each log-interpolated between adjacent sweep points, per travel-cost function (lin / log). “—” = the baseline target lies outside the swept λ range (S1/S2 not yet bracketed — see roadmap).</a:t>
            </a:r>
            <a:endParaRPr lang="en-US" sz="900" dirty="0"/>
          </a:p>
        </p:txBody>
      </p:sp>
    </p:spTree>
    <p:extLst>
      <p:ext uri="{BB962C8B-B14F-4D97-AF65-F5344CB8AC3E}">
        <p14:creationId xmlns:p14="http://schemas.microsoft.com/office/powerpoint/2010/main" val="2347778736"/>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56032"/>
            <a:ext cx="8229600" cy="274320"/>
          </a:xfrm>
          <a:prstGeom prst="rect">
            <a:avLst/>
          </a:prstGeom>
          <a:noFill/>
          <a:ln/>
        </p:spPr>
        <p:txBody>
          <a:bodyPr wrap="square" rtlCol="0" anchor="ctr"/>
          <a:lstStyle/>
          <a:p>
            <a:pPr marL="0" indent="0">
              <a:buNone/>
            </a:pPr>
            <a:r>
              <a:rPr lang="en-US" sz="1200" b="1" kern="0" spc="200" dirty="0">
                <a:solidFill>
                  <a:srgbClr val="0B6E99"/>
                </a:solidFill>
              </a:rPr>
              <a:t>SCENARIO λ · NUTS-1</a:t>
            </a:r>
            <a:endParaRPr lang="en-US" sz="1200" dirty="0"/>
          </a:p>
        </p:txBody>
      </p:sp>
      <p:sp>
        <p:nvSpPr>
          <p:cNvPr id="3" name="Text 1"/>
          <p:cNvSpPr/>
          <p:nvPr/>
        </p:nvSpPr>
        <p:spPr>
          <a:xfrm>
            <a:off x="411480" y="493776"/>
            <a:ext cx="1143000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Interpolated λ for S1 and S2  </a:t>
            </a:r>
            <a:r>
              <a:rPr lang="en-US" sz="2200" dirty="0">
                <a:solidFill>
                  <a:srgbClr val="1C3D5A"/>
                </a:solidFill>
                <a:latin typeface="Georgia" pitchFamily="34" charset="0"/>
                <a:ea typeface="Georgia" pitchFamily="34" charset="-122"/>
                <a:cs typeface="Georgia" pitchFamily="34" charset="-120"/>
              </a:rPr>
              <a:t>— FR / IT / SE NUTS-1 regions</a:t>
            </a:r>
            <a:endParaRPr lang="en-US" sz="22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731520" y="1536192"/>
          <a:ext cx="10698480" cy="914400"/>
        </p:xfrm>
        <a:graphic>
          <a:graphicData uri="http://schemas.openxmlformats.org/drawingml/2006/table">
            <a:tbl>
              <a:tblPr/>
              <a:tblGrid>
                <a:gridCol w="301752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577340">
                  <a:extLst>
                    <a:ext uri="{9D8B030D-6E8A-4147-A177-3AD203B41FA5}">
                      <a16:colId xmlns:a16="http://schemas.microsoft.com/office/drawing/2014/main" val="20002"/>
                    </a:ext>
                  </a:extLst>
                </a:gridCol>
                <a:gridCol w="1577340">
                  <a:extLst>
                    <a:ext uri="{9D8B030D-6E8A-4147-A177-3AD203B41FA5}">
                      <a16:colId xmlns:a16="http://schemas.microsoft.com/office/drawing/2014/main" val="20003"/>
                    </a:ext>
                  </a:extLst>
                </a:gridCol>
                <a:gridCol w="1577340">
                  <a:extLst>
                    <a:ext uri="{9D8B030D-6E8A-4147-A177-3AD203B41FA5}">
                      <a16:colId xmlns:a16="http://schemas.microsoft.com/office/drawing/2014/main" val="20004"/>
                    </a:ext>
                  </a:extLst>
                </a:gridCol>
                <a:gridCol w="1577340">
                  <a:extLst>
                    <a:ext uri="{9D8B030D-6E8A-4147-A177-3AD203B41FA5}">
                      <a16:colId xmlns:a16="http://schemas.microsoft.com/office/drawing/2014/main" val="20005"/>
                    </a:ext>
                  </a:extLst>
                </a:gridCol>
              </a:tblGrid>
              <a:tr h="201168">
                <a:tc>
                  <a:txBody>
                    <a:bodyPr/>
                    <a:lstStyle/>
                    <a:p>
                      <a:pPr marL="0" indent="0" algn="l">
                        <a:buNone/>
                      </a:pPr>
                      <a:r>
                        <a:rPr lang="en-US" sz="1000" b="1" dirty="0">
                          <a:solidFill>
                            <a:srgbClr val="FFFFFF"/>
                          </a:solidFill>
                          <a:latin typeface="Calibri" pitchFamily="34" charset="0"/>
                          <a:ea typeface="Calibri" pitchFamily="34" charset="-122"/>
                          <a:cs typeface="Calibri" pitchFamily="34" charset="-120"/>
                        </a:rPr>
                        <a:t>NUTS-1 region</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1000" b="1" dirty="0">
                          <a:solidFill>
                            <a:srgbClr val="FFFFFF"/>
                          </a:solidFill>
                          <a:latin typeface="Calibri" pitchFamily="34" charset="0"/>
                          <a:ea typeface="Calibri" pitchFamily="34" charset="-122"/>
                          <a:cs typeface="Calibri" pitchFamily="34" charset="-120"/>
                        </a:rPr>
                        <a:t>baseline #</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1000" b="1" dirty="0">
                          <a:solidFill>
                            <a:srgbClr val="FFFFFF"/>
                          </a:solidFill>
                          <a:latin typeface="Calibri" pitchFamily="34" charset="0"/>
                          <a:ea typeface="Calibri" pitchFamily="34" charset="-122"/>
                          <a:cs typeface="Calibri" pitchFamily="34" charset="-120"/>
                        </a:rPr>
                        <a:t>λ · S1 (lin)</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1000" b="1" dirty="0">
                          <a:solidFill>
                            <a:srgbClr val="FFFFFF"/>
                          </a:solidFill>
                          <a:latin typeface="Calibri" pitchFamily="34" charset="0"/>
                          <a:ea typeface="Calibri" pitchFamily="34" charset="-122"/>
                          <a:cs typeface="Calibri" pitchFamily="34" charset="-120"/>
                        </a:rPr>
                        <a:t>λ · S2 (lin)</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1000" b="1" dirty="0">
                          <a:solidFill>
                            <a:srgbClr val="FFFFFF"/>
                          </a:solidFill>
                          <a:latin typeface="Calibri" pitchFamily="34" charset="0"/>
                          <a:ea typeface="Calibri" pitchFamily="34" charset="-122"/>
                          <a:cs typeface="Calibri" pitchFamily="34" charset="-120"/>
                        </a:rPr>
                        <a:t>λ · S1 (log)</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1000" b="1" dirty="0">
                          <a:solidFill>
                            <a:srgbClr val="FFFFFF"/>
                          </a:solidFill>
                          <a:latin typeface="Calibri" pitchFamily="34" charset="0"/>
                          <a:ea typeface="Calibri" pitchFamily="34" charset="-122"/>
                          <a:cs typeface="Calibri" pitchFamily="34" charset="-120"/>
                        </a:rPr>
                        <a:t>λ · S2 (log)</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FR1 · Île-de-France</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1,449</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11,918</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16,444</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149</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FRB · Centre-Val de Loire</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613</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10,000</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13,670</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109</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169</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2"/>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FRC · Bourgogne-Franche-Comté</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723</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9,783</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13,075</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108</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167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FRD · Normandie</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679</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11,278</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14,679</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118</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179</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4"/>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FRE · Hauts-de-France</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1,333</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9,048</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11,670</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87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122</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FRF · Grand Est</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1,167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10,901</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14,257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111</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170</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6"/>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FRG · Pays de la Loire</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848</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11,153</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14,447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114</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173</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FRH · Bretagne</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793</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9,858</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13,828</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104</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165</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8"/>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FRI · Nouvelle-Aquitaine</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1,584</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9,280</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12,698</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98</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158</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FRJ · Occitanie</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1,424</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9,698</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13,202</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101</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161</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0"/>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FRK · Auvergne-Rhône-Alpes</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1,685</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10,207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13,737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108</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167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1"/>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FRL · Provence-Alpes-Côte d'Azur</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1,026</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9,741</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14,155</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97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158</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2"/>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FRM · Corse</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87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10,336</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16,993</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135</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259</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3"/>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ITC · Nord-Ovest</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2,890</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10,511</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20,047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100</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218</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4"/>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ITF · Sud</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1,253</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31,824</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350</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1,655</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5"/>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ITG · Isole</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884</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70,747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276,192</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597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2,271</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6"/>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ITH · Nord-Est</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2,079</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12,775</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22,482</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127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287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7"/>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ITI · Centro</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1,631</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16,612</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32,376</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169</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421</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8"/>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SE1 · Östra Sverige</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388</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29,065</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45,031</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331</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703</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9"/>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SE2 · Södra Sverige</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452</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34,174</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63,973</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413</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981</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20"/>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SE3 · Norra Sverige</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246</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30,584</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53,080</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439</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929</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21"/>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PL2 · Południowy</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1,442</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9,666</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15,455</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95</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171</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22"/>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PL4 · Północno-Zachodni</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1,200</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9,925</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15,169</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106</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193</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23"/>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PL5 · Południowo-Zachodni</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688</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10,586</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15,617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106</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189</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24"/>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PL6 · Północny</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1,023</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11,568</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17,393</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125</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220</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25"/>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PL7 · Centralny</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675</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10,013</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14,885</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188</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26"/>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PL8 · Wschodni</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1,065</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24,054</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216</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593</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27"/>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PL9 · Mazowiecki</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933</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11,084</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16,582</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112</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198</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28"/>
                  </a:ext>
                </a:extLst>
              </a:tr>
            </a:tbl>
          </a:graphicData>
        </a:graphic>
      </p:graphicFrame>
      <p:sp>
        <p:nvSpPr>
          <p:cNvPr id="5" name="Text 2"/>
          <p:cNvSpPr/>
          <p:nvPr/>
        </p:nvSpPr>
        <p:spPr>
          <a:xfrm>
            <a:off x="731520" y="6309360"/>
            <a:ext cx="10698480" cy="457200"/>
          </a:xfrm>
          <a:prstGeom prst="rect">
            <a:avLst/>
          </a:prstGeom>
          <a:noFill/>
          <a:ln/>
        </p:spPr>
        <p:txBody>
          <a:bodyPr wrap="square" rtlCol="0" anchor="t"/>
          <a:lstStyle/>
          <a:p>
            <a:pPr marL="0" indent="0">
              <a:buNone/>
            </a:pPr>
            <a:r>
              <a:rPr lang="en-US" sz="900" b="1" i="1" dirty="0">
                <a:solidFill>
                  <a:srgbClr val="1C3D5A"/>
                </a:solidFill>
                <a:latin typeface="Calibri" pitchFamily="34" charset="0"/>
                <a:ea typeface="Calibri" pitchFamily="34" charset="-122"/>
                <a:cs typeface="Calibri" pitchFamily="34" charset="-120"/>
              </a:rPr>
              <a:t>λ = w · €100,000 (facility fixed-cost weight). </a:t>
            </a:r>
            <a:r>
              <a:rPr lang="en-US" sz="900" i="1" dirty="0">
                <a:solidFill>
                  <a:srgbClr val="5B6B7B"/>
                </a:solidFill>
                <a:latin typeface="Calibri" pitchFamily="34" charset="0"/>
                <a:ea typeface="Calibri" pitchFamily="34" charset="-122"/>
                <a:cs typeface="Calibri" pitchFamily="34" charset="-120"/>
              </a:rPr>
              <a:t>S1 = λ at which the open-facility count equals the baseline #cells; S2 = λ at which the multistart travel cost equals the baseline — each log-interpolated between adjacent sweep points, per travel-cost function (lin / log). “—” = the baseline target lies outside the swept λ range (S1/S2 not yet bracketed — see roadmap).</a:t>
            </a:r>
            <a:endParaRPr lang="en-US" sz="900" dirty="0"/>
          </a:p>
        </p:txBody>
      </p:sp>
    </p:spTree>
    <p:extLst>
      <p:ext uri="{BB962C8B-B14F-4D97-AF65-F5344CB8AC3E}">
        <p14:creationId xmlns:p14="http://schemas.microsoft.com/office/powerpoint/2010/main" val="178997965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57200" y="292608"/>
            <a:ext cx="8229600" cy="274320"/>
          </a:xfrm>
          <a:prstGeom prst="rect">
            <a:avLst/>
          </a:prstGeom>
          <a:noFill/>
          <a:ln/>
        </p:spPr>
        <p:txBody>
          <a:bodyPr wrap="square" rtlCol="0" anchor="ctr"/>
          <a:lstStyle/>
          <a:p>
            <a:pPr marL="0" indent="0">
              <a:buNone/>
            </a:pPr>
            <a:r>
              <a:rPr lang="en-US" sz="1200" b="1" kern="0" spc="200" dirty="0">
                <a:solidFill>
                  <a:srgbClr val="E8A33D"/>
                </a:solidFill>
              </a:rPr>
              <a:t>LINEAR vs LOGISTIC</a:t>
            </a:r>
            <a:endParaRPr lang="en-US" sz="1200" dirty="0"/>
          </a:p>
        </p:txBody>
      </p:sp>
      <p:sp>
        <p:nvSpPr>
          <p:cNvPr id="3" name="Text 1"/>
          <p:cNvSpPr/>
          <p:nvPr/>
        </p:nvSpPr>
        <p:spPr>
          <a:xfrm>
            <a:off x="457200" y="548640"/>
            <a:ext cx="11247120" cy="640080"/>
          </a:xfrm>
          <a:prstGeom prst="rect">
            <a:avLst/>
          </a:prstGeom>
          <a:noFill/>
          <a:ln/>
        </p:spPr>
        <p:txBody>
          <a:bodyPr wrap="square" rtlCol="0" anchor="ctr"/>
          <a:lstStyle/>
          <a:p>
            <a:pPr marL="0" indent="0">
              <a:buNone/>
            </a:pPr>
            <a:r>
              <a:rPr lang="en-US" sz="2400" dirty="0">
                <a:solidFill>
                  <a:srgbClr val="FFFFFF"/>
                </a:solidFill>
                <a:latin typeface="Georgia" pitchFamily="34" charset="0"/>
                <a:ea typeface="Georgia" pitchFamily="34" charset="-122"/>
                <a:cs typeface="Georgia" pitchFamily="34" charset="-120"/>
              </a:rPr>
              <a:t>multistart tracks the LP-relax lower bound — the gap is tightest under LOGISTIC</a:t>
            </a:r>
            <a:endParaRPr lang="en-US" sz="2400" dirty="0"/>
          </a:p>
        </p:txBody>
      </p:sp>
      <p:sp>
        <p:nvSpPr>
          <p:cNvPr id="4" name="Shape 2"/>
          <p:cNvSpPr/>
          <p:nvPr/>
        </p:nvSpPr>
        <p:spPr>
          <a:xfrm>
            <a:off x="457200" y="1371600"/>
            <a:ext cx="5486400" cy="1234440"/>
          </a:xfrm>
          <a:prstGeom prst="roundRect">
            <a:avLst>
              <a:gd name="adj" fmla="val 4444"/>
            </a:avLst>
          </a:prstGeom>
          <a:solidFill>
            <a:srgbClr val="1B3350"/>
          </a:solidFill>
          <a:ln w="12700">
            <a:solidFill>
              <a:srgbClr val="E8A33D"/>
            </a:solidFill>
            <a:prstDash val="solid"/>
          </a:ln>
        </p:spPr>
      </p:sp>
      <p:sp>
        <p:nvSpPr>
          <p:cNvPr id="5" name="Text 3"/>
          <p:cNvSpPr/>
          <p:nvPr/>
        </p:nvSpPr>
        <p:spPr>
          <a:xfrm>
            <a:off x="685800" y="1481328"/>
            <a:ext cx="5029200" cy="274320"/>
          </a:xfrm>
          <a:prstGeom prst="rect">
            <a:avLst/>
          </a:prstGeom>
          <a:noFill/>
          <a:ln/>
        </p:spPr>
        <p:txBody>
          <a:bodyPr wrap="square" rtlCol="0" anchor="ctr"/>
          <a:lstStyle/>
          <a:p>
            <a:pPr marL="0" indent="0">
              <a:buNone/>
            </a:pPr>
            <a:r>
              <a:rPr lang="en-US" sz="1300" b="1" dirty="0">
                <a:solidFill>
                  <a:srgbClr val="E8A33D"/>
                </a:solidFill>
                <a:latin typeface="Calibri" pitchFamily="34" charset="0"/>
                <a:ea typeface="Calibri" pitchFamily="34" charset="-122"/>
                <a:cs typeface="Calibri" pitchFamily="34" charset="-120"/>
              </a:rPr>
              <a:t>LINEAR  c(t) — unbounded, stranding expensive</a:t>
            </a:r>
            <a:endParaRPr lang="en-US" sz="1300" dirty="0"/>
          </a:p>
        </p:txBody>
      </p:sp>
      <p:sp>
        <p:nvSpPr>
          <p:cNvPr id="6" name="Text 4"/>
          <p:cNvSpPr/>
          <p:nvPr/>
        </p:nvSpPr>
        <p:spPr>
          <a:xfrm>
            <a:off x="685800" y="1755648"/>
            <a:ext cx="5029200" cy="457200"/>
          </a:xfrm>
          <a:prstGeom prst="rect">
            <a:avLst/>
          </a:prstGeom>
          <a:noFill/>
          <a:ln/>
        </p:spPr>
        <p:txBody>
          <a:bodyPr wrap="square" rtlCol="0" anchor="ctr"/>
          <a:lstStyle/>
          <a:p>
            <a:pPr marL="0" indent="0">
              <a:buNone/>
            </a:pPr>
            <a:r>
              <a:rPr lang="en-US" sz="1900" b="1" dirty="0">
                <a:solidFill>
                  <a:srgbClr val="FFFFFF"/>
                </a:solidFill>
                <a:latin typeface="Georgia" pitchFamily="34" charset="0"/>
                <a:ea typeface="Georgia" pitchFamily="34" charset="-122"/>
                <a:cs typeface="Georgia" pitchFamily="34" charset="-120"/>
              </a:rPr>
              <a:t>multistart sits +0–18% over the LP bound</a:t>
            </a:r>
            <a:endParaRPr lang="en-US" sz="1900" dirty="0"/>
          </a:p>
        </p:txBody>
      </p:sp>
      <p:sp>
        <p:nvSpPr>
          <p:cNvPr id="7" name="Text 5"/>
          <p:cNvSpPr/>
          <p:nvPr/>
        </p:nvSpPr>
        <p:spPr>
          <a:xfrm>
            <a:off x="685800" y="2194560"/>
            <a:ext cx="5074920" cy="365760"/>
          </a:xfrm>
          <a:prstGeom prst="rect">
            <a:avLst/>
          </a:prstGeom>
          <a:noFill/>
          <a:ln/>
        </p:spPr>
        <p:txBody>
          <a:bodyPr wrap="square" rtlCol="0" anchor="ctr"/>
          <a:lstStyle/>
          <a:p>
            <a:pPr marL="0" indent="0">
              <a:buNone/>
            </a:pPr>
            <a:r>
              <a:rPr lang="en-US" sz="1050" dirty="0">
                <a:solidFill>
                  <a:srgbClr val="C7D2DD"/>
                </a:solidFill>
                <a:latin typeface="Calibri" pitchFamily="34" charset="0"/>
                <a:ea typeface="Calibri" pitchFamily="34" charset="-122"/>
                <a:cs typeface="Calibri" pitchFamily="34" charset="-120"/>
              </a:rPr>
              <a:t>integer rounding costs more where stranding is dear</a:t>
            </a:r>
            <a:endParaRPr lang="en-US" sz="1050" dirty="0"/>
          </a:p>
        </p:txBody>
      </p:sp>
      <p:sp>
        <p:nvSpPr>
          <p:cNvPr id="8" name="Shape 6"/>
          <p:cNvSpPr/>
          <p:nvPr/>
        </p:nvSpPr>
        <p:spPr>
          <a:xfrm>
            <a:off x="6245352" y="1371600"/>
            <a:ext cx="5486400" cy="1234440"/>
          </a:xfrm>
          <a:prstGeom prst="roundRect">
            <a:avLst>
              <a:gd name="adj" fmla="val 4444"/>
            </a:avLst>
          </a:prstGeom>
          <a:solidFill>
            <a:srgbClr val="1B3350"/>
          </a:solidFill>
          <a:ln w="12700">
            <a:solidFill>
              <a:srgbClr val="0B6E99"/>
            </a:solidFill>
            <a:prstDash val="solid"/>
          </a:ln>
        </p:spPr>
      </p:sp>
      <p:sp>
        <p:nvSpPr>
          <p:cNvPr id="9" name="Text 7"/>
          <p:cNvSpPr/>
          <p:nvPr/>
        </p:nvSpPr>
        <p:spPr>
          <a:xfrm>
            <a:off x="6473952" y="1481328"/>
            <a:ext cx="5029200" cy="274320"/>
          </a:xfrm>
          <a:prstGeom prst="rect">
            <a:avLst/>
          </a:prstGeom>
          <a:noFill/>
          <a:ln/>
        </p:spPr>
        <p:txBody>
          <a:bodyPr wrap="square" rtlCol="0" anchor="ctr"/>
          <a:lstStyle/>
          <a:p>
            <a:pPr marL="0" indent="0">
              <a:buNone/>
            </a:pPr>
            <a:r>
              <a:rPr lang="en-US" sz="1300" b="1" dirty="0">
                <a:solidFill>
                  <a:srgbClr val="0B6E99"/>
                </a:solidFill>
                <a:latin typeface="Calibri" pitchFamily="34" charset="0"/>
                <a:ea typeface="Calibri" pitchFamily="34" charset="-122"/>
                <a:cs typeface="Calibri" pitchFamily="34" charset="-120"/>
              </a:rPr>
              <a:t>LOGISTIC  c(t) — saturates ≈1, stranding cheap</a:t>
            </a:r>
            <a:endParaRPr lang="en-US" sz="1300" dirty="0"/>
          </a:p>
        </p:txBody>
      </p:sp>
      <p:sp>
        <p:nvSpPr>
          <p:cNvPr id="10" name="Text 8"/>
          <p:cNvSpPr/>
          <p:nvPr/>
        </p:nvSpPr>
        <p:spPr>
          <a:xfrm>
            <a:off x="6473952" y="1755648"/>
            <a:ext cx="5029200" cy="457200"/>
          </a:xfrm>
          <a:prstGeom prst="rect">
            <a:avLst/>
          </a:prstGeom>
          <a:noFill/>
          <a:ln/>
        </p:spPr>
        <p:txBody>
          <a:bodyPr wrap="square" rtlCol="0" anchor="ctr"/>
          <a:lstStyle/>
          <a:p>
            <a:pPr marL="0" indent="0">
              <a:buNone/>
            </a:pPr>
            <a:r>
              <a:rPr lang="en-US" sz="1900" b="1" dirty="0">
                <a:solidFill>
                  <a:srgbClr val="FFFFFF"/>
                </a:solidFill>
                <a:latin typeface="Georgia" pitchFamily="34" charset="0"/>
                <a:ea typeface="Georgia" pitchFamily="34" charset="-122"/>
                <a:cs typeface="Georgia" pitchFamily="34" charset="-120"/>
              </a:rPr>
              <a:t>multistart sits +0–4.7% over the LP bound</a:t>
            </a:r>
            <a:endParaRPr lang="en-US" sz="1900" dirty="0"/>
          </a:p>
        </p:txBody>
      </p:sp>
      <p:sp>
        <p:nvSpPr>
          <p:cNvPr id="11" name="Text 9"/>
          <p:cNvSpPr/>
          <p:nvPr/>
        </p:nvSpPr>
        <p:spPr>
          <a:xfrm>
            <a:off x="6473952" y="2194560"/>
            <a:ext cx="5074920" cy="365760"/>
          </a:xfrm>
          <a:prstGeom prst="rect">
            <a:avLst/>
          </a:prstGeom>
          <a:noFill/>
          <a:ln/>
        </p:spPr>
        <p:txBody>
          <a:bodyPr wrap="square" rtlCol="0" anchor="ctr"/>
          <a:lstStyle/>
          <a:p>
            <a:pPr marL="0" indent="0">
              <a:buNone/>
            </a:pPr>
            <a:r>
              <a:rPr lang="en-US" sz="1050" dirty="0">
                <a:solidFill>
                  <a:srgbClr val="C7D2DD"/>
                </a:solidFill>
                <a:latin typeface="Calibri" pitchFamily="34" charset="0"/>
                <a:ea typeface="Calibri" pitchFamily="34" charset="-122"/>
                <a:cs typeface="Calibri" pitchFamily="34" charset="-120"/>
              </a:rPr>
              <a:t>rounding is nearly free; the frontier is almost integral</a:t>
            </a:r>
            <a:endParaRPr lang="en-US" sz="105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457200" y="3200400"/>
          <a:ext cx="5513832" cy="914400"/>
        </p:xfrm>
        <a:graphic>
          <a:graphicData uri="http://schemas.openxmlformats.org/drawingml/2006/table">
            <a:tbl>
              <a:tblPr/>
              <a:tblGrid>
                <a:gridCol w="868680">
                  <a:extLst>
                    <a:ext uri="{9D8B030D-6E8A-4147-A177-3AD203B41FA5}">
                      <a16:colId xmlns:a16="http://schemas.microsoft.com/office/drawing/2014/main" val="20000"/>
                    </a:ext>
                  </a:extLst>
                </a:gridCol>
                <a:gridCol w="1161288">
                  <a:extLst>
                    <a:ext uri="{9D8B030D-6E8A-4147-A177-3AD203B41FA5}">
                      <a16:colId xmlns:a16="http://schemas.microsoft.com/office/drawing/2014/main" val="20001"/>
                    </a:ext>
                  </a:extLst>
                </a:gridCol>
                <a:gridCol w="1161288">
                  <a:extLst>
                    <a:ext uri="{9D8B030D-6E8A-4147-A177-3AD203B41FA5}">
                      <a16:colId xmlns:a16="http://schemas.microsoft.com/office/drawing/2014/main" val="20002"/>
                    </a:ext>
                  </a:extLst>
                </a:gridCol>
                <a:gridCol w="1161288">
                  <a:extLst>
                    <a:ext uri="{9D8B030D-6E8A-4147-A177-3AD203B41FA5}">
                      <a16:colId xmlns:a16="http://schemas.microsoft.com/office/drawing/2014/main" val="20003"/>
                    </a:ext>
                  </a:extLst>
                </a:gridCol>
                <a:gridCol w="1161288">
                  <a:extLst>
                    <a:ext uri="{9D8B030D-6E8A-4147-A177-3AD203B41FA5}">
                      <a16:colId xmlns:a16="http://schemas.microsoft.com/office/drawing/2014/main" val="20004"/>
                    </a:ext>
                  </a:extLst>
                </a:gridCol>
              </a:tblGrid>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reg</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LIN S1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LIN S2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LOG S1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LOG S2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Netherlands</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(8)</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(7)</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01"/>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Luxembourg</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02"/>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Estonia</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03"/>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Latvia</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04"/>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Slovenia</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05"/>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Lithuania</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(3)</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06"/>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Ireland</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07"/>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Norway</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(3)</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(54)</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08"/>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Denmark</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09"/>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Austria</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10"/>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Portugal</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(351)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+16% (1308)</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(437)</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+7% (1265)</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11"/>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Czechia</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(3)</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12"/>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Belgium</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13"/>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Poland</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14"/>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15"/>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FRB</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16"/>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FRC</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17"/>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FRD</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(4)</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18"/>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FRE</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19"/>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FRF</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20"/>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FRG</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21"/>
                  </a:ext>
                </a:extLst>
              </a:tr>
            </a:tbl>
          </a:graphicData>
        </a:graphic>
      </p:graphicFrame>
      <p:graphicFrame>
        <p:nvGraphicFramePr>
          <p:cNvPr id="109" name="Table 1"/>
          <p:cNvGraphicFramePr>
            <a:graphicFrameLocks noGrp="1"/>
          </p:cNvGraphicFramePr>
          <p:nvPr>
            <p:extLst>
              <p:ext uri="{D42A27DB-BD31-4B8C-83A1-F6EECF244321}">
                <p14:modId xmlns:p14="http://schemas.microsoft.com/office/powerpoint/2010/main" val="1579011935"/>
              </p:ext>
            </p:extLst>
          </p:nvPr>
        </p:nvGraphicFramePr>
        <p:xfrm>
          <a:off x="6217920" y="3200400"/>
          <a:ext cx="5513832" cy="914400"/>
        </p:xfrm>
        <a:graphic>
          <a:graphicData uri="http://schemas.openxmlformats.org/drawingml/2006/table">
            <a:tbl>
              <a:tblPr/>
              <a:tblGrid>
                <a:gridCol w="868680">
                  <a:extLst>
                    <a:ext uri="{9D8B030D-6E8A-4147-A177-3AD203B41FA5}">
                      <a16:colId xmlns:a16="http://schemas.microsoft.com/office/drawing/2014/main" val="20000"/>
                    </a:ext>
                  </a:extLst>
                </a:gridCol>
                <a:gridCol w="1161288">
                  <a:extLst>
                    <a:ext uri="{9D8B030D-6E8A-4147-A177-3AD203B41FA5}">
                      <a16:colId xmlns:a16="http://schemas.microsoft.com/office/drawing/2014/main" val="20001"/>
                    </a:ext>
                  </a:extLst>
                </a:gridCol>
                <a:gridCol w="1161288">
                  <a:extLst>
                    <a:ext uri="{9D8B030D-6E8A-4147-A177-3AD203B41FA5}">
                      <a16:colId xmlns:a16="http://schemas.microsoft.com/office/drawing/2014/main" val="20002"/>
                    </a:ext>
                  </a:extLst>
                </a:gridCol>
                <a:gridCol w="1161288">
                  <a:extLst>
                    <a:ext uri="{9D8B030D-6E8A-4147-A177-3AD203B41FA5}">
                      <a16:colId xmlns:a16="http://schemas.microsoft.com/office/drawing/2014/main" val="20003"/>
                    </a:ext>
                  </a:extLst>
                </a:gridCol>
                <a:gridCol w="1161288">
                  <a:extLst>
                    <a:ext uri="{9D8B030D-6E8A-4147-A177-3AD203B41FA5}">
                      <a16:colId xmlns:a16="http://schemas.microsoft.com/office/drawing/2014/main" val="20004"/>
                    </a:ext>
                  </a:extLst>
                </a:gridCol>
              </a:tblGrid>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reg</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LIN S1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LIN S2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LOG S1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LOG S2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FRH</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01"/>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FRI</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02"/>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FRJ</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03"/>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FRK</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04"/>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FRL</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05"/>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FRM</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06"/>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ITC</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07"/>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ITF</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(38)</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+2% (241)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(18)</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+3% (730)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08"/>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ITG</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(1725)</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+1% (2409)</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(1470)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(2202)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09"/>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ITH</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10"/>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ITI</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(45)</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(19)</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11"/>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SE1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(8)</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12"/>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SE2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(131)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(131)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(134)</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(138)</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13"/>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SE3</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(4)</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(36)</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(117)</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(168)</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14"/>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PL2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15"/>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PL4</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16"/>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PL5</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17"/>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PL6</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18"/>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PL7</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19"/>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PL8</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(1815)</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+1% (2218)</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(1966)</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+1% (2269)</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20"/>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PL9</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21"/>
                  </a:ext>
                </a:extLst>
              </a:tr>
            </a:tbl>
          </a:graphicData>
        </a:graphic>
      </p:graphicFrame>
      <p:sp>
        <p:nvSpPr>
          <p:cNvPr id="14" name="Text 10"/>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9FB0C2"/>
                </a:solidFill>
                <a:latin typeface="Calibri" pitchFamily="34" charset="0"/>
                <a:ea typeface="Calibri" pitchFamily="34" charset="-122"/>
                <a:cs typeface="Calibri" pitchFamily="34" charset="-120"/>
              </a:rPr>
              <a:t>cell = multistart travel above the LP-relax bound  (multistart clients stranded by rounding, priced at BIG).  Sparse Swedish regions keep the largest bound-gaps.</a:t>
            </a:r>
            <a:endParaRPr lang="en-US" sz="850" dirty="0"/>
          </a:p>
        </p:txBody>
      </p:sp>
    </p:spTree>
    <p:extLst>
      <p:ext uri="{BB962C8B-B14F-4D97-AF65-F5344CB8AC3E}">
        <p14:creationId xmlns:p14="http://schemas.microsoft.com/office/powerpoint/2010/main" val="3262007910"/>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56032"/>
            <a:ext cx="8229600" cy="274320"/>
          </a:xfrm>
          <a:prstGeom prst="rect">
            <a:avLst/>
          </a:prstGeom>
          <a:noFill/>
          <a:ln/>
        </p:spPr>
        <p:txBody>
          <a:bodyPr wrap="square" rtlCol="0" anchor="ctr"/>
          <a:lstStyle/>
          <a:p>
            <a:pPr marL="0" indent="0">
              <a:buNone/>
            </a:pPr>
            <a:r>
              <a:rPr lang="en-US" sz="1200" b="1" kern="0" spc="200" dirty="0">
                <a:solidFill>
                  <a:srgbClr val="0B6E99"/>
                </a:solidFill>
              </a:rPr>
              <a:t>ROADMAP</a:t>
            </a:r>
            <a:endParaRPr lang="en-US" sz="1200" dirty="0"/>
          </a:p>
        </p:txBody>
      </p:sp>
      <p:sp>
        <p:nvSpPr>
          <p:cNvPr id="3" name="Text 1"/>
          <p:cNvSpPr/>
          <p:nvPr/>
        </p:nvSpPr>
        <p:spPr>
          <a:xfrm>
            <a:off x="411480" y="493776"/>
            <a:ext cx="11430000" cy="384048"/>
          </a:xfrm>
          <a:prstGeom prst="rect">
            <a:avLst/>
          </a:prstGeom>
          <a:noFill/>
          <a:ln/>
        </p:spPr>
        <p:txBody>
          <a:bodyPr wrap="square" rtlCol="0" anchor="ctr"/>
          <a:lstStyle/>
          <a:p>
            <a:pPr marL="0" indent="0">
              <a:buNone/>
            </a:pPr>
            <a:r>
              <a:rPr lang="en-US" sz="2100" b="1" dirty="0">
                <a:solidFill>
                  <a:srgbClr val="12233A"/>
                </a:solidFill>
                <a:latin typeface="Georgia" pitchFamily="34" charset="0"/>
                <a:ea typeface="Georgia" pitchFamily="34" charset="-122"/>
                <a:cs typeface="Georgia" pitchFamily="34" charset="-120"/>
              </a:rPr>
              <a:t>Status against Lewis's &amp; Bernhard's framing  </a:t>
            </a:r>
            <a:r>
              <a:rPr lang="en-US" sz="2100" dirty="0">
                <a:solidFill>
                  <a:srgbClr val="1C3D5A"/>
                </a:solidFill>
                <a:latin typeface="Georgia" pitchFamily="34" charset="0"/>
                <a:ea typeface="Georgia" pitchFamily="34" charset="-122"/>
                <a:cs typeface="Georgia" pitchFamily="34" charset="-120"/>
              </a:rPr>
              <a:t>— implemented · in progress · remaining</a:t>
            </a:r>
            <a:endParaRPr lang="en-US" sz="2100" dirty="0"/>
          </a:p>
        </p:txBody>
      </p:sp>
      <p:sp>
        <p:nvSpPr>
          <p:cNvPr id="4" name="Text 2"/>
          <p:cNvSpPr/>
          <p:nvPr/>
        </p:nvSpPr>
        <p:spPr>
          <a:xfrm>
            <a:off x="411480" y="886968"/>
            <a:ext cx="11430000" cy="365760"/>
          </a:xfrm>
          <a:prstGeom prst="rect">
            <a:avLst/>
          </a:prstGeom>
          <a:noFill/>
          <a:ln/>
        </p:spPr>
        <p:txBody>
          <a:bodyPr wrap="square" rtlCol="0" anchor="t"/>
          <a:lstStyle/>
          <a:p>
            <a:pPr marL="0" indent="0">
              <a:buNone/>
            </a:pPr>
            <a:r>
              <a:rPr lang="en-US" sz="950" b="1" dirty="0">
                <a:solidFill>
                  <a:srgbClr val="12233A"/>
                </a:solidFill>
                <a:latin typeface="Calibri" pitchFamily="34" charset="0"/>
                <a:ea typeface="Calibri" pitchFamily="34" charset="-122"/>
                <a:cs typeface="Calibri" pitchFamily="34" charset="-120"/>
              </a:rPr>
              <a:t>The λ-sweep is the working general method. </a:t>
            </a:r>
            <a:r>
              <a:rPr lang="en-US" sz="950" dirty="0">
                <a:solidFill>
                  <a:srgbClr val="5B6B7B"/>
                </a:solidFill>
                <a:latin typeface="Calibri" pitchFamily="34" charset="0"/>
                <a:ea typeface="Calibri" pitchFamily="34" charset="-122"/>
                <a:cs typeface="Calibri" pitchFamily="34" charset="-120"/>
              </a:rPr>
              <a:t>A proposed A→D ladder would cap catchments + set a min threshold to sidestep it — but the descriptives show catchments vary so widely (p10–p90 several-fold; many pharmacies at zero) that realistic bounds are hard to set, and the ladder may not actually simplify the problem.</a:t>
            </a:r>
            <a:endParaRPr lang="en-US" sz="950" dirty="0"/>
          </a:p>
        </p:txBody>
      </p:sp>
      <p:sp>
        <p:nvSpPr>
          <p:cNvPr id="5" name="Shape 3"/>
          <p:cNvSpPr/>
          <p:nvPr/>
        </p:nvSpPr>
        <p:spPr>
          <a:xfrm>
            <a:off x="365760" y="1298448"/>
            <a:ext cx="3721608" cy="4526280"/>
          </a:xfrm>
          <a:prstGeom prst="roundRect">
            <a:avLst>
              <a:gd name="adj" fmla="val 1229"/>
            </a:avLst>
          </a:prstGeom>
          <a:solidFill>
            <a:srgbClr val="F0F6F2"/>
          </a:solidFill>
          <a:ln w="12700">
            <a:solidFill>
              <a:srgbClr val="1E7A52"/>
            </a:solidFill>
            <a:prstDash val="solid"/>
          </a:ln>
        </p:spPr>
      </p:sp>
      <p:sp>
        <p:nvSpPr>
          <p:cNvPr id="6" name="Text 4"/>
          <p:cNvSpPr/>
          <p:nvPr/>
        </p:nvSpPr>
        <p:spPr>
          <a:xfrm>
            <a:off x="530352" y="1371600"/>
            <a:ext cx="3383280" cy="274320"/>
          </a:xfrm>
          <a:prstGeom prst="rect">
            <a:avLst/>
          </a:prstGeom>
          <a:noFill/>
          <a:ln/>
        </p:spPr>
        <p:txBody>
          <a:bodyPr wrap="square" rtlCol="0" anchor="ctr"/>
          <a:lstStyle/>
          <a:p>
            <a:pPr marL="0" indent="0">
              <a:buNone/>
            </a:pPr>
            <a:r>
              <a:rPr lang="en-US" sz="1300" b="1" dirty="0">
                <a:solidFill>
                  <a:srgbClr val="1E7A52"/>
                </a:solidFill>
                <a:latin typeface="Calibri" pitchFamily="34" charset="0"/>
                <a:ea typeface="Calibri" pitchFamily="34" charset="-122"/>
                <a:cs typeface="Calibri" pitchFamily="34" charset="-120"/>
              </a:rPr>
              <a:t>Implemented ✓</a:t>
            </a:r>
            <a:endParaRPr lang="en-US" sz="1300" dirty="0"/>
          </a:p>
        </p:txBody>
      </p:sp>
      <p:sp>
        <p:nvSpPr>
          <p:cNvPr id="7" name="Text 5"/>
          <p:cNvSpPr/>
          <p:nvPr/>
        </p:nvSpPr>
        <p:spPr>
          <a:xfrm>
            <a:off x="548640" y="1700784"/>
            <a:ext cx="3401568" cy="4069080"/>
          </a:xfrm>
          <a:prstGeom prst="rect">
            <a:avLst/>
          </a:prstGeom>
          <a:noFill/>
          <a:ln/>
        </p:spPr>
        <p:txBody>
          <a:bodyPr wrap="square" rtlCol="0" anchor="t"/>
          <a:lstStyle/>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Tabula-rasa LP allocation + λ-sweep → Pareto curve of #facilities vs travel cost (Option D)</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Lewis's 3 cases live: S1 (same #, ↓travel) · S2 (same travel, ↓#) · S3 full frontier</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All 6 of Lewis's 22-May descriptive indicators, per country (deck pages 5–8)</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Catchments now by ROAD-network travel time (not Euclidean); #empty + smallest non-zero catchment reported</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Cap-ladder rungs prototyped (cost-function-free, exploratory): S1-A/B · S2-A/B — run for NL</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Recalculation done: candidates = ≥50-pop cells ∪ pharmacy cells · clients = FULL population · adapted logit (25/10) — all 42 areas re-swept, incl. Poland + its 7 NUTS-1</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Aggregated frontier over all 41 disjoint areas (exact by separability) — new page after the region pages</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LINEAR &amp; LOGISTIC travel costs both run &amp; compared</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Soft coverage (Σy ≤ 1, unserved priced at BIG on BOTH sides): FRM, ITG, SE2, DK now bracket S1 &amp; S2; baseline coverage-consistent</a:t>
            </a:r>
            <a:endParaRPr lang="en-US" sz="900" dirty="0"/>
          </a:p>
        </p:txBody>
      </p:sp>
      <p:sp>
        <p:nvSpPr>
          <p:cNvPr id="8" name="Shape 6"/>
          <p:cNvSpPr/>
          <p:nvPr/>
        </p:nvSpPr>
        <p:spPr>
          <a:xfrm>
            <a:off x="4224528" y="1298448"/>
            <a:ext cx="3721608" cy="4526280"/>
          </a:xfrm>
          <a:prstGeom prst="roundRect">
            <a:avLst>
              <a:gd name="adj" fmla="val 1229"/>
            </a:avLst>
          </a:prstGeom>
          <a:solidFill>
            <a:srgbClr val="FBF5EA"/>
          </a:solidFill>
          <a:ln w="12700">
            <a:solidFill>
              <a:srgbClr val="B9791C"/>
            </a:solidFill>
            <a:prstDash val="solid"/>
          </a:ln>
        </p:spPr>
      </p:sp>
      <p:sp>
        <p:nvSpPr>
          <p:cNvPr id="9" name="Text 7"/>
          <p:cNvSpPr/>
          <p:nvPr/>
        </p:nvSpPr>
        <p:spPr>
          <a:xfrm>
            <a:off x="4389120" y="1371600"/>
            <a:ext cx="3383280" cy="274320"/>
          </a:xfrm>
          <a:prstGeom prst="rect">
            <a:avLst/>
          </a:prstGeom>
          <a:noFill/>
          <a:ln/>
        </p:spPr>
        <p:txBody>
          <a:bodyPr wrap="square" rtlCol="0" anchor="ctr"/>
          <a:lstStyle/>
          <a:p>
            <a:pPr marL="0" indent="0">
              <a:buNone/>
            </a:pPr>
            <a:r>
              <a:rPr lang="en-US" sz="1300" b="1" dirty="0">
                <a:solidFill>
                  <a:srgbClr val="B9791C"/>
                </a:solidFill>
                <a:latin typeface="Calibri" pitchFamily="34" charset="0"/>
                <a:ea typeface="Calibri" pitchFamily="34" charset="-122"/>
                <a:cs typeface="Calibri" pitchFamily="34" charset="-120"/>
              </a:rPr>
              <a:t>In progress ◐</a:t>
            </a:r>
            <a:endParaRPr lang="en-US" sz="1300" dirty="0"/>
          </a:p>
        </p:txBody>
      </p:sp>
      <p:sp>
        <p:nvSpPr>
          <p:cNvPr id="10" name="Text 8"/>
          <p:cNvSpPr/>
          <p:nvPr/>
        </p:nvSpPr>
        <p:spPr>
          <a:xfrm>
            <a:off x="4407408" y="1700784"/>
            <a:ext cx="3401568" cy="4069080"/>
          </a:xfrm>
          <a:prstGeom prst="rect">
            <a:avLst/>
          </a:prstGeom>
          <a:noFill/>
          <a:ln/>
        </p:spPr>
        <p:txBody>
          <a:bodyPr wrap="square" rtlCol="0" anchor="t"/>
          <a:lstStyle/>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Extend Belgium &amp; FRI LINEAR sweeps past w = 0.2 (LP time limit) — the last gap: aggregate LINEAR S2</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A single 2-D status-quo→frontier distance metric (coverage-honest; stranded priced at BIG)</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Calculating better estimations for S1 and S2 (exact soft-coverage p-median MIP at p = baseline)</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Exploring (not committed): max-cap + min-threshold rungs — but the descriptives suggest realistic bounds are hard to set, so this may not pay off</a:t>
            </a:r>
            <a:endParaRPr lang="en-US" sz="900" dirty="0"/>
          </a:p>
        </p:txBody>
      </p:sp>
      <p:sp>
        <p:nvSpPr>
          <p:cNvPr id="11" name="Shape 9"/>
          <p:cNvSpPr/>
          <p:nvPr/>
        </p:nvSpPr>
        <p:spPr>
          <a:xfrm>
            <a:off x="8083296" y="1298448"/>
            <a:ext cx="3721608" cy="4526280"/>
          </a:xfrm>
          <a:prstGeom prst="roundRect">
            <a:avLst>
              <a:gd name="adj" fmla="val 1229"/>
            </a:avLst>
          </a:prstGeom>
          <a:solidFill>
            <a:srgbClr val="F2F5F8"/>
          </a:solidFill>
          <a:ln w="12700">
            <a:solidFill>
              <a:srgbClr val="5B6B7B"/>
            </a:solidFill>
            <a:prstDash val="solid"/>
          </a:ln>
        </p:spPr>
      </p:sp>
      <p:sp>
        <p:nvSpPr>
          <p:cNvPr id="12" name="Text 10"/>
          <p:cNvSpPr/>
          <p:nvPr/>
        </p:nvSpPr>
        <p:spPr>
          <a:xfrm>
            <a:off x="8247888" y="1371600"/>
            <a:ext cx="3383280" cy="274320"/>
          </a:xfrm>
          <a:prstGeom prst="rect">
            <a:avLst/>
          </a:prstGeom>
          <a:noFill/>
          <a:ln/>
        </p:spPr>
        <p:txBody>
          <a:bodyPr wrap="square" rtlCol="0" anchor="ctr"/>
          <a:lstStyle/>
          <a:p>
            <a:pPr marL="0" indent="0">
              <a:buNone/>
            </a:pPr>
            <a:r>
              <a:rPr lang="en-US" sz="1300" b="1" dirty="0">
                <a:solidFill>
                  <a:srgbClr val="5B6B7B"/>
                </a:solidFill>
                <a:latin typeface="Calibri" pitchFamily="34" charset="0"/>
                <a:ea typeface="Calibri" pitchFamily="34" charset="-122"/>
                <a:cs typeface="Calibri" pitchFamily="34" charset="-120"/>
              </a:rPr>
              <a:t>Remaining ○</a:t>
            </a:r>
            <a:endParaRPr lang="en-US" sz="1300" dirty="0"/>
          </a:p>
        </p:txBody>
      </p:sp>
      <p:sp>
        <p:nvSpPr>
          <p:cNvPr id="13" name="Text 11"/>
          <p:cNvSpPr/>
          <p:nvPr/>
        </p:nvSpPr>
        <p:spPr>
          <a:xfrm>
            <a:off x="8266176" y="1700784"/>
            <a:ext cx="3401568" cy="4069080"/>
          </a:xfrm>
          <a:prstGeom prst="rect">
            <a:avLst/>
          </a:prstGeom>
          <a:noFill/>
          <a:ln/>
        </p:spPr>
        <p:txBody>
          <a:bodyPr wrap="square" rtlCol="0" anchor="t"/>
          <a:lstStyle/>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Urban/non-urban flag → model only non-urban, hold urban fixed (options B/C)</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Settlement candidate set: verify existing ⊂ settlements, then restrict locations</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Flat-then-linear travel-cost variant; sweep logit-parameter sensitivity</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Calibrate real pharmacy a,b (schools: 99 699 + 3 277.5x); ?fixed cost vs &lt;6-y care</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Communicate λ intuitively (person-minutes / value-per-user)</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Cost-function-free S3: balance #/capita vs mean travel, widen beyond the A–B segment</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Counterfactuals: −10% pop · replace a known X% · choose which X to close (hard)</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Pharmacist-based cap (Ana); caps/thresholds pooled across countries, reported per-country</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Border-cases</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Corr catchment &amp; travel costs</a:t>
            </a:r>
            <a:endParaRPr lang="en-US" sz="900" dirty="0"/>
          </a:p>
        </p:txBody>
      </p:sp>
      <p:sp>
        <p:nvSpPr>
          <p:cNvPr id="14" name="Text 12"/>
          <p:cNvSpPr/>
          <p:nvPr/>
        </p:nvSpPr>
        <p:spPr>
          <a:xfrm>
            <a:off x="411480" y="5943600"/>
            <a:ext cx="11430000" cy="640080"/>
          </a:xfrm>
          <a:prstGeom prst="rect">
            <a:avLst/>
          </a:prstGeom>
          <a:noFill/>
          <a:ln/>
        </p:spPr>
        <p:txBody>
          <a:bodyPr wrap="square" rtlCol="0" anchor="t"/>
          <a:lstStyle/>
          <a:p>
            <a:pPr marL="0" indent="0">
              <a:buNone/>
            </a:pPr>
            <a:r>
              <a:rPr lang="en-US" sz="1000" b="1" i="1" dirty="0">
                <a:solidFill>
                  <a:srgbClr val="1C3D5A"/>
                </a:solidFill>
                <a:latin typeface="Calibri" pitchFamily="34" charset="0"/>
                <a:ea typeface="Calibri" pitchFamily="34" charset="-122"/>
                <a:cs typeface="Calibri" pitchFamily="34" charset="-120"/>
              </a:rPr>
              <a:t>Open questions for the group:  </a:t>
            </a:r>
            <a:r>
              <a:rPr lang="en-US" sz="1000" i="1" dirty="0">
                <a:solidFill>
                  <a:srgbClr val="5B6B7B"/>
                </a:solidFill>
                <a:latin typeface="Calibri" pitchFamily="34" charset="0"/>
                <a:ea typeface="Calibri" pitchFamily="34" charset="-122"/>
                <a:cs typeface="Calibri" pitchFamily="34" charset="-120"/>
              </a:rPr>
              <a:t>is the cap/threshold ladder worth pursuing given how widely catchments vary?  ·  logistic vs linear travel cost (the equity-weighting choice)?  ·  best way to communicate λ?</a:t>
            </a:r>
            <a:endParaRPr lang="en-US" sz="1000" dirty="0"/>
          </a:p>
        </p:txBody>
      </p:sp>
    </p:spTree>
    <p:extLst>
      <p:ext uri="{BB962C8B-B14F-4D97-AF65-F5344CB8AC3E}">
        <p14:creationId xmlns:p14="http://schemas.microsoft.com/office/powerpoint/2010/main" val="3758606020"/>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56032"/>
            <a:ext cx="8229600" cy="274320"/>
          </a:xfrm>
          <a:prstGeom prst="rect">
            <a:avLst/>
          </a:prstGeom>
          <a:noFill/>
          <a:ln/>
        </p:spPr>
        <p:txBody>
          <a:bodyPr wrap="square" rtlCol="0" anchor="ctr"/>
          <a:lstStyle/>
          <a:p>
            <a:pPr marL="0" indent="0">
              <a:buNone/>
            </a:pPr>
            <a:r>
              <a:rPr lang="en-US" sz="1200" b="1" kern="0" spc="200" dirty="0">
                <a:solidFill>
                  <a:srgbClr val="0B6E99"/>
                </a:solidFill>
              </a:rPr>
              <a:t>TRAVEL-COST FUNCTION</a:t>
            </a:r>
            <a:endParaRPr lang="en-US" sz="1200" dirty="0"/>
          </a:p>
        </p:txBody>
      </p:sp>
      <p:sp>
        <p:nvSpPr>
          <p:cNvPr id="3" name="Text 1"/>
          <p:cNvSpPr/>
          <p:nvPr/>
        </p:nvSpPr>
        <p:spPr>
          <a:xfrm>
            <a:off x="411480" y="493776"/>
            <a:ext cx="1143000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Logistic c(t)  </a:t>
            </a:r>
            <a:r>
              <a:rPr lang="en-US" sz="2200" dirty="0">
                <a:solidFill>
                  <a:srgbClr val="1C3D5A"/>
                </a:solidFill>
                <a:latin typeface="Georgia" pitchFamily="34" charset="0"/>
                <a:ea typeface="Georgia" pitchFamily="34" charset="-122"/>
                <a:cs typeface="Georgia" pitchFamily="34" charset="-120"/>
              </a:rPr>
              <a:t>— the adopted Lewis-tuned curve vs the previous one</a:t>
            </a:r>
            <a:endParaRPr lang="en-US" sz="2200" dirty="0"/>
          </a:p>
        </p:txBody>
      </p:sp>
      <p:pic>
        <p:nvPicPr>
          <p:cNvPr id="4" name="Image 0" descr="E:\prj\JRC\NetworkModel_EU\doc\charts\logistic_compare.png"/>
          <p:cNvPicPr>
            <a:picLocks noChangeAspect="1"/>
          </p:cNvPicPr>
          <p:nvPr/>
        </p:nvPicPr>
        <p:blipFill>
          <a:blip r:embed="rId3"/>
          <a:stretch>
            <a:fillRect/>
          </a:stretch>
        </p:blipFill>
        <p:spPr>
          <a:xfrm>
            <a:off x="320040" y="1417320"/>
            <a:ext cx="7132320" cy="3849624"/>
          </a:xfrm>
          <a:prstGeom prst="rect">
            <a:avLst/>
          </a:prstGeom>
        </p:spPr>
      </p:pic>
      <p:sp>
        <p:nvSpPr>
          <p:cNvPr id="5" name="Text 2"/>
          <p:cNvSpPr/>
          <p:nvPr/>
        </p:nvSpPr>
        <p:spPr>
          <a:xfrm>
            <a:off x="7680960" y="1463040"/>
            <a:ext cx="4206240" cy="256032"/>
          </a:xfrm>
          <a:prstGeom prst="rect">
            <a:avLst/>
          </a:prstGeom>
          <a:noFill/>
          <a:ln/>
        </p:spPr>
        <p:txBody>
          <a:bodyPr wrap="square" rtlCol="0" anchor="ctr"/>
          <a:lstStyle/>
          <a:p>
            <a:pPr marL="0" indent="0">
              <a:buNone/>
            </a:pPr>
            <a:r>
              <a:rPr lang="en-US" sz="1200" b="1" dirty="0">
                <a:solidFill>
                  <a:srgbClr val="185FA5"/>
                </a:solidFill>
                <a:latin typeface="Calibri" pitchFamily="34" charset="0"/>
                <a:ea typeface="Calibri" pitchFamily="34" charset="-122"/>
                <a:cs typeface="Calibri" pitchFamily="34" charset="-120"/>
              </a:rPr>
              <a:t>previous</a:t>
            </a:r>
            <a:r>
              <a:rPr lang="en-US" sz="1200" dirty="0">
                <a:solidFill>
                  <a:srgbClr val="5B6B7B"/>
                </a:solidFill>
                <a:latin typeface="Calibri" pitchFamily="34" charset="0"/>
                <a:ea typeface="Calibri" pitchFamily="34" charset="-122"/>
                <a:cs typeface="Calibri" pitchFamily="34" charset="-120"/>
              </a:rPr>
              <a:t>   midpoint 30 · scale 15</a:t>
            </a:r>
            <a:endParaRPr lang="en-US" sz="1200" dirty="0"/>
          </a:p>
        </p:txBody>
      </p:sp>
      <p:sp>
        <p:nvSpPr>
          <p:cNvPr id="6" name="Text 3"/>
          <p:cNvSpPr/>
          <p:nvPr/>
        </p:nvSpPr>
        <p:spPr>
          <a:xfrm>
            <a:off x="7680960" y="1755648"/>
            <a:ext cx="4206240" cy="256032"/>
          </a:xfrm>
          <a:prstGeom prst="rect">
            <a:avLst/>
          </a:prstGeom>
          <a:noFill/>
          <a:ln/>
        </p:spPr>
        <p:txBody>
          <a:bodyPr wrap="square" rtlCol="0" anchor="ctr"/>
          <a:lstStyle/>
          <a:p>
            <a:pPr marL="0" indent="0">
              <a:buNone/>
            </a:pPr>
            <a:r>
              <a:rPr lang="en-US" sz="1200" b="1" dirty="0">
                <a:solidFill>
                  <a:srgbClr val="1D9E75"/>
                </a:solidFill>
                <a:latin typeface="Calibri" pitchFamily="34" charset="0"/>
                <a:ea typeface="Calibri" pitchFamily="34" charset="-122"/>
                <a:cs typeface="Calibri" pitchFamily="34" charset="-120"/>
              </a:rPr>
              <a:t>adopted</a:t>
            </a:r>
            <a:r>
              <a:rPr lang="en-US" sz="1200" dirty="0">
                <a:solidFill>
                  <a:srgbClr val="5B6B7B"/>
                </a:solidFill>
                <a:latin typeface="Calibri" pitchFamily="34" charset="0"/>
                <a:ea typeface="Calibri" pitchFamily="34" charset="-122"/>
                <a:cs typeface="Calibri" pitchFamily="34" charset="-120"/>
              </a:rPr>
              <a:t>   midpoint 25 · scale 10</a:t>
            </a:r>
            <a:endParaRPr lang="en-US" sz="1200" dirty="0"/>
          </a:p>
        </p:txBody>
      </p:sp>
      <p:graphicFrame>
        <p:nvGraphicFramePr>
          <p:cNvPr id="57" name="Table 0"/>
          <p:cNvGraphicFramePr>
            <a:graphicFrameLocks noGrp="1"/>
          </p:cNvGraphicFramePr>
          <p:nvPr>
            <p:extLst>
              <p:ext uri="{D42A27DB-BD31-4B8C-83A1-F6EECF244321}">
                <p14:modId xmlns:p14="http://schemas.microsoft.com/office/powerpoint/2010/main" val="1579011935"/>
              </p:ext>
            </p:extLst>
          </p:nvPr>
        </p:nvGraphicFramePr>
        <p:xfrm>
          <a:off x="7680960" y="2212848"/>
          <a:ext cx="4160520" cy="914400"/>
        </p:xfrm>
        <a:graphic>
          <a:graphicData uri="http://schemas.openxmlformats.org/drawingml/2006/table">
            <a:tbl>
              <a:tblPr/>
              <a:tblGrid>
                <a:gridCol w="1325880">
                  <a:extLst>
                    <a:ext uri="{9D8B030D-6E8A-4147-A177-3AD203B41FA5}">
                      <a16:colId xmlns:a16="http://schemas.microsoft.com/office/drawing/2014/main" val="20000"/>
                    </a:ext>
                  </a:extLst>
                </a:gridCol>
                <a:gridCol w="1417320">
                  <a:extLst>
                    <a:ext uri="{9D8B030D-6E8A-4147-A177-3AD203B41FA5}">
                      <a16:colId xmlns:a16="http://schemas.microsoft.com/office/drawing/2014/main" val="20001"/>
                    </a:ext>
                  </a:extLst>
                </a:gridCol>
                <a:gridCol w="1417320">
                  <a:extLst>
                    <a:ext uri="{9D8B030D-6E8A-4147-A177-3AD203B41FA5}">
                      <a16:colId xmlns:a16="http://schemas.microsoft.com/office/drawing/2014/main" val="20002"/>
                    </a:ext>
                  </a:extLst>
                </a:gridCol>
              </a:tblGrid>
              <a:tr h="274320">
                <a:tc>
                  <a:txBody>
                    <a:bodyPr/>
                    <a:lstStyle/>
                    <a:p>
                      <a:pPr marL="0" indent="0" algn="ctr">
                        <a:buNone/>
                      </a:pPr>
                      <a:r>
                        <a:rPr lang="en-US" sz="1000" b="1" dirty="0">
                          <a:solidFill>
                            <a:srgbClr val="FFFFFF"/>
                          </a:solidFill>
                          <a:latin typeface="Calibri" pitchFamily="34" charset="0"/>
                          <a:ea typeface="Calibri" pitchFamily="34" charset="-122"/>
                          <a:cs typeface="Calibri" pitchFamily="34" charset="-120"/>
                        </a:rPr>
                        <a:t>t (min)</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1000" b="1" dirty="0">
                          <a:solidFill>
                            <a:srgbClr val="FFFFFF"/>
                          </a:solidFill>
                          <a:latin typeface="Calibri" pitchFamily="34" charset="0"/>
                          <a:ea typeface="Calibri" pitchFamily="34" charset="-122"/>
                          <a:cs typeface="Calibri" pitchFamily="34" charset="-120"/>
                        </a:rPr>
                        <a:t>previous</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1000" b="1" dirty="0">
                          <a:solidFill>
                            <a:srgbClr val="FFFFFF"/>
                          </a:solidFill>
                          <a:latin typeface="Calibri" pitchFamily="34" charset="0"/>
                          <a:ea typeface="Calibri" pitchFamily="34" charset="-122"/>
                          <a:cs typeface="Calibri" pitchFamily="34" charset="-120"/>
                        </a:rPr>
                        <a:t>adopted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0</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85FA5"/>
                          </a:solidFill>
                          <a:latin typeface="Calibri" pitchFamily="34" charset="0"/>
                          <a:ea typeface="Calibri" pitchFamily="34" charset="-122"/>
                          <a:cs typeface="Calibri" pitchFamily="34" charset="-120"/>
                        </a:rPr>
                        <a:t>0.12</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D9E75"/>
                          </a:solidFill>
                          <a:latin typeface="Calibri" pitchFamily="34" charset="0"/>
                          <a:ea typeface="Calibri" pitchFamily="34" charset="-122"/>
                          <a:cs typeface="Calibri" pitchFamily="34" charset="-120"/>
                        </a:rPr>
                        <a:t>0.08</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5</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85FA5"/>
                          </a:solidFill>
                          <a:latin typeface="Calibri" pitchFamily="34" charset="0"/>
                          <a:ea typeface="Calibri" pitchFamily="34" charset="-122"/>
                          <a:cs typeface="Calibri" pitchFamily="34" charset="-120"/>
                        </a:rPr>
                        <a:t>0.16</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D9E75"/>
                          </a:solidFill>
                          <a:latin typeface="Calibri" pitchFamily="34" charset="0"/>
                          <a:ea typeface="Calibri" pitchFamily="34" charset="-122"/>
                          <a:cs typeface="Calibri" pitchFamily="34" charset="-120"/>
                        </a:rPr>
                        <a:t>0.12</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15</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85FA5"/>
                          </a:solidFill>
                          <a:latin typeface="Calibri" pitchFamily="34" charset="0"/>
                          <a:ea typeface="Calibri" pitchFamily="34" charset="-122"/>
                          <a:cs typeface="Calibri" pitchFamily="34" charset="-120"/>
                        </a:rPr>
                        <a:t>0.27</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D9E75"/>
                          </a:solidFill>
                          <a:latin typeface="Calibri" pitchFamily="34" charset="0"/>
                          <a:ea typeface="Calibri" pitchFamily="34" charset="-122"/>
                          <a:cs typeface="Calibri" pitchFamily="34" charset="-120"/>
                        </a:rPr>
                        <a:t>0.27</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25</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85FA5"/>
                          </a:solidFill>
                          <a:latin typeface="Calibri" pitchFamily="34" charset="0"/>
                          <a:ea typeface="Calibri" pitchFamily="34" charset="-122"/>
                          <a:cs typeface="Calibri" pitchFamily="34" charset="-120"/>
                        </a:rPr>
                        <a:t>0.42</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D9E75"/>
                          </a:solidFill>
                          <a:latin typeface="Calibri" pitchFamily="34" charset="0"/>
                          <a:ea typeface="Calibri" pitchFamily="34" charset="-122"/>
                          <a:cs typeface="Calibri" pitchFamily="34" charset="-120"/>
                        </a:rPr>
                        <a:t>0.50</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274320">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30</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85FA5"/>
                          </a:solidFill>
                          <a:latin typeface="Calibri" pitchFamily="34" charset="0"/>
                          <a:ea typeface="Calibri" pitchFamily="34" charset="-122"/>
                          <a:cs typeface="Calibri" pitchFamily="34" charset="-120"/>
                        </a:rPr>
                        <a:t>0.50</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D9E75"/>
                          </a:solidFill>
                          <a:latin typeface="Calibri" pitchFamily="34" charset="0"/>
                          <a:ea typeface="Calibri" pitchFamily="34" charset="-122"/>
                          <a:cs typeface="Calibri" pitchFamily="34" charset="-120"/>
                        </a:rPr>
                        <a:t>0.62</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5"/>
                  </a:ext>
                </a:extLst>
              </a:tr>
              <a:tr h="274320">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45</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85FA5"/>
                          </a:solidFill>
                          <a:latin typeface="Calibri" pitchFamily="34" charset="0"/>
                          <a:ea typeface="Calibri" pitchFamily="34" charset="-122"/>
                          <a:cs typeface="Calibri" pitchFamily="34" charset="-120"/>
                        </a:rPr>
                        <a:t>0.73</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D9E75"/>
                          </a:solidFill>
                          <a:latin typeface="Calibri" pitchFamily="34" charset="0"/>
                          <a:ea typeface="Calibri" pitchFamily="34" charset="-122"/>
                          <a:cs typeface="Calibri" pitchFamily="34" charset="-120"/>
                        </a:rPr>
                        <a:t>0.88</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274320">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60</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85FA5"/>
                          </a:solidFill>
                          <a:latin typeface="Calibri" pitchFamily="34" charset="0"/>
                          <a:ea typeface="Calibri" pitchFamily="34" charset="-122"/>
                          <a:cs typeface="Calibri" pitchFamily="34" charset="-120"/>
                        </a:rPr>
                        <a:t>0.88</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D9E75"/>
                          </a:solidFill>
                          <a:latin typeface="Calibri" pitchFamily="34" charset="0"/>
                          <a:ea typeface="Calibri" pitchFamily="34" charset="-122"/>
                          <a:cs typeface="Calibri" pitchFamily="34" charset="-120"/>
                        </a:rPr>
                        <a:t>0.97</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7"/>
                  </a:ext>
                </a:extLst>
              </a:tr>
            </a:tbl>
          </a:graphicData>
        </a:graphic>
      </p:graphicFrame>
      <p:sp>
        <p:nvSpPr>
          <p:cNvPr id="8" name="Text 4"/>
          <p:cNvSpPr/>
          <p:nvPr/>
        </p:nvSpPr>
        <p:spPr>
          <a:xfrm>
            <a:off x="7680960" y="4297680"/>
            <a:ext cx="4206240" cy="960120"/>
          </a:xfrm>
          <a:prstGeom prst="rect">
            <a:avLst/>
          </a:prstGeom>
          <a:noFill/>
          <a:ln/>
        </p:spPr>
        <p:txBody>
          <a:bodyPr wrap="square" rtlCol="0" anchor="t"/>
          <a:lstStyle/>
          <a:p>
            <a:pPr marL="0" indent="0">
              <a:buNone/>
            </a:pPr>
            <a:r>
              <a:rPr lang="en-US" sz="1000" i="1" dirty="0">
                <a:solidFill>
                  <a:srgbClr val="12233A"/>
                </a:solidFill>
                <a:latin typeface="Calibri" pitchFamily="34" charset="0"/>
                <a:ea typeface="Calibri" pitchFamily="34" charset="-122"/>
                <a:cs typeface="Calibri" pitchFamily="34" charset="-120"/>
              </a:rPr>
              <a:t>Both cross at ≈15 min (0.27). </a:t>
            </a:r>
            <a:r>
              <a:rPr lang="en-US" sz="1000" i="1" dirty="0">
                <a:solidFill>
                  <a:srgbClr val="5B6B7B"/>
                </a:solidFill>
                <a:latin typeface="Calibri" pitchFamily="34" charset="0"/>
                <a:ea typeface="Calibri" pitchFamily="34" charset="-122"/>
                <a:cs typeface="Calibri" pitchFamily="34" charset="-120"/>
              </a:rPr>
              <a:t>The adopted curve is lower below ~10 min (ignores minor relocations) and saturates by ~45 min (caps remote weight) — Lewis's 22-May ask. Applied in the recalculation (settings.jl defaults; previous variant via LOGISTIC_MIDPOINT=30 LOGISTIC_SCALE=15).</a:t>
            </a:r>
            <a:endParaRPr lang="en-US" sz="1000" dirty="0"/>
          </a:p>
        </p:txBody>
      </p:sp>
      <p:sp>
        <p:nvSpPr>
          <p:cNvPr id="9" name="Text 5"/>
          <p:cNvSpPr/>
          <p:nvPr/>
        </p:nvSpPr>
        <p:spPr>
          <a:xfrm>
            <a:off x="411480" y="6446520"/>
            <a:ext cx="11430000"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c(t) is applied to travel time in minutes (raw OD seconds ÷ 60); LINEAR uses c(t)=t. settings.jl:82</a:t>
            </a:r>
            <a:endParaRPr lang="en-US" sz="850" dirty="0"/>
          </a:p>
        </p:txBody>
      </p:sp>
    </p:spTree>
    <p:extLst>
      <p:ext uri="{BB962C8B-B14F-4D97-AF65-F5344CB8AC3E}">
        <p14:creationId xmlns:p14="http://schemas.microsoft.com/office/powerpoint/2010/main" val="288738612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TotalTime>
  <Words>13358</Words>
  <Application>Microsoft Office PowerPoint</Application>
  <PresentationFormat>Widescreen</PresentationFormat>
  <Paragraphs>3412</Paragraphs>
  <Slides>61</Slides>
  <Notes>60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61</vt:i4>
      </vt:variant>
    </vt:vector>
  </HeadingPairs>
  <TitlesOfParts>
    <vt:vector size="66" baseType="lpstr">
      <vt:lpstr>Arial</vt:lpstr>
      <vt:lpstr>Calibri</vt:lpstr>
      <vt:lpstr>Cambria Math</vt:lpstr>
      <vt:lpstr>Georgia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lambda_sweep.jl — UFLP-LP for pharmacy locations</dc:title>
  <dc:subject>PptxGenJS Presentation</dc:subject>
  <dc:creator>Servaas Storm / Object Vision</dc:creator>
  <cp:lastModifiedBy>Maarten Hilferink</cp:lastModifiedBy>
  <cp:revision>3</cp:revision>
  <dcterms:created xsi:type="dcterms:W3CDTF">2026-06-01T08:24:25Z</dcterms:created>
  <dcterms:modified xsi:type="dcterms:W3CDTF">2026-07-16T07:09:02Z</dcterms:modified>
</cp:coreProperties>
</file>