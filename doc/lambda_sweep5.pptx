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94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5" r:id="rId32"/>
    <p:sldId id="286" r:id="rId33"/>
    <p:sldId id="287" r:id="rId34"/>
    <p:sldId id="288" r:id="rId35"/>
    <p:sldId id="289" r:id="rId36"/>
    <p:sldId id="290" r:id="rId37"/>
    <p:sldId id="291" r:id="rId38"/>
    <p:sldId id="292" r:id="rId39"/>
    <p:sldId id="293" r:id="rId4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59" d="100"/>
          <a:sy n="159" d="100"/>
        </p:scale>
        <p:origin x="1680" y="1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10051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129759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174036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437458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968781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342861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87079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28851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379803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117355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55868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938610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681916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366294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438734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792471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985112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0394215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205051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195885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721303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1839018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939221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0356328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968206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3193640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895367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5761029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4277865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7730888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9281610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2852059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5583276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396394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551759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9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1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5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7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9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1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3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5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7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9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1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3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5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7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9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1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3.png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828800"/>
            <a:ext cx="91440" cy="3200400"/>
          </a:xfrm>
          <a:prstGeom prst="rect">
            <a:avLst/>
          </a:prstGeom>
          <a:solidFill>
            <a:srgbClr val="F2B63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914400" y="182880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λ-sweep over an LP relaxation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914400" y="301752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Pareto frontiers, integrality gaps, and what the Netherlands sweep tells us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14400" y="60350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CA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lambda_sweep.jl  ·  NetworkModel_EU / ServiceAccess  ·  May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4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LAMBDA_SWEEP.JL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Scenarios and what the sweep computes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94960" cy="2286000"/>
          </a:xfrm>
          <a:prstGeom prst="rect">
            <a:avLst/>
          </a:prstGeom>
          <a:solidFill>
            <a:srgbClr val="E8EEF3"/>
          </a:solidFill>
          <a:ln w="635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91440" cy="228600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6" name="Shape 4"/>
          <p:cNvSpPr/>
          <p:nvPr/>
        </p:nvSpPr>
        <p:spPr>
          <a:xfrm>
            <a:off x="4572000" y="1737360"/>
            <a:ext cx="1188720" cy="27432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7" name="Text 5"/>
          <p:cNvSpPr/>
          <p:nvPr/>
        </p:nvSpPr>
        <p:spPr>
          <a:xfrm>
            <a:off x="4572000" y="173736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22960" y="1719072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Baseline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822960" y="214884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pharmacy network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22960" y="2514600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client → nearest existing pharmacy.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 total travel cost, mean travel time, and the count of grid cells with at least one pharmacy (target_cells).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17920" y="1554480"/>
            <a:ext cx="5394960" cy="2286000"/>
          </a:xfrm>
          <a:prstGeom prst="rect">
            <a:avLst/>
          </a:prstGeom>
          <a:solidFill>
            <a:srgbClr val="E8EEF3"/>
          </a:solidFill>
          <a:ln w="635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>
            <a:off x="6217920" y="1554480"/>
            <a:ext cx="91440" cy="228600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10241280" y="1737360"/>
            <a:ext cx="1188720" cy="27432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10241280" y="173736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 cost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492240" y="1719072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S1 — fix #facilities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6492240" y="214884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 travel time at sum_x ≈ target_cells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492240" y="2514600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 Σ wᵢ·c(tᵢⱼ)·yₖ + λ·Σⱼxⱼ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Sweep λ to land sum_x at the baseline cell count.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LP-relaxation of UFLP, strong linking yₖ ≤ x_{j(k)}.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48640" y="4114800"/>
            <a:ext cx="5394960" cy="2286000"/>
          </a:xfrm>
          <a:prstGeom prst="rect">
            <a:avLst/>
          </a:prstGeom>
          <a:solidFill>
            <a:srgbClr val="E8EEF3"/>
          </a:solidFill>
          <a:ln w="635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548640" y="4114800"/>
            <a:ext cx="91440" cy="228600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4572000" y="4297680"/>
            <a:ext cx="1188720" cy="27432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1" name="Text 19"/>
          <p:cNvSpPr/>
          <p:nvPr/>
        </p:nvSpPr>
        <p:spPr>
          <a:xfrm>
            <a:off x="4572000" y="429768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 access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822960" y="4279392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S2 — fix travel cost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822960" y="470916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 #facilities at C ≈ baseline cost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822960" y="5074920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objective, different λ target.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Closest point on sweep to the baseline travel cost; trade fewer pharmacies for the same access.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17920" y="4114800"/>
            <a:ext cx="5394960" cy="2286000"/>
          </a:xfrm>
          <a:prstGeom prst="rect">
            <a:avLst/>
          </a:prstGeom>
          <a:solidFill>
            <a:srgbClr val="E8EEF3"/>
          </a:solidFill>
          <a:ln w="635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4"/>
          <p:cNvSpPr/>
          <p:nvPr/>
        </p:nvSpPr>
        <p:spPr>
          <a:xfrm>
            <a:off x="6217920" y="4114800"/>
            <a:ext cx="91440" cy="2286000"/>
          </a:xfrm>
          <a:prstGeom prst="rect">
            <a:avLst/>
          </a:prstGeom>
          <a:solidFill>
            <a:srgbClr val="F2B63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7" name="Shape 25"/>
          <p:cNvSpPr/>
          <p:nvPr/>
        </p:nvSpPr>
        <p:spPr>
          <a:xfrm>
            <a:off x="10241280" y="4297680"/>
            <a:ext cx="1188720" cy="274320"/>
          </a:xfrm>
          <a:prstGeom prst="rect">
            <a:avLst/>
          </a:prstGeom>
          <a:solidFill>
            <a:srgbClr val="F2B63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8" name="Text 26"/>
          <p:cNvSpPr/>
          <p:nvPr/>
        </p:nvSpPr>
        <p:spPr>
          <a:xfrm>
            <a:off x="10241280" y="429768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Pareto sweep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492240" y="4279392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S3 — reduce both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6492240" y="470916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 the full Pareto frontier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6492240" y="5074920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Coarse sweep w ∈ {1e-5 … 1e3}, then fine sweep bracketing the S1 and S2 targets.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sum_x and travel cost at each λ.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4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SWEEP TRACES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Pareto frontier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competing objectives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48640" y="2011680"/>
            <a:ext cx="5303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 cost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total person-c(t), weighted by population.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Facility count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sum_x, the LP-relaxed number of opened pharmacies.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3108960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the sweep works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3520440"/>
            <a:ext cx="53035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λ gives one Pareto point (sum_x, travel_c).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λ → many cheap facilities, low travel.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λ → few expensive facilities, high travel.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and S2 are two specific points on the same curve.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full sweep traces the curve between and beyond them.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0" y="1691640"/>
            <a:ext cx="5120640" cy="4206240"/>
          </a:xfrm>
          <a:prstGeom prst="rect">
            <a:avLst/>
          </a:prstGeom>
          <a:solidFill>
            <a:srgbClr val="FFFFFF"/>
          </a:solidFill>
          <a:ln w="635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6400800" y="137160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Pareto frontier (schematic)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949440" y="2811780"/>
            <a:ext cx="4389120" cy="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6949440" y="3657600"/>
            <a:ext cx="4389120" cy="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>
            <a:off x="6949440" y="4503420"/>
            <a:ext cx="4389120" cy="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6949440" y="5349240"/>
            <a:ext cx="4389120" cy="0"/>
          </a:xfrm>
          <a:prstGeom prst="line">
            <a:avLst/>
          </a:prstGeom>
          <a:noFill/>
          <a:ln w="9525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6949440" y="1965960"/>
            <a:ext cx="0" cy="3383280"/>
          </a:xfrm>
          <a:prstGeom prst="line">
            <a:avLst/>
          </a:prstGeom>
          <a:noFill/>
          <a:ln w="9525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3"/>
          <p:cNvSpPr/>
          <p:nvPr/>
        </p:nvSpPr>
        <p:spPr>
          <a:xfrm>
            <a:off x="6949440" y="1965960"/>
            <a:ext cx="109728" cy="410450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>
            <a:off x="7059168" y="2376410"/>
            <a:ext cx="109728" cy="336647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>
            <a:off x="7168896" y="2713057"/>
            <a:ext cx="109728" cy="281107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7278624" y="2994164"/>
            <a:ext cx="109728" cy="238265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7388352" y="3232428"/>
            <a:ext cx="109728" cy="204523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7498080" y="3436951"/>
            <a:ext cx="109728" cy="177475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9"/>
          <p:cNvSpPr/>
          <p:nvPr/>
        </p:nvSpPr>
        <p:spPr>
          <a:xfrm>
            <a:off x="7607808" y="3614426"/>
            <a:ext cx="109728" cy="155459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7717536" y="3769885"/>
            <a:ext cx="109728" cy="137301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1"/>
          <p:cNvSpPr/>
          <p:nvPr/>
        </p:nvSpPr>
        <p:spPr>
          <a:xfrm>
            <a:off x="7827264" y="3907186"/>
            <a:ext cx="109728" cy="122149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2"/>
          <p:cNvSpPr/>
          <p:nvPr/>
        </p:nvSpPr>
        <p:spPr>
          <a:xfrm>
            <a:off x="7936992" y="4029335"/>
            <a:ext cx="109728" cy="109374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3"/>
          <p:cNvSpPr/>
          <p:nvPr/>
        </p:nvSpPr>
        <p:spPr>
          <a:xfrm>
            <a:off x="8046720" y="4138709"/>
            <a:ext cx="109728" cy="98503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4"/>
          <p:cNvSpPr/>
          <p:nvPr/>
        </p:nvSpPr>
        <p:spPr>
          <a:xfrm>
            <a:off x="8156448" y="4237212"/>
            <a:ext cx="109728" cy="89176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Shape 25"/>
          <p:cNvSpPr/>
          <p:nvPr/>
        </p:nvSpPr>
        <p:spPr>
          <a:xfrm>
            <a:off x="8266176" y="4326388"/>
            <a:ext cx="109728" cy="81114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Shape 26"/>
          <p:cNvSpPr/>
          <p:nvPr/>
        </p:nvSpPr>
        <p:spPr>
          <a:xfrm>
            <a:off x="8375904" y="4407502"/>
            <a:ext cx="109728" cy="74098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Shape 27"/>
          <p:cNvSpPr/>
          <p:nvPr/>
        </p:nvSpPr>
        <p:spPr>
          <a:xfrm>
            <a:off x="8485632" y="4481601"/>
            <a:ext cx="109728" cy="67955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Shape 28"/>
          <p:cNvSpPr/>
          <p:nvPr/>
        </p:nvSpPr>
        <p:spPr>
          <a:xfrm>
            <a:off x="8595360" y="4549556"/>
            <a:ext cx="109728" cy="62545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Shape 29"/>
          <p:cNvSpPr/>
          <p:nvPr/>
        </p:nvSpPr>
        <p:spPr>
          <a:xfrm>
            <a:off x="8705088" y="4612101"/>
            <a:ext cx="109728" cy="57757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Shape 30"/>
          <p:cNvSpPr/>
          <p:nvPr/>
        </p:nvSpPr>
        <p:spPr>
          <a:xfrm>
            <a:off x="8814816" y="4669857"/>
            <a:ext cx="109728" cy="53498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Shape 31"/>
          <p:cNvSpPr/>
          <p:nvPr/>
        </p:nvSpPr>
        <p:spPr>
          <a:xfrm>
            <a:off x="8924544" y="4723355"/>
            <a:ext cx="109728" cy="49693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Shape 32"/>
          <p:cNvSpPr/>
          <p:nvPr/>
        </p:nvSpPr>
        <p:spPr>
          <a:xfrm>
            <a:off x="9034272" y="4773048"/>
            <a:ext cx="109728" cy="46280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Shape 33"/>
          <p:cNvSpPr/>
          <p:nvPr/>
        </p:nvSpPr>
        <p:spPr>
          <a:xfrm>
            <a:off x="9144000" y="4819329"/>
            <a:ext cx="109728" cy="43208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6" name="Shape 34"/>
          <p:cNvSpPr/>
          <p:nvPr/>
        </p:nvSpPr>
        <p:spPr>
          <a:xfrm>
            <a:off x="9253728" y="4862536"/>
            <a:ext cx="109728" cy="40431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7" name="Shape 35"/>
          <p:cNvSpPr/>
          <p:nvPr/>
        </p:nvSpPr>
        <p:spPr>
          <a:xfrm>
            <a:off x="9363456" y="4902967"/>
            <a:ext cx="109728" cy="37914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8" name="Shape 36"/>
          <p:cNvSpPr/>
          <p:nvPr/>
        </p:nvSpPr>
        <p:spPr>
          <a:xfrm>
            <a:off x="9473184" y="4940881"/>
            <a:ext cx="109728" cy="35625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9" name="Shape 37"/>
          <p:cNvSpPr/>
          <p:nvPr/>
        </p:nvSpPr>
        <p:spPr>
          <a:xfrm>
            <a:off x="9582912" y="4976506"/>
            <a:ext cx="109728" cy="33536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0" name="Shape 38"/>
          <p:cNvSpPr/>
          <p:nvPr/>
        </p:nvSpPr>
        <p:spPr>
          <a:xfrm>
            <a:off x="9692640" y="5010042"/>
            <a:ext cx="109728" cy="31627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1" name="Shape 39"/>
          <p:cNvSpPr/>
          <p:nvPr/>
        </p:nvSpPr>
        <p:spPr>
          <a:xfrm>
            <a:off x="9802368" y="5041669"/>
            <a:ext cx="109728" cy="29876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2" name="Shape 40"/>
          <p:cNvSpPr/>
          <p:nvPr/>
        </p:nvSpPr>
        <p:spPr>
          <a:xfrm>
            <a:off x="9912096" y="5071545"/>
            <a:ext cx="109728" cy="28266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3" name="Shape 41"/>
          <p:cNvSpPr/>
          <p:nvPr/>
        </p:nvSpPr>
        <p:spPr>
          <a:xfrm>
            <a:off x="10021824" y="5099811"/>
            <a:ext cx="109728" cy="26783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4" name="Shape 42"/>
          <p:cNvSpPr/>
          <p:nvPr/>
        </p:nvSpPr>
        <p:spPr>
          <a:xfrm>
            <a:off x="10131552" y="5126594"/>
            <a:ext cx="109728" cy="25414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5" name="Shape 43"/>
          <p:cNvSpPr/>
          <p:nvPr/>
        </p:nvSpPr>
        <p:spPr>
          <a:xfrm>
            <a:off x="10241280" y="5152008"/>
            <a:ext cx="109728" cy="24147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6" name="Shape 44"/>
          <p:cNvSpPr/>
          <p:nvPr/>
        </p:nvSpPr>
        <p:spPr>
          <a:xfrm>
            <a:off x="10351008" y="5176156"/>
            <a:ext cx="109728" cy="22973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7" name="Shape 45"/>
          <p:cNvSpPr/>
          <p:nvPr/>
        </p:nvSpPr>
        <p:spPr>
          <a:xfrm>
            <a:off x="10460736" y="5199129"/>
            <a:ext cx="109728" cy="21882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8" name="Shape 46"/>
          <p:cNvSpPr/>
          <p:nvPr/>
        </p:nvSpPr>
        <p:spPr>
          <a:xfrm>
            <a:off x="10570464" y="5221011"/>
            <a:ext cx="109728" cy="20867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9" name="Shape 47"/>
          <p:cNvSpPr/>
          <p:nvPr/>
        </p:nvSpPr>
        <p:spPr>
          <a:xfrm>
            <a:off x="10680192" y="5241878"/>
            <a:ext cx="109728" cy="19921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0" name="Shape 48"/>
          <p:cNvSpPr/>
          <p:nvPr/>
        </p:nvSpPr>
        <p:spPr>
          <a:xfrm>
            <a:off x="10789920" y="5261799"/>
            <a:ext cx="109728" cy="19038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1" name="Shape 49"/>
          <p:cNvSpPr/>
          <p:nvPr/>
        </p:nvSpPr>
        <p:spPr>
          <a:xfrm>
            <a:off x="10899648" y="5280838"/>
            <a:ext cx="109728" cy="18213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2" name="Shape 50"/>
          <p:cNvSpPr/>
          <p:nvPr/>
        </p:nvSpPr>
        <p:spPr>
          <a:xfrm>
            <a:off x="11009376" y="5299051"/>
            <a:ext cx="109728" cy="17440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3" name="Shape 51"/>
          <p:cNvSpPr/>
          <p:nvPr/>
        </p:nvSpPr>
        <p:spPr>
          <a:xfrm>
            <a:off x="11119104" y="5316490"/>
            <a:ext cx="109728" cy="16715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4" name="Shape 52"/>
          <p:cNvSpPr/>
          <p:nvPr/>
        </p:nvSpPr>
        <p:spPr>
          <a:xfrm>
            <a:off x="11228832" y="5333205"/>
            <a:ext cx="109728" cy="16035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5" name="Shape 53"/>
          <p:cNvSpPr/>
          <p:nvPr/>
        </p:nvSpPr>
        <p:spPr>
          <a:xfrm>
            <a:off x="10645541" y="3665694"/>
            <a:ext cx="0" cy="1569700"/>
          </a:xfrm>
          <a:prstGeom prst="line">
            <a:avLst/>
          </a:prstGeom>
          <a:noFill/>
          <a:ln w="9525">
            <a:solidFill>
              <a:srgbClr val="64748B"/>
            </a:solidFill>
            <a:prstDash val="dash"/>
          </a:ln>
        </p:spPr>
        <p:txBody>
          <a:bodyPr/>
          <a:lstStyle/>
          <a:p>
            <a:endParaRPr lang="en-GB"/>
          </a:p>
        </p:txBody>
      </p:sp>
      <p:sp>
        <p:nvSpPr>
          <p:cNvPr id="56" name="Shape 54"/>
          <p:cNvSpPr/>
          <p:nvPr/>
        </p:nvSpPr>
        <p:spPr>
          <a:xfrm>
            <a:off x="7642459" y="3665694"/>
            <a:ext cx="3003082" cy="0"/>
          </a:xfrm>
          <a:prstGeom prst="line">
            <a:avLst/>
          </a:prstGeom>
          <a:noFill/>
          <a:ln w="9525">
            <a:solidFill>
              <a:srgbClr val="64748B"/>
            </a:solidFill>
            <a:prstDash val="dash"/>
          </a:ln>
        </p:spPr>
        <p:txBody>
          <a:bodyPr/>
          <a:lstStyle/>
          <a:p>
            <a:endParaRPr lang="en-GB"/>
          </a:p>
        </p:txBody>
      </p:sp>
      <p:sp>
        <p:nvSpPr>
          <p:cNvPr id="57" name="Shape 55"/>
          <p:cNvSpPr/>
          <p:nvPr/>
        </p:nvSpPr>
        <p:spPr>
          <a:xfrm>
            <a:off x="7532731" y="3555966"/>
            <a:ext cx="219456" cy="219456"/>
          </a:xfrm>
          <a:prstGeom prst="ellipse">
            <a:avLst/>
          </a:prstGeom>
          <a:solidFill>
            <a:srgbClr val="065A82"/>
          </a:solidFill>
          <a:ln w="9525">
            <a:solidFill>
              <a:srgbClr val="21295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8" name="Text 56"/>
          <p:cNvSpPr/>
          <p:nvPr/>
        </p:nvSpPr>
        <p:spPr>
          <a:xfrm>
            <a:off x="7185259" y="320849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10535813" y="5125666"/>
            <a:ext cx="219456" cy="219456"/>
          </a:xfrm>
          <a:prstGeom prst="ellipse">
            <a:avLst/>
          </a:prstGeom>
          <a:solidFill>
            <a:srgbClr val="065A82"/>
          </a:solidFill>
          <a:ln w="9525">
            <a:solidFill>
              <a:srgbClr val="21295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0" name="Text 58"/>
          <p:cNvSpPr/>
          <p:nvPr/>
        </p:nvSpPr>
        <p:spPr>
          <a:xfrm>
            <a:off x="10188341" y="477819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10535813" y="3555966"/>
            <a:ext cx="219456" cy="219456"/>
          </a:xfrm>
          <a:prstGeom prst="ellipse">
            <a:avLst/>
          </a:prstGeom>
          <a:solidFill>
            <a:srgbClr val="F2B632"/>
          </a:solidFill>
          <a:ln w="9525">
            <a:solidFill>
              <a:srgbClr val="21295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2" name="Text 60"/>
          <p:cNvSpPr/>
          <p:nvPr/>
        </p:nvSpPr>
        <p:spPr>
          <a:xfrm>
            <a:off x="10188341" y="320849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1100" dirty="0"/>
          </a:p>
        </p:txBody>
      </p:sp>
      <p:sp>
        <p:nvSpPr>
          <p:cNvPr id="63" name="Text 61"/>
          <p:cNvSpPr/>
          <p:nvPr/>
        </p:nvSpPr>
        <p:spPr>
          <a:xfrm>
            <a:off x="6949440" y="548640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fewer facilities     sum_x     more facilities →</a:t>
            </a:r>
            <a:endParaRPr lang="en-US" sz="1000" dirty="0"/>
          </a:p>
        </p:txBody>
      </p:sp>
      <p:sp>
        <p:nvSpPr>
          <p:cNvPr id="64" name="Text 62"/>
          <p:cNvSpPr/>
          <p:nvPr/>
        </p:nvSpPr>
        <p:spPr>
          <a:xfrm rot="16200000">
            <a:off x="6446520" y="35204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 cost</a:t>
            </a:r>
            <a:endParaRPr lang="en-US" sz="1000" dirty="0"/>
          </a:p>
        </p:txBody>
      </p:sp>
      <p:sp>
        <p:nvSpPr>
          <p:cNvPr id="65" name="Text 63"/>
          <p:cNvSpPr/>
          <p:nvPr/>
        </p:nvSpPr>
        <p:spPr>
          <a:xfrm>
            <a:off x="6217920" y="6263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strong-linking LP, sum_x is a continuous lower bound on integer facility count.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4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FRACTIONAL SUM_X IS INFORMATIVE, NOT NOISE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Integrality gap: LP can strictly beat IP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029200" cy="4754880"/>
          </a:xfrm>
          <a:prstGeom prst="rect">
            <a:avLst/>
          </a:prstGeom>
          <a:solidFill>
            <a:srgbClr val="E8EEF3"/>
          </a:solidFill>
          <a:ln w="635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 flipH="1">
            <a:off x="1717060" y="2560320"/>
            <a:ext cx="1346180" cy="233172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6" name="Shape 4"/>
          <p:cNvSpPr/>
          <p:nvPr/>
        </p:nvSpPr>
        <p:spPr>
          <a:xfrm>
            <a:off x="1717060" y="4892040"/>
            <a:ext cx="2692359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7" name="Shape 5"/>
          <p:cNvSpPr/>
          <p:nvPr/>
        </p:nvSpPr>
        <p:spPr>
          <a:xfrm flipH="1" flipV="1">
            <a:off x="3063240" y="2560320"/>
            <a:ext cx="1346180" cy="233172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8" name="Shape 6"/>
          <p:cNvSpPr/>
          <p:nvPr/>
        </p:nvSpPr>
        <p:spPr>
          <a:xfrm>
            <a:off x="2880360" y="2377440"/>
            <a:ext cx="365760" cy="365760"/>
          </a:xfrm>
          <a:prstGeom prst="ellipse">
            <a:avLst/>
          </a:prstGeom>
          <a:solidFill>
            <a:srgbClr val="065A82"/>
          </a:solidFill>
          <a:ln w="6350">
            <a:solidFill>
              <a:srgbClr val="21295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2880360" y="2377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i₃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534180" y="4709160"/>
            <a:ext cx="365760" cy="365760"/>
          </a:xfrm>
          <a:prstGeom prst="ellipse">
            <a:avLst/>
          </a:prstGeom>
          <a:solidFill>
            <a:srgbClr val="065A82"/>
          </a:solidFill>
          <a:ln w="6350">
            <a:solidFill>
              <a:srgbClr val="21295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1534180" y="4709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i₁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226540" y="4709160"/>
            <a:ext cx="365760" cy="365760"/>
          </a:xfrm>
          <a:prstGeom prst="ellipse">
            <a:avLst/>
          </a:prstGeom>
          <a:solidFill>
            <a:srgbClr val="065A82"/>
          </a:solidFill>
          <a:ln w="6350">
            <a:solidFill>
              <a:srgbClr val="21295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4226540" y="4709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i₂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2207270" y="3543300"/>
            <a:ext cx="365760" cy="365760"/>
          </a:xfrm>
          <a:prstGeom prst="rect">
            <a:avLst/>
          </a:prstGeom>
          <a:solidFill>
            <a:srgbClr val="F2B632"/>
          </a:solidFill>
          <a:ln w="6350">
            <a:solidFill>
              <a:srgbClr val="8A651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2207270" y="35433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j₂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553450" y="3543300"/>
            <a:ext cx="365760" cy="365760"/>
          </a:xfrm>
          <a:prstGeom prst="rect">
            <a:avLst/>
          </a:prstGeom>
          <a:solidFill>
            <a:srgbClr val="F2B632"/>
          </a:solidFill>
          <a:ln w="6350">
            <a:solidFill>
              <a:srgbClr val="8A651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3553450" y="35433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j₃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2880360" y="4709160"/>
            <a:ext cx="365760" cy="365760"/>
          </a:xfrm>
          <a:prstGeom prst="rect">
            <a:avLst/>
          </a:prstGeom>
          <a:solidFill>
            <a:srgbClr val="F2B632"/>
          </a:solidFill>
          <a:ln w="6350">
            <a:solidFill>
              <a:srgbClr val="8A651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2880360" y="4709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j₁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280422" y="455371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626602" y="455371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687845" y="419938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2360935" y="303352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210035" y="419938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536945" y="303352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40080" y="594360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clients · 3 candidate pharmacies · weight = 1 each · λ = 2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852160" y="155448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Best integer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5852160" y="1965960"/>
            <a:ext cx="5760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any one pharmacy:  </a:t>
            </a: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+ 1 + 3 + λ = 7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any two:  </a:t>
            </a: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+ 1 + 1 + 2λ = 7</a:t>
            </a:r>
            <a:endParaRPr lang="en-US" sz="1400" dirty="0"/>
          </a:p>
          <a:p>
            <a:pPr marL="0" indent="0">
              <a:buNone/>
            </a:pPr>
            <a:r>
              <a:rPr lang="en-US" sz="14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IP optimum = 7   (1 or 2 facilities)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5852160" y="324612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LP fractional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5852160" y="3657600"/>
            <a:ext cx="5760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</a:t>
            </a:r>
            <a:r>
              <a:rPr lang="en-US" sz="1400" b="1" dirty="0">
                <a:solidFill>
                  <a:srgbClr val="F2B6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= (½, ½, ½)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each client routes ½ + ½ to its two near pharmacies (cost 1 each).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 = 3, facility = 3 · ½ · 2 = 3</a:t>
            </a:r>
            <a:endParaRPr lang="en-US" sz="1400" dirty="0"/>
          </a:p>
          <a:p>
            <a:pPr marL="0" indent="0">
              <a:buNone/>
            </a:pPr>
            <a:r>
              <a:rPr lang="en-US" sz="14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LP optimum = </a:t>
            </a:r>
            <a:r>
              <a:rPr lang="en-US" sz="1800" b="1" i="1" dirty="0">
                <a:solidFill>
                  <a:srgbClr val="F2B6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r>
              <a:rPr lang="en-US" sz="14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(sum_x = 1.5, strictly &lt; IP = 7)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5852160" y="5212080"/>
            <a:ext cx="5760720" cy="1051560"/>
          </a:xfrm>
          <a:prstGeom prst="rect">
            <a:avLst/>
          </a:prstGeom>
          <a:solidFill>
            <a:srgbClr val="21295C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2" name="Text 30"/>
          <p:cNvSpPr/>
          <p:nvPr/>
        </p:nvSpPr>
        <p:spPr>
          <a:xfrm>
            <a:off x="6035040" y="530352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F2B6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</a:t>
            </a:r>
            <a:endParaRPr lang="en-US" sz="13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Fractional sum_x is not a solver artefact. The LP frontier is a true lower bound; geographies that resist clean integer covering show the gap.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BASELINE · RESIDENTS PER PHARMACY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Residents per pharmacy  </a:t>
            </a:r>
            <a:r>
              <a:rPr lang="en-US" sz="21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per country</a:t>
            </a:r>
            <a:endParaRPr lang="en-US" sz="21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11274552" cy="914400"/>
        </p:xfrm>
        <a:graphic>
          <a:graphicData uri="http://schemas.openxmlformats.org/drawingml/2006/table">
            <a:tbl>
              <a:tblPr/>
              <a:tblGrid>
                <a:gridCol w="1691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875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875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886968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</a:tblGrid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pharm.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residents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resid/ph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#empty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min&gt;0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Austria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7,487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9,939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24,799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Belgium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3,015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10,019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Czechia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7,166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18,348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Denmark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10,736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6,470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8,865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12,195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16,551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35,188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Estonia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2,051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4,594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20,604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France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20,698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5,436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17,502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Ireland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5,578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16,940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Italy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20,637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6,153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37,511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Latvia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16,564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Lithuania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13,729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Luxembourg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7,500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10,045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13,911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Netherlands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8,765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7,863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11,897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15,503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33,313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Norway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8,389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22,906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13,791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19,078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Portugal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6,441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19,709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Slovenia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5,152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7,598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9,964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20,521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Sweden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7,078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5,756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9,167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12,384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36,083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Catchment = residents whose nearest pharmacy BY ROAD-NETWORK travel time is this one (a cell's catchment split evenly among the pharmacies in it); p10..max = percentiles of that per-pharmacy catchment. #empty = pharmacies that are never the road-nearest for any populated cell (fully shadowed / disconnected); min&gt;0 = smallest non-zero catchment. Source: pharmacy_descriptives.csv (road OD; Lewis, 22 May).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4554482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BASELINE · RESIDENTS PER PHARMACY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Residents per pharmacy  </a:t>
            </a:r>
            <a:r>
              <a:rPr lang="en-US" sz="21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key NUTS1 regions (FR / IT / SE)</a:t>
            </a:r>
            <a:endParaRPr lang="en-US" sz="21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11274552" cy="914400"/>
        </p:xfrm>
        <a:graphic>
          <a:graphicData uri="http://schemas.openxmlformats.org/drawingml/2006/table">
            <a:tbl>
              <a:tblPr/>
              <a:tblGrid>
                <a:gridCol w="1691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875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875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886968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</a:tblGrid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pharm.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residents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resid/ph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#empty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min&gt;0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Netherlands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8,765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7,863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11,897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15,503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33,313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France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20,698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5,436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17,502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17,502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FRB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1,987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5,564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12,007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FRC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1,287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12,664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13,651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15,413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FRF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15,870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4,523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12,237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FRH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5,361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12,264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FRI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11,521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FRJ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5,221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12,011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12,834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14,737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9,154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Italy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20,637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6,153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37,511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ITC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2,815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5,933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37,511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ITF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28,136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3,187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27,919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ITH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3,999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24,740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ITI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37,870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Sweden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7,078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5,756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9,167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12,384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36,083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SE1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7,310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9,804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13,162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36,083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SE2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7,276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5,976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9,360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12,715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33,444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SE3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6,121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2,051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7,443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10,076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16,783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Catchment = residents whose nearest pharmacy BY ROAD-NETWORK travel time is this one (a cell's catchment split evenly among the pharmacies in it); p10..max = percentiles of that per-pharmacy catchment. #empty = pharmacies that are never the road-nearest for any populated cell (fully shadowed / disconnected); min&gt;0 = smallest non-zero catchment. Country rows bold, NUTS1 indented below. Source: pharmacy_descriptives.csv (road OD; Lewis, 22 May).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80940432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BASELINE · RESIDENTS PER 1 KM² LOCATION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Residents per 1 km² location  </a:t>
            </a:r>
            <a:r>
              <a:rPr lang="en-US" sz="21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per country</a:t>
            </a:r>
            <a:endParaRPr lang="en-US" sz="21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11274552" cy="914400"/>
        </p:xfrm>
        <a:graphic>
          <a:graphicData uri="http://schemas.openxmlformats.org/drawingml/2006/table">
            <a:tbl>
              <a:tblPr/>
              <a:tblGrid>
                <a:gridCol w="1691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875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875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886968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</a:tblGrid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locations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residents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resid/loc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#empty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min&gt;0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Austria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7,768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3,271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6,862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9,495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12,894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33,771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Belgium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2,279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29,568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Czechia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6,376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8,341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11,629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27,426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Denmark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10,965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6,984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10,269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14,232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19,329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35,188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Estonia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5,357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8,029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20,604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France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13,863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8,366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51,246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Ireland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5,569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7,029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10,040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28,024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Italy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12,991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10,104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44,339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Latvia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7,866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16,564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Lithuania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4,579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6,318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8,930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24,536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Luxembourg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7,302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5,184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9,574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11,596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22,601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Netherlands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10,739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10,125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13,796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17,812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34,905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Norway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6,432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5,460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8,509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12,196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26,870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7,030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5,159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9,590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26,161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Portugal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1,893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5,093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2,579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6,649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9,778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32,667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Slovenia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8,560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11,173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22,487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Sweden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9,021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11,847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17,129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36,083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location = a unique 1 km² cell with ≥1 pharmacy; catchment = residents whose nearest pharmacy cell BY ROAD is this one; p10..max = percentiles of that per-location catchment. #empty = locations that are never the road-nearest for any populated cell (fully shadowed / disconnected); min&gt;0 = smallest non-zero catchment. Source: pharmacy_descriptives.csv (road OD; Lewis, 22 May).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1636089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BASELINE · RESIDENTS PER 1 KM² LOCATION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Residents per 1 km² location  </a:t>
            </a:r>
            <a:r>
              <a:rPr lang="en-US" sz="21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key NUTS1 regions (FR / IT / SE)</a:t>
            </a:r>
            <a:endParaRPr lang="en-US" sz="2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11274552" cy="914400"/>
        </p:xfrm>
        <a:graphic>
          <a:graphicData uri="http://schemas.openxmlformats.org/drawingml/2006/table">
            <a:tbl>
              <a:tblPr/>
              <a:tblGrid>
                <a:gridCol w="1691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875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875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886968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</a:tblGrid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locations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residents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resid/loc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#empty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min&gt;0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Netherlands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10,739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10,125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13,796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17,812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34,905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France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13,863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8,366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51,246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8,470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10,190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15,712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51,246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FRB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5,133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6,834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12,007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FRC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3,308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4,570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6,491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15,552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7,804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14,911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5,598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7,548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17,786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FRF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8,020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16,534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4,008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5,573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7,446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22,395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FRH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2,533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7,174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18,734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FRI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6,466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18,820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FRJ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5,289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7,675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17,607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8,459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25,354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6,207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8,827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25,437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6,374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14,763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Italy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12,991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10,104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44,339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ITC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9,491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39,489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ITF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4,568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6,243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11,254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53,678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9,996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27,919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ITH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3,333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5,388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8,337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30,077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ITI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2,276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6,997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11,481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44,339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Sweden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9,021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11,847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17,129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36,083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SE1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10,196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5,466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9,225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13,592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19,528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38,331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SE2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9,209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2,649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8,253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12,192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16,565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35,654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SE3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5,403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8,884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12,331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25,505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</a:tbl>
          </a:graphicData>
        </a:graphic>
      </p:graphicFrame>
      <p:sp>
        <p:nvSpPr>
          <p:cNvPr id="4" name="Text 2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location = a unique 1 km² cell with ≥1 pharmacy; catchment = residents whose nearest pharmacy cell BY ROAD is this one; p10..max = percentiles of that per-location catchment. #empty = locations that are never the road-nearest for any populated cell (fully shadowed / disconnected); min&gt;0 = smallest non-zero catchment. Country rows bold, NUTS1 indented below. Source: pharmacy_descriptives.csv (road OD; Lewis, 22 May).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185885239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8A33D"/>
                </a:solidFill>
              </a:rPr>
              <a:t>PRELIMINARY · CATCHMENT-CAP LADDER (NO COST FUNCTION)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Netherlands — five rungs, capping catchments instead of a cost function  </a:t>
            </a:r>
            <a:r>
              <a:rPr lang="en-US" sz="19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S1 fix #, ↓travel · S2 ↓#, hold travel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3721608" cy="2286000"/>
          </a:xfrm>
          <a:prstGeom prst="roundRect">
            <a:avLst>
              <a:gd name="adj" fmla="val 2400"/>
            </a:avLst>
          </a:prstGeom>
          <a:solidFill>
            <a:srgbClr val="F2F5F8"/>
          </a:solidFill>
          <a:ln w="12700">
            <a:solidFill>
              <a:srgbClr val="0B6E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621792" y="1426464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6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· A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21792" y="1737360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cap · multiple per cell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21792" y="2103120"/>
            <a:ext cx="34472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B23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+13.3%</a:t>
            </a:r>
            <a:r>
              <a:rPr lang="en-US" sz="1050" dirty="0">
                <a:solidFill>
                  <a:srgbClr val="5B6B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travel vs today</a:t>
            </a:r>
            <a:endParaRPr lang="en-US" sz="2500" dirty="0"/>
          </a:p>
        </p:txBody>
      </p:sp>
      <p:sp>
        <p:nvSpPr>
          <p:cNvPr id="8" name="Text 6"/>
          <p:cNvSpPr/>
          <p:nvPr/>
        </p:nvSpPr>
        <p:spPr>
          <a:xfrm>
            <a:off x="621792" y="2679192"/>
            <a:ext cx="3447288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1,613 pharmacies · 1,593 cells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1.9% stranded · cap 35,000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61688" y="1325880"/>
            <a:ext cx="3721608" cy="2286000"/>
          </a:xfrm>
          <a:prstGeom prst="roundRect">
            <a:avLst>
              <a:gd name="adj" fmla="val 2400"/>
            </a:avLst>
          </a:prstGeom>
          <a:solidFill>
            <a:srgbClr val="F2F5F8"/>
          </a:solidFill>
          <a:ln w="12700">
            <a:solidFill>
              <a:srgbClr val="0B6E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4526280" y="1426464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6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· B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526280" y="1737360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cap · one per cell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526280" y="2103120"/>
            <a:ext cx="34472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E7A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-6.5%</a:t>
            </a:r>
            <a:r>
              <a:rPr lang="en-US" sz="1050" dirty="0">
                <a:solidFill>
                  <a:srgbClr val="5B6B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travel vs today</a:t>
            </a:r>
            <a:endParaRPr lang="en-US" sz="2500" dirty="0"/>
          </a:p>
        </p:txBody>
      </p:sp>
      <p:sp>
        <p:nvSpPr>
          <p:cNvPr id="13" name="Text 11"/>
          <p:cNvSpPr/>
          <p:nvPr/>
        </p:nvSpPr>
        <p:spPr>
          <a:xfrm>
            <a:off x="4526280" y="2679192"/>
            <a:ext cx="3447288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1,613 pharmacies · 1,613 cells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0.8% stranded · cap 35,000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8266176" y="1325880"/>
            <a:ext cx="3721608" cy="2286000"/>
          </a:xfrm>
          <a:prstGeom prst="roundRect">
            <a:avLst>
              <a:gd name="adj" fmla="val 2400"/>
            </a:avLst>
          </a:prstGeom>
          <a:solidFill>
            <a:srgbClr val="F2F5F8"/>
          </a:solidFill>
          <a:ln w="12700">
            <a:solidFill>
              <a:srgbClr val="C9D2D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8430768" y="1426464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8A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· C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430768" y="1737360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urban fixed · model the rest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8430768" y="2194560"/>
            <a:ext cx="339242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A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full-scale run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8A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57200" y="3794760"/>
            <a:ext cx="3721608" cy="2286000"/>
          </a:xfrm>
          <a:prstGeom prst="roundRect">
            <a:avLst>
              <a:gd name="adj" fmla="val 2400"/>
            </a:avLst>
          </a:prstGeom>
          <a:solidFill>
            <a:srgbClr val="F2F5F8"/>
          </a:solidFill>
          <a:ln w="12700">
            <a:solidFill>
              <a:srgbClr val="C9D2D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621792" y="3895344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8A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 · A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21792" y="4206240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 + max cap · all facilities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621792" y="4663440"/>
            <a:ext cx="339242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A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full-scale run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8A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361688" y="3794760"/>
            <a:ext cx="3721608" cy="2286000"/>
          </a:xfrm>
          <a:prstGeom prst="roundRect">
            <a:avLst>
              <a:gd name="adj" fmla="val 2400"/>
            </a:avLst>
          </a:prstGeom>
          <a:solidFill>
            <a:srgbClr val="F2F5F8"/>
          </a:solidFill>
          <a:ln w="12700">
            <a:solidFill>
              <a:srgbClr val="C9D2D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Text 21"/>
          <p:cNvSpPr/>
          <p:nvPr/>
        </p:nvSpPr>
        <p:spPr>
          <a:xfrm>
            <a:off x="4526280" y="3895344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8A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 · B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4526280" y="4206240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 + max cap · outside urban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4526280" y="4663440"/>
            <a:ext cx="339242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A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full-scale run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8A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8019288" y="3794760"/>
            <a:ext cx="37033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0B6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</a:t>
            </a:r>
            <a:r>
              <a:rPr lang="en-US" sz="11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keeps today's count, minimises travel under a max catchment cap.  </a:t>
            </a:r>
            <a:r>
              <a:rPr lang="en-US" sz="1100" b="1" dirty="0">
                <a:solidFill>
                  <a:srgbClr val="0B6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 </a:t>
            </a:r>
            <a:r>
              <a:rPr lang="en-US" sz="11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minimises the count under a min (viability) + max catchment, holding travel ≈ today.  Cost-function rung (S1-D / S2-C) = the λ-sweep that follows.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11480" y="6144768"/>
            <a:ext cx="114300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850" b="1" i="1" dirty="0">
                <a:solidFill>
                  <a:srgbClr val="B23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PRELIMINARY — INDICATIVE ONLY. </a:t>
            </a: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Full-scale ladder run incomplete; S1 (fixed-count) figures are sensitive to LP-relaxation rounding and can shift on re-run (robust multistart rounding still to be ported) — read the direction, not the exact %. LINEAR travel cost; max cap = NL observed cell-catchment max (~35k). 'stranded' = demand the cap can't serve within reach,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0283477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NETHERLANDS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Netherlands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1,613 cells · 3.44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59.8M · LOG 2.6M</a:t>
            </a:r>
            <a:endParaRPr lang="en-US" sz="1000" dirty="0"/>
          </a:p>
        </p:txBody>
      </p:sp>
      <p:pic>
        <p:nvPicPr>
          <p:cNvPr id="5" name="Image 0" descr="E:\prj\JRC\NetworkModel_EU\doc\charts\Netherlands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Netherlands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1657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1432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1548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0.00244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1453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62636718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AB8C311F-7253-4AED-9701-7FC0708C4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2384209-CB15-4CDF-9D31-C44FD9A3F2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2666617" y="-2666188"/>
            <a:ext cx="6858000" cy="12191233"/>
          </a:xfrm>
          <a:prstGeom prst="rect">
            <a:avLst/>
          </a:prstGeom>
          <a:gradFill>
            <a:gsLst>
              <a:gs pos="8000">
                <a:schemeClr val="accent1"/>
              </a:gs>
              <a:gs pos="100000">
                <a:schemeClr val="accent1">
                  <a:lumMod val="50000"/>
                </a:schemeClr>
              </a:gs>
            </a:gsLst>
            <a:lin ang="12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633B3B5-CC90-43F0-8714-D31D1F3F02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2311" y="0"/>
            <a:ext cx="9070846" cy="6857572"/>
          </a:xfrm>
          <a:prstGeom prst="rect">
            <a:avLst/>
          </a:prstGeom>
          <a:gradFill>
            <a:gsLst>
              <a:gs pos="8000">
                <a:srgbClr val="000000">
                  <a:alpha val="52000"/>
                </a:srgbClr>
              </a:gs>
              <a:gs pos="100000">
                <a:schemeClr val="accent1"/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8D57A06-A426-446D-B02C-A2DC6B62E4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3649491" y="-1685840"/>
            <a:ext cx="4894564" cy="12193546"/>
          </a:xfrm>
          <a:prstGeom prst="rect">
            <a:avLst/>
          </a:prstGeom>
          <a:gradFill>
            <a:gsLst>
              <a:gs pos="0">
                <a:schemeClr val="accent5">
                  <a:lumMod val="60000"/>
                  <a:lumOff val="40000"/>
                  <a:alpha val="0"/>
                </a:schemeClr>
              </a:gs>
              <a:gs pos="100000">
                <a:srgbClr val="000000">
                  <a:alpha val="46000"/>
                </a:srgbClr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7825B26-4E0C-84C7-DBD5-CEE4003AEB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76123"/>
            <a:ext cx="11277600" cy="49057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85635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LUXEMBOURG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Luxembourg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 cells · 3.73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2.3M · LOG 94k</a:t>
            </a:r>
            <a:endParaRPr lang="en-US" sz="1000" dirty="0"/>
          </a:p>
        </p:txBody>
      </p:sp>
      <p:pic>
        <p:nvPicPr>
          <p:cNvPr id="5" name="Image 0" descr="E:\prj\JRC\NetworkModel_EU\doc\charts\Luxembourg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Luxembourg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35323516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ESTONIA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Estonia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291 cells · 3.75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4.6M · LOG 191k</a:t>
            </a:r>
            <a:endParaRPr lang="en-US" sz="1000" dirty="0"/>
          </a:p>
        </p:txBody>
      </p:sp>
      <p:pic>
        <p:nvPicPr>
          <p:cNvPr id="5" name="Image 0" descr="E:\prj\JRC\NetworkModel_EU\doc\charts\Estonia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Estonia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0.00192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425192440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LATVIA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Latvia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496 cells · 3.17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5.6M · LOG 259k</a:t>
            </a:r>
            <a:endParaRPr lang="en-US" sz="1000" dirty="0"/>
          </a:p>
        </p:txBody>
      </p:sp>
      <p:pic>
        <p:nvPicPr>
          <p:cNvPr id="5" name="Image 0" descr="E:\prj\JRC\NetworkModel_EU\doc\charts\Latvia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Latvia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0.00119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92741551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SLOVENIA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Slovenia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306 cells · 5.45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11.2M · LOG 346k</a:t>
            </a:r>
            <a:endParaRPr lang="en-US" sz="1000" dirty="0"/>
          </a:p>
        </p:txBody>
      </p:sp>
      <p:pic>
        <p:nvPicPr>
          <p:cNvPr id="5" name="Image 0" descr="E:\prj\JRC\NetworkModel_EU\doc\charts\Slovenia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Slovenia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14085820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Île-de-France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1,447 cells · 1.03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12.6M · LOG 1.6M</a:t>
            </a:r>
            <a:endParaRPr lang="en-US" sz="1000" dirty="0"/>
          </a:p>
        </p:txBody>
      </p:sp>
      <p:pic>
        <p:nvPicPr>
          <p:cNvPr id="5" name="Image 0" descr="E:\prj\JRC\NetworkModel_EU\doc\charts\FR1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1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1379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1273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1458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19066667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FRB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Centre-Val de Loire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613 cells · 4.13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10.2M · LOG 384k</a:t>
            </a:r>
            <a:endParaRPr lang="en-US" sz="1000" dirty="0"/>
          </a:p>
        </p:txBody>
      </p:sp>
      <p:pic>
        <p:nvPicPr>
          <p:cNvPr id="5" name="Image 0" descr="E:\prj\JRC\NetworkModel_EU\doc\charts\FRB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B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0.00119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36326250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FRC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Bourgogne-Franche-Comté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723 cells · 4.56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12.3M · LOG 429k</a:t>
            </a:r>
            <a:endParaRPr lang="en-US" sz="1000" dirty="0"/>
          </a:p>
        </p:txBody>
      </p:sp>
      <p:pic>
        <p:nvPicPr>
          <p:cNvPr id="5" name="Image 0" descr="E:\prj\JRC\NetworkModel_EU\doc\charts\FRC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C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55483134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Normandie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679 cells · 4.21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13.6M · LOG 500k</a:t>
            </a:r>
            <a:endParaRPr lang="en-US" sz="1000" dirty="0"/>
          </a:p>
        </p:txBody>
      </p:sp>
      <p:pic>
        <p:nvPicPr>
          <p:cNvPr id="5" name="Image 0" descr="E:\prj\JRC\NetworkModel_EU\doc\charts\FRD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D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96871090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Hauts-de-France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1,332 cells · 2.88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17.1M · LOG 852k</a:t>
            </a:r>
            <a:endParaRPr lang="en-US" sz="1000" dirty="0"/>
          </a:p>
        </p:txBody>
      </p:sp>
      <p:pic>
        <p:nvPicPr>
          <p:cNvPr id="5" name="Image 0" descr="E:\prj\JRC\NetworkModel_EU\doc\charts\FRE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E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1291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0.000823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0.000823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81078478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FRF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Grand Est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1,167 cells · 3.77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20.7M · LOG 832k</a:t>
            </a:r>
            <a:endParaRPr lang="en-US" sz="1000" dirty="0"/>
          </a:p>
        </p:txBody>
      </p:sp>
      <p:pic>
        <p:nvPicPr>
          <p:cNvPr id="5" name="Image 0" descr="E:\prj\JRC\NetworkModel_EU\doc\charts\FRF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F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1275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1169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39191543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Pays de la Loire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848 cells · 3.97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15.0M · LOG 578k</a:t>
            </a:r>
            <a:endParaRPr lang="en-US" sz="1000" dirty="0"/>
          </a:p>
        </p:txBody>
      </p:sp>
      <p:pic>
        <p:nvPicPr>
          <p:cNvPr id="5" name="Image 0" descr="E:\prj\JRC\NetworkModel_EU\doc\charts\FRG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G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46624294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FRH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Bretagne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793 cells · 4.23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13.9M · LOG 508k</a:t>
            </a:r>
            <a:endParaRPr lang="en-US" sz="1000" dirty="0"/>
          </a:p>
        </p:txBody>
      </p:sp>
      <p:pic>
        <p:nvPicPr>
          <p:cNvPr id="5" name="Image 0" descr="E:\prj\JRC\NetworkModel_EU\doc\charts\FRH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H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9430609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Nouvelle-Aquitaine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1,583 cells · 4.30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24.9M · LOG 906k</a:t>
            </a:r>
            <a:endParaRPr lang="en-US" sz="1000" dirty="0"/>
          </a:p>
        </p:txBody>
      </p:sp>
      <p:pic>
        <p:nvPicPr>
          <p:cNvPr id="5" name="Image 0" descr="E:\prj\JRC\NetworkModel_EU\doc\charts\FRI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I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0.0958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1576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1165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+18%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0.0927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1608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0.000841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1578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0.000841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1578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83293620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FRJ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Occitanie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1,424 cells · 3.63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21.0M · LOG 870k</a:t>
            </a:r>
            <a:endParaRPr lang="en-US" sz="1000" dirty="0"/>
          </a:p>
        </p:txBody>
      </p:sp>
      <p:pic>
        <p:nvPicPr>
          <p:cNvPr id="5" name="Image 0" descr="E:\prj\JRC\NetworkModel_EU\doc\charts\FRJ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J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1285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1269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84471516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Auvergne-Rhône-Alpes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1,683 cells · 3.46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27.5M · LOG 1.2M</a:t>
            </a:r>
            <a:endParaRPr lang="en-US" sz="1000" dirty="0"/>
          </a:p>
        </p:txBody>
      </p:sp>
      <p:pic>
        <p:nvPicPr>
          <p:cNvPr id="5" name="Image 0" descr="E:\prj\JRC\NetworkModel_EU\doc\charts\FRK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K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1670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1604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0.000917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1689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0.000989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1619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87624786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Provence-Alpes-Côte d'Azur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1,021 cells · 2.51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12.5M · LOG 702k</a:t>
            </a:r>
            <a:endParaRPr lang="en-US" sz="1000" dirty="0"/>
          </a:p>
        </p:txBody>
      </p:sp>
      <p:pic>
        <p:nvPicPr>
          <p:cNvPr id="5" name="Image 0" descr="E:\prj\JRC\NetworkModel_EU\doc\charts\FRL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L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3791825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Corse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87 cells · 4.59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1.5M · LOG 51k</a:t>
            </a:r>
            <a:endParaRPr lang="en-US" sz="1000" dirty="0"/>
          </a:p>
        </p:txBody>
      </p:sp>
      <p:pic>
        <p:nvPicPr>
          <p:cNvPr id="5" name="Image 0" descr="E:\prj\JRC\NetworkModel_EU\doc\charts\FRM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M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0.00168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59101566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ITALY · ITC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Nord-Ovest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3,652 cells · 2.55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40.1M · LOG 2.2M</a:t>
            </a:r>
            <a:endParaRPr lang="en-US" sz="1000" dirty="0"/>
          </a:p>
        </p:txBody>
      </p:sp>
      <p:pic>
        <p:nvPicPr>
          <p:cNvPr id="5" name="Image 0" descr="E:\prj\JRC\NetworkModel_EU\doc\charts\ITC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ITC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2981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2136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42525483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ITALY · ITF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Sud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2,841 cells · 3.19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42.0M · LOG 1.9M</a:t>
            </a:r>
            <a:endParaRPr lang="en-US" sz="1000" dirty="0"/>
          </a:p>
        </p:txBody>
      </p:sp>
      <p:pic>
        <p:nvPicPr>
          <p:cNvPr id="5" name="Image 0" descr="E:\prj\JRC\NetworkModel_EU\doc\charts\ITF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ITF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1617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2407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1583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99517062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ITALY · ITG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Isole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1,181 cells · 2.73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14.6M · LOG 766k</a:t>
            </a:r>
            <a:endParaRPr lang="en-US" sz="1000" dirty="0"/>
          </a:p>
        </p:txBody>
      </p:sp>
      <p:pic>
        <p:nvPicPr>
          <p:cNvPr id="5" name="Image 0" descr="E:\prj\JRC\NetworkModel_EU\doc\charts\ITG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ITG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3693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3787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4484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0.000251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46104481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ITALY · ITH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Nord-Est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2,722 cells · 3.58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40.7M · LOG 1.7M</a:t>
            </a:r>
            <a:endParaRPr lang="en-US" sz="1000" dirty="0"/>
          </a:p>
        </p:txBody>
      </p:sp>
      <p:pic>
        <p:nvPicPr>
          <p:cNvPr id="5" name="Image 0" descr="E:\prj\JRC\NetworkModel_EU\doc\charts\ITH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ITH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1728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2173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1739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24167802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ITALY · ITI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Centro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2,242 cells · 3.47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40.0M · LOG 1.7M</a:t>
            </a:r>
            <a:endParaRPr lang="en-US" sz="1000" dirty="0"/>
          </a:p>
        </p:txBody>
      </p:sp>
      <p:pic>
        <p:nvPicPr>
          <p:cNvPr id="5" name="Image 0" descr="E:\prj\JRC\NetworkModel_EU\doc\charts\ITI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ITI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2272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2077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0.00192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72040697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SWEDEN · SE1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Östra Sverige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385 cells · 5.01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19.9M · LOG 659k</a:t>
            </a:r>
            <a:endParaRPr lang="en-US" sz="1000" dirty="0"/>
          </a:p>
        </p:txBody>
      </p:sp>
      <p:pic>
        <p:nvPicPr>
          <p:cNvPr id="5" name="Image 0" descr="E:\prj\JRC\NetworkModel_EU\doc\charts\SE1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SE1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0.00316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0.00415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28172775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SWEDEN · SE2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Södra Sverige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451 cells · 6.70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28.0M · LOG 765k</a:t>
            </a:r>
            <a:endParaRPr lang="en-US" sz="1000" dirty="0"/>
          </a:p>
        </p:txBody>
      </p:sp>
      <p:pic>
        <p:nvPicPr>
          <p:cNvPr id="5" name="Image 0" descr="E:\prj\JRC\NetworkModel_EU\doc\charts\SE2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SE2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1187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1034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2517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10525045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SWEDEN · SE3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Norra Sverige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246 cells · 8.14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13.1M · LOG 323k</a:t>
            </a:r>
            <a:endParaRPr lang="en-US" sz="1000" dirty="0"/>
          </a:p>
        </p:txBody>
      </p:sp>
      <p:pic>
        <p:nvPicPr>
          <p:cNvPr id="5" name="Image 0" descr="E:\prj\JRC\NetworkModel_EU\doc\charts\SE3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SE3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0.00707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85885148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8A33D"/>
                </a:solidFill>
              </a:rPr>
              <a:t>LINEAR vs LOGISTIC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multistart tracks the LP-relax lower bound — the gap is tightest under LOGISTIC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5486400" cy="1234440"/>
          </a:xfrm>
          <a:prstGeom prst="roundRect">
            <a:avLst>
              <a:gd name="adj" fmla="val 4444"/>
            </a:avLst>
          </a:prstGeom>
          <a:solidFill>
            <a:srgbClr val="1B3350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481328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 c(t) — unbounded, stranding expensive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85800" y="1755648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multistart sits +0–18% over the LP bound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685800" y="2194560"/>
            <a:ext cx="5074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7D2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integer rounding costs more where stranding is dear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245352" y="1371600"/>
            <a:ext cx="5486400" cy="1234440"/>
          </a:xfrm>
          <a:prstGeom prst="roundRect">
            <a:avLst>
              <a:gd name="adj" fmla="val 4444"/>
            </a:avLst>
          </a:prstGeom>
          <a:solidFill>
            <a:srgbClr val="1B3350"/>
          </a:solidFill>
          <a:ln w="12700">
            <a:solidFill>
              <a:srgbClr val="0B6E9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73952" y="1481328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6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  c(t) — saturates ≈1, stranding cheap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73952" y="1755648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multistart sits +0–4.7% over the LP bound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6473952" y="2194560"/>
            <a:ext cx="5074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7D2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rounding is nearly free; the frontier is almost integral</a:t>
            </a:r>
            <a:endParaRPr lang="en-US" sz="105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200400"/>
          <a:ext cx="5513832" cy="914400"/>
        </p:xfrm>
        <a:graphic>
          <a:graphicData uri="http://schemas.openxmlformats.org/drawingml/2006/table">
            <a:tbl>
              <a:tblPr/>
              <a:tblGrid>
                <a:gridCol w="868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 S1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 S2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 S1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 S2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Netherlands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(195)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+12% (546)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 (310)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(685)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Luxembourg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Estonia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(22)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Latvia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Slovenia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(62)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(4)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(82)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(42)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(395)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(38)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 (271)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 (189)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 (722)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(218)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 (567)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 (656)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+10% (746)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 (873)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 (659)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+8% (391)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+12% (555)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 (633)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 (633)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FRF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(9)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(171)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(32)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(161)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 (167)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 (377)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(224)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 (372)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FRH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 (174)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(26)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 (269)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graphicFrame>
        <p:nvGraphicFramePr>
          <p:cNvPr id="6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0" y="3200400"/>
          <a:ext cx="5513832" cy="914400"/>
        </p:xfrm>
        <a:graphic>
          <a:graphicData uri="http://schemas.openxmlformats.org/drawingml/2006/table">
            <a:tbl>
              <a:tblPr/>
              <a:tblGrid>
                <a:gridCol w="868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 S1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 S2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 S1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 S2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+18% (1233)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+17% (1210)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(939)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(939)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FRJ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(256)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+7% (576)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 (455)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 (550)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 (263)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 (776)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 (306)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 (500)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 (94)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(28)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ITF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+10% (311)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(136)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 (53)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(11)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ITH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+7% (107)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(146)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 (242)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(8)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 (255)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(14)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(225)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 (337)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+17% (1187)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 (503)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+15% (2517)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(679)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 (76)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(45)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(112)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sp>
        <p:nvSpPr>
          <p:cNvPr id="14" name="Text 10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9FB0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cell = multistart travel above the LP-relax bound  (multistart clients stranded by rounding, priced at c(t_max)).  Sparse Swedish regions keep the largest bound-gaps.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409792841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5603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ROADMAP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93776"/>
            <a:ext cx="11430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Status against Lewis's &amp; Bernhard's framing  </a:t>
            </a:r>
            <a:r>
              <a:rPr lang="en-US" sz="21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implemented · in progress · remaining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411480" y="886968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λ-sweep is the working general method. </a:t>
            </a:r>
            <a:r>
              <a:rPr lang="en-US" sz="9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proposed A→D ladder would cap catchments + set a min threshold to sidestep it — but the descriptives show catchments vary so widely (p10–p90 several-fold; many pharmacies at zero) that realistic bounds are hard to set, and the ladder may not actually simplify the problem.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365760" y="1298448"/>
            <a:ext cx="3721608" cy="4526280"/>
          </a:xfrm>
          <a:prstGeom prst="roundRect">
            <a:avLst>
              <a:gd name="adj" fmla="val 1229"/>
            </a:avLst>
          </a:prstGeom>
          <a:solidFill>
            <a:srgbClr val="F0F6F2"/>
          </a:solidFill>
          <a:ln w="12700">
            <a:solidFill>
              <a:srgbClr val="1E7A5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30352" y="137160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7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Implemented ✓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1700784"/>
            <a:ext cx="3401568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Tabula-rasa LP allocation + λ-sweep → Pareto curve of #facilities vs travel cost (Option D)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Lewis's 3 cases live: S1 (same #, ↓travel) · S2 (same travel, ↓#) · S3 full frontier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6 of Lewis's 22-May descriptive indicators, per country (deck pages 5–8)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Catchments now by ROAD-network travel time (not Euclidean); #empty + smallest non-zero catchment reported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Cap-ladder rungs prototyped (cost-function-free, exploratory): S1-A/B · S2-A/B — run for NL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&amp; LOGISTIC travel costs both run &amp; compared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Coverage: 17 countries + per-NUTS-1 (FR/IT/SE); inhabited-cell candidates, pharmacies merged per cell (1 992→1 617 NL)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224528" y="1298448"/>
            <a:ext cx="3721608" cy="4526280"/>
          </a:xfrm>
          <a:prstGeom prst="roundRect">
            <a:avLst>
              <a:gd name="adj" fmla="val 1229"/>
            </a:avLst>
          </a:prstGeom>
          <a:solidFill>
            <a:srgbClr val="FBF5EA"/>
          </a:solidFill>
          <a:ln w="12700">
            <a:solidFill>
              <a:srgbClr val="B9791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389120" y="137160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B979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progress ◐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407408" y="1700784"/>
            <a:ext cx="3401568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Sweeping the 13 newly-available countries (small→large) — networks + OD now prepped per country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per-NUTS-1 λ-sweeps for the large countries (FR / IT / PL)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Investigate and fix sweeps for FRM, ITG, SE2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 and apply adapted logit function (see next page)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baseline_metrics: it drops un-reachable clients (ITG ≈14% of pop) while the sweep prices them at c(t_max) — make consistent before any distance-to-Pareto metric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2-D status-quo→frontier distance metric (coverage-honest; stranded priced at c(t_max))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Exploring (not committed): max-cap + min-threshold rungs — but the descriptives suggest realistic bounds are hard to set, so this may not pay off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8083296" y="1298448"/>
            <a:ext cx="3721608" cy="4526280"/>
          </a:xfrm>
          <a:prstGeom prst="roundRect">
            <a:avLst>
              <a:gd name="adj" fmla="val 1229"/>
            </a:avLst>
          </a:prstGeom>
          <a:solidFill>
            <a:srgbClr val="F2F5F8"/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47888" y="137160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Remaining ○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266176" y="1700784"/>
            <a:ext cx="3401568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Urban/non-urban flag → model only non-urban, hold urban fixed (options B/C)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Settlement candidate set: verify existing ⊂ settlements, then restrict locations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Retune logistic to Lewis's ~5 &amp; ~45-min kinks; add flat-then-linear; sweep sensitivity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Calibrate real pharmacy a,b (schools: 99 699 + 3 277.5x); ?fixed cost vs &lt;6-y care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Communicate λ intuitively (person-minutes / value-per-user)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Cost-function-free S3: balance #/capita vs mean travel, widen beyond the A–B segment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 Pareto frontier per country (combine the regional sweeps)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Counterfactuals: −10% pop · replace a known X% · choose which X to close (hard)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Pharmacist-based cap (Ana); caps/thresholds pooled across countries, reported per-country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11480" y="594360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b="1" i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questions for the group:  </a:t>
            </a:r>
            <a:r>
              <a:rPr lang="en-US" sz="10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cap/threshold ladder worth pursuing given how widely catchments vary?  ·  logistic vs linear travel cost (the equity-weighting choice)?  ·  best way to communicate λ?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311595736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5603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TRAVEL-COST FUNCTION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93776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Logistic c(t)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current vs a Lewis-tuned alternative</a:t>
            </a:r>
            <a:endParaRPr lang="en-US" sz="2200" dirty="0"/>
          </a:p>
        </p:txBody>
      </p:sp>
      <p:pic>
        <p:nvPicPr>
          <p:cNvPr id="4" name="Image 0" descr="E:\prj\JRC\NetworkModel_EU\doc\charts\logistic_compa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1417320"/>
            <a:ext cx="7132320" cy="384962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680960" y="1463040"/>
            <a:ext cx="4206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85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</a:t>
            </a:r>
            <a:r>
              <a:rPr lang="en-US" sz="12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midpoint 30 · scale 15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7680960" y="1755648"/>
            <a:ext cx="4206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D9E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alternative</a:t>
            </a:r>
            <a:r>
              <a:rPr lang="en-US" sz="12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midpoint 25 · scale 10</a:t>
            </a:r>
            <a:endParaRPr lang="en-US" sz="12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80960" y="2212848"/>
          <a:ext cx="4160520" cy="9144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 (min)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alternative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85F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D9E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85F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D9E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85F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D9E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85F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D9E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85F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D9E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85F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D9E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85F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D9E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7680960" y="429768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cross at ≈15 min (0.27). </a:t>
            </a:r>
            <a:r>
              <a:rPr lang="en-US" sz="10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alternative is lower below ~10 min (ignores minor relocations) and saturates by ~45 min (caps remote weight) — closer to Lewis's 22-May ask. Not yet swept; see roadmap.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411480" y="6446520"/>
            <a:ext cx="11430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c(t) is applied to travel time in minutes (raw OD seconds ÷ 60); LINEAR uses c(t)=t. settings.jl:82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70004627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7299</Words>
  <Application>Microsoft Office PowerPoint</Application>
  <PresentationFormat>Widescreen</PresentationFormat>
  <Paragraphs>2347</Paragraphs>
  <Slides>39</Slides>
  <Notes>38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3" baseType="lpstr">
      <vt:lpstr>Arial</vt:lpstr>
      <vt:lpstr>Calibri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lambda_sweep.jl — UFLP-LP for pharmacy locations</dc:title>
  <dc:subject>PptxGenJS Presentation</dc:subject>
  <dc:creator>Servaas Storm / Object Vision</dc:creator>
  <cp:lastModifiedBy>Maarten Hilferink</cp:lastModifiedBy>
  <cp:revision>3</cp:revision>
  <dcterms:created xsi:type="dcterms:W3CDTF">2026-06-01T08:24:25Z</dcterms:created>
  <dcterms:modified xsi:type="dcterms:W3CDTF">2026-06-23T10:37:31Z</dcterms:modified>
</cp:coreProperties>
</file>