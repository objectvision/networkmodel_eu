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9"/>
  </p:notesMasterIdLst>
  <p:sldIdLst>
    <p:sldId id="256" r:id="rId2"/>
    <p:sldId id="260" r:id="rId3"/>
    <p:sldId id="261" r:id="rId4"/>
    <p:sldId id="257" r:id="rId5"/>
    <p:sldId id="258" r:id="rId6"/>
    <p:sldId id="262" r:id="rId7"/>
    <p:sldId id="259" r:id="rId8"/>
    <p:sldId id="263" r:id="rId9"/>
    <p:sldId id="264" r:id="rId10"/>
    <p:sldId id="265" r:id="rId11"/>
    <p:sldId id="266" r:id="rId12"/>
    <p:sldId id="267" r:id="rId13"/>
    <p:sldId id="268" r:id="rId14"/>
    <p:sldId id="316"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7" r:id="rId63"/>
    <p:sldId id="318" r:id="rId64"/>
    <p:sldId id="319" r:id="rId65"/>
    <p:sldId id="320" r:id="rId66"/>
    <p:sldId id="321" r:id="rId67"/>
    <p:sldId id="322" r:id="rId6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9999777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8906874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5216792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9386506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42586255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1659909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6186038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9920822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137786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0842580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4545621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9186631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193521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6450057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2031045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1048178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0099831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2763610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10916068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6124134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37411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8409769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6207900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5230105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42602990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5363947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84479356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1680431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4555338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48731601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8235445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24644282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31266872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23840609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23875262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4963787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2518874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7895512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7011302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30894202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322703552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29078661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58895506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5298476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340699627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25722213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78159365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368176818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7809398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401074031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351080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360624883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5376243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288107394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8253537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9445945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92864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4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42785955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c(tᵢⱼ)·yᵢⱼ  +  BIG·(1 − Σⱼ yᵢⱼ) ]   +   λ · Σⱼ xⱼ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yᵢⱼ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yᵢⱼ  ≤  xⱼ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xⱼ ∈ {0,1}</a:t>
            </a:r>
            <a:r>
              <a:rPr lang="en-US" sz="1500" dirty="0">
                <a:solidFill>
                  <a:srgbClr val="FFD9A0"/>
                </a:solidFill>
                <a:latin typeface="Cambria Math" pitchFamily="34" charset="0"/>
                <a:ea typeface="Cambria Math" pitchFamily="34" charset="-122"/>
                <a:cs typeface="Cambria Math" pitchFamily="34" charset="-120"/>
              </a:rPr>
              <a:t>  →  relaxed to  0 ≤ xⱼ ≤ 1,   yᵢⱼ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yᵢⱼ,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Clients unreachable within t_max (islands / sparse interior, e.g. ITG) are now priced at BIG on BOTH sides — stranded in the baseline, optionally stranded in the LP — so ★ and frontier are directly comparable.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xⱼ ∈ {0,1} this is the (NP-hard) uncapacitated facility-location problem, in its strong disaggregated formulation — one yᵢⱼ ≤ xⱼ per OD pair — whose LP relaxation is known to be nearly integral, which the sweeps confirm (frac_x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xⱼ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3439185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xⱼ*)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1936801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4"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7949067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103813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11848569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769604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5393092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861316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17786759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38150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47280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720878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615568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380308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672709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286267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469422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120359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8.56 min mean · </a:t>
            </a:r>
            <a:r>
              <a:rPr lang="en-US" sz="1000" dirty="0">
                <a:solidFill>
                  <a:srgbClr val="5B6B7B"/>
                </a:solidFill>
                <a:latin typeface="Calibri" pitchFamily="34" charset="0"/>
                <a:ea typeface="Calibri" pitchFamily="34" charset="-122"/>
                <a:cs typeface="Calibri" pitchFamily="34" charset="-120"/>
              </a:rPr>
              <a:t>travel (stranded at BIG)  LIN 88.1M · LOG 1.5M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945265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691326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23833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067125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885709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731441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270116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14061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59533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2142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389559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958676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238799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71660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15549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325931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576298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441108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44132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884 cells · 22.30 min mean · </a:t>
            </a:r>
            <a:r>
              <a:rPr lang="en-US" sz="1000" dirty="0">
                <a:solidFill>
                  <a:srgbClr val="5B6B7B"/>
                </a:solidFill>
                <a:latin typeface="Calibri" pitchFamily="34" charset="0"/>
                <a:ea typeface="Calibri" pitchFamily="34" charset="-122"/>
                <a:cs typeface="Calibri" pitchFamily="34" charset="-120"/>
              </a:rPr>
              <a:t>travel (stranded at BIG)  LIN 139M · LOG 1.6M</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288254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04172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262902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984383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8.05 min mean · </a:t>
            </a:r>
            <a:r>
              <a:rPr lang="en-US" sz="1000" dirty="0">
                <a:solidFill>
                  <a:srgbClr val="5B6B7B"/>
                </a:solidFill>
                <a:latin typeface="Calibri" pitchFamily="34" charset="0"/>
                <a:ea typeface="Calibri" pitchFamily="34" charset="-122"/>
                <a:cs typeface="Calibri" pitchFamily="34" charset="-120"/>
              </a:rPr>
              <a:t>travel (stranded at BIG)  LIN 35.4M · LOG 747k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154657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9.46 min mean · </a:t>
            </a:r>
            <a:r>
              <a:rPr lang="en-US" sz="1000" dirty="0">
                <a:solidFill>
                  <a:srgbClr val="5B6B7B"/>
                </a:solidFill>
                <a:latin typeface="Calibri" pitchFamily="34" charset="0"/>
                <a:ea typeface="Calibri" pitchFamily="34" charset="-122"/>
                <a:cs typeface="Calibri" pitchFamily="34" charset="-120"/>
              </a:rPr>
              <a:t>travel (stranded at BIG)  LIN 16.4M · LOG 350k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273522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394292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716352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8911754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86884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275201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14.56 min mean · </a:t>
            </a:r>
            <a:r>
              <a:rPr lang="en-US" sz="1000" dirty="0">
                <a:solidFill>
                  <a:srgbClr val="5B6B7B"/>
                </a:solidFill>
                <a:latin typeface="Calibri" pitchFamily="34" charset="0"/>
                <a:ea typeface="Calibri" pitchFamily="34" charset="-122"/>
                <a:cs typeface="Calibri" pitchFamily="34" charset="-120"/>
              </a:rPr>
              <a:t>travel (stranded at BIG)  LIN 71.7M · LOG 983k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381360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507859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43,313 pharmacy cells · </a:t>
            </a:r>
            <a:r>
              <a:rPr lang="en-US" sz="1000" dirty="0">
                <a:solidFill>
                  <a:srgbClr val="5B6B7B"/>
                </a:solidFill>
                <a:latin typeface="Calibri" pitchFamily="34" charset="0"/>
                <a:ea typeface="Calibri" pitchFamily="34" charset="-122"/>
                <a:cs typeface="Calibri" pitchFamily="34" charset="-120"/>
              </a:rPr>
              <a:t>travel  LIN 1245M · LOG 31.9M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43,783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33,059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445,178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44,158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0.00355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24,420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11,180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195,299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(32 points; an area without that exact λ is log-interpolated between its adjacent sweep points — the λ-table rule). S2 not bracketed: the aggregate baseline (★) lies outside the common λ range, which is capped by the slowest regions' sweep limits (LINEAR: Belgium &amp; FRI time out above w = 0.2) — extending those two sweeps closes it; final frontier segment to follow.</a:t>
            </a:r>
            <a:endParaRPr lang="en-US" sz="850" dirty="0"/>
          </a:p>
        </p:txBody>
      </p:sp>
    </p:spTree>
    <p:extLst>
      <p:ext uri="{BB962C8B-B14F-4D97-AF65-F5344CB8AC3E}">
        <p14:creationId xmlns:p14="http://schemas.microsoft.com/office/powerpoint/2010/main" val="7869704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25,531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33,902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14,565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20,893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24,343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38,823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18,588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30,277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526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15,064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22,879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23477787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9,280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31,824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70,747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276,192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22,482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16,612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32,376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45,031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703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34,174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63,973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53,080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24,054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17899796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(351)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+16% (1308)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+7% (1265)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+2% (241)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(2409)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(1470)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(2202)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(2218)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(1966)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(2269)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32620079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Catchments now by ROAD-network travel time (not Euclidean); #empty + smallest non-zero catchment reported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Cap-ladder rungs prototyped (cost-function-free, exploratory): S1-A/B · S2-A/B — run for NL</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Recalculation done: candidates = ≥50-pop cells ∪ pharmacy cells · clients = FULL population · adapted logit (25/10) — all 42 areas re-swept, incl. Poland + its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all 41 disjoint areas (exact by separability) — new page after the region pages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LINEAR &amp; LOGISTIC travel costs both run &amp; compared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(Σy ≤ 1, unserved priced at BIG on BOTH sides): FRM, ITG, SE2, DK now bracket S1 &amp; S2; baseline coverage-consistent</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Extend Belgium &amp; FRI LINEAR sweeps past w = 0.2 (LP time limit) — the last gap: aggregate LINEAR 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 single 2-D status-quo→frontier distance metric (coverage-honest; stranded priced at BIG)</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Calculating better estimations for S1 and S2 (exact soft-coverage p-median MIP at p = baseline)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but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Border-cases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is the cap/threshold ladder worth pursuing given how widely catchments vary?  ·  logistic vs linear travel cost (the equity-weighting choice)?  ·  best way to communicate λ?</a:t>
            </a:r>
            <a:endParaRPr lang="en-US" sz="1000" dirty="0"/>
          </a:p>
        </p:txBody>
      </p:sp>
    </p:spTree>
    <p:extLst>
      <p:ext uri="{BB962C8B-B14F-4D97-AF65-F5344CB8AC3E}">
        <p14:creationId xmlns:p14="http://schemas.microsoft.com/office/powerpoint/2010/main" val="37586060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288738612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568461-0B60-E37D-519D-037749341AC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D04F247-07A0-8BEA-093F-FA548F632244}"/>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37970261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8C9D22-6A98-12E7-BF1A-6FD1F14C2DB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45FC000F-6021-5EF5-50C6-6B75DE2964A4}"/>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287868712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B8D0A0-01B2-EADB-3ECD-A92F24E504C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B937E6E-81CA-AD66-038D-A21253BC7159}"/>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41825973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53E2C3-9AA7-7A6E-4466-27302156D8E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6A4E2C8-FE4F-3ACF-C2AE-62F4593F0FBB}"/>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60804505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335F295-C356-5614-436E-C7D0C184C0C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E4014C5-39C6-7917-D361-1442D751987C}"/>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30632073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91AD03-824E-F6D5-0952-0C8B35BD3AC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5A20A83-0265-1662-05C9-9617D7F327F5}"/>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3968825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13404</Words>
  <Application>Microsoft Office PowerPoint</Application>
  <PresentationFormat>Widescreen</PresentationFormat>
  <Paragraphs>3418</Paragraphs>
  <Slides>67</Slides>
  <Notes>60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67</vt:i4>
      </vt:variant>
    </vt:vector>
  </HeadingPairs>
  <TitlesOfParts>
    <vt:vector size="72"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2026-07-20T08:53:52Z</dcterms:modified>
</cp:coreProperties>
</file>