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2"/>
  </p:notesMasterIdLst>
  <p:sldIdLst>
    <p:sldId id="256" r:id="rId2"/>
    <p:sldId id="260" r:id="rId3"/>
    <p:sldId id="261" r:id="rId4"/>
    <p:sldId id="262" r:id="rId5"/>
    <p:sldId id="257" r:id="rId6"/>
    <p:sldId id="263" r:id="rId7"/>
    <p:sldId id="258" r:id="rId8"/>
    <p:sldId id="259" r:id="rId9"/>
    <p:sldId id="264" r:id="rId10"/>
    <p:sldId id="265" r:id="rId11"/>
    <p:sldId id="266" r:id="rId12"/>
    <p:sldId id="267" r:id="rId13"/>
    <p:sldId id="268" r:id="rId14"/>
    <p:sldId id="269" r:id="rId15"/>
    <p:sldId id="317"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8" r:id="rId64"/>
    <p:sldId id="319" r:id="rId65"/>
    <p:sldId id="320" r:id="rId66"/>
    <p:sldId id="321" r:id="rId67"/>
    <p:sldId id="322" r:id="rId68"/>
    <p:sldId id="323" r:id="rId69"/>
    <p:sldId id="324" r:id="rId70"/>
    <p:sldId id="325" r:id="rId7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8764822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0917555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5324133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5848288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9495194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2288282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1898944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5247351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8305268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3203757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823261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0373672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6123492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5107610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7561025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258799743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28854232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3763192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635170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34848245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41614675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1806943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404991699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4832235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6686023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25925931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61798698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8267022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221912470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29601041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70012965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424121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177145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72594118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288903202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81698573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316701096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9705940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350127147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399663395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96204979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52954810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48770655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45938399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22865680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371589208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210628664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33349810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424440778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361854873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245264949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23927955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72121225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297471152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253695525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2972675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1208147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87097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3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3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3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3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4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4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5.png"/></Relationships>
</file>

<file path=ppt/slides/_rels/slide4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4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4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3.png"/></Relationships>
</file>

<file path=ppt/slides/_rels/slide4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5.png"/></Relationships>
</file>

<file path=ppt/slides/_rels/slide4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4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4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71.png"/></Relationships>
</file>

<file path=ppt/slides/_rels/slide5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3.png"/></Relationships>
</file>

<file path=ppt/slides/_rels/slide51.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5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7.png"/></Relationships>
</file>

<file path=ppt/slides/_rels/slide53.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9.png"/></Relationships>
</file>

<file path=ppt/slides/_rels/slide5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5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6.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5.png"/></Relationships>
</file>

<file path=ppt/slides/_rels/slide57.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548640" y="1828800"/>
            <a:ext cx="91440" cy="3200400"/>
          </a:xfrm>
          <a:prstGeom prst="rect">
            <a:avLst/>
          </a:prstGeom>
          <a:solidFill>
            <a:srgbClr val="F2B632"/>
          </a:solidFill>
          <a:ln/>
        </p:spPr>
        <p:txBody>
          <a:bodyPr/>
          <a:lstStyle/>
          <a:p>
            <a:endParaRPr lang="en-GB"/>
          </a:p>
        </p:txBody>
      </p:sp>
      <p:sp>
        <p:nvSpPr>
          <p:cNvPr id="3" name="Text 1"/>
          <p:cNvSpPr/>
          <p:nvPr/>
        </p:nvSpPr>
        <p:spPr>
          <a:xfrm>
            <a:off x="914400" y="1828800"/>
            <a:ext cx="10515600" cy="10972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λ-sweep over an LP relaxation</a:t>
            </a:r>
            <a:endParaRPr lang="en-US" sz="4400" dirty="0"/>
          </a:p>
        </p:txBody>
      </p:sp>
      <p:sp>
        <p:nvSpPr>
          <p:cNvPr id="4" name="Text 2"/>
          <p:cNvSpPr/>
          <p:nvPr/>
        </p:nvSpPr>
        <p:spPr>
          <a:xfrm>
            <a:off x="914400" y="3017520"/>
            <a:ext cx="10515600" cy="731520"/>
          </a:xfrm>
          <a:prstGeom prst="rect">
            <a:avLst/>
          </a:prstGeom>
          <a:noFill/>
          <a:ln/>
        </p:spPr>
        <p:txBody>
          <a:bodyPr wrap="square" lIns="0" tIns="0" rIns="0" bIns="0" rtlCol="0" anchor="ctr"/>
          <a:lstStyle/>
          <a:p>
            <a:pPr marL="0" indent="0">
              <a:buNone/>
            </a:pPr>
            <a:r>
              <a:rPr lang="en-US" sz="2200" i="1" dirty="0">
                <a:solidFill>
                  <a:srgbClr val="CADCFC"/>
                </a:solidFill>
                <a:latin typeface="Calibri" pitchFamily="34" charset="0"/>
                <a:ea typeface="Calibri" pitchFamily="34" charset="-122"/>
                <a:cs typeface="Calibri" pitchFamily="34" charset="-120"/>
              </a:rPr>
              <a:t>Pareto frontiers, integrality gaps, and what the Netherlands sweep tells us</a:t>
            </a:r>
            <a:endParaRPr lang="en-US" sz="2200" dirty="0"/>
          </a:p>
        </p:txBody>
      </p:sp>
      <p:sp>
        <p:nvSpPr>
          <p:cNvPr id="5" name="Text 3"/>
          <p:cNvSpPr/>
          <p:nvPr/>
        </p:nvSpPr>
        <p:spPr>
          <a:xfrm>
            <a:off x="914400" y="6035040"/>
            <a:ext cx="10515600" cy="365760"/>
          </a:xfrm>
          <a:prstGeom prst="rect">
            <a:avLst/>
          </a:prstGeom>
          <a:noFill/>
          <a:ln/>
        </p:spPr>
        <p:txBody>
          <a:bodyPr wrap="square" lIns="0" tIns="0" rIns="0" bIns="0" rtlCol="0" anchor="ctr"/>
          <a:lstStyle/>
          <a:p>
            <a:pPr marL="0" indent="0">
              <a:buNone/>
            </a:pPr>
            <a:r>
              <a:rPr lang="en-US" sz="1200" dirty="0">
                <a:solidFill>
                  <a:srgbClr val="8CA3C9"/>
                </a:solidFill>
                <a:latin typeface="Calibri" pitchFamily="34" charset="0"/>
                <a:ea typeface="Calibri" pitchFamily="34" charset="-122"/>
                <a:cs typeface="Calibri" pitchFamily="34" charset="-120"/>
              </a:rPr>
              <a:t>lambda_sweep.jl  ·  NetworkModel_EU / ServiceAccess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Tabula-rasa LP allocation + λ-sweep over the road-network OD; how to read the #facilities ↔ travel-cost frontier.</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Descriptive metrics per country &amp; key NUTS1 — residents per pharmacy and catchment-size distributions, by road.</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pharmacies) per country and NUTS1 — what the frontiers show so far.</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Logistic vs linear, and the adapted logit with kinks at ~5 &amp; ~45 min (following page).</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 but catchments vary so widely that realistic min/max bounds are hard to set. Pursue or drop?</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Known issues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Baseline consistency (FRM / ITG / SE2; clients with no reachable pharmacy); priorities and next steps.</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(logistic vs linear / adapted logit)  ·  whether the cap–threshold ladder is worth pursuing  ·  how to communicate λ.</a:t>
            </a:r>
            <a:endParaRPr lang="en-US" sz="1000" dirty="0"/>
          </a:p>
        </p:txBody>
      </p:sp>
    </p:spTree>
    <p:extLst>
      <p:ext uri="{BB962C8B-B14F-4D97-AF65-F5344CB8AC3E}">
        <p14:creationId xmlns:p14="http://schemas.microsoft.com/office/powerpoint/2010/main" val="14240387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pharmacy</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facility cost a+b·q reduces to λ·#open: the b·q part is ~constant while (nearly) all demand is served, so only the fixed cost a matters. Under soft coverage it cancels only approximately — the unserved share carries no b·q.</a:t>
            </a:r>
            <a:endParaRPr lang="en-US" sz="1050" dirty="0"/>
          </a:p>
        </p:txBody>
      </p:sp>
      <p:sp>
        <p:nvSpPr>
          <p:cNvPr id="13" name="Text 11"/>
          <p:cNvSpPr/>
          <p:nvPr/>
        </p:nvSpPr>
        <p:spPr>
          <a:xfrm>
            <a:off x="6812280" y="2962656"/>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209544"/>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Clients unreachable within t_max (islands / sparse interior, e.g. ITG) are now priced at BIG on BOTH sides — stranded in the baseline, optionally stranded in the LP — so ★ and frontier are directly comparable.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6)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6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276179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improvement lists all shift. Absence of a pharmacy record is not evidence of absence of a pharmacy — excluding those regions states what we do not know, rather than asserting the strong version of it.</a:t>
            </a:r>
            <a:endParaRPr lang="en-US" sz="930" dirty="0"/>
          </a:p>
        </p:txBody>
      </p:sp>
    </p:spTree>
    <p:extLst>
      <p:ext uri="{BB962C8B-B14F-4D97-AF65-F5344CB8AC3E}">
        <p14:creationId xmlns:p14="http://schemas.microsoft.com/office/powerpoint/2010/main" val="19595473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63240"/>
          </a:xfrm>
          <a:prstGeom prst="rect">
            <a:avLst/>
          </a:prstGeom>
          <a:noFill/>
          <a:ln/>
        </p:spPr>
        <p:txBody>
          <a:bodyPr wrap="square" rtlCol="0" anchor="t"/>
          <a:lstStyle/>
          <a:p>
            <a:pPr marL="0" indent="0">
              <a:lnSpc>
                <a:spcPct val="104000"/>
              </a:lnSpc>
              <a:buNone/>
            </a:pPr>
            <a:r>
              <a:rPr lang="en-US" sz="105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1050" dirty="0"/>
          </a:p>
          <a:p>
            <a:pPr marL="0" indent="0">
              <a:lnSpc>
                <a:spcPct val="104000"/>
              </a:lnSpc>
              <a:buNone/>
            </a:pPr>
            <a:endParaRPr lang="en-US" sz="1050" dirty="0"/>
          </a:p>
          <a:p>
            <a:pPr marL="0" indent="0" algn="ctr">
              <a:lnSpc>
                <a:spcPct val="104000"/>
              </a:lnSpc>
              <a:buNone/>
            </a:pPr>
            <a:r>
              <a:rPr lang="en-US" sz="1050" b="1" dirty="0">
                <a:solidFill>
                  <a:srgbClr val="1E7A52"/>
                </a:solidFill>
                <a:latin typeface="Calibri" pitchFamily="34" charset="0"/>
                <a:ea typeface="Calibri" pitchFamily="34" charset="-122"/>
                <a:cs typeface="Calibri" pitchFamily="34" charset="-120"/>
              </a:rPr>
              <a:t>LP relax  ≤  integer optimum  ≤  multistart</a:t>
            </a:r>
            <a:endParaRPr lang="en-US" sz="1050" dirty="0"/>
          </a:p>
          <a:p>
            <a:pPr marL="0" indent="0">
              <a:lnSpc>
                <a:spcPct val="104000"/>
              </a:lnSpc>
              <a:buNone/>
            </a:pPr>
            <a:endParaRPr lang="en-US" sz="1050" dirty="0"/>
          </a:p>
          <a:p>
            <a:pPr marL="0" indent="0">
              <a:lnSpc>
                <a:spcPct val="104000"/>
              </a:lnSpc>
              <a:buNone/>
            </a:pPr>
            <a:r>
              <a:rPr lang="en-US" sz="105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1050" dirty="0"/>
          </a:p>
          <a:p>
            <a:pPr marL="0" indent="0">
              <a:lnSpc>
                <a:spcPct val="104000"/>
              </a:lnSpc>
              <a:buNone/>
            </a:pPr>
            <a:endParaRPr lang="en-US" sz="1050" dirty="0"/>
          </a:p>
          <a:p>
            <a:pPr marL="0" indent="0">
              <a:lnSpc>
                <a:spcPct val="104000"/>
              </a:lnSpc>
              <a:buNone/>
            </a:pPr>
            <a:r>
              <a:rPr lang="en-US" sz="1050" i="1" dirty="0">
                <a:solidFill>
                  <a:srgbClr val="12233A"/>
                </a:solidFill>
                <a:latin typeface="Calibri" pitchFamily="34" charset="0"/>
                <a:ea typeface="Calibri" pitchFamily="34" charset="-122"/>
                <a:cs typeface="Calibri" pitchFamily="34" charset="-120"/>
              </a:rPr>
              <a:t>The multi-vs-relax column in the end tables is therefore a certified optimality gap: the integer optimum lies inside it.</a:t>
            </a:r>
            <a:endParaRPr lang="en-US" sz="105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691557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28694082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4378627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22225956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6118694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30496158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788756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2647471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518027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167405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344441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668100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892713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153196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508106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828716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9540699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562909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04248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491080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932108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137716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051920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8774089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86791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165018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036071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541102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896946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415169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268404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866965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576162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9354498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66059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3325285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891 cells · 4.88 min mean · </a:t>
            </a:r>
            <a:r>
              <a:rPr lang="en-US" sz="1000" dirty="0">
                <a:solidFill>
                  <a:srgbClr val="5B6B7B"/>
                </a:solidFill>
                <a:latin typeface="Calibri" pitchFamily="34" charset="0"/>
                <a:ea typeface="Calibri" pitchFamily="34" charset="-122"/>
                <a:cs typeface="Calibri" pitchFamily="34" charset="-120"/>
              </a:rPr>
              <a:t>travel (stranded at BIG)  LIN 30.6M · LOG 845k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763950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1251798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039187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0009326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967257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284312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8710948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817025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1458709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0584610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7842026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6257417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8388210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43,320 pharmacy cells · </a:t>
            </a:r>
            <a:r>
              <a:rPr lang="en-US" sz="1000" dirty="0">
                <a:solidFill>
                  <a:srgbClr val="5B6B7B"/>
                </a:solidFill>
                <a:latin typeface="Calibri" pitchFamily="34" charset="0"/>
                <a:ea typeface="Calibri" pitchFamily="34" charset="-122"/>
                <a:cs typeface="Calibri" pitchFamily="34" charset="-120"/>
              </a:rPr>
              <a:t>travel  LIN 1030M · LOG 30.3M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4864608"/>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56032">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point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facilities</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travel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LINEAR</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0.130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43,357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0.227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28,609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0.500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15,808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+55%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433,828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+901%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LOGISTIC</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0.00130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44,416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0.00282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26,673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10,933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191,428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82512"/>
            <a:ext cx="11274552" cy="420624"/>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(68 points; an area without that exact λ is log-interpolated between its adjacent sweep points — the λ-table rule).</a:t>
            </a:r>
            <a:endParaRPr lang="en-US" sz="850" dirty="0"/>
          </a:p>
        </p:txBody>
      </p:sp>
    </p:spTree>
    <p:extLst>
      <p:ext uri="{BB962C8B-B14F-4D97-AF65-F5344CB8AC3E}">
        <p14:creationId xmlns:p14="http://schemas.microsoft.com/office/powerpoint/2010/main" val="392720140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048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baseline #</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Netherlands</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1,615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24,532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34,329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Luxembourg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15,945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25,641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Estonia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11,388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19,421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Latvia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8,822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Slovenia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17,680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25,450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Lithuania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10,987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19,834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Ireland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21,020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Norway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755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23,174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49,999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Denmark</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37,082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55,960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448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Austria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18,361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31,027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10,473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17,033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Czechia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22,885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Belgium</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5,666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7,340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10,254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333757812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FR / IT / SE NUTS-1 regions</a:t>
            </a:r>
            <a:endParaRPr lang="en-US" sz="22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77340">
                  <a:extLst>
                    <a:ext uri="{9D8B030D-6E8A-4147-A177-3AD203B41FA5}">
                      <a16:colId xmlns:a16="http://schemas.microsoft.com/office/drawing/2014/main" val="20002"/>
                    </a:ext>
                  </a:extLst>
                </a:gridCol>
                <a:gridCol w="1577340">
                  <a:extLst>
                    <a:ext uri="{9D8B030D-6E8A-4147-A177-3AD203B41FA5}">
                      <a16:colId xmlns:a16="http://schemas.microsoft.com/office/drawing/2014/main" val="20003"/>
                    </a:ext>
                  </a:extLst>
                </a:gridCol>
                <a:gridCol w="1577340">
                  <a:extLst>
                    <a:ext uri="{9D8B030D-6E8A-4147-A177-3AD203B41FA5}">
                      <a16:colId xmlns:a16="http://schemas.microsoft.com/office/drawing/2014/main" val="20004"/>
                    </a:ext>
                  </a:extLst>
                </a:gridCol>
                <a:gridCol w="1577340">
                  <a:extLst>
                    <a:ext uri="{9D8B030D-6E8A-4147-A177-3AD203B41FA5}">
                      <a16:colId xmlns:a16="http://schemas.microsoft.com/office/drawing/2014/main" val="20005"/>
                    </a:ext>
                  </a:extLst>
                </a:gridCol>
              </a:tblGrid>
              <a:tr h="20116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NUTS-1 region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baseline #</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FR1 · Île-de-France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11,918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16,444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FRB · Centre-Val de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FRC · Bourgogne-Franche-Comté</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13,075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FRD · Normandie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FRE · Hauts-de-France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FRF · Grand 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14,257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FRG · Pays de la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FRH · Bretagne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13,828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FRI · Nouvelle-Aquitaine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8,368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FRJ · Occitanie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13,202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FRK · Auvergne-Rhône-Alpes</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13,737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FRL · Provence-Alpes-Côte d'Azur</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9,741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14,155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FRM · Corse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10,336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259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ITC · Nord-Ovest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2,890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20,047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ITF · Sud</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101,789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ITG · Isole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891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18,626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56,207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ITH · Nord-Est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12,529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23,350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ITI · Centro</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16,279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SE1 · Östra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27,492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44,267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SE2 · Södra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33,567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57,265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SE3 · Norra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30,810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52,783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910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PL2 · Południowy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9,666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15,455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PL4 · Północno-Zachodni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9,925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PL5 · Południowo-Zachodni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10,586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15,617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PL6 · Północny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PL7 · Centralny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14,885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PL8 · Wschodni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PL9 · Mazowiecki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11,084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13480319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11"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(208)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278248939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in progress · remaining</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Two method changes since the previous deck — landbody-complete networks and NUTS region exclusion — make these figures NOT comparable with earlier ones. A proposed A→D ladder would cap catchments + set a min threshold to sidestep it — but the descriptives show catchments vary so widely (p10–p90 several-fold; many pharmacies at zero) that realistic bounds are hard to set, and the ladder may not actually simplify the problem.</a:t>
            </a:r>
            <a:endParaRPr lang="en-US" sz="950" dirty="0"/>
          </a:p>
        </p:txBody>
      </p:sp>
      <p:sp>
        <p:nvSpPr>
          <p:cNvPr id="5" name="Shape 3"/>
          <p:cNvSpPr/>
          <p:nvPr/>
        </p:nvSpPr>
        <p:spPr>
          <a:xfrm>
            <a:off x="365760" y="1298448"/>
            <a:ext cx="3721608" cy="4526280"/>
          </a:xfrm>
          <a:prstGeom prst="roundRect">
            <a:avLst>
              <a:gd name="adj" fmla="val 1229"/>
            </a:avLst>
          </a:prstGeom>
          <a:solidFill>
            <a:srgbClr val="F0F6F2"/>
          </a:solidFill>
          <a:ln w="12700">
            <a:solidFill>
              <a:srgbClr val="1E7A52"/>
            </a:solidFill>
            <a:prstDash val="solid"/>
          </a:ln>
        </p:spPr>
      </p:sp>
      <p:sp>
        <p:nvSpPr>
          <p:cNvPr id="6" name="Text 4"/>
          <p:cNvSpPr/>
          <p:nvPr/>
        </p:nvSpPr>
        <p:spPr>
          <a:xfrm>
            <a:off x="530352" y="1371600"/>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NETWORK per landbody: the largest strongly-connected road network is now kept for EVERY separate landbody, not just the single largest one EU-wide — island networks (Sicilia/Sardegna, and their ferry links) were being pruned. ITG baseline mean travel 22.3 → 4.9 min; unreachable residents 983k → 591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REGION EXCLUSION: a NUTS region where &gt;50% of inhabitant locations cannot reach any pharmacy is dropped entirely — population AND candidates. Excludes the Azores (PT200) and Madeira (PT300), which hold population but no pharmacy in the source data; Portugal baseline travel −62%. Prevents a DATA gap from ranking as policy headroom</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#facilities vs travel cost (Option D); canonical p-median notation (x = assignment, y = facility)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3 cases live: S1 (same #, ↓travel) · S2 (same travel, ↓#) · S3 full frontier — S1/S2 now INTERPOLATED onto the frontier (dense-grid + refine, tight to ≤0.1 λ-octave)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All 6 of Lewis's 22-May descriptive indicators, per country (deck pages 5–8); catchments by ROAD-network travel time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Recalc: candidates = ≥50-pop cells ∪ pharmacy cells · clients = FULL population · adapted logit (25/10) · Italy from ESPON shapefile — all 42 areas swept incl. Poland + 7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(Σx ≤ 1, unserved priced at BIG on BOTH sides): every region brackets S1 &amp; S2; baseline coverage-consistent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41 disjoint areas (exact by separability) — now brackets S1 AND S2 for LINEAR &amp; LOGISTIC (Belgium/FRI extended to w = 0.5)</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Status-quo↔frontier metric: improvement rectangle (raw + relative to baseline #F × travel), its diagonal crossing + λ, baseline point-cloud with frontier projections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Ordered region lists coloured by pharmacy policy typology (regulation archetype + formalisation, from the collaborators' framing) — now free of coverage artefacts: ITG drops from #1 to #2 and Portugal and PL8 leave the top 8, while ITF takes #1 on an UNCHANGED value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Large-region candidate subsampling keeps EVERY baseline location, so the frontier still dominates the baseline (FRI/PL8 made tractable)</a:t>
            </a:r>
            <a:endParaRPr lang="en-US" sz="900" dirty="0"/>
          </a:p>
        </p:txBody>
      </p:sp>
      <p:sp>
        <p:nvSpPr>
          <p:cNvPr id="8" name="Shape 6"/>
          <p:cNvSpPr/>
          <p:nvPr/>
        </p:nvSpPr>
        <p:spPr>
          <a:xfrm>
            <a:off x="4224528" y="1298448"/>
            <a:ext cx="3721608" cy="4526280"/>
          </a:xfrm>
          <a:prstGeom prst="roundRect">
            <a:avLst>
              <a:gd name="adj" fmla="val 1229"/>
            </a:avLst>
          </a:prstGeom>
          <a:solidFill>
            <a:srgbClr val="FBF5EA"/>
          </a:solidFill>
          <a:ln w="12700">
            <a:solidFill>
              <a:srgbClr val="B9791C"/>
            </a:solidFill>
            <a:prstDash val="solid"/>
          </a:ln>
        </p:spPr>
      </p:sp>
      <p:sp>
        <p:nvSpPr>
          <p:cNvPr id="9" name="Text 7"/>
          <p:cNvSpPr/>
          <p:nvPr/>
        </p:nvSpPr>
        <p:spPr>
          <a:xfrm>
            <a:off x="4389120" y="1371600"/>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In progress ◐</a:t>
            </a:r>
            <a:endParaRPr lang="en-US" sz="1300" dirty="0"/>
          </a:p>
        </p:txBody>
      </p:sp>
      <p:sp>
        <p:nvSpPr>
          <p:cNvPr id="10" name="Text 8"/>
          <p:cNvSpPr/>
          <p:nvPr/>
        </p:nvSpPr>
        <p:spPr>
          <a:xfrm>
            <a:off x="4407408"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Exact soft-coverage p-median MIP to pin S1/S2 at p = baseline (the interpolation is already tight; the MIP would make it exact)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RSSV spatial-voting candidate reduction (Avignon CpLP paper, Figueiredo &amp; Genre-Grandpierre) — a principled replacement for the stride subsample on the largest regions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Territorial coverage constraints (≥1 pharmacy per NUTS unit; multi-scale) as a STRUCTURED equity lever alongside the soft-coverage BIG penalty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Exploring (not committed): max-cap + min-threshold rungs — the descriptives suggest realistic bounds are hard to set, so this may not pay off</a:t>
            </a:r>
            <a:endParaRPr lang="en-US" sz="900" dirty="0"/>
          </a:p>
        </p:txBody>
      </p:sp>
      <p:sp>
        <p:nvSpPr>
          <p:cNvPr id="11" name="Shape 9"/>
          <p:cNvSpPr/>
          <p:nvPr/>
        </p:nvSpPr>
        <p:spPr>
          <a:xfrm>
            <a:off x="8083296" y="1298448"/>
            <a:ext cx="3721608" cy="4526280"/>
          </a:xfrm>
          <a:prstGeom prst="roundRect">
            <a:avLst>
              <a:gd name="adj" fmla="val 1229"/>
            </a:avLst>
          </a:prstGeom>
          <a:solidFill>
            <a:srgbClr val="F2F5F8"/>
          </a:solidFill>
          <a:ln w="12700">
            <a:solidFill>
              <a:srgbClr val="5B6B7B"/>
            </a:solidFill>
            <a:prstDash val="solid"/>
          </a:ln>
        </p:spPr>
      </p:sp>
      <p:sp>
        <p:nvSpPr>
          <p:cNvPr id="12" name="Text 10"/>
          <p:cNvSpPr/>
          <p:nvPr/>
        </p:nvSpPr>
        <p:spPr>
          <a:xfrm>
            <a:off x="8247888" y="1371600"/>
            <a:ext cx="3383280"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a:t>
            </a:r>
            <a:endParaRPr lang="en-US" sz="1300" dirty="0"/>
          </a:p>
        </p:txBody>
      </p:sp>
      <p:sp>
        <p:nvSpPr>
          <p:cNvPr id="13" name="Text 11"/>
          <p:cNvSpPr/>
          <p:nvPr/>
        </p:nvSpPr>
        <p:spPr>
          <a:xfrm>
            <a:off x="8266176"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Capacity / max-catchment cap constraint (CpMP; the Avignon strengthened ILP shows how to solve it)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Urban/non-urban flag → model only non-urban, hold urban fixed (options B/C)</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Settlement candidate set: verify existing ⊂ settlements, then restrict locations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Flat-then-linear travel-cost variant; sweep logit-parameter sensitivity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real pharmacy a,b (schools: 99 699 + 3 277.5x); ?fixed cost vs &lt;6-y care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Communicate λ intuitively (person-minutes / value-per-user)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Cost-function-free S3: balance #/capita vs mean travel, widen beyond the A–B segment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Pharmacist-based cap (Ana); caps/thresholds pooled across countries, reported per-country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Corr catchment &amp; travel costs · border-cases</a:t>
            </a:r>
            <a:endParaRPr lang="en-US" sz="900" dirty="0"/>
          </a:p>
        </p:txBody>
      </p:sp>
      <p:sp>
        <p:nvSpPr>
          <p:cNvPr id="14" name="Text 12"/>
          <p:cNvSpPr/>
          <p:nvPr/>
        </p:nvSpPr>
        <p:spPr>
          <a:xfrm>
            <a:off x="411480" y="5943600"/>
            <a:ext cx="11430000" cy="64008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adopt territorial coverage constraints (≥1 per unit) for equity, or keep soft coverage?  ·  logistic vs linear travel cost (the equity-weighting choice)?  ·  best way to communicate λ?</a:t>
            </a:r>
            <a:endParaRPr lang="en-US" sz="1000" dirty="0"/>
          </a:p>
        </p:txBody>
      </p:sp>
    </p:spTree>
    <p:extLst>
      <p:ext uri="{BB962C8B-B14F-4D97-AF65-F5344CB8AC3E}">
        <p14:creationId xmlns:p14="http://schemas.microsoft.com/office/powerpoint/2010/main" val="407052457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Text 5"/>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settings.jl:82</a:t>
            </a:r>
            <a:endParaRPr lang="en-US" sz="850" dirty="0"/>
          </a:p>
        </p:txBody>
      </p:sp>
    </p:spTree>
    <p:extLst>
      <p:ext uri="{BB962C8B-B14F-4D97-AF65-F5344CB8AC3E}">
        <p14:creationId xmlns:p14="http://schemas.microsoft.com/office/powerpoint/2010/main" val="10867800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CD17400-1044-448F-E7AC-B8B1ACECCD8F}"/>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880C4075-FF30-DC8E-241E-77437CD71AA1}"/>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266202456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AC2868-43B1-1A55-A4FF-4B988905C27A}"/>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027C989E-ADA4-751F-692E-ECE50F42148C}"/>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400008145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5368470-5DBA-877B-3607-75F00788921F}"/>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31D9A46-44F9-EF2D-29FC-56FE092A7BA1}"/>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92459970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B212479-D1B2-BA31-CE10-3F2AB94664C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ACC9EE2-60D9-38E7-229F-B2E09342FF53}"/>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31403454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7691356-4CD8-A356-B3C0-D124B9AD8A06}"/>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0071AE8F-6752-5517-85E8-A523968E6E48}"/>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0785486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4BBE2E2-FDB5-A117-4B5F-7AC5868642D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E2C33AD-E2AB-EB20-C99B-9EDE5C03D0DD}"/>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3160183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CB03DB1-0E09-B676-CAD7-96E367E84D2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D9D40C69-721C-55EF-085A-87279D467BB8}"/>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78820787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55B773D-B0EF-D02A-B1B8-0E553940F7B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23346E9-4B15-BD06-A46E-69375AC69B39}"/>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7915922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14072</Words>
  <Application>Microsoft Office PowerPoint</Application>
  <PresentationFormat>Widescreen</PresentationFormat>
  <Paragraphs>3446</Paragraphs>
  <Slides>70</Slides>
  <Notes>61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70</vt:i4>
      </vt:variant>
    </vt:vector>
  </HeadingPairs>
  <TitlesOfParts>
    <vt:vector size="75"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2026-09-03T17:35:04Z</dcterms:modified>
</cp:coreProperties>
</file>