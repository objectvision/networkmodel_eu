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256" r:id="rId2"/>
    <p:sldId id="260" r:id="rId3"/>
    <p:sldId id="261" r:id="rId4"/>
    <p:sldId id="257" r:id="rId5"/>
    <p:sldId id="258" r:id="rId6"/>
    <p:sldId id="262" r:id="rId7"/>
    <p:sldId id="259" r:id="rId8"/>
    <p:sldId id="263" r:id="rId9"/>
    <p:sldId id="264" r:id="rId10"/>
    <p:sldId id="265" r:id="rId11"/>
    <p:sldId id="266" r:id="rId12"/>
    <p:sldId id="267" r:id="rId13"/>
    <p:sldId id="268" r:id="rId14"/>
    <p:sldId id="316"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7" r:id="rId63"/>
    <p:sldId id="318" r:id="rId64"/>
    <p:sldId id="319" r:id="rId65"/>
    <p:sldId id="320" r:id="rId66"/>
    <p:sldId id="321" r:id="rId67"/>
    <p:sldId id="322" r:id="rId68"/>
    <p:sldId id="323" r:id="rId69"/>
    <p:sldId id="324" r:id="rId7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8524228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78438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8645736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40389852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876736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6548811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9981052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781652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4541076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7623771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6666939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9752555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7199834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7391948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4622439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895814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6097299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41671700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0694687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4925126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5245448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81521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07318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40631225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8958471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476883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7058478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28766356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6539301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5805414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6375074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34862790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209414200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91457044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6836272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41844929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7837145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67054298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37552303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367702034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98110897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031247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99270658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23426279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37283669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8725149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40520426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5875946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266809718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293212305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63505072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32149284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6020460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14899371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286600894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2419604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6566076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4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14671488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Clients unreachable within t_max (islands / sparse interior, e.g. ITG) are now priced at BIG on BOTH sides — stranded in the baseline, optionally stranded in the LP — so ★ and frontier are directly comparable.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34035054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23259004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4"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8532676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0533193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0950404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006695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29774335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209613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39945841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84180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446214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76351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749780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643765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656115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370136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584516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273920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706589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18858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016232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727664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464384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32944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664516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37458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426353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429765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037790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412604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850250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718398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262553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381223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668732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741440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151918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60352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1241256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118525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825120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757191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761225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5880269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454542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391154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8446300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236025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549793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596288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43,357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0.227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28,609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15,808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433,828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+901%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44,416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0.00282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26,673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10,933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191,428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a:t>
            </a:r>
            <a:endParaRPr lang="en-US" sz="850" dirty="0"/>
          </a:p>
        </p:txBody>
      </p:sp>
    </p:spTree>
    <p:extLst>
      <p:ext uri="{BB962C8B-B14F-4D97-AF65-F5344CB8AC3E}">
        <p14:creationId xmlns:p14="http://schemas.microsoft.com/office/powerpoint/2010/main" val="292695506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24,532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34,329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21,020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23,174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37,082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55,960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18,361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31,027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10,473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17,033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22,885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82903242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101,789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891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18,626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56,207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16,279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27,492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44,267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57,265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30,810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52,783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3374501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37293336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the largest strongly-connected road network is now kept for EVERY separate landbody, not just the single largest one EU-wide — island networks (Sicilia/Sardegna, and their ferry links) were being pruned. ITG baseline mean travel 22.3 → 4.9 min; unreachable residents 983k → 591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REGION EXCLUSION: a NUTS region where &gt;50% of inhabitant locations cannot reach any pharmacy is dropped entirely — population AND candidates. Excludes the Azores (PT200) and Madeira (PT300), which hold population but no pharmacy in the source data; Portugal baseline travel −62%. Prevents a DATA gap from ranking as policy headroom</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 canonical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 — S1/S2 now INTERPOLATED onto the frontier (dense-grid + refine, tight to ≤0.1 λ-octave)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 catchments by ROAD-network travel time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 candidates = ≥50-pop cells ∪ pharmacy cells · clients = FULL population · adapted logit (25/10) · Italy from ESPON shapefile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 now brackets S1 AND S2 for LINEAR &amp; LOGISTIC (Belgium/FRI extended to w = 0.5)</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Status-quo↔frontier metric: improvement rectangle (raw + relative to baseline #F × travel), its diagonal crossing + λ, baseline point-cloud with frontier projections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Ordered region lists coloured by pharmacy policy typology (regulation archetype + formalisation, from the collaborators' framing) — now free of coverage artefacts: ITG drops from #1 to #2 and Portugal and PL8 leave the top 8, while ITF takes #1 on an UNCHANGED value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candidate subsampling keeps EVERY baseline location, so the frontier still dominates the baseline (FRI/PL8 made tractable)</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(the interpolation is already tight; the MIP would make it exact)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 · border-cases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adopt territorial coverage constraints (≥1 per unit) for equity, or keep soft coverage?  ·  logistic vs linear travel cost (the equity-weighting choice)?  ·  best way to communicate λ?</a:t>
            </a:r>
            <a:endParaRPr lang="en-US" sz="1000" dirty="0"/>
          </a:p>
        </p:txBody>
      </p:sp>
    </p:spTree>
    <p:extLst>
      <p:ext uri="{BB962C8B-B14F-4D97-AF65-F5344CB8AC3E}">
        <p14:creationId xmlns:p14="http://schemas.microsoft.com/office/powerpoint/2010/main" val="9184201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21072422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51970FF-6511-B855-B038-3B19DDF4438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70264AE-C57C-7CC6-E3CA-4B28EA6439EA}"/>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452535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8DF7EE-F0D7-164C-5697-D2B8049C505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7E01F18-3DC2-F2AC-9D37-1966A809B1CB}"/>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5066862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C66D49-319F-E0AD-01DE-801C2E7B92B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DC09060-A2EA-43DA-D0BB-917046673D5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8027801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40CD2A-DE91-9EEF-E412-A5CF1CE6204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A98FD27-1B82-C1D8-9C5F-18AB34718A86}"/>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935804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0C7CB7-1B10-2397-841E-F2947A0D5DD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A36DA11-4073-6BDD-B32B-4A6DD2F6FE37}"/>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07407969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426B1BB-2B41-CDFC-A6AA-2DB5FF93000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4657F4F-159C-B752-41AB-6F2850BAEBA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93354676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55E8DE-3F73-6AE8-5819-D69D645C226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455371E-D681-E782-61C4-41E5EAD0FC97}"/>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06525942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363CBEE-2FB2-C5AE-3625-EBF22F0F77E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D9213DB-4794-29AC-0A7B-56D3ED9C90D1}"/>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6585362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13678</Words>
  <Application>Microsoft Office PowerPoint</Application>
  <PresentationFormat>Widescreen</PresentationFormat>
  <Paragraphs>3428</Paragraphs>
  <Slides>69</Slides>
  <Notes>60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2026-09-03T17:30:27Z</dcterms:modified>
</cp:coreProperties>
</file>