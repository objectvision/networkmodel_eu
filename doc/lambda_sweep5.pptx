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90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3082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790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1496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9211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2996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56920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80571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5574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94152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25567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58247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5029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014037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6710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19005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42765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7203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93716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281060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172918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232605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210939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692991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15357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50682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46190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04699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4979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16565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1610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  <p:txBody>
          <a:bodyPr/>
          <a:lstStyle/>
          <a:p>
            <a:endParaRPr lang="en-GB"/>
          </a:p>
        </p:txBody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en-GB"/>
          </a:p>
        </p:txBody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n-GB"/>
          </a:p>
        </p:txBody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2806625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PHARMACY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pharmacy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33,313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12,664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37,511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24,740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BY ROAD-NETWORK travel time is this one (a cell's catchment split evenly among the pharmacies in it); p10..max = percentiles of that per-pharmacy catchment. #empty = pharmacies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4836037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per country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12,894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33,771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Belgium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Czechia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11,629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Denmark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Estonia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Ireland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Latvia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Lithuania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Luxembourg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22,601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Norway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Portugal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Slovenia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22,487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41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21507933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· RESIDENTS PER 1 KM² LOCATION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Residents per 1 km² location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key NUTS1 regions (FR / IT / SE)</a:t>
            </a:r>
            <a:endParaRPr lang="en-US" sz="2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691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75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8869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resid/loc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#empty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min&gt;0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13,796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17,812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51,246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18,820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9,996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27,919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30,077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11,481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44,339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11,847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17,129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36,083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13,592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12,192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16,565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25,505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= a unique 1 km² cell with ≥1 pharmacy; catchment = residents whose nearest pharmacy cell BY ROAD is this one; p10..max = percentiles of that per-location catchment. #empty = locations that are never the road-nearest for any populated cell (fully shadowed / disconnected); min&gt;0 = smallest non-zero catchment. Country rows bold, NUTS1 indented below. Source: pharmacy_descriptives.csv (road OD; Lewis, 22 May).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8676286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PRELIMINARY · CATCHMENT-CAP LADDER (NO COST FUNCTION)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— five rungs, capping catchments instead of a cost function  </a:t>
            </a:r>
            <a:r>
              <a:rPr lang="en-US" sz="19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S1 fix #, ↓travel · S2 ↓#, hold travel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5" name="Text 3"/>
          <p:cNvSpPr/>
          <p:nvPr/>
        </p:nvSpPr>
        <p:spPr>
          <a:xfrm>
            <a:off x="621792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21792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multiple per cell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21792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B23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+13.3%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621792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1,593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1.9% stranded · cap 35,000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61688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0B6E99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0" name="Text 8"/>
          <p:cNvSpPr/>
          <p:nvPr/>
        </p:nvSpPr>
        <p:spPr>
          <a:xfrm>
            <a:off x="4526280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B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cap · one per cell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26280" y="2103120"/>
            <a:ext cx="34472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E7A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-6.5%</a:t>
            </a:r>
            <a:r>
              <a:rPr lang="en-US" sz="1050" dirty="0">
                <a:solidFill>
                  <a:srgbClr val="5B6B7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travel vs today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4526280" y="2679192"/>
            <a:ext cx="3447288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pharmacies · 1,613 cells</a:t>
            </a:r>
            <a:endParaRPr lang="en-US" sz="10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0.8% stranded · cap 35,000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66176" y="132588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5" name="Text 13"/>
          <p:cNvSpPr/>
          <p:nvPr/>
        </p:nvSpPr>
        <p:spPr>
          <a:xfrm>
            <a:off x="8430768" y="142646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· C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30768" y="173736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fixed · model the rest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430768" y="219456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Text 17"/>
          <p:cNvSpPr/>
          <p:nvPr/>
        </p:nvSpPr>
        <p:spPr>
          <a:xfrm>
            <a:off x="621792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A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1792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all facilities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21792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361688" y="3794760"/>
            <a:ext cx="3721608" cy="2286000"/>
          </a:xfrm>
          <a:prstGeom prst="roundRect">
            <a:avLst>
              <a:gd name="adj" fmla="val 2400"/>
            </a:avLst>
          </a:prstGeom>
          <a:solidFill>
            <a:srgbClr val="F2F5F8"/>
          </a:solidFill>
          <a:ln w="12700">
            <a:solidFill>
              <a:srgbClr val="C9D2D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3" name="Text 21"/>
          <p:cNvSpPr/>
          <p:nvPr/>
        </p:nvSpPr>
        <p:spPr>
          <a:xfrm>
            <a:off x="4526280" y="3895344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· B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26280" y="4206240"/>
            <a:ext cx="344728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+ max cap · outside urban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26280" y="466344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run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8A9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019288" y="3794760"/>
            <a:ext cx="37033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today's count, minimises travel under a max catchment cap.  </a:t>
            </a:r>
            <a:r>
              <a:rPr lang="en-US" sz="11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 </a:t>
            </a:r>
            <a:r>
              <a:rPr lang="en-US" sz="11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minimises the count under a min (viability) + max catchment, holding travel ≈ today.  Cost-function rung (S1-D / S2-C) = the λ-sweep that follows.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11480" y="6144768"/>
            <a:ext cx="11430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850" b="1" i="1" dirty="0">
                <a:solidFill>
                  <a:srgbClr val="B23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— INDICATIVE ONLY. </a:t>
            </a: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Full-scale ladder run incomplete; S1 (fixed-count) figures are sensitive to LP-relaxation rounding and can shift on re-run (robust multistart rounding still to be ported) — read the direction, not the exact %. LINEAR travel cost; max cap = NL observed cell-catchment max (~35k). 'stranded' = demand the cap can't serve within reach,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8202491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NETHERLANDS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cells · 3.44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59.8M · LOG 2.6M</a:t>
            </a:r>
            <a:endParaRPr lang="en-US" sz="1000" dirty="0"/>
          </a:p>
        </p:txBody>
      </p:sp>
      <p:pic>
        <p:nvPicPr>
          <p:cNvPr id="5" name="Image 0" descr="E:\prj\JRC\NetworkModel_EU\doc\charts\Netherlands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etherlands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7153274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5716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1,447 cells · 1.03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12.6M · LOG 1.6M</a:t>
            </a:r>
            <a:endParaRPr lang="en-US" sz="1000" dirty="0"/>
          </a:p>
        </p:txBody>
      </p:sp>
      <p:pic>
        <p:nvPicPr>
          <p:cNvPr id="5" name="Image 0" descr="E:\prj\JRC\NetworkModel_EU\doc\charts\FR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1589837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 cells · 4.13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384k</a:t>
            </a:r>
            <a:endParaRPr lang="en-US" sz="1000" dirty="0"/>
          </a:p>
        </p:txBody>
      </p:sp>
      <p:pic>
        <p:nvPicPr>
          <p:cNvPr id="5" name="Image 0" descr="E:\prj\JRC\NetworkModel_EU\doc\charts\FRB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B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1457156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 cells · 4.56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12.3M · LOG 429k</a:t>
            </a:r>
            <a:endParaRPr lang="en-US" sz="1000" dirty="0"/>
          </a:p>
        </p:txBody>
      </p:sp>
      <p:pic>
        <p:nvPicPr>
          <p:cNvPr id="5" name="Image 0" descr="E:\prj\JRC\NetworkModel_EU\doc\charts\FR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807574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cells · 4.21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13.6M · LOG 500k</a:t>
            </a:r>
            <a:endParaRPr lang="en-US" sz="1000" dirty="0"/>
          </a:p>
        </p:txBody>
      </p:sp>
      <p:pic>
        <p:nvPicPr>
          <p:cNvPr id="5" name="Image 0" descr="E:\prj\JRC\NetworkModel_EU\doc\charts\FR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93594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1,332 cells · 2.88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17.1M · LOG 852k</a:t>
            </a:r>
            <a:endParaRPr lang="en-US" sz="1000" dirty="0"/>
          </a:p>
        </p:txBody>
      </p:sp>
      <p:pic>
        <p:nvPicPr>
          <p:cNvPr id="5" name="Image 0" descr="E:\prj\JRC\NetworkModel_EU\doc\charts\FR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873822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 cells · 3.77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20.7M · LOG 832k</a:t>
            </a:r>
            <a:endParaRPr lang="en-US" sz="1000" dirty="0"/>
          </a:p>
        </p:txBody>
      </p:sp>
      <p:pic>
        <p:nvPicPr>
          <p:cNvPr id="5" name="Image 0" descr="E:\prj\JRC\NetworkModel_EU\doc\charts\FR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9392019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cells · 3.97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15.0M · LOG 578k</a:t>
            </a:r>
            <a:endParaRPr lang="en-US" sz="1000" dirty="0"/>
          </a:p>
        </p:txBody>
      </p:sp>
      <p:pic>
        <p:nvPicPr>
          <p:cNvPr id="5" name="Image 0" descr="E:\prj\JRC\NetworkModel_EU\doc\charts\F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6983255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cells · 4.23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13.9M · LOG 508k</a:t>
            </a:r>
            <a:endParaRPr lang="en-US" sz="1000" dirty="0"/>
          </a:p>
        </p:txBody>
      </p:sp>
      <p:pic>
        <p:nvPicPr>
          <p:cNvPr id="5" name="Image 0" descr="E:\prj\JRC\NetworkModel_EU\doc\charts\FR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8694179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1,583 cells · 4.30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24.9M · LOG 906k</a:t>
            </a:r>
            <a:endParaRPr lang="en-US" sz="1000" dirty="0"/>
          </a:p>
        </p:txBody>
      </p:sp>
      <p:pic>
        <p:nvPicPr>
          <p:cNvPr id="5" name="Image 0" descr="E:\prj\JRC\NetworkModel_EU\doc\charts\FR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359583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FRJ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 cells · 3.63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21.0M · LOG 870k</a:t>
            </a:r>
            <a:endParaRPr lang="en-US" sz="1000" dirty="0"/>
          </a:p>
        </p:txBody>
      </p:sp>
      <p:pic>
        <p:nvPicPr>
          <p:cNvPr id="5" name="Image 0" descr="E:\prj\JRC\NetworkModel_EU\doc\charts\FRJ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J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0632117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1,683 cells · 3.46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27.5M · LOG 1.2M</a:t>
            </a:r>
            <a:endParaRPr lang="en-US" sz="1000" dirty="0"/>
          </a:p>
        </p:txBody>
      </p:sp>
      <p:pic>
        <p:nvPicPr>
          <p:cNvPr id="5" name="Image 0" descr="E:\prj\JRC\NetworkModel_EU\doc\charts\F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8830916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1,021 cells · 2.51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12.5M · LOG 702k</a:t>
            </a:r>
            <a:endParaRPr lang="en-US" sz="1000" dirty="0"/>
          </a:p>
        </p:txBody>
      </p:sp>
      <p:pic>
        <p:nvPicPr>
          <p:cNvPr id="5" name="Image 0" descr="E:\prj\JRC\NetworkModel_EU\doc\charts\FR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741732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cells · 4.59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1.5M · LOG 51k</a:t>
            </a:r>
            <a:endParaRPr lang="en-US" sz="1000" dirty="0"/>
          </a:p>
        </p:txBody>
      </p:sp>
      <p:pic>
        <p:nvPicPr>
          <p:cNvPr id="5" name="Image 0" descr="E:\prj\JRC\NetworkModel_EU\doc\charts\FR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85953389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Nord-Ovest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3,652 cells · 2.55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40.1M · LOG 2.2M</a:t>
            </a:r>
            <a:endParaRPr lang="en-US" sz="1000" dirty="0"/>
          </a:p>
        </p:txBody>
      </p:sp>
      <p:pic>
        <p:nvPicPr>
          <p:cNvPr id="5" name="Image 0" descr="E:\prj\JRC\NetworkModel_EU\doc\charts\IT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260893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2,841 cells · 3.19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42.0M · LOG 1.9M</a:t>
            </a:r>
            <a:endParaRPr lang="en-US" sz="1000" dirty="0"/>
          </a:p>
        </p:txBody>
      </p:sp>
      <p:pic>
        <p:nvPicPr>
          <p:cNvPr id="5" name="Image 0" descr="E:\prj\JRC\NetworkModel_EU\doc\charts\IT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8253203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1,181 cells · 2.73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14.6M · LOG 766k</a:t>
            </a:r>
            <a:endParaRPr lang="en-US" sz="1000" dirty="0"/>
          </a:p>
        </p:txBody>
      </p:sp>
      <p:pic>
        <p:nvPicPr>
          <p:cNvPr id="5" name="Image 0" descr="E:\prj\JRC\NetworkModel_EU\doc\charts\IT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03137723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2,722 cells · 3.58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40.7M · LOG 1.7M</a:t>
            </a:r>
            <a:endParaRPr lang="en-US" sz="1000" dirty="0"/>
          </a:p>
        </p:txBody>
      </p:sp>
      <p:pic>
        <p:nvPicPr>
          <p:cNvPr id="5" name="Image 0" descr="E:\prj\JRC\NetworkModel_EU\doc\charts\IT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3904890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2,242 cells · 3.47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40.0M · LOG 1.7M</a:t>
            </a:r>
            <a:endParaRPr lang="en-US" sz="1000" dirty="0"/>
          </a:p>
        </p:txBody>
      </p:sp>
      <p:pic>
        <p:nvPicPr>
          <p:cNvPr id="5" name="Image 0" descr="E:\prj\JRC\NetworkModel_EU\doc\charts\IT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9990968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 cells · 5.01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19.9M · LOG 659k</a:t>
            </a:r>
            <a:endParaRPr lang="en-US" sz="1000" dirty="0"/>
          </a:p>
        </p:txBody>
      </p:sp>
      <p:pic>
        <p:nvPicPr>
          <p:cNvPr id="5" name="Image 0" descr="E:\prj\JRC\NetworkModel_EU\doc\charts\SE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8895017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Södra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cells · 6.70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28.0M · LOG 765k</a:t>
            </a:r>
            <a:endParaRPr lang="en-US" sz="1000" dirty="0"/>
          </a:p>
        </p:txBody>
      </p:sp>
      <p:pic>
        <p:nvPicPr>
          <p:cNvPr id="5" name="Image 0" descr="E:\prj\JRC\NetworkModel_EU\doc\charts\SE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9358798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cells · 8.14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13.1M · LOG 323k</a:t>
            </a:r>
            <a:endParaRPr lang="en-US" sz="1000" dirty="0"/>
          </a:p>
        </p:txBody>
      </p:sp>
      <p:pic>
        <p:nvPicPr>
          <p:cNvPr id="5" name="Image 0" descr="E:\prj\JRC\NetworkModel_EU\doc\charts\SE3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3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17080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LINEAR vs LOGISTIC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tracks the LP-relax lower bound — the gap is tightest under LOGISTIC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c(t) — unbounded, stranding expensive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+0–18% over the LP bound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rounding costs more where stranding is dear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0B6E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 c(t) — saturates ≈1, stranding cheap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73952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+0–4.7% over the LP bound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73952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is nearly free; the frontier is almost integral</a:t>
            </a:r>
            <a:endParaRPr lang="en-US" sz="105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(685)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(62)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(395)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(189)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(722)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(656)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(746)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(873)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(659)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 (391)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(161)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(377)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(372)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(174)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 (1233)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(1210)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(576)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(455)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(550)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5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(263)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(776)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(306)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(500)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(94)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(107)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(242)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(1187)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(503)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 (2517)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(45)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= multistart travel above the LP-relax bound  (multistart clients stranded by rounding, priced at c(t_max)).  Sparse Swedish regions keep the largest bound-gaps.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92659572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against Bernhard's &amp; Lewis's framing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implemented · in progress · remaining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— replaces the old one-by-one greedy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facility cost a+bx → reduces to λ·#facilities in the LP (λ = w·a, a=100k)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λ-sweep → Pareto curve of #facilities vs travel cost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Lewis's 3 cases live: S1 (same #, ↓travel) · S2 (same travel, ↓#) · S3 full frontier (↓both)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travel costs both run &amp; compared (this deck)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Inhabited-cell candidates; pharmacies merged per grid cell (1 992→1 617 in NL)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Per-region (NUTS-1) analysis — 22 regions across FR/IT/SE/NL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= the LP lower bound (travel_relax); rounded to integer by multistart, so we ship whole pharmacies — and the fractional LP is the cheap part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224528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0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◐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07408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Status-quo → curve distance: coverage-honest (stranded priced at c(t_max)); a single 2-D distance metric still to formalize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params: now midpoint 30 / scale 15 min — retune to Lewis's ~5 &amp; ~45-min kinks, then sweep sensitivity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vs unconstrained-frontier gap — have per-region curves, not yet the "how far from unconstrained" comparison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FR1, ITG, SE2 vs the much-lower baseline — higher λ required? (baseline &amp; sweep use different location sets)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083296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2F5F8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47888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66176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a real pharmacy a,b (schools: 99 699 + 3 277.5x); decide if fixed cost depends on &lt;6-y care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λ intuitively — e.g. express it in travel-time-equivalent units (person-min per facility)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candidate set: verify existing pharmacies ⊂ settlements, then restrict locations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Catchment-realism check outside urban areas — any cell un-servable by one pharmacy?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 facility cost (after linear) · other travel shapes if needed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Mixed-integer testing of S2 for a few small regions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 indicators as in his e-mail of 22 May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Pareto frontier per country (combine the regional sweeps)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Counterfactuals: −10% pop (easy) · replace a known X% (easy) · choose which X to close (hard)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locations &amp; client counts for NL and ITF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59893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the group: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cost constant with vs without &lt;6-y care?  ·  logistic vs linear = the equity-weighting choice  ·  best way to communicate λ?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2996431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TRAVEL-COST FUNCTION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c(t)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current vs a Lewis-tuned alternative</a:t>
            </a:r>
            <a:endParaRPr lang="en-US" sz="2200" dirty="0"/>
          </a:p>
        </p:txBody>
      </p:sp>
      <p:pic>
        <p:nvPicPr>
          <p:cNvPr id="4" name="Image 0" descr="E:\prj\JRC\NetworkModel_EU\doc\charts\logistic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17320"/>
            <a:ext cx="7132320" cy="3849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46304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30 · scale 15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80960" y="175564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25 · scale 10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212848"/>
          <a:ext cx="4160520" cy="914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(min)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80960" y="42976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cross at ≈15 min (0.27).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alternative is lower below ~10 min (ignores minor relocations) and saturates by ~45 min (caps remote weight) — closer to Lewis's 22-May ask. Not yet swept; see roadmap.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11480" y="6446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is applied to travel time in minutes (raw OD seconds ÷ 60); LINEAR uses c(t)=t. settings.jl:82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6875017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6573</Words>
  <Application>Microsoft Office PowerPoint</Application>
  <PresentationFormat>Widescreen</PresentationFormat>
  <Paragraphs>2177</Paragraphs>
  <Slides>35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3</cp:revision>
  <dcterms:created xsi:type="dcterms:W3CDTF">2026-06-01T08:24:25Z</dcterms:created>
  <dcterms:modified xsi:type="dcterms:W3CDTF">2026-06-23T09:06:34Z</dcterms:modified>
</cp:coreProperties>
</file>