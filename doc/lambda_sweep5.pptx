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4"/>
  </p:notesMasterIdLst>
  <p:sldIdLst>
    <p:sldId id="256" r:id="rId2"/>
    <p:sldId id="260" r:id="rId3"/>
    <p:sldId id="266" r:id="rId4"/>
    <p:sldId id="267" r:id="rId5"/>
    <p:sldId id="268" r:id="rId6"/>
    <p:sldId id="269" r:id="rId7"/>
    <p:sldId id="261" r:id="rId8"/>
    <p:sldId id="262" r:id="rId9"/>
    <p:sldId id="263" r:id="rId10"/>
    <p:sldId id="264" r:id="rId11"/>
    <p:sldId id="257" r:id="rId12"/>
    <p:sldId id="265" r:id="rId13"/>
    <p:sldId id="258" r:id="rId14"/>
    <p:sldId id="259" r:id="rId15"/>
    <p:sldId id="270" r:id="rId16"/>
    <p:sldId id="271" r:id="rId17"/>
    <p:sldId id="319"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20" r:id="rId66"/>
    <p:sldId id="321" r:id="rId67"/>
    <p:sldId id="322" r:id="rId68"/>
    <p:sldId id="323" r:id="rId69"/>
    <p:sldId id="324" r:id="rId70"/>
    <p:sldId id="325" r:id="rId71"/>
    <p:sldId id="326" r:id="rId72"/>
    <p:sldId id="327" r:id="rId7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7540139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2311792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319342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3330269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0565321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6668987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627889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972307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553211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2973538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0313755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1647470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0774577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4064951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3537484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6605815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0341334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9100822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995272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9662234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3919359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42573492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7547150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23921643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66955416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67653429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9996176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5102923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296262006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5055282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26218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9774234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93989043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1249053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712893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2077687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9292531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4225796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9023962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9790067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44769305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31045353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39471980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7789199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3429826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3348046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0128377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217400738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42051529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387820341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321849803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96403045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5725002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15182008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34507043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81251286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29710500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4847563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3734514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6730834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(p16–61).</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(p64).</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 (p15)</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age-weighted demand; priorities (p63).</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whether the cap–threshold ladder is worth pursuing  ·  age-weighted demand as a one-country box.</a:t>
            </a:r>
            <a:endParaRPr lang="en-US" sz="1000" dirty="0"/>
          </a:p>
        </p:txBody>
      </p:sp>
    </p:spTree>
    <p:extLst>
      <p:ext uri="{BB962C8B-B14F-4D97-AF65-F5344CB8AC3E}">
        <p14:creationId xmlns:p14="http://schemas.microsoft.com/office/powerpoint/2010/main" val="976104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9464478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5955582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273174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98184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3807170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3620492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p60–61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16586677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748338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21131678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11235075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475186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3615006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562478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550346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661372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30576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252162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16005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847564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95008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620478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55306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267865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769477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080157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01918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144934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160555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481977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058926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0774522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410980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942798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570255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737531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825450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179332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4110507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185242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091391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057147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539431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831511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652184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495168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279099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97648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046351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35980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2711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815676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33928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13703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28,609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15,808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433,828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44,416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0.00282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26,673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10,933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191,428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31743095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30480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country</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today #</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travel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cost · Δ mean t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Netherlands</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−443 · −27.4%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−551 · −34.1%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24,532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34,329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Luxembourg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−427 k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 · −29.9%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15,945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25,641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Estonia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 M min · −22.6%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 · −32.3%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 −41.4%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11,388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19,421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Latvia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−29.1%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 · −36.8%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8,822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Slovenia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 · −26.7%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 · −32.4%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17,680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25,450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Lithuania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 M min · −23.5%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 · −46.0%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10,987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19,834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128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Ireland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 M min · −16.9%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 · −27.2%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 · −34.5%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21,020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Norway</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 M min · −25.3%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−326 · −43.2%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−18.0% · −1.8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−359 · −47.6%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23,174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49,999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324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Denmark</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 M min · −14.8%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−28.6%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 · −35.6%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37,082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55,960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448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Austria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−20.4%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−373 · −33.0%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−497 · −44.0%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18,361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31,027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 M min · −21.6%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−527 · −28.0%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−623 · −33.1%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10,473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17,033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Czechia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−19.8%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−487 · −30.0%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−587 · −36.1%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22,885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Belgium</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 M min · −14.9%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−520 · −17.6%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−0.3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−552 · −18.7%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5,666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7,340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 M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−1,883 · −26.8%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 · −0.6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−2,207 · −31.4%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10,254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3825849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−237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11,918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−12.8%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−18.0%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13,075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−175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9,048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−204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14,257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 M min · −13.0%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−17.0%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−219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11,153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−162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−212 · −26.7%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13,828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 M min · −8.7%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−296 · −18.7%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−447 · −28.2%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8,368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−265 · −18.6%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−377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 M min · −14.3%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−300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13,737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−313 k min · −18.4%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−10.9%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10,336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M min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−1,101 · −38.1%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 · −1.0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−1,196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20,047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1,253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−40.7 M min · −45.8%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−732 · −58.5%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−783 · −62.5%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101,789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−15.0 M min · −49.1%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−474 · −53.2%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−26.1% · −2.4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−545 · −61.2%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18,626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56,207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−13.6 M min · −28.0%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−825 · −39.7%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−12.3%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−945 · −45.4%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12,529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23,350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−15.3 M min · −31.3%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−13.8% · −1.2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−774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M min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−186 · −48.0%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27,492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44,267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−6.0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−167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33,567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57,265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M min · −15.0%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30,810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−5.0 M min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−462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−288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−404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9,925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−247 · −24.2%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−282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−8.6%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−363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M min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16,582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425248399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17804631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the cap/threshold ladder is parked on p15.</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(x = assignment, y = facility)</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S1 (same #, ↓travel) · S2 (same travel, ↓#) · S3 full frontier — S1/S2 interpolated onto the frontier, stated in NATIVE units first, € second (p60–61)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Candidates = ≥50-pop cells ∪ pharmacy cells · clients = FULL population · adapted logit (25/10) — all 42 areas swept incl. Poland + 7 NUTS-1</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Aggregated frontier over 41 disjoint areas (exact by separability), bracketing S1 and S2 for both functions (p59)</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free of coverage artefacts (ITF #1 on an UNCHANGED value)</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REGIO review worked in: choice set (p9), λ-tangency (p10), logistic parametrised (p64), bounds on TOTAL cost only (p12), €100,000 a placeholder everywhere</a:t>
            </a:r>
            <a:endParaRPr lang="en-US" sz="860" dirty="0"/>
          </a:p>
          <a:p>
            <a:pPr marL="152400" indent="-152400">
              <a:lnSpc>
                <a:spcPct val="98000"/>
              </a:lnSpc>
              <a:spcAft>
                <a:spcPts val="400"/>
              </a:spcAft>
              <a:buSzPct val="100000"/>
              <a:buChar char="•"/>
            </a:pPr>
            <a:r>
              <a:rPr lang="en-US" sz="860" dirty="0">
                <a:solidFill>
                  <a:srgbClr val="12233A"/>
                </a:solidFill>
                <a:latin typeface="Calibri" pitchFamily="34" charset="0"/>
                <a:ea typeface="Calibri" pitchFamily="34" charset="-122"/>
                <a:cs typeface="Calibri" pitchFamily="34" charset="-120"/>
              </a:rPr>
              <a:t>Large-region subsampling keeps EVERY baseline location, so the frontier still dominates the baseline</a:t>
            </a:r>
            <a:endParaRPr lang="en-US" sz="86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 also replaces the nearest-grid-point snap that makes S1 = S2 in 5 areas (FRC/FRH/FRJ/FRK/SE2,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(SE2: 10.2% of residents one closure from stranding,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realistic bounds are hard to set, so this may not pay off (p15)</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Age-weighted demand (Brons/BN): a box for one country, e.g. 0.5 / 1 / 1.5 by age bracket — client_weight_col already reads any column; compare the S1/S2 shift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 cells = ≥50-pop cells AND their neighbours (Brons/BN), one country — pulls the same way as the wider radius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(p64)</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 settlement candidate set (verify existing ⊂ settlements)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per location) — the tangency slide (p10) is the first step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 country; corr catchment &amp; travel cost; border 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(p64)?  ·  territorial coverage constraints for equity, or keep soft coverage?  ·  age-weighted demand as a one-country box?</a:t>
            </a:r>
            <a:endParaRPr lang="en-US" sz="1000" dirty="0"/>
          </a:p>
        </p:txBody>
      </p:sp>
    </p:spTree>
    <p:extLst>
      <p:ext uri="{BB962C8B-B14F-4D97-AF65-F5344CB8AC3E}">
        <p14:creationId xmlns:p14="http://schemas.microsoft.com/office/powerpoint/2010/main" val="386762995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53257931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C9B829-B940-876D-1802-9BFE2AB9106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AF057C9-0419-0F2A-C1F4-5F48A0650842}"/>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2541128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7B6070-8559-E6FA-CF1E-EAF53602D88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D082AF0-6FEF-976F-EE19-20AE54DD82A4}"/>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0014356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6ECC61-5644-1FE2-97B6-64440D1306F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A4A2007-BB57-ACC1-4C1E-A1CAFA1ACA92}"/>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58FFC54A-6833-63C1-991A-303305461EEC}"/>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6634660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9F852D1-A375-F884-30EE-53F75FFE155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302A688-067C-934C-8DB6-0E48E8E0FBC8}"/>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0827EFEE-9FDF-191D-28C6-66D8C42D9053}"/>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5584641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CA86A68-4AFA-E1E7-1C4E-74E68179AB9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007D191-B5EC-30B5-221C-5B79F5ED0FE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22112530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456BB7-99E4-5DA2-173F-A19AC9DF334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8789791-0103-7214-D4F0-7FC2EFFE611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0802409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32F733-822C-079B-82C5-12AC3FF6F5F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B2D39F8-808A-D248-A31F-10FB6D0228C7}"/>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10773024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416261-0C99-BEF2-9CA1-4547CBF2AF2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B8EEC0E-7431-E98E-80F1-728D2F55ABD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6273617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16912</Words>
  <Application>Microsoft Office PowerPoint</Application>
  <PresentationFormat>Widescreen</PresentationFormat>
  <Paragraphs>3661</Paragraphs>
  <Slides>72</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2026-09-04T15:27:14Z</dcterms:modified>
</cp:coreProperties>
</file>