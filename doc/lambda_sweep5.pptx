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1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988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026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221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3961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005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219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690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76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6461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711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56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609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58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378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3022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866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877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3160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30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322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229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1104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496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0973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58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1747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8428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1474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4134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140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281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5535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042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162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0006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2646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1920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86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4299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1212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493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883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5867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93482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893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1324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2490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5036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76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46640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95870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20177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319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1134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1109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54198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94594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43837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73818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49701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09530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40005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819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1,615 cells · 3.48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60.7M · LOG 1.9M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09463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51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2.4M · LOG 71k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81125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cells · 4.51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5.9M · LOG 174k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66282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3.96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7.5M · LOG 230k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2633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11.7M · LOG 284k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8728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4.39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361k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21164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cells · 4.71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23.6M · LOG 630k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46609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cells · 7.91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40.4M · LOG 892k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06491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466 cells · 6.52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37.5M · LOG 860k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436796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4.82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1.2M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3844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1,882 cells · 3.35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33.0M · LOG 1.1M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4125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1,624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44.4M · LOG 1.3M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767852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2,958 cells · 1.87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21.5M · LOG 1.1M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94344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7,027 cells · 3.59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133M · LOG 4.1M</a:t>
            </a:r>
            <a:endParaRPr lang="en-US" sz="1000" dirty="0"/>
          </a:p>
        </p:txBody>
      </p:sp>
      <p:pic>
        <p:nvPicPr>
          <p:cNvPr id="5" name="Image 0" descr="E:\prj\JRC\NetworkModel_EU\doc\charts\Po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60967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12.7M · LOG 1.0M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46262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4.36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309k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51437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13.4M · LOG 351k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181254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14.2M · LOG 391k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42163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1,333 cells · 2.92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619k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929954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636k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381652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4.06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15.6M · LOG 446k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017456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4.34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14.5M · LOG 397k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388516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cells · 4.54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741k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966474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23.5M · LOG 695k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852086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1,685 cells · 3.62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29.4M · LOG 912k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31599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1,026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515k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115378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1.7M · LOG 45k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403187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3,679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41.2M · LOG 1.6M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42576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2,859 cells · 3.26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43.5M · LOG 1.4M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945454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1,236 cells · 2.79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559k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630135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2,731 cells · 3.65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42.1M · LOG 1.3M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76149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2,257 cells · 3.54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41.5M · LOG 1.3M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53205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cells · 5.41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573k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8573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 cells · 7.23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31.6M · LOG 715k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067453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9.43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16.4M · LOG 350k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819740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1,442 cells · 3.21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24.5M · LOG 811k</a:t>
            </a:r>
            <a:endParaRPr lang="en-US" sz="1000" dirty="0"/>
          </a:p>
        </p:txBody>
      </p:sp>
      <p:pic>
        <p:nvPicPr>
          <p:cNvPr id="5" name="Image 0" descr="E:\prj\JRC\NetworkModel_EU\doc\charts\PL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468875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cells · 3.66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685k</a:t>
            </a:r>
            <a:endParaRPr lang="en-US" sz="1000" dirty="0"/>
          </a:p>
        </p:txBody>
      </p:sp>
      <p:pic>
        <p:nvPicPr>
          <p:cNvPr id="5" name="Image 0" descr="E:\prj\JRC\NetworkModel_EU\doc\charts\PL4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4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74410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688 cells · 3.41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12.8M · LOG 411k</a:t>
            </a:r>
            <a:endParaRPr lang="en-US" sz="1000" dirty="0"/>
          </a:p>
        </p:txBody>
      </p:sp>
      <p:pic>
        <p:nvPicPr>
          <p:cNvPr id="5" name="Image 0" descr="E:\prj\JRC\NetworkModel_EU\doc\charts\PL5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5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50266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 cells · 3.78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21.1M · LOG 642k</a:t>
            </a:r>
            <a:endParaRPr lang="en-US" sz="1000" dirty="0"/>
          </a:p>
        </p:txBody>
      </p:sp>
      <p:pic>
        <p:nvPicPr>
          <p:cNvPr id="5" name="Image 0" descr="E:\prj\JRC\NetworkModel_EU\doc\charts\PL6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6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182508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cells · 3.84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405k</a:t>
            </a:r>
            <a:endParaRPr lang="en-US" sz="1000" dirty="0"/>
          </a:p>
        </p:txBody>
      </p:sp>
      <p:pic>
        <p:nvPicPr>
          <p:cNvPr id="5" name="Image 0" descr="E:\prj\JRC\NetworkModel_EU\doc\charts\PL7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7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013691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1,065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23.1M · LOG 578k</a:t>
            </a:r>
            <a:endParaRPr lang="en-US" sz="1000" dirty="0"/>
          </a:p>
        </p:txBody>
      </p:sp>
      <p:pic>
        <p:nvPicPr>
          <p:cNvPr id="5" name="Image 0" descr="E:\prj\JRC\NetworkModel_EU\doc\charts\PL8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8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923654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Mazowiecki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cells · 3.20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591k</a:t>
            </a:r>
            <a:endParaRPr lang="en-US" sz="1000" dirty="0"/>
          </a:p>
        </p:txBody>
      </p:sp>
      <p:pic>
        <p:nvPicPr>
          <p:cNvPr id="5" name="Image 0" descr="E:\prj\JRC\NetworkModel_EU\doc\charts\PL9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9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28115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ALL AREAS COMBINED · 41 DISJOINT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aggregated frontier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facilities and travel cost summed per 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47,338 pharmacy cells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 LIN 948M · LOG 29.0M</a:t>
            </a:r>
            <a:endParaRPr lang="en-US" sz="1000" dirty="0"/>
          </a:p>
        </p:txBody>
      </p:sp>
      <p:pic>
        <p:nvPicPr>
          <p:cNvPr id="5" name="Image 0" descr="E:\prj\JRC\NetworkModel_EU\doc\charts\AGGREGAT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GGREGAT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64608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facilities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travel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56,638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446,672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195,374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382512"/>
            <a:ext cx="11274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Exact-by-separability aggregation over 41 disjoint areas (13 countries + FR/IT/SE/PL NUTS-1; country-level Poland excluded in favour of its 7 NUTS-1): at a common λ the sum of the regional optima IS the combined optimum. Summed at the union of swept w-values inside the range every area covers (14 points; an area without that exact λ is log-interpolated between its adjacent sweep points — the λ-table rule). S1/S2 not bracketed: the aggregate baseline (★) lies outside the common λ range — the full-coverage floor exceeds today's count (roadmap: extend the w-grid / exact S1-S2).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760811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79005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44,776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 · Południowy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 · Północno-Zachodni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 · Południowo-Zachodni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10,605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 · Północny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 · Centralny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 · Wschodni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 · Mazowiecki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213145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350957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 done: candidates = ≥50-pop cells ∪ pharmacy cells · clients = FULL population · adapted logit (25/10) — all 42 areas re-swept, incl. Poland + its 7 NUTS-1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frontier over all 41 disjoint areas (exact by separability) — new page after the region pages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 (diagnosed: baseline drops unreachable clients + w-grid truncation; DK the same)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w-grid upward so S1 brackets everywhere — also unlocks aggregate S1/S2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 (exact soft-coverage p-median MIP at p = baseline)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Flat-then-linear travel-cost variant; sweep logit-parameter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882632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adopted Lewis-tuned curve vs the previous one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adopted curve is lower below ~10 min (ignores minor relocations) and saturates by ~45 min (caps remote weight) — Lewis's 22-May ask. Applied in the recalculation (settings.jl defaults; previous variant via LOGISTIC_MIDPOINT=30 LOGISTIC_SCALE=15).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5473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13087</Words>
  <Application>Microsoft Office PowerPoint</Application>
  <PresentationFormat>Widescreen</PresentationFormat>
  <Paragraphs>3394</Paragraphs>
  <Slides>61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2026-07-09T18:44:47Z</dcterms:modified>
</cp:coreProperties>
</file>