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1"/>
  </p:notesMasterIdLst>
  <p:sldIdLst>
    <p:sldId id="256" r:id="rId2"/>
    <p:sldId id="260" r:id="rId3"/>
    <p:sldId id="261" r:id="rId4"/>
    <p:sldId id="257" r:id="rId5"/>
    <p:sldId id="258" r:id="rId6"/>
    <p:sldId id="262" r:id="rId7"/>
    <p:sldId id="259" r:id="rId8"/>
    <p:sldId id="263" r:id="rId9"/>
    <p:sldId id="264" r:id="rId10"/>
    <p:sldId id="265" r:id="rId11"/>
    <p:sldId id="266" r:id="rId12"/>
    <p:sldId id="267" r:id="rId13"/>
    <p:sldId id="268" r:id="rId14"/>
    <p:sldId id="316"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4" r:id="rId41"/>
    <p:sldId id="295" r:id="rId42"/>
    <p:sldId id="296" r:id="rId43"/>
    <p:sldId id="297" r:id="rId44"/>
    <p:sldId id="298" r:id="rId45"/>
    <p:sldId id="299" r:id="rId46"/>
    <p:sldId id="300" r:id="rId47"/>
    <p:sldId id="301" r:id="rId48"/>
    <p:sldId id="302" r:id="rId49"/>
    <p:sldId id="303" r:id="rId50"/>
    <p:sldId id="304" r:id="rId51"/>
    <p:sldId id="305" r:id="rId52"/>
    <p:sldId id="306" r:id="rId53"/>
    <p:sldId id="307" r:id="rId54"/>
    <p:sldId id="308" r:id="rId55"/>
    <p:sldId id="309" r:id="rId56"/>
    <p:sldId id="310" r:id="rId57"/>
    <p:sldId id="311" r:id="rId58"/>
    <p:sldId id="312" r:id="rId59"/>
    <p:sldId id="313" r:id="rId60"/>
    <p:sldId id="314" r:id="rId61"/>
    <p:sldId id="315" r:id="rId62"/>
    <p:sldId id="317" r:id="rId63"/>
    <p:sldId id="318" r:id="rId64"/>
    <p:sldId id="319" r:id="rId65"/>
    <p:sldId id="320" r:id="rId66"/>
    <p:sldId id="321" r:id="rId67"/>
    <p:sldId id="322" r:id="rId68"/>
    <p:sldId id="323" r:id="rId69"/>
    <p:sldId id="324" r:id="rId7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59" d="100"/>
          <a:sy n="159" d="100"/>
        </p:scale>
        <p:origin x="1680"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10051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285960966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316050196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34741417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369265076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51070858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8090402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65627572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324307770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211040294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260281169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46477271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251658300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30053797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268259443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94048275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8777092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1042848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82568382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409082690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418600887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341701217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252486809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42735174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351796492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65867844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216247520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959919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5972355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88704564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73933865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220968711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415760411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70847219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377797880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226658008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359170520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82683290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393965543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3492181486"/>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4371499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77720049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24546468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66814657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28620719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275400977"/>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4293617382"/>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260957382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209507645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340612585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351624112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300988829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216983107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157618949"/>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396173245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3060617644"/>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73910053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5676263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2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19.png"/></Relationships>
</file>

<file path=ppt/slides/_rels/slide2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21.png"/></Relationships>
</file>

<file path=ppt/slides/_rels/slide2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23.png"/></Relationships>
</file>

<file path=ppt/slides/_rels/slide2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25.png"/></Relationships>
</file>

<file path=ppt/slides/_rels/slide2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27.png"/></Relationships>
</file>

<file path=ppt/slides/_rels/slide2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29.png"/></Relationships>
</file>

<file path=ppt/slides/_rels/slide2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31.png"/></Relationships>
</file>

<file path=ppt/slides/_rels/slide2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33.png"/></Relationships>
</file>

<file path=ppt/slides/_rels/slide30.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35.png"/></Relationships>
</file>

<file path=ppt/slides/_rels/slide3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image" Target="../media/image37.png"/></Relationships>
</file>

<file path=ppt/slides/_rels/slide3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1.xml"/><Relationship Id="rId1" Type="http://schemas.openxmlformats.org/officeDocument/2006/relationships/slideLayout" Target="../slideLayouts/slideLayout1.xml"/><Relationship Id="rId4" Type="http://schemas.openxmlformats.org/officeDocument/2006/relationships/image" Target="../media/image39.png"/></Relationships>
</file>

<file path=ppt/slides/_rels/slide3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2.xml"/><Relationship Id="rId1" Type="http://schemas.openxmlformats.org/officeDocument/2006/relationships/slideLayout" Target="../slideLayouts/slideLayout1.xml"/><Relationship Id="rId4" Type="http://schemas.openxmlformats.org/officeDocument/2006/relationships/image" Target="../media/image41.png"/></Relationships>
</file>

<file path=ppt/slides/_rels/slide3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43.png"/></Relationships>
</file>

<file path=ppt/slides/_rels/slide35.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45.png"/></Relationships>
</file>

<file path=ppt/slides/_rels/slide3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35.xml"/><Relationship Id="rId1" Type="http://schemas.openxmlformats.org/officeDocument/2006/relationships/slideLayout" Target="../slideLayouts/slideLayout1.xml"/><Relationship Id="rId4" Type="http://schemas.openxmlformats.org/officeDocument/2006/relationships/image" Target="../media/image47.png"/></Relationships>
</file>

<file path=ppt/slides/_rels/slide37.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36.xml"/><Relationship Id="rId1" Type="http://schemas.openxmlformats.org/officeDocument/2006/relationships/slideLayout" Target="../slideLayouts/slideLayout1.xml"/><Relationship Id="rId4" Type="http://schemas.openxmlformats.org/officeDocument/2006/relationships/image" Target="../media/image49.png"/></Relationships>
</file>

<file path=ppt/slides/_rels/slide3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image" Target="../media/image51.png"/></Relationships>
</file>

<file path=ppt/slides/_rels/slide39.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53.png"/></Relationships>
</file>

<file path=ppt/slides/_rels/slide40.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39.xml"/><Relationship Id="rId1" Type="http://schemas.openxmlformats.org/officeDocument/2006/relationships/slideLayout" Target="../slideLayouts/slideLayout1.xml"/><Relationship Id="rId4" Type="http://schemas.openxmlformats.org/officeDocument/2006/relationships/image" Target="../media/image55.png"/></Relationships>
</file>

<file path=ppt/slides/_rels/slide41.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40.xml"/><Relationship Id="rId1" Type="http://schemas.openxmlformats.org/officeDocument/2006/relationships/slideLayout" Target="../slideLayouts/slideLayout1.xml"/><Relationship Id="rId4" Type="http://schemas.openxmlformats.org/officeDocument/2006/relationships/image" Target="../media/image57.png"/></Relationships>
</file>

<file path=ppt/slides/_rels/slide42.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41.xml"/><Relationship Id="rId1" Type="http://schemas.openxmlformats.org/officeDocument/2006/relationships/slideLayout" Target="../slideLayouts/slideLayout1.xml"/><Relationship Id="rId4" Type="http://schemas.openxmlformats.org/officeDocument/2006/relationships/image" Target="../media/image59.png"/></Relationships>
</file>

<file path=ppt/slides/_rels/slide43.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42.xml"/><Relationship Id="rId1" Type="http://schemas.openxmlformats.org/officeDocument/2006/relationships/slideLayout" Target="../slideLayouts/slideLayout1.xml"/><Relationship Id="rId4" Type="http://schemas.openxmlformats.org/officeDocument/2006/relationships/image" Target="../media/image61.png"/></Relationships>
</file>

<file path=ppt/slides/_rels/slide44.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63.png"/></Relationships>
</file>

<file path=ppt/slides/_rels/slide45.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44.xml"/><Relationship Id="rId1" Type="http://schemas.openxmlformats.org/officeDocument/2006/relationships/slideLayout" Target="../slideLayouts/slideLayout1.xml"/><Relationship Id="rId4" Type="http://schemas.openxmlformats.org/officeDocument/2006/relationships/image" Target="../media/image65.png"/></Relationships>
</file>

<file path=ppt/slides/_rels/slide46.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45.xml"/><Relationship Id="rId1" Type="http://schemas.openxmlformats.org/officeDocument/2006/relationships/slideLayout" Target="../slideLayouts/slideLayout1.xml"/><Relationship Id="rId4" Type="http://schemas.openxmlformats.org/officeDocument/2006/relationships/image" Target="../media/image67.png"/></Relationships>
</file>

<file path=ppt/slides/_rels/slide47.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69.png"/></Relationships>
</file>

<file path=ppt/slides/_rels/slide48.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47.xml"/><Relationship Id="rId1" Type="http://schemas.openxmlformats.org/officeDocument/2006/relationships/slideLayout" Target="../slideLayouts/slideLayout1.xml"/><Relationship Id="rId4" Type="http://schemas.openxmlformats.org/officeDocument/2006/relationships/image" Target="../media/image71.png"/></Relationships>
</file>

<file path=ppt/slides/_rels/slide49.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48.xml"/><Relationship Id="rId1" Type="http://schemas.openxmlformats.org/officeDocument/2006/relationships/slideLayout" Target="../slideLayouts/slideLayout1.xml"/><Relationship Id="rId4" Type="http://schemas.openxmlformats.org/officeDocument/2006/relationships/image" Target="../media/image73.png"/></Relationships>
</file>

<file path=ppt/slides/_rels/slide50.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49.xml"/><Relationship Id="rId1" Type="http://schemas.openxmlformats.org/officeDocument/2006/relationships/slideLayout" Target="../slideLayouts/slideLayout1.xml"/><Relationship Id="rId4" Type="http://schemas.openxmlformats.org/officeDocument/2006/relationships/image" Target="../media/image75.png"/></Relationships>
</file>

<file path=ppt/slides/_rels/slide51.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50.xml"/><Relationship Id="rId1" Type="http://schemas.openxmlformats.org/officeDocument/2006/relationships/slideLayout" Target="../slideLayouts/slideLayout1.xml"/><Relationship Id="rId4" Type="http://schemas.openxmlformats.org/officeDocument/2006/relationships/image" Target="../media/image77.png"/></Relationships>
</file>

<file path=ppt/slides/_rels/slide52.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51.xml"/><Relationship Id="rId1" Type="http://schemas.openxmlformats.org/officeDocument/2006/relationships/slideLayout" Target="../slideLayouts/slideLayout1.xml"/><Relationship Id="rId4" Type="http://schemas.openxmlformats.org/officeDocument/2006/relationships/image" Target="../media/image79.png"/></Relationships>
</file>

<file path=ppt/slides/_rels/slide53.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52.xml"/><Relationship Id="rId1" Type="http://schemas.openxmlformats.org/officeDocument/2006/relationships/slideLayout" Target="../slideLayouts/slideLayout1.xml"/><Relationship Id="rId4" Type="http://schemas.openxmlformats.org/officeDocument/2006/relationships/image" Target="../media/image81.png"/></Relationships>
</file>

<file path=ppt/slides/_rels/slide54.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53.xml"/><Relationship Id="rId1" Type="http://schemas.openxmlformats.org/officeDocument/2006/relationships/slideLayout" Target="../slideLayouts/slideLayout1.xml"/><Relationship Id="rId4" Type="http://schemas.openxmlformats.org/officeDocument/2006/relationships/image" Target="../media/image83.png"/></Relationships>
</file>

<file path=ppt/slides/_rels/slide55.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54.xml"/><Relationship Id="rId1" Type="http://schemas.openxmlformats.org/officeDocument/2006/relationships/slideLayout" Target="../slideLayouts/slideLayout1.xml"/><Relationship Id="rId4" Type="http://schemas.openxmlformats.org/officeDocument/2006/relationships/image" Target="../media/image85.png"/></Relationships>
</file>

<file path=ppt/slides/_rels/slide56.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55.xml"/><Relationship Id="rId1" Type="http://schemas.openxmlformats.org/officeDocument/2006/relationships/slideLayout" Target="../slideLayouts/slideLayout1.xml"/><Relationship Id="rId4" Type="http://schemas.openxmlformats.org/officeDocument/2006/relationships/image" Target="../media/image87.png"/></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95C"/>
        </a:solidFill>
        <a:effectLst/>
      </p:bgPr>
    </p:bg>
    <p:spTree>
      <p:nvGrpSpPr>
        <p:cNvPr id="1" name=""/>
        <p:cNvGrpSpPr/>
        <p:nvPr/>
      </p:nvGrpSpPr>
      <p:grpSpPr>
        <a:xfrm>
          <a:off x="0" y="0"/>
          <a:ext cx="0" cy="0"/>
          <a:chOff x="0" y="0"/>
          <a:chExt cx="0" cy="0"/>
        </a:xfrm>
      </p:grpSpPr>
      <p:sp>
        <p:nvSpPr>
          <p:cNvPr id="2" name="Shape 0"/>
          <p:cNvSpPr/>
          <p:nvPr/>
        </p:nvSpPr>
        <p:spPr>
          <a:xfrm>
            <a:off x="548640" y="1828800"/>
            <a:ext cx="91440" cy="3200400"/>
          </a:xfrm>
          <a:prstGeom prst="rect">
            <a:avLst/>
          </a:prstGeom>
          <a:solidFill>
            <a:srgbClr val="F2B632"/>
          </a:solidFill>
          <a:ln/>
        </p:spPr>
        <p:txBody>
          <a:bodyPr/>
          <a:lstStyle/>
          <a:p>
            <a:endParaRPr lang="en-GB"/>
          </a:p>
        </p:txBody>
      </p:sp>
      <p:sp>
        <p:nvSpPr>
          <p:cNvPr id="3" name="Text 1"/>
          <p:cNvSpPr/>
          <p:nvPr/>
        </p:nvSpPr>
        <p:spPr>
          <a:xfrm>
            <a:off x="914400" y="1828800"/>
            <a:ext cx="10515600" cy="1097280"/>
          </a:xfrm>
          <a:prstGeom prst="rect">
            <a:avLst/>
          </a:prstGeom>
          <a:noFill/>
          <a:ln/>
        </p:spPr>
        <p:txBody>
          <a:bodyPr wrap="square" lIns="0" tIns="0" rIns="0" bIns="0" rtlCol="0" anchor="ctr"/>
          <a:lstStyle/>
          <a:p>
            <a:pPr marL="0" indent="0">
              <a:buNone/>
            </a:pPr>
            <a:r>
              <a:rPr lang="en-US" sz="4400" b="1" dirty="0">
                <a:solidFill>
                  <a:srgbClr val="FFFFFF"/>
                </a:solidFill>
                <a:latin typeface="Georgia" pitchFamily="34" charset="0"/>
                <a:ea typeface="Georgia" pitchFamily="34" charset="-122"/>
                <a:cs typeface="Georgia" pitchFamily="34" charset="-120"/>
              </a:rPr>
              <a:t>λ-sweep over an LP relaxation</a:t>
            </a:r>
            <a:endParaRPr lang="en-US" sz="4400" dirty="0"/>
          </a:p>
        </p:txBody>
      </p:sp>
      <p:sp>
        <p:nvSpPr>
          <p:cNvPr id="4" name="Text 2"/>
          <p:cNvSpPr/>
          <p:nvPr/>
        </p:nvSpPr>
        <p:spPr>
          <a:xfrm>
            <a:off x="914400" y="3017520"/>
            <a:ext cx="10515600" cy="731520"/>
          </a:xfrm>
          <a:prstGeom prst="rect">
            <a:avLst/>
          </a:prstGeom>
          <a:noFill/>
          <a:ln/>
        </p:spPr>
        <p:txBody>
          <a:bodyPr wrap="square" lIns="0" tIns="0" rIns="0" bIns="0" rtlCol="0" anchor="ctr"/>
          <a:lstStyle/>
          <a:p>
            <a:pPr marL="0" indent="0">
              <a:buNone/>
            </a:pPr>
            <a:r>
              <a:rPr lang="en-US" sz="2200" i="1" dirty="0">
                <a:solidFill>
                  <a:srgbClr val="CADCFC"/>
                </a:solidFill>
                <a:latin typeface="Calibri" pitchFamily="34" charset="0"/>
                <a:ea typeface="Calibri" pitchFamily="34" charset="-122"/>
                <a:cs typeface="Calibri" pitchFamily="34" charset="-120"/>
              </a:rPr>
              <a:t>Pareto frontiers, integrality gaps, and what the Netherlands sweep tells us</a:t>
            </a:r>
            <a:endParaRPr lang="en-US" sz="2200" dirty="0"/>
          </a:p>
        </p:txBody>
      </p:sp>
      <p:sp>
        <p:nvSpPr>
          <p:cNvPr id="5" name="Text 3"/>
          <p:cNvSpPr/>
          <p:nvPr/>
        </p:nvSpPr>
        <p:spPr>
          <a:xfrm>
            <a:off x="914400" y="6035040"/>
            <a:ext cx="10515600" cy="365760"/>
          </a:xfrm>
          <a:prstGeom prst="rect">
            <a:avLst/>
          </a:prstGeom>
          <a:noFill/>
          <a:ln/>
        </p:spPr>
        <p:txBody>
          <a:bodyPr wrap="square" lIns="0" tIns="0" rIns="0" bIns="0" rtlCol="0" anchor="ctr"/>
          <a:lstStyle/>
          <a:p>
            <a:pPr marL="0" indent="0">
              <a:buNone/>
            </a:pPr>
            <a:r>
              <a:rPr lang="en-US" sz="1200" dirty="0">
                <a:solidFill>
                  <a:srgbClr val="8CA3C9"/>
                </a:solidFill>
                <a:latin typeface="Calibri" pitchFamily="34" charset="0"/>
                <a:ea typeface="Calibri" pitchFamily="34" charset="-122"/>
                <a:cs typeface="Calibri" pitchFamily="34" charset="-120"/>
              </a:rPr>
              <a:t>lambda_sweep.jl  ·  NetworkModel_EU / ServiceAccess  ·  May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310896"/>
            <a:ext cx="8229600" cy="274320"/>
          </a:xfrm>
          <a:prstGeom prst="rect">
            <a:avLst/>
          </a:prstGeom>
          <a:noFill/>
          <a:ln/>
        </p:spPr>
        <p:txBody>
          <a:bodyPr wrap="square" rtlCol="0" anchor="ctr"/>
          <a:lstStyle/>
          <a:p>
            <a:pPr marL="0" indent="0">
              <a:buNone/>
            </a:pPr>
            <a:r>
              <a:rPr lang="en-US" sz="1200" b="1" kern="0" spc="200" dirty="0">
                <a:solidFill>
                  <a:srgbClr val="0B6E99"/>
                </a:solidFill>
              </a:rPr>
              <a:t>AGENDA</a:t>
            </a:r>
            <a:endParaRPr lang="en-US" sz="1200" dirty="0"/>
          </a:p>
        </p:txBody>
      </p:sp>
      <p:sp>
        <p:nvSpPr>
          <p:cNvPr id="3" name="Text 1"/>
          <p:cNvSpPr/>
          <p:nvPr/>
        </p:nvSpPr>
        <p:spPr>
          <a:xfrm>
            <a:off x="411480" y="566928"/>
            <a:ext cx="11430000" cy="457200"/>
          </a:xfrm>
          <a:prstGeom prst="rect">
            <a:avLst/>
          </a:prstGeom>
          <a:noFill/>
          <a:ln/>
        </p:spPr>
        <p:txBody>
          <a:bodyPr wrap="square" rtlCol="0" anchor="ctr"/>
          <a:lstStyle/>
          <a:p>
            <a:pPr marL="0" indent="0">
              <a:buNone/>
            </a:pPr>
            <a:r>
              <a:rPr lang="en-US" sz="2400" b="1" dirty="0">
                <a:solidFill>
                  <a:srgbClr val="12233A"/>
                </a:solidFill>
                <a:latin typeface="Georgia" pitchFamily="34" charset="0"/>
                <a:ea typeface="Georgia" pitchFamily="34" charset="-122"/>
                <a:cs typeface="Georgia" pitchFamily="34" charset="-120"/>
              </a:rPr>
              <a:t>Proposed agenda  </a:t>
            </a:r>
            <a:r>
              <a:rPr lang="en-US" sz="2400" dirty="0">
                <a:solidFill>
                  <a:srgbClr val="1C3D5A"/>
                </a:solidFill>
                <a:latin typeface="Georgia" pitchFamily="34" charset="0"/>
                <a:ea typeface="Georgia" pitchFamily="34" charset="-122"/>
                <a:cs typeface="Georgia" pitchFamily="34" charset="-120"/>
              </a:rPr>
              <a:t>— assessing the current pharmacy distribution</a:t>
            </a:r>
            <a:endParaRPr lang="en-US" sz="2400" dirty="0"/>
          </a:p>
        </p:txBody>
      </p:sp>
      <p:sp>
        <p:nvSpPr>
          <p:cNvPr id="4" name="Shape 2"/>
          <p:cNvSpPr/>
          <p:nvPr/>
        </p:nvSpPr>
        <p:spPr>
          <a:xfrm>
            <a:off x="457200" y="146304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5" name="Text 3"/>
          <p:cNvSpPr/>
          <p:nvPr/>
        </p:nvSpPr>
        <p:spPr>
          <a:xfrm>
            <a:off x="457200" y="146304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024128" y="1435608"/>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Scope &amp; method</a:t>
            </a:r>
            <a:endParaRPr lang="en-US" sz="1500" dirty="0"/>
          </a:p>
        </p:txBody>
      </p:sp>
      <p:sp>
        <p:nvSpPr>
          <p:cNvPr id="7" name="Text 5"/>
          <p:cNvSpPr/>
          <p:nvPr/>
        </p:nvSpPr>
        <p:spPr>
          <a:xfrm>
            <a:off x="1024128" y="1728216"/>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Tabula-rasa LP allocation + λ-sweep over the road-network OD; how to read the #facilities ↔ travel-cost frontier.</a:t>
            </a:r>
            <a:endParaRPr lang="en-US" sz="1150" dirty="0"/>
          </a:p>
        </p:txBody>
      </p:sp>
      <p:sp>
        <p:nvSpPr>
          <p:cNvPr id="8" name="Shape 6"/>
          <p:cNvSpPr/>
          <p:nvPr/>
        </p:nvSpPr>
        <p:spPr>
          <a:xfrm>
            <a:off x="457200" y="2249424"/>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9" name="Text 7"/>
          <p:cNvSpPr/>
          <p:nvPr/>
        </p:nvSpPr>
        <p:spPr>
          <a:xfrm>
            <a:off x="457200" y="2249424"/>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p:nvPr/>
        </p:nvSpPr>
        <p:spPr>
          <a:xfrm>
            <a:off x="1024128" y="2221992"/>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The current distribution</a:t>
            </a:r>
            <a:endParaRPr lang="en-US" sz="1500" dirty="0"/>
          </a:p>
        </p:txBody>
      </p:sp>
      <p:sp>
        <p:nvSpPr>
          <p:cNvPr id="11" name="Text 9"/>
          <p:cNvSpPr/>
          <p:nvPr/>
        </p:nvSpPr>
        <p:spPr>
          <a:xfrm>
            <a:off x="1024128" y="2514600"/>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Descriptive metrics per country &amp; key NUTS1 — residents per pharmacy and catchment-size distributions, by road.</a:t>
            </a:r>
            <a:endParaRPr lang="en-US" sz="1150" dirty="0"/>
          </a:p>
        </p:txBody>
      </p:sp>
      <p:sp>
        <p:nvSpPr>
          <p:cNvPr id="12" name="Shape 10"/>
          <p:cNvSpPr/>
          <p:nvPr/>
        </p:nvSpPr>
        <p:spPr>
          <a:xfrm>
            <a:off x="457200" y="3035808"/>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3" name="Text 11"/>
          <p:cNvSpPr/>
          <p:nvPr/>
        </p:nvSpPr>
        <p:spPr>
          <a:xfrm>
            <a:off x="457200" y="3035808"/>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p:nvPr/>
        </p:nvSpPr>
        <p:spPr>
          <a:xfrm>
            <a:off x="1024128" y="3008376"/>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Scenario results</a:t>
            </a:r>
            <a:endParaRPr lang="en-US" sz="1500" dirty="0"/>
          </a:p>
        </p:txBody>
      </p:sp>
      <p:sp>
        <p:nvSpPr>
          <p:cNvPr id="15" name="Text 13"/>
          <p:cNvSpPr/>
          <p:nvPr/>
        </p:nvSpPr>
        <p:spPr>
          <a:xfrm>
            <a:off x="1024128" y="3300984"/>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S1 (same #, less travel) and S2 (same travel, fewer pharmacies) per country and NUTS1 — what the frontiers show so far.</a:t>
            </a:r>
            <a:endParaRPr lang="en-US" sz="1150" dirty="0"/>
          </a:p>
        </p:txBody>
      </p:sp>
      <p:sp>
        <p:nvSpPr>
          <p:cNvPr id="16" name="Shape 14"/>
          <p:cNvSpPr/>
          <p:nvPr/>
        </p:nvSpPr>
        <p:spPr>
          <a:xfrm>
            <a:off x="457200" y="3822192"/>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7" name="Text 15"/>
          <p:cNvSpPr/>
          <p:nvPr/>
        </p:nvSpPr>
        <p:spPr>
          <a:xfrm>
            <a:off x="457200" y="3822192"/>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p:nvPr/>
        </p:nvSpPr>
        <p:spPr>
          <a:xfrm>
            <a:off x="1024128" y="3794760"/>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Travel-cost function</a:t>
            </a:r>
            <a:r>
              <a:rPr lang="en-US" sz="1100" i="1" dirty="0">
                <a:solidFill>
                  <a:srgbClr val="0B6E99"/>
                </a:solidFill>
                <a:latin typeface="Calibri" pitchFamily="34" charset="0"/>
                <a:ea typeface="Calibri" pitchFamily="34" charset="-122"/>
                <a:cs typeface="Calibri" pitchFamily="34" charset="-120"/>
              </a:rPr>
              <a:t>    ▸ for discussion / decision</a:t>
            </a:r>
            <a:endParaRPr lang="en-US" sz="1500" dirty="0"/>
          </a:p>
        </p:txBody>
      </p:sp>
      <p:sp>
        <p:nvSpPr>
          <p:cNvPr id="19" name="Text 17"/>
          <p:cNvSpPr/>
          <p:nvPr/>
        </p:nvSpPr>
        <p:spPr>
          <a:xfrm>
            <a:off x="1024128" y="4087368"/>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Logistic vs linear, and the adapted logit with kinks at ~5 &amp; ~45 min (following page).</a:t>
            </a:r>
            <a:endParaRPr lang="en-US" sz="1150" dirty="0"/>
          </a:p>
        </p:txBody>
      </p:sp>
      <p:sp>
        <p:nvSpPr>
          <p:cNvPr id="20" name="Shape 18"/>
          <p:cNvSpPr/>
          <p:nvPr/>
        </p:nvSpPr>
        <p:spPr>
          <a:xfrm>
            <a:off x="457200" y="4608576"/>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21" name="Text 19"/>
          <p:cNvSpPr/>
          <p:nvPr/>
        </p:nvSpPr>
        <p:spPr>
          <a:xfrm>
            <a:off x="457200" y="4608576"/>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2" name="Text 20"/>
          <p:cNvSpPr/>
          <p:nvPr/>
        </p:nvSpPr>
        <p:spPr>
          <a:xfrm>
            <a:off x="1024128" y="4581144"/>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Cap / threshold ladder</a:t>
            </a:r>
            <a:r>
              <a:rPr lang="en-US" sz="1100" i="1" dirty="0">
                <a:solidFill>
                  <a:srgbClr val="0B6E99"/>
                </a:solidFill>
                <a:latin typeface="Calibri" pitchFamily="34" charset="0"/>
                <a:ea typeface="Calibri" pitchFamily="34" charset="-122"/>
                <a:cs typeface="Calibri" pitchFamily="34" charset="-120"/>
              </a:rPr>
              <a:t>    ▸ for discussion / decision</a:t>
            </a:r>
            <a:endParaRPr lang="en-US" sz="1500" dirty="0"/>
          </a:p>
        </p:txBody>
      </p:sp>
      <p:sp>
        <p:nvSpPr>
          <p:cNvPr id="23" name="Text 21"/>
          <p:cNvSpPr/>
          <p:nvPr/>
        </p:nvSpPr>
        <p:spPr>
          <a:xfrm>
            <a:off x="1024128" y="4873752"/>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A proposed shortcut to the λ-sweep — but catchments vary so widely that realistic min/max bounds are hard to set. Pursue or drop?</a:t>
            </a:r>
            <a:endParaRPr lang="en-US" sz="1150" dirty="0"/>
          </a:p>
        </p:txBody>
      </p:sp>
      <p:sp>
        <p:nvSpPr>
          <p:cNvPr id="24" name="Shape 22"/>
          <p:cNvSpPr/>
          <p:nvPr/>
        </p:nvSpPr>
        <p:spPr>
          <a:xfrm>
            <a:off x="457200" y="539496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25" name="Text 23"/>
          <p:cNvSpPr/>
          <p:nvPr/>
        </p:nvSpPr>
        <p:spPr>
          <a:xfrm>
            <a:off x="457200" y="539496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26" name="Text 24"/>
          <p:cNvSpPr/>
          <p:nvPr/>
        </p:nvSpPr>
        <p:spPr>
          <a:xfrm>
            <a:off x="1024128" y="5367528"/>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Known issues &amp; roadmap</a:t>
            </a:r>
            <a:endParaRPr lang="en-US" sz="1500" dirty="0"/>
          </a:p>
        </p:txBody>
      </p:sp>
      <p:sp>
        <p:nvSpPr>
          <p:cNvPr id="27" name="Text 25"/>
          <p:cNvSpPr/>
          <p:nvPr/>
        </p:nvSpPr>
        <p:spPr>
          <a:xfrm>
            <a:off x="1024128" y="5660136"/>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Baseline consistency (FRM / ITG / SE2; clients with no reachable pharmacy); priorities and next steps.</a:t>
            </a:r>
            <a:endParaRPr lang="en-US" sz="1150" dirty="0"/>
          </a:p>
        </p:txBody>
      </p:sp>
      <p:sp>
        <p:nvSpPr>
          <p:cNvPr id="28" name="Text 26"/>
          <p:cNvSpPr/>
          <p:nvPr/>
        </p:nvSpPr>
        <p:spPr>
          <a:xfrm>
            <a:off x="411480" y="6364224"/>
            <a:ext cx="11430000" cy="365760"/>
          </a:xfrm>
          <a:prstGeom prst="rect">
            <a:avLst/>
          </a:prstGeom>
          <a:noFill/>
          <a:ln/>
        </p:spPr>
        <p:txBody>
          <a:bodyPr wrap="square" rtlCol="0" anchor="t"/>
          <a:lstStyle/>
          <a:p>
            <a:pPr marL="0" indent="0">
              <a:buNone/>
            </a:pPr>
            <a:r>
              <a:rPr lang="en-US" sz="1000" b="1" i="1" dirty="0">
                <a:solidFill>
                  <a:srgbClr val="1C3D5A"/>
                </a:solidFill>
                <a:latin typeface="Calibri" pitchFamily="34" charset="0"/>
                <a:ea typeface="Calibri" pitchFamily="34" charset="-122"/>
                <a:cs typeface="Calibri" pitchFamily="34" charset="-120"/>
              </a:rPr>
              <a:t>Decisions sought:  </a:t>
            </a:r>
            <a:r>
              <a:rPr lang="en-US" sz="1000" i="1" dirty="0">
                <a:solidFill>
                  <a:srgbClr val="5B6B7B"/>
                </a:solidFill>
                <a:latin typeface="Calibri" pitchFamily="34" charset="0"/>
                <a:ea typeface="Calibri" pitchFamily="34" charset="-122"/>
                <a:cs typeface="Calibri" pitchFamily="34" charset="-120"/>
              </a:rPr>
              <a:t>travel-cost shape (logistic vs linear / adapted logit)  ·  whether the cap–threshold ladder is worth pursuing  ·  how to communicate λ.</a:t>
            </a:r>
            <a:endParaRPr lang="en-US" sz="1000" dirty="0"/>
          </a:p>
        </p:txBody>
      </p:sp>
    </p:spTree>
    <p:extLst>
      <p:ext uri="{BB962C8B-B14F-4D97-AF65-F5344CB8AC3E}">
        <p14:creationId xmlns:p14="http://schemas.microsoft.com/office/powerpoint/2010/main" val="219615489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MODEL</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The optimization problem  </a:t>
            </a:r>
            <a:r>
              <a:rPr lang="en-US" sz="2200" dirty="0">
                <a:solidFill>
                  <a:srgbClr val="1C3D5A"/>
                </a:solidFill>
                <a:latin typeface="Georgia" pitchFamily="34" charset="0"/>
                <a:ea typeface="Georgia" pitchFamily="34" charset="-122"/>
                <a:cs typeface="Georgia" pitchFamily="34" charset="-120"/>
              </a:rPr>
              <a:t>— uncapacitated facility location on the road OD</a:t>
            </a:r>
            <a:endParaRPr lang="en-US" sz="2200" dirty="0"/>
          </a:p>
        </p:txBody>
      </p:sp>
      <p:sp>
        <p:nvSpPr>
          <p:cNvPr id="4" name="Shape 2"/>
          <p:cNvSpPr/>
          <p:nvPr/>
        </p:nvSpPr>
        <p:spPr>
          <a:xfrm>
            <a:off x="457200" y="1234440"/>
            <a:ext cx="6035040" cy="3108960"/>
          </a:xfrm>
          <a:prstGeom prst="roundRect">
            <a:avLst>
              <a:gd name="adj" fmla="val 1765"/>
            </a:avLst>
          </a:prstGeom>
          <a:solidFill>
            <a:srgbClr val="12233A"/>
          </a:solidFill>
          <a:ln w="12700">
            <a:solidFill>
              <a:srgbClr val="333333"/>
            </a:solidFill>
            <a:prstDash val="solid"/>
          </a:ln>
        </p:spPr>
        <p:txBody>
          <a:bodyPr/>
          <a:lstStyle/>
          <a:p>
            <a:endParaRPr lang="en-GB"/>
          </a:p>
        </p:txBody>
      </p:sp>
      <p:sp>
        <p:nvSpPr>
          <p:cNvPr id="5" name="Text 3"/>
          <p:cNvSpPr/>
          <p:nvPr/>
        </p:nvSpPr>
        <p:spPr>
          <a:xfrm>
            <a:off x="731520" y="1371600"/>
            <a:ext cx="5577840" cy="365760"/>
          </a:xfrm>
          <a:prstGeom prst="rect">
            <a:avLst/>
          </a:prstGeom>
          <a:noFill/>
          <a:ln/>
        </p:spPr>
        <p:txBody>
          <a:bodyPr wrap="square" rtlCol="0" anchor="ctr"/>
          <a:lstStyle/>
          <a:p>
            <a:pPr marL="0" indent="0">
              <a:buNone/>
            </a:pPr>
            <a:r>
              <a:rPr lang="en-US" sz="1400" b="1" dirty="0">
                <a:solidFill>
                  <a:srgbClr val="8FD4F0"/>
                </a:solidFill>
                <a:latin typeface="Cambria Math" pitchFamily="34" charset="0"/>
                <a:ea typeface="Cambria Math" pitchFamily="34" charset="-122"/>
                <a:cs typeface="Cambria Math" pitchFamily="34" charset="-120"/>
              </a:rPr>
              <a:t>min</a:t>
            </a:r>
            <a:r>
              <a:rPr lang="en-US" sz="1000" baseline="-40000" dirty="0">
                <a:solidFill>
                  <a:srgbClr val="8FD4F0"/>
                </a:solidFill>
                <a:latin typeface="Cambria Math" pitchFamily="34" charset="0"/>
                <a:ea typeface="Cambria Math" pitchFamily="34" charset="-122"/>
                <a:cs typeface="Cambria Math" pitchFamily="34" charset="-120"/>
              </a:rPr>
              <a:t>x,y</a:t>
            </a:r>
            <a:r>
              <a:rPr lang="en-US" sz="1400" dirty="0">
                <a:solidFill>
                  <a:srgbClr val="FFFFFF"/>
                </a:solidFill>
                <a:latin typeface="Cambria Math" pitchFamily="34" charset="0"/>
                <a:ea typeface="Cambria Math" pitchFamily="34" charset="-122"/>
                <a:cs typeface="Cambria Math" pitchFamily="34" charset="-120"/>
              </a:rPr>
              <a:t>   Σᵢ popᵢ · [ Σⱼ c(tᵢⱼ)·yᵢⱼ  +  BIG·(1 − Σⱼ yᵢⱼ) ]   +   λ · Σⱼ xⱼ</a:t>
            </a:r>
            <a:endParaRPr lang="en-US" sz="1400" dirty="0"/>
          </a:p>
        </p:txBody>
      </p:sp>
      <p:sp>
        <p:nvSpPr>
          <p:cNvPr id="6" name="Text 4"/>
          <p:cNvSpPr/>
          <p:nvPr/>
        </p:nvSpPr>
        <p:spPr>
          <a:xfrm>
            <a:off x="731520" y="1737360"/>
            <a:ext cx="5577840" cy="228600"/>
          </a:xfrm>
          <a:prstGeom prst="rect">
            <a:avLst/>
          </a:prstGeom>
          <a:noFill/>
          <a:ln/>
        </p:spPr>
        <p:txBody>
          <a:bodyPr wrap="square" rtlCol="0" anchor="ctr"/>
          <a:lstStyle/>
          <a:p>
            <a:pPr marL="0" indent="0">
              <a:buNone/>
            </a:pPr>
            <a:r>
              <a:rPr lang="en-US" sz="900" i="1" dirty="0">
                <a:solidFill>
                  <a:srgbClr val="9FB0C2"/>
                </a:solidFill>
                <a:latin typeface="Calibri" pitchFamily="34" charset="0"/>
                <a:ea typeface="Calibri" pitchFamily="34" charset="-122"/>
                <a:cs typeface="Calibri" pitchFamily="34" charset="-120"/>
              </a:rPr>
              <a:t>travel of the served share   +   the unserved share, priced at BIG   +   facility cost</a:t>
            </a:r>
            <a:endParaRPr lang="en-US" sz="900" dirty="0"/>
          </a:p>
        </p:txBody>
      </p:sp>
      <p:sp>
        <p:nvSpPr>
          <p:cNvPr id="7" name="Text 5"/>
          <p:cNvSpPr/>
          <p:nvPr/>
        </p:nvSpPr>
        <p:spPr>
          <a:xfrm>
            <a:off x="731520" y="2057400"/>
            <a:ext cx="5577840" cy="1280160"/>
          </a:xfrm>
          <a:prstGeom prst="rect">
            <a:avLst/>
          </a:prstGeom>
          <a:noFill/>
          <a:ln/>
        </p:spPr>
        <p:txBody>
          <a:bodyPr wrap="square" rtlCol="0" anchor="ctr"/>
          <a:lstStyle/>
          <a:p>
            <a:pPr marL="0" indent="0">
              <a:lnSpc>
                <a:spcPct val="135000"/>
              </a:lnSpc>
              <a:buNone/>
            </a:pPr>
            <a:r>
              <a:rPr lang="en-US" sz="1500" b="1" dirty="0">
                <a:solidFill>
                  <a:srgbClr val="8FD4F0"/>
                </a:solidFill>
                <a:latin typeface="Cambria Math" pitchFamily="34" charset="0"/>
                <a:ea typeface="Cambria Math" pitchFamily="34" charset="-122"/>
                <a:cs typeface="Cambria Math" pitchFamily="34" charset="-120"/>
              </a:rPr>
              <a:t>s.t.</a:t>
            </a:r>
            <a:r>
              <a:rPr lang="en-US" sz="1500" dirty="0">
                <a:solidFill>
                  <a:srgbClr val="FFFFFF"/>
                </a:solidFill>
                <a:latin typeface="Cambria Math" pitchFamily="34" charset="0"/>
                <a:ea typeface="Cambria Math" pitchFamily="34" charset="-122"/>
                <a:cs typeface="Cambria Math" pitchFamily="34" charset="-120"/>
              </a:rPr>
              <a:t>  Σⱼ yᵢⱼ  ≤  1</a:t>
            </a:r>
            <a:r>
              <a:rPr lang="en-US" sz="1050" dirty="0">
                <a:solidFill>
                  <a:srgbClr val="FFD9A0"/>
                </a:solidFill>
                <a:latin typeface="Calibri" pitchFamily="34" charset="0"/>
                <a:ea typeface="Calibri" pitchFamily="34" charset="-122"/>
                <a:cs typeface="Calibri" pitchFamily="34" charset="-120"/>
              </a:rPr>
              <a:t>          a client MAY be left unserved</a:t>
            </a:r>
            <a:endParaRPr lang="en-US" sz="1500" dirty="0"/>
          </a:p>
          <a:p>
            <a:pPr marL="0" indent="0">
              <a:lnSpc>
                <a:spcPct val="135000"/>
              </a:lnSpc>
              <a:buNone/>
            </a:pPr>
            <a:r>
              <a:rPr lang="en-US" sz="1500" dirty="0">
                <a:solidFill>
                  <a:srgbClr val="FFFFFF"/>
                </a:solidFill>
                <a:latin typeface="Cambria Math" pitchFamily="34" charset="0"/>
                <a:ea typeface="Cambria Math" pitchFamily="34" charset="-122"/>
                <a:cs typeface="Cambria Math" pitchFamily="34" charset="-120"/>
              </a:rPr>
              <a:t>      yᵢⱼ  ≤  xⱼ</a:t>
            </a:r>
            <a:r>
              <a:rPr lang="en-US" sz="1050" dirty="0">
                <a:solidFill>
                  <a:srgbClr val="9FB0C2"/>
                </a:solidFill>
                <a:latin typeface="Calibri" pitchFamily="34" charset="0"/>
                <a:ea typeface="Calibri" pitchFamily="34" charset="-122"/>
                <a:cs typeface="Calibri" pitchFamily="34" charset="-120"/>
              </a:rPr>
              <a:t>            only to open pharmacies</a:t>
            </a:r>
            <a:endParaRPr lang="en-US" sz="1500" dirty="0"/>
          </a:p>
          <a:p>
            <a:pPr marL="0" indent="0">
              <a:lnSpc>
                <a:spcPct val="135000"/>
              </a:lnSpc>
              <a:buNone/>
            </a:pPr>
            <a:r>
              <a:rPr lang="en-US" sz="1500" dirty="0">
                <a:solidFill>
                  <a:srgbClr val="FFFFFF"/>
                </a:solidFill>
                <a:latin typeface="Cambria Math" pitchFamily="34" charset="0"/>
                <a:ea typeface="Cambria Math" pitchFamily="34" charset="-122"/>
                <a:cs typeface="Cambria Math" pitchFamily="34" charset="-120"/>
              </a:rPr>
              <a:t>      xⱼ ∈ {0,1}</a:t>
            </a:r>
            <a:r>
              <a:rPr lang="en-US" sz="1500" dirty="0">
                <a:solidFill>
                  <a:srgbClr val="FFD9A0"/>
                </a:solidFill>
                <a:latin typeface="Cambria Math" pitchFamily="34" charset="0"/>
                <a:ea typeface="Cambria Math" pitchFamily="34" charset="-122"/>
                <a:cs typeface="Cambria Math" pitchFamily="34" charset="-120"/>
              </a:rPr>
              <a:t>  →  relaxed to  0 ≤ xⱼ ≤ 1,   yᵢⱼ ≥ 0</a:t>
            </a:r>
            <a:endParaRPr lang="en-US" sz="1500" dirty="0"/>
          </a:p>
        </p:txBody>
      </p:sp>
      <p:sp>
        <p:nvSpPr>
          <p:cNvPr id="8" name="Text 6"/>
          <p:cNvSpPr/>
          <p:nvPr/>
        </p:nvSpPr>
        <p:spPr>
          <a:xfrm>
            <a:off x="731520" y="3364992"/>
            <a:ext cx="5532120" cy="868680"/>
          </a:xfrm>
          <a:prstGeom prst="rect">
            <a:avLst/>
          </a:prstGeom>
          <a:noFill/>
          <a:ln/>
        </p:spPr>
        <p:txBody>
          <a:bodyPr wrap="square" rtlCol="0" anchor="t"/>
          <a:lstStyle/>
          <a:p>
            <a:pPr marL="0" indent="0">
              <a:buNone/>
            </a:pPr>
            <a:r>
              <a:rPr lang="en-US" sz="1100" i="1" dirty="0">
                <a:solidFill>
                  <a:srgbClr val="FFFFFF"/>
                </a:solidFill>
                <a:latin typeface="Cambria Math" pitchFamily="34" charset="0"/>
                <a:ea typeface="Cambria Math" pitchFamily="34" charset="-122"/>
                <a:cs typeface="Cambria Math" pitchFamily="34" charset="-120"/>
              </a:rPr>
              <a:t>i</a:t>
            </a:r>
            <a:r>
              <a:rPr lang="en-US" sz="1050" dirty="0">
                <a:solidFill>
                  <a:srgbClr val="C7D2DD"/>
                </a:solidFill>
                <a:latin typeface="Calibri" pitchFamily="34" charset="0"/>
                <a:ea typeface="Calibri" pitchFamily="34" charset="-122"/>
                <a:cs typeface="Calibri" pitchFamily="34" charset="-120"/>
              </a:rPr>
              <a:t> = populated 1 km² cells (clients) · </a:t>
            </a:r>
            <a:r>
              <a:rPr lang="en-US" sz="1100" i="1" dirty="0">
                <a:solidFill>
                  <a:srgbClr val="FFFFFF"/>
                </a:solidFill>
                <a:latin typeface="Cambria Math" pitchFamily="34" charset="0"/>
                <a:ea typeface="Cambria Math" pitchFamily="34" charset="-122"/>
                <a:cs typeface="Cambria Math" pitchFamily="34" charset="-120"/>
              </a:rPr>
              <a:t>j</a:t>
            </a:r>
            <a:r>
              <a:rPr lang="en-US" sz="1050" dirty="0">
                <a:solidFill>
                  <a:srgbClr val="C7D2DD"/>
                </a:solidFill>
                <a:latin typeface="Calibri" pitchFamily="34" charset="0"/>
                <a:ea typeface="Calibri" pitchFamily="34" charset="-122"/>
                <a:cs typeface="Calibri" pitchFamily="34" charset="-120"/>
              </a:rPr>
              <a:t> = candidate pharmacy cells · </a:t>
            </a:r>
            <a:r>
              <a:rPr lang="en-US" sz="1100" i="1" dirty="0">
                <a:solidFill>
                  <a:srgbClr val="FFFFFF"/>
                </a:solidFill>
                <a:latin typeface="Cambria Math" pitchFamily="34" charset="0"/>
                <a:ea typeface="Cambria Math" pitchFamily="34" charset="-122"/>
                <a:cs typeface="Cambria Math" pitchFamily="34" charset="-120"/>
              </a:rPr>
              <a:t>(i,j)</a:t>
            </a:r>
            <a:r>
              <a:rPr lang="en-US" sz="1050" dirty="0">
                <a:solidFill>
                  <a:srgbClr val="C7D2DD"/>
                </a:solidFill>
                <a:latin typeface="Calibri" pitchFamily="34" charset="0"/>
                <a:ea typeface="Calibri" pitchFamily="34" charset="-122"/>
                <a:cs typeface="Calibri" pitchFamily="34" charset="-120"/>
              </a:rPr>
              <a:t> only where the road network gives tᵢⱼ ≤ t_max — the exported OD.  </a:t>
            </a:r>
            <a:r>
              <a:rPr lang="en-US" sz="1100" i="1" dirty="0">
                <a:solidFill>
                  <a:srgbClr val="FFD9A0"/>
                </a:solidFill>
                <a:latin typeface="Cambria Math" pitchFamily="34" charset="0"/>
                <a:ea typeface="Cambria Math" pitchFamily="34" charset="-122"/>
                <a:cs typeface="Cambria Math" pitchFamily="34" charset="-120"/>
              </a:rPr>
              <a:t>BIG</a:t>
            </a:r>
            <a:r>
              <a:rPr lang="en-US" sz="1050" dirty="0">
                <a:solidFill>
                  <a:srgbClr val="C7D2DD"/>
                </a:solidFill>
                <a:latin typeface="Calibri" pitchFamily="34" charset="0"/>
                <a:ea typeface="Calibri" pitchFamily="34" charset="-122"/>
                <a:cs typeface="Calibri" pitchFamily="34" charset="-120"/>
              </a:rPr>
              <a:t> = price of leaving a client unserved: 120 min (linear) / 1.0 (logistic saturation). Opening a facility only pays off where it saves more travel than λ.</a:t>
            </a:r>
            <a:endParaRPr lang="en-US" sz="1100" dirty="0"/>
          </a:p>
        </p:txBody>
      </p:sp>
      <p:sp>
        <p:nvSpPr>
          <p:cNvPr id="9" name="Text 7"/>
          <p:cNvSpPr/>
          <p:nvPr/>
        </p:nvSpPr>
        <p:spPr>
          <a:xfrm>
            <a:off x="6812280" y="1280160"/>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c(t) — travel cost, t in minutes</a:t>
            </a:r>
            <a:endParaRPr lang="en-US" sz="1250" dirty="0"/>
          </a:p>
        </p:txBody>
      </p:sp>
      <p:sp>
        <p:nvSpPr>
          <p:cNvPr id="10" name="Text 8"/>
          <p:cNvSpPr/>
          <p:nvPr/>
        </p:nvSpPr>
        <p:spPr>
          <a:xfrm>
            <a:off x="6812280" y="1527048"/>
            <a:ext cx="4937760" cy="566928"/>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LINEAR c(t)=t; LOGISTIC (adapted logit) c(t)=1/(1+e^−(t−25)/10). The swept LPs run once per function.</a:t>
            </a:r>
            <a:endParaRPr lang="en-US" sz="1050" dirty="0"/>
          </a:p>
        </p:txBody>
      </p:sp>
      <p:sp>
        <p:nvSpPr>
          <p:cNvPr id="11" name="Text 9"/>
          <p:cNvSpPr/>
          <p:nvPr/>
        </p:nvSpPr>
        <p:spPr>
          <a:xfrm>
            <a:off x="6812280" y="2121408"/>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λ = w · €100,000 — the price of a pharmacy</a:t>
            </a:r>
            <a:endParaRPr lang="en-US" sz="1250" dirty="0"/>
          </a:p>
        </p:txBody>
      </p:sp>
      <p:sp>
        <p:nvSpPr>
          <p:cNvPr id="12" name="Text 10"/>
          <p:cNvSpPr/>
          <p:nvPr/>
        </p:nvSpPr>
        <p:spPr>
          <a:xfrm>
            <a:off x="6812280" y="2368296"/>
            <a:ext cx="4937760" cy="566928"/>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Linear facility cost a+b·q reduces to λ·#open: the b·q part is ~constant while (nearly) all demand is served, so only the fixed cost a matters. Under soft coverage it cancels only approximately — the unserved share carries no b·q.</a:t>
            </a:r>
            <a:endParaRPr lang="en-US" sz="1050" dirty="0"/>
          </a:p>
        </p:txBody>
      </p:sp>
      <p:sp>
        <p:nvSpPr>
          <p:cNvPr id="13" name="Text 11"/>
          <p:cNvSpPr/>
          <p:nvPr/>
        </p:nvSpPr>
        <p:spPr>
          <a:xfrm>
            <a:off x="6812280" y="2962656"/>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One LP per λ, exact</a:t>
            </a:r>
            <a:endParaRPr lang="en-US" sz="1250" dirty="0"/>
          </a:p>
        </p:txBody>
      </p:sp>
      <p:sp>
        <p:nvSpPr>
          <p:cNvPr id="14" name="Text 12"/>
          <p:cNvSpPr/>
          <p:nvPr/>
        </p:nvSpPr>
        <p:spPr>
          <a:xfrm>
            <a:off x="6812280" y="3209544"/>
            <a:ext cx="4937760" cy="566928"/>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JuMP + HiGHS dual simplex; the model is built once and re-solved along the w-grid from the previous optimal basis (lp_run.jl solve_at_w!) — millions of yᵢⱼ, minutes per point.</a:t>
            </a:r>
            <a:endParaRPr lang="en-US" sz="1050" dirty="0"/>
          </a:p>
        </p:txBody>
      </p:sp>
      <p:sp>
        <p:nvSpPr>
          <p:cNvPr id="15" name="Shape 13"/>
          <p:cNvSpPr/>
          <p:nvPr/>
        </p:nvSpPr>
        <p:spPr>
          <a:xfrm>
            <a:off x="6812280" y="3858768"/>
            <a:ext cx="4937760" cy="713232"/>
          </a:xfrm>
          <a:prstGeom prst="roundRect">
            <a:avLst>
              <a:gd name="adj" fmla="val 6410"/>
            </a:avLst>
          </a:prstGeom>
          <a:solidFill>
            <a:srgbClr val="FBF5EA"/>
          </a:solidFill>
          <a:ln w="12700">
            <a:solidFill>
              <a:srgbClr val="B9791C"/>
            </a:solidFill>
            <a:prstDash val="solid"/>
          </a:ln>
        </p:spPr>
        <p:txBody>
          <a:bodyPr/>
          <a:lstStyle/>
          <a:p>
            <a:endParaRPr lang="en-GB"/>
          </a:p>
        </p:txBody>
      </p:sp>
      <p:sp>
        <p:nvSpPr>
          <p:cNvPr id="16" name="Text 14"/>
          <p:cNvSpPr/>
          <p:nvPr/>
        </p:nvSpPr>
        <p:spPr>
          <a:xfrm>
            <a:off x="6931152" y="3913632"/>
            <a:ext cx="4718304" cy="621792"/>
          </a:xfrm>
          <a:prstGeom prst="rect">
            <a:avLst/>
          </a:prstGeom>
          <a:noFill/>
          <a:ln/>
        </p:spPr>
        <p:txBody>
          <a:bodyPr wrap="square" rtlCol="0" anchor="t"/>
          <a:lstStyle/>
          <a:p>
            <a:pPr marL="0" indent="0">
              <a:lnSpc>
                <a:spcPct val="98000"/>
              </a:lnSpc>
              <a:buNone/>
            </a:pPr>
            <a:r>
              <a:rPr lang="en-US" sz="830" b="1" dirty="0">
                <a:solidFill>
                  <a:srgbClr val="B9791C"/>
                </a:solidFill>
                <a:latin typeface="Calibri" pitchFamily="34" charset="0"/>
                <a:ea typeface="Calibri" pitchFamily="34" charset="-122"/>
                <a:cs typeface="Calibri" pitchFamily="34" charset="-120"/>
              </a:rPr>
              <a:t>⚠ For review:  </a:t>
            </a:r>
            <a:r>
              <a:rPr lang="en-US" sz="830" dirty="0">
                <a:solidFill>
                  <a:srgbClr val="12233A"/>
                </a:solidFill>
                <a:latin typeface="Calibri" pitchFamily="34" charset="0"/>
                <a:ea typeface="Calibri" pitchFamily="34" charset="-122"/>
                <a:cs typeface="Calibri" pitchFamily="34" charset="-120"/>
              </a:rPr>
              <a:t>each client's OD holds every candidate out to its 5 nearest EXISTING pharmacies (max_nr_facilities_per_client) — it shrinks the LP but limits reassignment choice. Clients unreachable within t_max (islands / sparse interior, e.g. ITG) are now priced at BIG on BOTH sides — stranded in the baseline, optionally stranded in the LP — so ★ and frontier are directly comparable. Feedback welcome.</a:t>
            </a:r>
            <a:endParaRPr lang="en-US" sz="830" dirty="0"/>
          </a:p>
        </p:txBody>
      </p:sp>
      <p:sp>
        <p:nvSpPr>
          <p:cNvPr id="17" name="Shape 15"/>
          <p:cNvSpPr/>
          <p:nvPr/>
        </p:nvSpPr>
        <p:spPr>
          <a:xfrm>
            <a:off x="457200" y="4617720"/>
            <a:ext cx="11274552" cy="1691640"/>
          </a:xfrm>
          <a:prstGeom prst="roundRect">
            <a:avLst>
              <a:gd name="adj" fmla="val 3243"/>
            </a:avLst>
          </a:prstGeom>
          <a:solidFill>
            <a:srgbClr val="F2F5F8"/>
          </a:solidFill>
          <a:ln w="12700">
            <a:solidFill>
              <a:srgbClr val="D9E0E7"/>
            </a:solidFill>
            <a:prstDash val="solid"/>
          </a:ln>
        </p:spPr>
        <p:txBody>
          <a:bodyPr/>
          <a:lstStyle/>
          <a:p>
            <a:endParaRPr lang="en-GB"/>
          </a:p>
        </p:txBody>
      </p:sp>
      <p:sp>
        <p:nvSpPr>
          <p:cNvPr id="18" name="Text 16"/>
          <p:cNvSpPr/>
          <p:nvPr/>
        </p:nvSpPr>
        <p:spPr>
          <a:xfrm>
            <a:off x="685800" y="4754880"/>
            <a:ext cx="10835640" cy="1481328"/>
          </a:xfrm>
          <a:prstGeom prst="rect">
            <a:avLst/>
          </a:prstGeom>
          <a:noFill/>
          <a:ln/>
        </p:spPr>
        <p:txBody>
          <a:bodyPr wrap="square" rtlCol="0" anchor="t"/>
          <a:lstStyle/>
          <a:p>
            <a:pPr marL="0" indent="0">
              <a:buNone/>
            </a:pPr>
            <a:r>
              <a:rPr lang="en-US" sz="1000" b="1" dirty="0">
                <a:solidFill>
                  <a:srgbClr val="12233A"/>
                </a:solidFill>
                <a:latin typeface="Calibri" pitchFamily="34" charset="0"/>
                <a:ea typeface="Calibri" pitchFamily="34" charset="-122"/>
                <a:cs typeface="Calibri" pitchFamily="34" charset="-120"/>
              </a:rPr>
              <a:t>Why the relaxation, and what it buys.  </a:t>
            </a:r>
            <a:r>
              <a:rPr lang="en-US" sz="1000" dirty="0">
                <a:solidFill>
                  <a:srgbClr val="5B6B7B"/>
                </a:solidFill>
                <a:latin typeface="Calibri" pitchFamily="34" charset="0"/>
                <a:ea typeface="Calibri" pitchFamily="34" charset="-122"/>
                <a:cs typeface="Calibri" pitchFamily="34" charset="-120"/>
              </a:rPr>
              <a:t>With xⱼ ∈ {0,1} this is the (NP-hard) uncapacitated facility-location problem, in its strong disaggregated formulation — one yᵢⱼ ≤ xⱼ per OD pair — whose LP relaxation is known to be nearly integral, which the sweeps confirm (frac_x stays small). The LP optimum is a certified </a:t>
            </a:r>
            <a:r>
              <a:rPr lang="en-US" sz="1000" b="1" dirty="0">
                <a:solidFill>
                  <a:srgbClr val="5B6B7B"/>
                </a:solidFill>
                <a:latin typeface="Calibri" pitchFamily="34" charset="0"/>
                <a:ea typeface="Calibri" pitchFamily="34" charset="-122"/>
                <a:cs typeface="Calibri" pitchFamily="34" charset="-120"/>
              </a:rPr>
              <a:t>lower bound</a:t>
            </a:r>
            <a:r>
              <a:rPr lang="en-US" sz="1000" dirty="0">
                <a:solidFill>
                  <a:srgbClr val="5B6B7B"/>
                </a:solidFill>
                <a:latin typeface="Calibri" pitchFamily="34" charset="0"/>
                <a:ea typeface="Calibri" pitchFamily="34" charset="-122"/>
                <a:cs typeface="Calibri" pitchFamily="34" charset="-120"/>
              </a:rPr>
              <a:t> (the grey dashed line); rounding x* to a real set of pharmacies (multistart, p. 6) gives a feasible </a:t>
            </a:r>
            <a:r>
              <a:rPr lang="en-US" sz="1000" b="1" dirty="0">
                <a:solidFill>
                  <a:srgbClr val="0B6E99"/>
                </a:solidFill>
                <a:latin typeface="Calibri" pitchFamily="34" charset="0"/>
                <a:ea typeface="Calibri" pitchFamily="34" charset="-122"/>
                <a:cs typeface="Calibri" pitchFamily="34" charset="-120"/>
              </a:rPr>
              <a:t>upper bound</a:t>
            </a:r>
            <a:r>
              <a:rPr lang="en-US" sz="1000" dirty="0">
                <a:solidFill>
                  <a:srgbClr val="5B6B7B"/>
                </a:solidFill>
                <a:latin typeface="Calibri" pitchFamily="34" charset="0"/>
                <a:ea typeface="Calibri" pitchFamily="34" charset="-122"/>
                <a:cs typeface="Calibri" pitchFamily="34" charset="-120"/>
              </a:rPr>
              <a:t> — the integer optimum is pinched between the two (+0–18% LINEAR, +0–4.7% LOGISTIC).</a:t>
            </a:r>
            <a:endParaRPr lang="en-US" sz="1000" dirty="0"/>
          </a:p>
          <a:p>
            <a:pPr marL="0" indent="0">
              <a:buNone/>
            </a:pPr>
            <a:r>
              <a:rPr lang="en-US" sz="1000" b="1" dirty="0">
                <a:solidFill>
                  <a:srgbClr val="12233A"/>
                </a:solidFill>
                <a:latin typeface="Calibri" pitchFamily="34" charset="0"/>
                <a:ea typeface="Calibri" pitchFamily="34" charset="-122"/>
                <a:cs typeface="Calibri" pitchFamily="34" charset="-120"/>
              </a:rPr>
              <a:t>Relation to the p-median problem.  </a:t>
            </a:r>
            <a:r>
              <a:rPr lang="en-US" sz="1000" dirty="0">
                <a:solidFill>
                  <a:srgbClr val="5B6B7B"/>
                </a:solidFill>
                <a:latin typeface="Calibri" pitchFamily="34" charset="0"/>
                <a:ea typeface="Calibri" pitchFamily="34" charset="-122"/>
                <a:cs typeface="Calibri" pitchFamily="34" charset="-120"/>
              </a:rPr>
              <a:t>Imposing the count (Σⱼ xⱼ = p) instead of pricing it gives the p-median problem with costs c(tᵢⱼ) (ReVelle &amp; Swain 1970) — S1 at the baseline count is a p-median instance, in its soft-coverage form: a client may go unserved at BIG rather than be forced onto a far facility (an outside option / p-median with an upper bound on assignment cost). The λ-sweep is its Lagrangian relaxation w.r.t. that constraint (Cornuéjols, Fisher &amp; Nemhauser 1977): it recovers only the p’s on the lower convex envelope of the p-median value function, so p-values in non-convex gaps are unreachable by any λ — there S1/S2 are interpolated between sweep points, or pinned exactly with the cardinality constraint (roadmap: better S1/S2 estimations). The swap polish of p. 6 is the classic p-median vertex-substitution search.</a:t>
            </a:r>
            <a:endParaRPr lang="en-US" sz="1000" dirty="0"/>
          </a:p>
        </p:txBody>
      </p:sp>
      <p:sp>
        <p:nvSpPr>
          <p:cNvPr id="19" name="Text 17"/>
          <p:cNvSpPr/>
          <p:nvPr/>
        </p:nvSpPr>
        <p:spPr>
          <a:xfrm>
            <a:off x="457200" y="6446520"/>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Implementation: lp_run.jl (build_lp_warmstart / solve_at_w!) · weights popᵢ = total residents of cell i (CLIENT_WEIGHT=total_pop) · OD from GeoDMS impedance_matrix_od64, t = seconds/60.</a:t>
            </a:r>
            <a:endParaRPr lang="en-US" sz="850" dirty="0"/>
          </a:p>
        </p:txBody>
      </p:sp>
    </p:spTree>
    <p:extLst>
      <p:ext uri="{BB962C8B-B14F-4D97-AF65-F5344CB8AC3E}">
        <p14:creationId xmlns:p14="http://schemas.microsoft.com/office/powerpoint/2010/main" val="133603877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LAMBDA_SWEEP.JL</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Scenarios and what the sweep computes</a:t>
            </a:r>
            <a:endParaRPr lang="en-US" sz="3200" dirty="0"/>
          </a:p>
        </p:txBody>
      </p:sp>
      <p:sp>
        <p:nvSpPr>
          <p:cNvPr id="4" name="Shape 2"/>
          <p:cNvSpPr/>
          <p:nvPr/>
        </p:nvSpPr>
        <p:spPr>
          <a:xfrm>
            <a:off x="548640" y="1554480"/>
            <a:ext cx="5394960" cy="2286000"/>
          </a:xfrm>
          <a:prstGeom prst="rect">
            <a:avLst/>
          </a:prstGeom>
          <a:solidFill>
            <a:srgbClr val="E8EEF3"/>
          </a:solidFill>
          <a:ln w="6350">
            <a:solidFill>
              <a:srgbClr val="DCE3EA"/>
            </a:solidFill>
            <a:prstDash val="solid"/>
          </a:ln>
        </p:spPr>
        <p:txBody>
          <a:bodyPr/>
          <a:lstStyle/>
          <a:p>
            <a:endParaRPr lang="en-GB"/>
          </a:p>
        </p:txBody>
      </p:sp>
      <p:sp>
        <p:nvSpPr>
          <p:cNvPr id="5" name="Shape 3"/>
          <p:cNvSpPr/>
          <p:nvPr/>
        </p:nvSpPr>
        <p:spPr>
          <a:xfrm>
            <a:off x="548640" y="1554480"/>
            <a:ext cx="91440" cy="2286000"/>
          </a:xfrm>
          <a:prstGeom prst="rect">
            <a:avLst/>
          </a:prstGeom>
          <a:solidFill>
            <a:srgbClr val="1C7293"/>
          </a:solidFill>
          <a:ln/>
        </p:spPr>
        <p:txBody>
          <a:bodyPr/>
          <a:lstStyle/>
          <a:p>
            <a:endParaRPr lang="en-GB"/>
          </a:p>
        </p:txBody>
      </p:sp>
      <p:sp>
        <p:nvSpPr>
          <p:cNvPr id="6" name="Shape 4"/>
          <p:cNvSpPr/>
          <p:nvPr/>
        </p:nvSpPr>
        <p:spPr>
          <a:xfrm>
            <a:off x="4572000" y="1737360"/>
            <a:ext cx="1188720" cy="274320"/>
          </a:xfrm>
          <a:prstGeom prst="rect">
            <a:avLst/>
          </a:prstGeom>
          <a:solidFill>
            <a:srgbClr val="1C7293"/>
          </a:solidFill>
          <a:ln/>
        </p:spPr>
        <p:txBody>
          <a:bodyPr/>
          <a:lstStyle/>
          <a:p>
            <a:endParaRPr lang="en-GB"/>
          </a:p>
        </p:txBody>
      </p:sp>
      <p:sp>
        <p:nvSpPr>
          <p:cNvPr id="7" name="Text 5"/>
          <p:cNvSpPr/>
          <p:nvPr/>
        </p:nvSpPr>
        <p:spPr>
          <a:xfrm>
            <a:off x="4572000" y="173736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Inputs</a:t>
            </a:r>
            <a:endParaRPr lang="en-US" sz="1000" dirty="0"/>
          </a:p>
        </p:txBody>
      </p:sp>
      <p:sp>
        <p:nvSpPr>
          <p:cNvPr id="8" name="Text 6"/>
          <p:cNvSpPr/>
          <p:nvPr/>
        </p:nvSpPr>
        <p:spPr>
          <a:xfrm>
            <a:off x="822960" y="171907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Baseline</a:t>
            </a:r>
            <a:endParaRPr lang="en-US" sz="2000" dirty="0"/>
          </a:p>
        </p:txBody>
      </p:sp>
      <p:sp>
        <p:nvSpPr>
          <p:cNvPr id="9" name="Text 7"/>
          <p:cNvSpPr/>
          <p:nvPr/>
        </p:nvSpPr>
        <p:spPr>
          <a:xfrm>
            <a:off x="822960" y="214884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Current pharmacy network</a:t>
            </a:r>
            <a:endParaRPr lang="en-US" sz="1300" dirty="0"/>
          </a:p>
        </p:txBody>
      </p:sp>
      <p:sp>
        <p:nvSpPr>
          <p:cNvPr id="10" name="Text 8"/>
          <p:cNvSpPr/>
          <p:nvPr/>
        </p:nvSpPr>
        <p:spPr>
          <a:xfrm>
            <a:off x="822960" y="251460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Each client → nearest existing pharmacy.</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Reports total travel cost, mean travel time, and the count of grid cells with at least one pharmacy (target_cells).</a:t>
            </a:r>
            <a:endParaRPr lang="en-US" sz="1200" dirty="0"/>
          </a:p>
        </p:txBody>
      </p:sp>
      <p:sp>
        <p:nvSpPr>
          <p:cNvPr id="11" name="Shape 9"/>
          <p:cNvSpPr/>
          <p:nvPr/>
        </p:nvSpPr>
        <p:spPr>
          <a:xfrm>
            <a:off x="6217920" y="1554480"/>
            <a:ext cx="5394960" cy="2286000"/>
          </a:xfrm>
          <a:prstGeom prst="rect">
            <a:avLst/>
          </a:prstGeom>
          <a:solidFill>
            <a:srgbClr val="E8EEF3"/>
          </a:solidFill>
          <a:ln w="6350">
            <a:solidFill>
              <a:srgbClr val="DCE3EA"/>
            </a:solidFill>
            <a:prstDash val="solid"/>
          </a:ln>
        </p:spPr>
        <p:txBody>
          <a:bodyPr/>
          <a:lstStyle/>
          <a:p>
            <a:endParaRPr lang="en-GB"/>
          </a:p>
        </p:txBody>
      </p:sp>
      <p:sp>
        <p:nvSpPr>
          <p:cNvPr id="12" name="Shape 10"/>
          <p:cNvSpPr/>
          <p:nvPr/>
        </p:nvSpPr>
        <p:spPr>
          <a:xfrm>
            <a:off x="6217920" y="1554480"/>
            <a:ext cx="91440" cy="2286000"/>
          </a:xfrm>
          <a:prstGeom prst="rect">
            <a:avLst/>
          </a:prstGeom>
          <a:solidFill>
            <a:srgbClr val="065A82"/>
          </a:solidFill>
          <a:ln/>
        </p:spPr>
        <p:txBody>
          <a:bodyPr/>
          <a:lstStyle/>
          <a:p>
            <a:endParaRPr lang="en-GB"/>
          </a:p>
        </p:txBody>
      </p:sp>
      <p:sp>
        <p:nvSpPr>
          <p:cNvPr id="13" name="Shape 11"/>
          <p:cNvSpPr/>
          <p:nvPr/>
        </p:nvSpPr>
        <p:spPr>
          <a:xfrm>
            <a:off x="10241280" y="1737360"/>
            <a:ext cx="1188720" cy="274320"/>
          </a:xfrm>
          <a:prstGeom prst="rect">
            <a:avLst/>
          </a:prstGeom>
          <a:solidFill>
            <a:srgbClr val="065A82"/>
          </a:solidFill>
          <a:ln/>
        </p:spPr>
        <p:txBody>
          <a:bodyPr/>
          <a:lstStyle/>
          <a:p>
            <a:endParaRPr lang="en-GB"/>
          </a:p>
        </p:txBody>
      </p:sp>
      <p:sp>
        <p:nvSpPr>
          <p:cNvPr id="14" name="Text 12"/>
          <p:cNvSpPr/>
          <p:nvPr/>
        </p:nvSpPr>
        <p:spPr>
          <a:xfrm>
            <a:off x="10241280" y="173736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Equal cost</a:t>
            </a:r>
            <a:endParaRPr lang="en-US" sz="1000" dirty="0"/>
          </a:p>
        </p:txBody>
      </p:sp>
      <p:sp>
        <p:nvSpPr>
          <p:cNvPr id="15" name="Text 13"/>
          <p:cNvSpPr/>
          <p:nvPr/>
        </p:nvSpPr>
        <p:spPr>
          <a:xfrm>
            <a:off x="6492240" y="171907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S1 — fix #facilities</a:t>
            </a:r>
            <a:endParaRPr lang="en-US" sz="2000" dirty="0"/>
          </a:p>
        </p:txBody>
      </p:sp>
      <p:sp>
        <p:nvSpPr>
          <p:cNvPr id="16" name="Text 14"/>
          <p:cNvSpPr/>
          <p:nvPr/>
        </p:nvSpPr>
        <p:spPr>
          <a:xfrm>
            <a:off x="6492240" y="214884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Reduce travel time at sum_x ≈ target_cells</a:t>
            </a:r>
            <a:endParaRPr lang="en-US" sz="1300" dirty="0"/>
          </a:p>
        </p:txBody>
      </p:sp>
      <p:sp>
        <p:nvSpPr>
          <p:cNvPr id="17" name="Text 15"/>
          <p:cNvSpPr/>
          <p:nvPr/>
        </p:nvSpPr>
        <p:spPr>
          <a:xfrm>
            <a:off x="6492240" y="251460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min Σ wᵢ·c(tᵢⱼ)·yₖ + λ·Σⱼxⱼ</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Sweep λ to land sum_x at the baseline cell count.</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LP-relaxation of UFLP, strong linking yₖ ≤ x_{j(k)}.</a:t>
            </a:r>
            <a:endParaRPr lang="en-US" sz="1200" dirty="0"/>
          </a:p>
        </p:txBody>
      </p:sp>
      <p:sp>
        <p:nvSpPr>
          <p:cNvPr id="18" name="Shape 16"/>
          <p:cNvSpPr/>
          <p:nvPr/>
        </p:nvSpPr>
        <p:spPr>
          <a:xfrm>
            <a:off x="548640" y="4114800"/>
            <a:ext cx="5394960" cy="2286000"/>
          </a:xfrm>
          <a:prstGeom prst="rect">
            <a:avLst/>
          </a:prstGeom>
          <a:solidFill>
            <a:srgbClr val="E8EEF3"/>
          </a:solidFill>
          <a:ln w="6350">
            <a:solidFill>
              <a:srgbClr val="DCE3EA"/>
            </a:solidFill>
            <a:prstDash val="solid"/>
          </a:ln>
        </p:spPr>
        <p:txBody>
          <a:bodyPr/>
          <a:lstStyle/>
          <a:p>
            <a:endParaRPr lang="en-GB"/>
          </a:p>
        </p:txBody>
      </p:sp>
      <p:sp>
        <p:nvSpPr>
          <p:cNvPr id="19" name="Shape 17"/>
          <p:cNvSpPr/>
          <p:nvPr/>
        </p:nvSpPr>
        <p:spPr>
          <a:xfrm>
            <a:off x="548640" y="4114800"/>
            <a:ext cx="91440" cy="2286000"/>
          </a:xfrm>
          <a:prstGeom prst="rect">
            <a:avLst/>
          </a:prstGeom>
          <a:solidFill>
            <a:srgbClr val="065A82"/>
          </a:solidFill>
          <a:ln/>
        </p:spPr>
        <p:txBody>
          <a:bodyPr/>
          <a:lstStyle/>
          <a:p>
            <a:endParaRPr lang="en-GB"/>
          </a:p>
        </p:txBody>
      </p:sp>
      <p:sp>
        <p:nvSpPr>
          <p:cNvPr id="20" name="Shape 18"/>
          <p:cNvSpPr/>
          <p:nvPr/>
        </p:nvSpPr>
        <p:spPr>
          <a:xfrm>
            <a:off x="4572000" y="4297680"/>
            <a:ext cx="1188720" cy="274320"/>
          </a:xfrm>
          <a:prstGeom prst="rect">
            <a:avLst/>
          </a:prstGeom>
          <a:solidFill>
            <a:srgbClr val="065A82"/>
          </a:solidFill>
          <a:ln/>
        </p:spPr>
        <p:txBody>
          <a:bodyPr/>
          <a:lstStyle/>
          <a:p>
            <a:endParaRPr lang="en-GB"/>
          </a:p>
        </p:txBody>
      </p:sp>
      <p:sp>
        <p:nvSpPr>
          <p:cNvPr id="21" name="Text 19"/>
          <p:cNvSpPr/>
          <p:nvPr/>
        </p:nvSpPr>
        <p:spPr>
          <a:xfrm>
            <a:off x="4572000" y="429768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Equal access</a:t>
            </a:r>
            <a:endParaRPr lang="en-US" sz="1000" dirty="0"/>
          </a:p>
        </p:txBody>
      </p:sp>
      <p:sp>
        <p:nvSpPr>
          <p:cNvPr id="22" name="Text 20"/>
          <p:cNvSpPr/>
          <p:nvPr/>
        </p:nvSpPr>
        <p:spPr>
          <a:xfrm>
            <a:off x="822960" y="427939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S2 — fix travel cost</a:t>
            </a:r>
            <a:endParaRPr lang="en-US" sz="2000" dirty="0"/>
          </a:p>
        </p:txBody>
      </p:sp>
      <p:sp>
        <p:nvSpPr>
          <p:cNvPr id="23" name="Text 21"/>
          <p:cNvSpPr/>
          <p:nvPr/>
        </p:nvSpPr>
        <p:spPr>
          <a:xfrm>
            <a:off x="822960" y="470916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Reduce #facilities at C ≈ baseline cost</a:t>
            </a:r>
            <a:endParaRPr lang="en-US" sz="1300" dirty="0"/>
          </a:p>
        </p:txBody>
      </p:sp>
      <p:sp>
        <p:nvSpPr>
          <p:cNvPr id="24" name="Text 22"/>
          <p:cNvSpPr/>
          <p:nvPr/>
        </p:nvSpPr>
        <p:spPr>
          <a:xfrm>
            <a:off x="822960" y="507492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Same objective, different λ target.</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Closest point on sweep to the baseline travel cost; trade fewer pharmacies for the same access.</a:t>
            </a:r>
            <a:endParaRPr lang="en-US" sz="1200" dirty="0"/>
          </a:p>
        </p:txBody>
      </p:sp>
      <p:sp>
        <p:nvSpPr>
          <p:cNvPr id="25" name="Shape 23"/>
          <p:cNvSpPr/>
          <p:nvPr/>
        </p:nvSpPr>
        <p:spPr>
          <a:xfrm>
            <a:off x="6217920" y="4114800"/>
            <a:ext cx="5394960" cy="2286000"/>
          </a:xfrm>
          <a:prstGeom prst="rect">
            <a:avLst/>
          </a:prstGeom>
          <a:solidFill>
            <a:srgbClr val="E8EEF3"/>
          </a:solidFill>
          <a:ln w="6350">
            <a:solidFill>
              <a:srgbClr val="DCE3EA"/>
            </a:solidFill>
            <a:prstDash val="solid"/>
          </a:ln>
        </p:spPr>
        <p:txBody>
          <a:bodyPr/>
          <a:lstStyle/>
          <a:p>
            <a:endParaRPr lang="en-GB"/>
          </a:p>
        </p:txBody>
      </p:sp>
      <p:sp>
        <p:nvSpPr>
          <p:cNvPr id="26" name="Shape 24"/>
          <p:cNvSpPr/>
          <p:nvPr/>
        </p:nvSpPr>
        <p:spPr>
          <a:xfrm>
            <a:off x="6217920" y="4114800"/>
            <a:ext cx="91440" cy="2286000"/>
          </a:xfrm>
          <a:prstGeom prst="rect">
            <a:avLst/>
          </a:prstGeom>
          <a:solidFill>
            <a:srgbClr val="F2B632"/>
          </a:solidFill>
          <a:ln/>
        </p:spPr>
        <p:txBody>
          <a:bodyPr/>
          <a:lstStyle/>
          <a:p>
            <a:endParaRPr lang="en-GB"/>
          </a:p>
        </p:txBody>
      </p:sp>
      <p:sp>
        <p:nvSpPr>
          <p:cNvPr id="27" name="Shape 25"/>
          <p:cNvSpPr/>
          <p:nvPr/>
        </p:nvSpPr>
        <p:spPr>
          <a:xfrm>
            <a:off x="10241280" y="4297680"/>
            <a:ext cx="1188720" cy="274320"/>
          </a:xfrm>
          <a:prstGeom prst="rect">
            <a:avLst/>
          </a:prstGeom>
          <a:solidFill>
            <a:srgbClr val="F2B632"/>
          </a:solidFill>
          <a:ln/>
        </p:spPr>
        <p:txBody>
          <a:bodyPr/>
          <a:lstStyle/>
          <a:p>
            <a:endParaRPr lang="en-GB"/>
          </a:p>
        </p:txBody>
      </p:sp>
      <p:sp>
        <p:nvSpPr>
          <p:cNvPr id="28" name="Text 26"/>
          <p:cNvSpPr/>
          <p:nvPr/>
        </p:nvSpPr>
        <p:spPr>
          <a:xfrm>
            <a:off x="10241280" y="429768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Pareto sweep</a:t>
            </a:r>
            <a:endParaRPr lang="en-US" sz="1000" dirty="0"/>
          </a:p>
        </p:txBody>
      </p:sp>
      <p:sp>
        <p:nvSpPr>
          <p:cNvPr id="29" name="Text 27"/>
          <p:cNvSpPr/>
          <p:nvPr/>
        </p:nvSpPr>
        <p:spPr>
          <a:xfrm>
            <a:off x="6492240" y="427939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S3 — reduce both</a:t>
            </a:r>
            <a:endParaRPr lang="en-US" sz="2000" dirty="0"/>
          </a:p>
        </p:txBody>
      </p:sp>
      <p:sp>
        <p:nvSpPr>
          <p:cNvPr id="30" name="Text 28"/>
          <p:cNvSpPr/>
          <p:nvPr/>
        </p:nvSpPr>
        <p:spPr>
          <a:xfrm>
            <a:off x="6492240" y="470916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Trace the full Pareto frontier</a:t>
            </a:r>
            <a:endParaRPr lang="en-US" sz="1300" dirty="0"/>
          </a:p>
        </p:txBody>
      </p:sp>
      <p:sp>
        <p:nvSpPr>
          <p:cNvPr id="31" name="Text 29"/>
          <p:cNvSpPr/>
          <p:nvPr/>
        </p:nvSpPr>
        <p:spPr>
          <a:xfrm>
            <a:off x="6492240" y="507492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Coarse sweep w ∈ {1e-5 … 1e3}, then fine sweep bracketing the S1 and S2 targets.</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Report sum_x and travel cost at each λ.</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WHAT THE SWEEP TRACES</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The Pareto frontier</a:t>
            </a:r>
            <a:endParaRPr lang="en-US" sz="3200" dirty="0"/>
          </a:p>
        </p:txBody>
      </p:sp>
      <p:sp>
        <p:nvSpPr>
          <p:cNvPr id="4" name="Text 2"/>
          <p:cNvSpPr/>
          <p:nvPr/>
        </p:nvSpPr>
        <p:spPr>
          <a:xfrm>
            <a:off x="548640" y="1554480"/>
            <a:ext cx="5303520" cy="45720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Two competing objectives</a:t>
            </a:r>
            <a:endParaRPr lang="en-US" sz="2000" dirty="0"/>
          </a:p>
        </p:txBody>
      </p:sp>
      <p:sp>
        <p:nvSpPr>
          <p:cNvPr id="5" name="Text 3"/>
          <p:cNvSpPr/>
          <p:nvPr/>
        </p:nvSpPr>
        <p:spPr>
          <a:xfrm>
            <a:off x="548640" y="2011680"/>
            <a:ext cx="5303520" cy="1097280"/>
          </a:xfrm>
          <a:prstGeom prst="rect">
            <a:avLst/>
          </a:prstGeom>
          <a:noFill/>
          <a:ln/>
        </p:spPr>
        <p:txBody>
          <a:bodyPr wrap="square" lIns="0" tIns="0" rIns="0" bIns="0" rtlCol="0" anchor="ctr"/>
          <a:lstStyle/>
          <a:p>
            <a:pPr marL="0" indent="0">
              <a:buNone/>
            </a:pPr>
            <a:r>
              <a:rPr lang="en-US" sz="1400" b="1" dirty="0">
                <a:solidFill>
                  <a:srgbClr val="065A82"/>
                </a:solidFill>
                <a:latin typeface="Calibri" pitchFamily="34" charset="0"/>
                <a:ea typeface="Calibri" pitchFamily="34" charset="-122"/>
                <a:cs typeface="Calibri" pitchFamily="34" charset="-120"/>
              </a:rPr>
              <a:t>Travel cost</a:t>
            </a:r>
            <a:r>
              <a:rPr lang="en-US" sz="1400" dirty="0">
                <a:solidFill>
                  <a:srgbClr val="1F2937"/>
                </a:solidFill>
                <a:latin typeface="Calibri" pitchFamily="34" charset="0"/>
                <a:ea typeface="Calibri" pitchFamily="34" charset="-122"/>
                <a:cs typeface="Calibri" pitchFamily="34" charset="-120"/>
              </a:rPr>
              <a:t> — total person-c(t), weighted by population.</a:t>
            </a:r>
            <a:endParaRPr lang="en-US" sz="1400" dirty="0"/>
          </a:p>
          <a:p>
            <a:pPr marL="0" indent="0">
              <a:buNone/>
            </a:pPr>
            <a:r>
              <a:rPr lang="en-US" sz="1400" b="1" dirty="0">
                <a:solidFill>
                  <a:srgbClr val="065A82"/>
                </a:solidFill>
                <a:latin typeface="Calibri" pitchFamily="34" charset="0"/>
                <a:ea typeface="Calibri" pitchFamily="34" charset="-122"/>
                <a:cs typeface="Calibri" pitchFamily="34" charset="-120"/>
              </a:rPr>
              <a:t>Facility count</a:t>
            </a:r>
            <a:r>
              <a:rPr lang="en-US" sz="1400" dirty="0">
                <a:solidFill>
                  <a:srgbClr val="1F2937"/>
                </a:solidFill>
                <a:latin typeface="Calibri" pitchFamily="34" charset="0"/>
                <a:ea typeface="Calibri" pitchFamily="34" charset="-122"/>
                <a:cs typeface="Calibri" pitchFamily="34" charset="-120"/>
              </a:rPr>
              <a:t> — sum_x, the LP-relaxed number of opened pharmacies.</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 </a:t>
            </a:r>
            <a:endParaRPr lang="en-US" sz="1400" dirty="0"/>
          </a:p>
        </p:txBody>
      </p:sp>
      <p:sp>
        <p:nvSpPr>
          <p:cNvPr id="6" name="Text 4"/>
          <p:cNvSpPr/>
          <p:nvPr/>
        </p:nvSpPr>
        <p:spPr>
          <a:xfrm>
            <a:off x="548640" y="3108960"/>
            <a:ext cx="5303520" cy="41148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How the sweep works</a:t>
            </a:r>
            <a:endParaRPr lang="en-US" sz="1800" dirty="0"/>
          </a:p>
        </p:txBody>
      </p:sp>
      <p:sp>
        <p:nvSpPr>
          <p:cNvPr id="7" name="Text 5"/>
          <p:cNvSpPr/>
          <p:nvPr/>
        </p:nvSpPr>
        <p:spPr>
          <a:xfrm>
            <a:off x="548640" y="3520440"/>
            <a:ext cx="5303520" cy="2286000"/>
          </a:xfrm>
          <a:prstGeom prst="rect">
            <a:avLst/>
          </a:prstGeom>
          <a:noFill/>
          <a:ln/>
        </p:spPr>
        <p:txBody>
          <a:bodyPr wrap="square" lIns="0" tIns="0" rIns="0" bIns="0" rtlCol="0" anchor="ctr"/>
          <a:lstStyle/>
          <a:p>
            <a:pPr marL="0" indent="0">
              <a:buNone/>
            </a:pPr>
            <a:r>
              <a:rPr lang="en-US" sz="1400" dirty="0">
                <a:solidFill>
                  <a:srgbClr val="1F2937"/>
                </a:solidFill>
                <a:latin typeface="Calibri" pitchFamily="34" charset="0"/>
                <a:ea typeface="Calibri" pitchFamily="34" charset="-122"/>
                <a:cs typeface="Calibri" pitchFamily="34" charset="-120"/>
              </a:rPr>
              <a:t>Each λ gives one Pareto point (sum_x, travel_c).</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Low λ → many cheap facilities, low travel.</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High λ → few expensive facilities, high travel.</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S1 and S2 are two specific points on the same curve.</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The full sweep traces the curve between and beyond them.</a:t>
            </a:r>
            <a:endParaRPr lang="en-US" sz="1400" dirty="0"/>
          </a:p>
        </p:txBody>
      </p:sp>
      <p:sp>
        <p:nvSpPr>
          <p:cNvPr id="8" name="Shape 6"/>
          <p:cNvSpPr/>
          <p:nvPr/>
        </p:nvSpPr>
        <p:spPr>
          <a:xfrm>
            <a:off x="6400800" y="1691640"/>
            <a:ext cx="5120640" cy="4206240"/>
          </a:xfrm>
          <a:prstGeom prst="rect">
            <a:avLst/>
          </a:prstGeom>
          <a:solidFill>
            <a:srgbClr val="FFFFFF"/>
          </a:solidFill>
          <a:ln w="6350">
            <a:solidFill>
              <a:srgbClr val="DCE3EA"/>
            </a:solidFill>
            <a:prstDash val="solid"/>
          </a:ln>
        </p:spPr>
        <p:txBody>
          <a:bodyPr/>
          <a:lstStyle/>
          <a:p>
            <a:endParaRPr lang="en-GB"/>
          </a:p>
        </p:txBody>
      </p:sp>
      <p:sp>
        <p:nvSpPr>
          <p:cNvPr id="9" name="Text 7"/>
          <p:cNvSpPr/>
          <p:nvPr/>
        </p:nvSpPr>
        <p:spPr>
          <a:xfrm>
            <a:off x="6400800" y="1371600"/>
            <a:ext cx="5120640" cy="274320"/>
          </a:xfrm>
          <a:prstGeom prst="rect">
            <a:avLst/>
          </a:prstGeom>
          <a:noFill/>
          <a:ln/>
        </p:spPr>
        <p:txBody>
          <a:bodyPr wrap="square" lIns="0" tIns="0" rIns="0" bIns="0" rtlCol="0" anchor="ctr"/>
          <a:lstStyle/>
          <a:p>
            <a:pPr marL="0" indent="0" algn="ctr">
              <a:buNone/>
            </a:pPr>
            <a:r>
              <a:rPr lang="en-US" sz="1200" i="1" dirty="0">
                <a:solidFill>
                  <a:srgbClr val="64748B"/>
                </a:solidFill>
                <a:latin typeface="Calibri" pitchFamily="34" charset="0"/>
                <a:ea typeface="Calibri" pitchFamily="34" charset="-122"/>
                <a:cs typeface="Calibri" pitchFamily="34" charset="-120"/>
              </a:rPr>
              <a:t>Pareto frontier (schematic)</a:t>
            </a:r>
            <a:endParaRPr lang="en-US" sz="1200" dirty="0"/>
          </a:p>
        </p:txBody>
      </p:sp>
      <p:sp>
        <p:nvSpPr>
          <p:cNvPr id="10" name="Shape 8"/>
          <p:cNvSpPr/>
          <p:nvPr/>
        </p:nvSpPr>
        <p:spPr>
          <a:xfrm>
            <a:off x="6949440" y="2811780"/>
            <a:ext cx="4389120" cy="0"/>
          </a:xfrm>
          <a:prstGeom prst="line">
            <a:avLst/>
          </a:prstGeom>
          <a:noFill/>
          <a:ln w="6350">
            <a:solidFill>
              <a:srgbClr val="DCE3EA"/>
            </a:solidFill>
            <a:prstDash val="solid"/>
          </a:ln>
        </p:spPr>
        <p:txBody>
          <a:bodyPr/>
          <a:lstStyle/>
          <a:p>
            <a:endParaRPr lang="en-GB"/>
          </a:p>
        </p:txBody>
      </p:sp>
      <p:sp>
        <p:nvSpPr>
          <p:cNvPr id="11" name="Shape 9"/>
          <p:cNvSpPr/>
          <p:nvPr/>
        </p:nvSpPr>
        <p:spPr>
          <a:xfrm>
            <a:off x="6949440" y="3657600"/>
            <a:ext cx="4389120" cy="0"/>
          </a:xfrm>
          <a:prstGeom prst="line">
            <a:avLst/>
          </a:prstGeom>
          <a:noFill/>
          <a:ln w="6350">
            <a:solidFill>
              <a:srgbClr val="DCE3EA"/>
            </a:solidFill>
            <a:prstDash val="solid"/>
          </a:ln>
        </p:spPr>
        <p:txBody>
          <a:bodyPr/>
          <a:lstStyle/>
          <a:p>
            <a:endParaRPr lang="en-GB"/>
          </a:p>
        </p:txBody>
      </p:sp>
      <p:sp>
        <p:nvSpPr>
          <p:cNvPr id="12" name="Shape 10"/>
          <p:cNvSpPr/>
          <p:nvPr/>
        </p:nvSpPr>
        <p:spPr>
          <a:xfrm>
            <a:off x="6949440" y="4503420"/>
            <a:ext cx="4389120" cy="0"/>
          </a:xfrm>
          <a:prstGeom prst="line">
            <a:avLst/>
          </a:prstGeom>
          <a:noFill/>
          <a:ln w="6350">
            <a:solidFill>
              <a:srgbClr val="DCE3EA"/>
            </a:solidFill>
            <a:prstDash val="solid"/>
          </a:ln>
        </p:spPr>
        <p:txBody>
          <a:bodyPr/>
          <a:lstStyle/>
          <a:p>
            <a:endParaRPr lang="en-GB"/>
          </a:p>
        </p:txBody>
      </p:sp>
      <p:sp>
        <p:nvSpPr>
          <p:cNvPr id="13" name="Shape 11"/>
          <p:cNvSpPr/>
          <p:nvPr/>
        </p:nvSpPr>
        <p:spPr>
          <a:xfrm>
            <a:off x="6949440" y="5349240"/>
            <a:ext cx="4389120" cy="0"/>
          </a:xfrm>
          <a:prstGeom prst="line">
            <a:avLst/>
          </a:prstGeom>
          <a:noFill/>
          <a:ln w="9525">
            <a:solidFill>
              <a:srgbClr val="64748B"/>
            </a:solidFill>
            <a:prstDash val="solid"/>
          </a:ln>
        </p:spPr>
        <p:txBody>
          <a:bodyPr/>
          <a:lstStyle/>
          <a:p>
            <a:endParaRPr lang="en-GB"/>
          </a:p>
        </p:txBody>
      </p:sp>
      <p:sp>
        <p:nvSpPr>
          <p:cNvPr id="14" name="Shape 12"/>
          <p:cNvSpPr/>
          <p:nvPr/>
        </p:nvSpPr>
        <p:spPr>
          <a:xfrm>
            <a:off x="6949440" y="1965960"/>
            <a:ext cx="0" cy="3383280"/>
          </a:xfrm>
          <a:prstGeom prst="line">
            <a:avLst/>
          </a:prstGeom>
          <a:noFill/>
          <a:ln w="9525">
            <a:solidFill>
              <a:srgbClr val="64748B"/>
            </a:solidFill>
            <a:prstDash val="solid"/>
          </a:ln>
        </p:spPr>
        <p:txBody>
          <a:bodyPr/>
          <a:lstStyle/>
          <a:p>
            <a:endParaRPr lang="en-GB"/>
          </a:p>
        </p:txBody>
      </p:sp>
      <p:sp>
        <p:nvSpPr>
          <p:cNvPr id="15" name="Shape 13"/>
          <p:cNvSpPr/>
          <p:nvPr/>
        </p:nvSpPr>
        <p:spPr>
          <a:xfrm>
            <a:off x="6949440" y="1965960"/>
            <a:ext cx="109728" cy="410450"/>
          </a:xfrm>
          <a:prstGeom prst="line">
            <a:avLst/>
          </a:prstGeom>
          <a:noFill/>
          <a:ln w="25400">
            <a:solidFill>
              <a:srgbClr val="065A82"/>
            </a:solidFill>
            <a:prstDash val="solid"/>
          </a:ln>
        </p:spPr>
        <p:txBody>
          <a:bodyPr/>
          <a:lstStyle/>
          <a:p>
            <a:endParaRPr lang="en-GB"/>
          </a:p>
        </p:txBody>
      </p:sp>
      <p:sp>
        <p:nvSpPr>
          <p:cNvPr id="16" name="Shape 14"/>
          <p:cNvSpPr/>
          <p:nvPr/>
        </p:nvSpPr>
        <p:spPr>
          <a:xfrm>
            <a:off x="7059168" y="2376410"/>
            <a:ext cx="109728" cy="336647"/>
          </a:xfrm>
          <a:prstGeom prst="line">
            <a:avLst/>
          </a:prstGeom>
          <a:noFill/>
          <a:ln w="25400">
            <a:solidFill>
              <a:srgbClr val="065A82"/>
            </a:solidFill>
            <a:prstDash val="solid"/>
          </a:ln>
        </p:spPr>
        <p:txBody>
          <a:bodyPr/>
          <a:lstStyle/>
          <a:p>
            <a:endParaRPr lang="en-GB"/>
          </a:p>
        </p:txBody>
      </p:sp>
      <p:sp>
        <p:nvSpPr>
          <p:cNvPr id="17" name="Shape 15"/>
          <p:cNvSpPr/>
          <p:nvPr/>
        </p:nvSpPr>
        <p:spPr>
          <a:xfrm>
            <a:off x="7168896" y="2713057"/>
            <a:ext cx="109728" cy="281107"/>
          </a:xfrm>
          <a:prstGeom prst="line">
            <a:avLst/>
          </a:prstGeom>
          <a:noFill/>
          <a:ln w="25400">
            <a:solidFill>
              <a:srgbClr val="065A82"/>
            </a:solidFill>
            <a:prstDash val="solid"/>
          </a:ln>
        </p:spPr>
        <p:txBody>
          <a:bodyPr/>
          <a:lstStyle/>
          <a:p>
            <a:endParaRPr lang="en-GB"/>
          </a:p>
        </p:txBody>
      </p:sp>
      <p:sp>
        <p:nvSpPr>
          <p:cNvPr id="18" name="Shape 16"/>
          <p:cNvSpPr/>
          <p:nvPr/>
        </p:nvSpPr>
        <p:spPr>
          <a:xfrm>
            <a:off x="7278624" y="2994164"/>
            <a:ext cx="109728" cy="238265"/>
          </a:xfrm>
          <a:prstGeom prst="line">
            <a:avLst/>
          </a:prstGeom>
          <a:noFill/>
          <a:ln w="25400">
            <a:solidFill>
              <a:srgbClr val="065A82"/>
            </a:solidFill>
            <a:prstDash val="solid"/>
          </a:ln>
        </p:spPr>
        <p:txBody>
          <a:bodyPr/>
          <a:lstStyle/>
          <a:p>
            <a:endParaRPr lang="en-GB"/>
          </a:p>
        </p:txBody>
      </p:sp>
      <p:sp>
        <p:nvSpPr>
          <p:cNvPr id="19" name="Shape 17"/>
          <p:cNvSpPr/>
          <p:nvPr/>
        </p:nvSpPr>
        <p:spPr>
          <a:xfrm>
            <a:off x="7388352" y="3232428"/>
            <a:ext cx="109728" cy="204523"/>
          </a:xfrm>
          <a:prstGeom prst="line">
            <a:avLst/>
          </a:prstGeom>
          <a:noFill/>
          <a:ln w="25400">
            <a:solidFill>
              <a:srgbClr val="065A82"/>
            </a:solidFill>
            <a:prstDash val="solid"/>
          </a:ln>
        </p:spPr>
        <p:txBody>
          <a:bodyPr/>
          <a:lstStyle/>
          <a:p>
            <a:endParaRPr lang="en-GB"/>
          </a:p>
        </p:txBody>
      </p:sp>
      <p:sp>
        <p:nvSpPr>
          <p:cNvPr id="20" name="Shape 18"/>
          <p:cNvSpPr/>
          <p:nvPr/>
        </p:nvSpPr>
        <p:spPr>
          <a:xfrm>
            <a:off x="7498080" y="3436951"/>
            <a:ext cx="109728" cy="177475"/>
          </a:xfrm>
          <a:prstGeom prst="line">
            <a:avLst/>
          </a:prstGeom>
          <a:noFill/>
          <a:ln w="25400">
            <a:solidFill>
              <a:srgbClr val="065A82"/>
            </a:solidFill>
            <a:prstDash val="solid"/>
          </a:ln>
        </p:spPr>
        <p:txBody>
          <a:bodyPr/>
          <a:lstStyle/>
          <a:p>
            <a:endParaRPr lang="en-GB"/>
          </a:p>
        </p:txBody>
      </p:sp>
      <p:sp>
        <p:nvSpPr>
          <p:cNvPr id="21" name="Shape 19"/>
          <p:cNvSpPr/>
          <p:nvPr/>
        </p:nvSpPr>
        <p:spPr>
          <a:xfrm>
            <a:off x="7607808" y="3614426"/>
            <a:ext cx="109728" cy="155459"/>
          </a:xfrm>
          <a:prstGeom prst="line">
            <a:avLst/>
          </a:prstGeom>
          <a:noFill/>
          <a:ln w="25400">
            <a:solidFill>
              <a:srgbClr val="065A82"/>
            </a:solidFill>
            <a:prstDash val="solid"/>
          </a:ln>
        </p:spPr>
        <p:txBody>
          <a:bodyPr/>
          <a:lstStyle/>
          <a:p>
            <a:endParaRPr lang="en-GB"/>
          </a:p>
        </p:txBody>
      </p:sp>
      <p:sp>
        <p:nvSpPr>
          <p:cNvPr id="22" name="Shape 20"/>
          <p:cNvSpPr/>
          <p:nvPr/>
        </p:nvSpPr>
        <p:spPr>
          <a:xfrm>
            <a:off x="7717536" y="3769885"/>
            <a:ext cx="109728" cy="137301"/>
          </a:xfrm>
          <a:prstGeom prst="line">
            <a:avLst/>
          </a:prstGeom>
          <a:noFill/>
          <a:ln w="25400">
            <a:solidFill>
              <a:srgbClr val="065A82"/>
            </a:solidFill>
            <a:prstDash val="solid"/>
          </a:ln>
        </p:spPr>
        <p:txBody>
          <a:bodyPr/>
          <a:lstStyle/>
          <a:p>
            <a:endParaRPr lang="en-GB"/>
          </a:p>
        </p:txBody>
      </p:sp>
      <p:sp>
        <p:nvSpPr>
          <p:cNvPr id="23" name="Shape 21"/>
          <p:cNvSpPr/>
          <p:nvPr/>
        </p:nvSpPr>
        <p:spPr>
          <a:xfrm>
            <a:off x="7827264" y="3907186"/>
            <a:ext cx="109728" cy="122149"/>
          </a:xfrm>
          <a:prstGeom prst="line">
            <a:avLst/>
          </a:prstGeom>
          <a:noFill/>
          <a:ln w="25400">
            <a:solidFill>
              <a:srgbClr val="065A82"/>
            </a:solidFill>
            <a:prstDash val="solid"/>
          </a:ln>
        </p:spPr>
        <p:txBody>
          <a:bodyPr/>
          <a:lstStyle/>
          <a:p>
            <a:endParaRPr lang="en-GB"/>
          </a:p>
        </p:txBody>
      </p:sp>
      <p:sp>
        <p:nvSpPr>
          <p:cNvPr id="24" name="Shape 22"/>
          <p:cNvSpPr/>
          <p:nvPr/>
        </p:nvSpPr>
        <p:spPr>
          <a:xfrm>
            <a:off x="7936992" y="4029335"/>
            <a:ext cx="109728" cy="109374"/>
          </a:xfrm>
          <a:prstGeom prst="line">
            <a:avLst/>
          </a:prstGeom>
          <a:noFill/>
          <a:ln w="25400">
            <a:solidFill>
              <a:srgbClr val="065A82"/>
            </a:solidFill>
            <a:prstDash val="solid"/>
          </a:ln>
        </p:spPr>
        <p:txBody>
          <a:bodyPr/>
          <a:lstStyle/>
          <a:p>
            <a:endParaRPr lang="en-GB"/>
          </a:p>
        </p:txBody>
      </p:sp>
      <p:sp>
        <p:nvSpPr>
          <p:cNvPr id="25" name="Shape 23"/>
          <p:cNvSpPr/>
          <p:nvPr/>
        </p:nvSpPr>
        <p:spPr>
          <a:xfrm>
            <a:off x="8046720" y="4138709"/>
            <a:ext cx="109728" cy="98503"/>
          </a:xfrm>
          <a:prstGeom prst="line">
            <a:avLst/>
          </a:prstGeom>
          <a:noFill/>
          <a:ln w="25400">
            <a:solidFill>
              <a:srgbClr val="065A82"/>
            </a:solidFill>
            <a:prstDash val="solid"/>
          </a:ln>
        </p:spPr>
        <p:txBody>
          <a:bodyPr/>
          <a:lstStyle/>
          <a:p>
            <a:endParaRPr lang="en-GB"/>
          </a:p>
        </p:txBody>
      </p:sp>
      <p:sp>
        <p:nvSpPr>
          <p:cNvPr id="26" name="Shape 24"/>
          <p:cNvSpPr/>
          <p:nvPr/>
        </p:nvSpPr>
        <p:spPr>
          <a:xfrm>
            <a:off x="8156448" y="4237212"/>
            <a:ext cx="109728" cy="89176"/>
          </a:xfrm>
          <a:prstGeom prst="line">
            <a:avLst/>
          </a:prstGeom>
          <a:noFill/>
          <a:ln w="25400">
            <a:solidFill>
              <a:srgbClr val="065A82"/>
            </a:solidFill>
            <a:prstDash val="solid"/>
          </a:ln>
        </p:spPr>
        <p:txBody>
          <a:bodyPr/>
          <a:lstStyle/>
          <a:p>
            <a:endParaRPr lang="en-GB"/>
          </a:p>
        </p:txBody>
      </p:sp>
      <p:sp>
        <p:nvSpPr>
          <p:cNvPr id="27" name="Shape 25"/>
          <p:cNvSpPr/>
          <p:nvPr/>
        </p:nvSpPr>
        <p:spPr>
          <a:xfrm>
            <a:off x="8266176" y="4326388"/>
            <a:ext cx="109728" cy="81114"/>
          </a:xfrm>
          <a:prstGeom prst="line">
            <a:avLst/>
          </a:prstGeom>
          <a:noFill/>
          <a:ln w="25400">
            <a:solidFill>
              <a:srgbClr val="065A82"/>
            </a:solidFill>
            <a:prstDash val="solid"/>
          </a:ln>
        </p:spPr>
        <p:txBody>
          <a:bodyPr/>
          <a:lstStyle/>
          <a:p>
            <a:endParaRPr lang="en-GB"/>
          </a:p>
        </p:txBody>
      </p:sp>
      <p:sp>
        <p:nvSpPr>
          <p:cNvPr id="28" name="Shape 26"/>
          <p:cNvSpPr/>
          <p:nvPr/>
        </p:nvSpPr>
        <p:spPr>
          <a:xfrm>
            <a:off x="8375904" y="4407502"/>
            <a:ext cx="109728" cy="74098"/>
          </a:xfrm>
          <a:prstGeom prst="line">
            <a:avLst/>
          </a:prstGeom>
          <a:noFill/>
          <a:ln w="25400">
            <a:solidFill>
              <a:srgbClr val="065A82"/>
            </a:solidFill>
            <a:prstDash val="solid"/>
          </a:ln>
        </p:spPr>
        <p:txBody>
          <a:bodyPr/>
          <a:lstStyle/>
          <a:p>
            <a:endParaRPr lang="en-GB"/>
          </a:p>
        </p:txBody>
      </p:sp>
      <p:sp>
        <p:nvSpPr>
          <p:cNvPr id="29" name="Shape 27"/>
          <p:cNvSpPr/>
          <p:nvPr/>
        </p:nvSpPr>
        <p:spPr>
          <a:xfrm>
            <a:off x="8485632" y="4481601"/>
            <a:ext cx="109728" cy="67955"/>
          </a:xfrm>
          <a:prstGeom prst="line">
            <a:avLst/>
          </a:prstGeom>
          <a:noFill/>
          <a:ln w="25400">
            <a:solidFill>
              <a:srgbClr val="065A82"/>
            </a:solidFill>
            <a:prstDash val="solid"/>
          </a:ln>
        </p:spPr>
        <p:txBody>
          <a:bodyPr/>
          <a:lstStyle/>
          <a:p>
            <a:endParaRPr lang="en-GB"/>
          </a:p>
        </p:txBody>
      </p:sp>
      <p:sp>
        <p:nvSpPr>
          <p:cNvPr id="30" name="Shape 28"/>
          <p:cNvSpPr/>
          <p:nvPr/>
        </p:nvSpPr>
        <p:spPr>
          <a:xfrm>
            <a:off x="8595360" y="4549556"/>
            <a:ext cx="109728" cy="62545"/>
          </a:xfrm>
          <a:prstGeom prst="line">
            <a:avLst/>
          </a:prstGeom>
          <a:noFill/>
          <a:ln w="25400">
            <a:solidFill>
              <a:srgbClr val="065A82"/>
            </a:solidFill>
            <a:prstDash val="solid"/>
          </a:ln>
        </p:spPr>
        <p:txBody>
          <a:bodyPr/>
          <a:lstStyle/>
          <a:p>
            <a:endParaRPr lang="en-GB"/>
          </a:p>
        </p:txBody>
      </p:sp>
      <p:sp>
        <p:nvSpPr>
          <p:cNvPr id="31" name="Shape 29"/>
          <p:cNvSpPr/>
          <p:nvPr/>
        </p:nvSpPr>
        <p:spPr>
          <a:xfrm>
            <a:off x="8705088" y="4612101"/>
            <a:ext cx="109728" cy="57757"/>
          </a:xfrm>
          <a:prstGeom prst="line">
            <a:avLst/>
          </a:prstGeom>
          <a:noFill/>
          <a:ln w="25400">
            <a:solidFill>
              <a:srgbClr val="065A82"/>
            </a:solidFill>
            <a:prstDash val="solid"/>
          </a:ln>
        </p:spPr>
        <p:txBody>
          <a:bodyPr/>
          <a:lstStyle/>
          <a:p>
            <a:endParaRPr lang="en-GB"/>
          </a:p>
        </p:txBody>
      </p:sp>
      <p:sp>
        <p:nvSpPr>
          <p:cNvPr id="32" name="Shape 30"/>
          <p:cNvSpPr/>
          <p:nvPr/>
        </p:nvSpPr>
        <p:spPr>
          <a:xfrm>
            <a:off x="8814816" y="4669857"/>
            <a:ext cx="109728" cy="53498"/>
          </a:xfrm>
          <a:prstGeom prst="line">
            <a:avLst/>
          </a:prstGeom>
          <a:noFill/>
          <a:ln w="25400">
            <a:solidFill>
              <a:srgbClr val="065A82"/>
            </a:solidFill>
            <a:prstDash val="solid"/>
          </a:ln>
        </p:spPr>
        <p:txBody>
          <a:bodyPr/>
          <a:lstStyle/>
          <a:p>
            <a:endParaRPr lang="en-GB"/>
          </a:p>
        </p:txBody>
      </p:sp>
      <p:sp>
        <p:nvSpPr>
          <p:cNvPr id="33" name="Shape 31"/>
          <p:cNvSpPr/>
          <p:nvPr/>
        </p:nvSpPr>
        <p:spPr>
          <a:xfrm>
            <a:off x="8924544" y="4723355"/>
            <a:ext cx="109728" cy="49693"/>
          </a:xfrm>
          <a:prstGeom prst="line">
            <a:avLst/>
          </a:prstGeom>
          <a:noFill/>
          <a:ln w="25400">
            <a:solidFill>
              <a:srgbClr val="065A82"/>
            </a:solidFill>
            <a:prstDash val="solid"/>
          </a:ln>
        </p:spPr>
        <p:txBody>
          <a:bodyPr/>
          <a:lstStyle/>
          <a:p>
            <a:endParaRPr lang="en-GB"/>
          </a:p>
        </p:txBody>
      </p:sp>
      <p:sp>
        <p:nvSpPr>
          <p:cNvPr id="34" name="Shape 32"/>
          <p:cNvSpPr/>
          <p:nvPr/>
        </p:nvSpPr>
        <p:spPr>
          <a:xfrm>
            <a:off x="9034272" y="4773048"/>
            <a:ext cx="109728" cy="46280"/>
          </a:xfrm>
          <a:prstGeom prst="line">
            <a:avLst/>
          </a:prstGeom>
          <a:noFill/>
          <a:ln w="25400">
            <a:solidFill>
              <a:srgbClr val="065A82"/>
            </a:solidFill>
            <a:prstDash val="solid"/>
          </a:ln>
        </p:spPr>
        <p:txBody>
          <a:bodyPr/>
          <a:lstStyle/>
          <a:p>
            <a:endParaRPr lang="en-GB"/>
          </a:p>
        </p:txBody>
      </p:sp>
      <p:sp>
        <p:nvSpPr>
          <p:cNvPr id="35" name="Shape 33"/>
          <p:cNvSpPr/>
          <p:nvPr/>
        </p:nvSpPr>
        <p:spPr>
          <a:xfrm>
            <a:off x="9144000" y="4819329"/>
            <a:ext cx="109728" cy="43208"/>
          </a:xfrm>
          <a:prstGeom prst="line">
            <a:avLst/>
          </a:prstGeom>
          <a:noFill/>
          <a:ln w="25400">
            <a:solidFill>
              <a:srgbClr val="065A82"/>
            </a:solidFill>
            <a:prstDash val="solid"/>
          </a:ln>
        </p:spPr>
        <p:txBody>
          <a:bodyPr/>
          <a:lstStyle/>
          <a:p>
            <a:endParaRPr lang="en-GB"/>
          </a:p>
        </p:txBody>
      </p:sp>
      <p:sp>
        <p:nvSpPr>
          <p:cNvPr id="36" name="Shape 34"/>
          <p:cNvSpPr/>
          <p:nvPr/>
        </p:nvSpPr>
        <p:spPr>
          <a:xfrm>
            <a:off x="9253728" y="4862536"/>
            <a:ext cx="109728" cy="40431"/>
          </a:xfrm>
          <a:prstGeom prst="line">
            <a:avLst/>
          </a:prstGeom>
          <a:noFill/>
          <a:ln w="25400">
            <a:solidFill>
              <a:srgbClr val="065A82"/>
            </a:solidFill>
            <a:prstDash val="solid"/>
          </a:ln>
        </p:spPr>
        <p:txBody>
          <a:bodyPr/>
          <a:lstStyle/>
          <a:p>
            <a:endParaRPr lang="en-GB"/>
          </a:p>
        </p:txBody>
      </p:sp>
      <p:sp>
        <p:nvSpPr>
          <p:cNvPr id="37" name="Shape 35"/>
          <p:cNvSpPr/>
          <p:nvPr/>
        </p:nvSpPr>
        <p:spPr>
          <a:xfrm>
            <a:off x="9363456" y="4902967"/>
            <a:ext cx="109728" cy="37914"/>
          </a:xfrm>
          <a:prstGeom prst="line">
            <a:avLst/>
          </a:prstGeom>
          <a:noFill/>
          <a:ln w="25400">
            <a:solidFill>
              <a:srgbClr val="065A82"/>
            </a:solidFill>
            <a:prstDash val="solid"/>
          </a:ln>
        </p:spPr>
        <p:txBody>
          <a:bodyPr/>
          <a:lstStyle/>
          <a:p>
            <a:endParaRPr lang="en-GB"/>
          </a:p>
        </p:txBody>
      </p:sp>
      <p:sp>
        <p:nvSpPr>
          <p:cNvPr id="38" name="Shape 36"/>
          <p:cNvSpPr/>
          <p:nvPr/>
        </p:nvSpPr>
        <p:spPr>
          <a:xfrm>
            <a:off x="9473184" y="4940881"/>
            <a:ext cx="109728" cy="35625"/>
          </a:xfrm>
          <a:prstGeom prst="line">
            <a:avLst/>
          </a:prstGeom>
          <a:noFill/>
          <a:ln w="25400">
            <a:solidFill>
              <a:srgbClr val="065A82"/>
            </a:solidFill>
            <a:prstDash val="solid"/>
          </a:ln>
        </p:spPr>
        <p:txBody>
          <a:bodyPr/>
          <a:lstStyle/>
          <a:p>
            <a:endParaRPr lang="en-GB"/>
          </a:p>
        </p:txBody>
      </p:sp>
      <p:sp>
        <p:nvSpPr>
          <p:cNvPr id="39" name="Shape 37"/>
          <p:cNvSpPr/>
          <p:nvPr/>
        </p:nvSpPr>
        <p:spPr>
          <a:xfrm>
            <a:off x="9582912" y="4976506"/>
            <a:ext cx="109728" cy="33536"/>
          </a:xfrm>
          <a:prstGeom prst="line">
            <a:avLst/>
          </a:prstGeom>
          <a:noFill/>
          <a:ln w="25400">
            <a:solidFill>
              <a:srgbClr val="065A82"/>
            </a:solidFill>
            <a:prstDash val="solid"/>
          </a:ln>
        </p:spPr>
        <p:txBody>
          <a:bodyPr/>
          <a:lstStyle/>
          <a:p>
            <a:endParaRPr lang="en-GB"/>
          </a:p>
        </p:txBody>
      </p:sp>
      <p:sp>
        <p:nvSpPr>
          <p:cNvPr id="40" name="Shape 38"/>
          <p:cNvSpPr/>
          <p:nvPr/>
        </p:nvSpPr>
        <p:spPr>
          <a:xfrm>
            <a:off x="9692640" y="5010042"/>
            <a:ext cx="109728" cy="31627"/>
          </a:xfrm>
          <a:prstGeom prst="line">
            <a:avLst/>
          </a:prstGeom>
          <a:noFill/>
          <a:ln w="25400">
            <a:solidFill>
              <a:srgbClr val="065A82"/>
            </a:solidFill>
            <a:prstDash val="solid"/>
          </a:ln>
        </p:spPr>
        <p:txBody>
          <a:bodyPr/>
          <a:lstStyle/>
          <a:p>
            <a:endParaRPr lang="en-GB"/>
          </a:p>
        </p:txBody>
      </p:sp>
      <p:sp>
        <p:nvSpPr>
          <p:cNvPr id="41" name="Shape 39"/>
          <p:cNvSpPr/>
          <p:nvPr/>
        </p:nvSpPr>
        <p:spPr>
          <a:xfrm>
            <a:off x="9802368" y="5041669"/>
            <a:ext cx="109728" cy="29876"/>
          </a:xfrm>
          <a:prstGeom prst="line">
            <a:avLst/>
          </a:prstGeom>
          <a:noFill/>
          <a:ln w="25400">
            <a:solidFill>
              <a:srgbClr val="065A82"/>
            </a:solidFill>
            <a:prstDash val="solid"/>
          </a:ln>
        </p:spPr>
        <p:txBody>
          <a:bodyPr/>
          <a:lstStyle/>
          <a:p>
            <a:endParaRPr lang="en-GB"/>
          </a:p>
        </p:txBody>
      </p:sp>
      <p:sp>
        <p:nvSpPr>
          <p:cNvPr id="42" name="Shape 40"/>
          <p:cNvSpPr/>
          <p:nvPr/>
        </p:nvSpPr>
        <p:spPr>
          <a:xfrm>
            <a:off x="9912096" y="5071545"/>
            <a:ext cx="109728" cy="28266"/>
          </a:xfrm>
          <a:prstGeom prst="line">
            <a:avLst/>
          </a:prstGeom>
          <a:noFill/>
          <a:ln w="25400">
            <a:solidFill>
              <a:srgbClr val="065A82"/>
            </a:solidFill>
            <a:prstDash val="solid"/>
          </a:ln>
        </p:spPr>
        <p:txBody>
          <a:bodyPr/>
          <a:lstStyle/>
          <a:p>
            <a:endParaRPr lang="en-GB"/>
          </a:p>
        </p:txBody>
      </p:sp>
      <p:sp>
        <p:nvSpPr>
          <p:cNvPr id="43" name="Shape 41"/>
          <p:cNvSpPr/>
          <p:nvPr/>
        </p:nvSpPr>
        <p:spPr>
          <a:xfrm>
            <a:off x="10021824" y="5099811"/>
            <a:ext cx="109728" cy="26783"/>
          </a:xfrm>
          <a:prstGeom prst="line">
            <a:avLst/>
          </a:prstGeom>
          <a:noFill/>
          <a:ln w="25400">
            <a:solidFill>
              <a:srgbClr val="065A82"/>
            </a:solidFill>
            <a:prstDash val="solid"/>
          </a:ln>
        </p:spPr>
        <p:txBody>
          <a:bodyPr/>
          <a:lstStyle/>
          <a:p>
            <a:endParaRPr lang="en-GB"/>
          </a:p>
        </p:txBody>
      </p:sp>
      <p:sp>
        <p:nvSpPr>
          <p:cNvPr id="44" name="Shape 42"/>
          <p:cNvSpPr/>
          <p:nvPr/>
        </p:nvSpPr>
        <p:spPr>
          <a:xfrm>
            <a:off x="10131552" y="5126594"/>
            <a:ext cx="109728" cy="25414"/>
          </a:xfrm>
          <a:prstGeom prst="line">
            <a:avLst/>
          </a:prstGeom>
          <a:noFill/>
          <a:ln w="25400">
            <a:solidFill>
              <a:srgbClr val="065A82"/>
            </a:solidFill>
            <a:prstDash val="solid"/>
          </a:ln>
        </p:spPr>
        <p:txBody>
          <a:bodyPr/>
          <a:lstStyle/>
          <a:p>
            <a:endParaRPr lang="en-GB"/>
          </a:p>
        </p:txBody>
      </p:sp>
      <p:sp>
        <p:nvSpPr>
          <p:cNvPr id="45" name="Shape 43"/>
          <p:cNvSpPr/>
          <p:nvPr/>
        </p:nvSpPr>
        <p:spPr>
          <a:xfrm>
            <a:off x="10241280" y="5152008"/>
            <a:ext cx="109728" cy="24147"/>
          </a:xfrm>
          <a:prstGeom prst="line">
            <a:avLst/>
          </a:prstGeom>
          <a:noFill/>
          <a:ln w="25400">
            <a:solidFill>
              <a:srgbClr val="065A82"/>
            </a:solidFill>
            <a:prstDash val="solid"/>
          </a:ln>
        </p:spPr>
        <p:txBody>
          <a:bodyPr/>
          <a:lstStyle/>
          <a:p>
            <a:endParaRPr lang="en-GB"/>
          </a:p>
        </p:txBody>
      </p:sp>
      <p:sp>
        <p:nvSpPr>
          <p:cNvPr id="46" name="Shape 44"/>
          <p:cNvSpPr/>
          <p:nvPr/>
        </p:nvSpPr>
        <p:spPr>
          <a:xfrm>
            <a:off x="10351008" y="5176156"/>
            <a:ext cx="109728" cy="22973"/>
          </a:xfrm>
          <a:prstGeom prst="line">
            <a:avLst/>
          </a:prstGeom>
          <a:noFill/>
          <a:ln w="25400">
            <a:solidFill>
              <a:srgbClr val="065A82"/>
            </a:solidFill>
            <a:prstDash val="solid"/>
          </a:ln>
        </p:spPr>
        <p:txBody>
          <a:bodyPr/>
          <a:lstStyle/>
          <a:p>
            <a:endParaRPr lang="en-GB"/>
          </a:p>
        </p:txBody>
      </p:sp>
      <p:sp>
        <p:nvSpPr>
          <p:cNvPr id="47" name="Shape 45"/>
          <p:cNvSpPr/>
          <p:nvPr/>
        </p:nvSpPr>
        <p:spPr>
          <a:xfrm>
            <a:off x="10460736" y="5199129"/>
            <a:ext cx="109728" cy="21882"/>
          </a:xfrm>
          <a:prstGeom prst="line">
            <a:avLst/>
          </a:prstGeom>
          <a:noFill/>
          <a:ln w="25400">
            <a:solidFill>
              <a:srgbClr val="065A82"/>
            </a:solidFill>
            <a:prstDash val="solid"/>
          </a:ln>
        </p:spPr>
        <p:txBody>
          <a:bodyPr/>
          <a:lstStyle/>
          <a:p>
            <a:endParaRPr lang="en-GB"/>
          </a:p>
        </p:txBody>
      </p:sp>
      <p:sp>
        <p:nvSpPr>
          <p:cNvPr id="48" name="Shape 46"/>
          <p:cNvSpPr/>
          <p:nvPr/>
        </p:nvSpPr>
        <p:spPr>
          <a:xfrm>
            <a:off x="10570464" y="5221011"/>
            <a:ext cx="109728" cy="20867"/>
          </a:xfrm>
          <a:prstGeom prst="line">
            <a:avLst/>
          </a:prstGeom>
          <a:noFill/>
          <a:ln w="25400">
            <a:solidFill>
              <a:srgbClr val="065A82"/>
            </a:solidFill>
            <a:prstDash val="solid"/>
          </a:ln>
        </p:spPr>
        <p:txBody>
          <a:bodyPr/>
          <a:lstStyle/>
          <a:p>
            <a:endParaRPr lang="en-GB"/>
          </a:p>
        </p:txBody>
      </p:sp>
      <p:sp>
        <p:nvSpPr>
          <p:cNvPr id="49" name="Shape 47"/>
          <p:cNvSpPr/>
          <p:nvPr/>
        </p:nvSpPr>
        <p:spPr>
          <a:xfrm>
            <a:off x="10680192" y="5241878"/>
            <a:ext cx="109728" cy="19921"/>
          </a:xfrm>
          <a:prstGeom prst="line">
            <a:avLst/>
          </a:prstGeom>
          <a:noFill/>
          <a:ln w="25400">
            <a:solidFill>
              <a:srgbClr val="065A82"/>
            </a:solidFill>
            <a:prstDash val="solid"/>
          </a:ln>
        </p:spPr>
        <p:txBody>
          <a:bodyPr/>
          <a:lstStyle/>
          <a:p>
            <a:endParaRPr lang="en-GB"/>
          </a:p>
        </p:txBody>
      </p:sp>
      <p:sp>
        <p:nvSpPr>
          <p:cNvPr id="50" name="Shape 48"/>
          <p:cNvSpPr/>
          <p:nvPr/>
        </p:nvSpPr>
        <p:spPr>
          <a:xfrm>
            <a:off x="10789920" y="5261799"/>
            <a:ext cx="109728" cy="19038"/>
          </a:xfrm>
          <a:prstGeom prst="line">
            <a:avLst/>
          </a:prstGeom>
          <a:noFill/>
          <a:ln w="25400">
            <a:solidFill>
              <a:srgbClr val="065A82"/>
            </a:solidFill>
            <a:prstDash val="solid"/>
          </a:ln>
        </p:spPr>
        <p:txBody>
          <a:bodyPr/>
          <a:lstStyle/>
          <a:p>
            <a:endParaRPr lang="en-GB"/>
          </a:p>
        </p:txBody>
      </p:sp>
      <p:sp>
        <p:nvSpPr>
          <p:cNvPr id="51" name="Shape 49"/>
          <p:cNvSpPr/>
          <p:nvPr/>
        </p:nvSpPr>
        <p:spPr>
          <a:xfrm>
            <a:off x="10899648" y="5280838"/>
            <a:ext cx="109728" cy="18213"/>
          </a:xfrm>
          <a:prstGeom prst="line">
            <a:avLst/>
          </a:prstGeom>
          <a:noFill/>
          <a:ln w="25400">
            <a:solidFill>
              <a:srgbClr val="065A82"/>
            </a:solidFill>
            <a:prstDash val="solid"/>
          </a:ln>
        </p:spPr>
        <p:txBody>
          <a:bodyPr/>
          <a:lstStyle/>
          <a:p>
            <a:endParaRPr lang="en-GB"/>
          </a:p>
        </p:txBody>
      </p:sp>
      <p:sp>
        <p:nvSpPr>
          <p:cNvPr id="52" name="Shape 50"/>
          <p:cNvSpPr/>
          <p:nvPr/>
        </p:nvSpPr>
        <p:spPr>
          <a:xfrm>
            <a:off x="11009376" y="5299051"/>
            <a:ext cx="109728" cy="17440"/>
          </a:xfrm>
          <a:prstGeom prst="line">
            <a:avLst/>
          </a:prstGeom>
          <a:noFill/>
          <a:ln w="25400">
            <a:solidFill>
              <a:srgbClr val="065A82"/>
            </a:solidFill>
            <a:prstDash val="solid"/>
          </a:ln>
        </p:spPr>
        <p:txBody>
          <a:bodyPr/>
          <a:lstStyle/>
          <a:p>
            <a:endParaRPr lang="en-GB"/>
          </a:p>
        </p:txBody>
      </p:sp>
      <p:sp>
        <p:nvSpPr>
          <p:cNvPr id="53" name="Shape 51"/>
          <p:cNvSpPr/>
          <p:nvPr/>
        </p:nvSpPr>
        <p:spPr>
          <a:xfrm>
            <a:off x="11119104" y="5316490"/>
            <a:ext cx="109728" cy="16715"/>
          </a:xfrm>
          <a:prstGeom prst="line">
            <a:avLst/>
          </a:prstGeom>
          <a:noFill/>
          <a:ln w="25400">
            <a:solidFill>
              <a:srgbClr val="065A82"/>
            </a:solidFill>
            <a:prstDash val="solid"/>
          </a:ln>
        </p:spPr>
        <p:txBody>
          <a:bodyPr/>
          <a:lstStyle/>
          <a:p>
            <a:endParaRPr lang="en-GB"/>
          </a:p>
        </p:txBody>
      </p:sp>
      <p:sp>
        <p:nvSpPr>
          <p:cNvPr id="54" name="Shape 52"/>
          <p:cNvSpPr/>
          <p:nvPr/>
        </p:nvSpPr>
        <p:spPr>
          <a:xfrm>
            <a:off x="11228832" y="5333205"/>
            <a:ext cx="109728" cy="16035"/>
          </a:xfrm>
          <a:prstGeom prst="line">
            <a:avLst/>
          </a:prstGeom>
          <a:noFill/>
          <a:ln w="25400">
            <a:solidFill>
              <a:srgbClr val="065A82"/>
            </a:solidFill>
            <a:prstDash val="solid"/>
          </a:ln>
        </p:spPr>
        <p:txBody>
          <a:bodyPr/>
          <a:lstStyle/>
          <a:p>
            <a:endParaRPr lang="en-GB"/>
          </a:p>
        </p:txBody>
      </p:sp>
      <p:sp>
        <p:nvSpPr>
          <p:cNvPr id="55" name="Shape 53"/>
          <p:cNvSpPr/>
          <p:nvPr/>
        </p:nvSpPr>
        <p:spPr>
          <a:xfrm>
            <a:off x="10645541" y="3665694"/>
            <a:ext cx="0" cy="1569700"/>
          </a:xfrm>
          <a:prstGeom prst="line">
            <a:avLst/>
          </a:prstGeom>
          <a:noFill/>
          <a:ln w="9525">
            <a:solidFill>
              <a:srgbClr val="64748B"/>
            </a:solidFill>
            <a:prstDash val="dash"/>
          </a:ln>
        </p:spPr>
        <p:txBody>
          <a:bodyPr/>
          <a:lstStyle/>
          <a:p>
            <a:endParaRPr lang="en-GB"/>
          </a:p>
        </p:txBody>
      </p:sp>
      <p:sp>
        <p:nvSpPr>
          <p:cNvPr id="56" name="Shape 54"/>
          <p:cNvSpPr/>
          <p:nvPr/>
        </p:nvSpPr>
        <p:spPr>
          <a:xfrm>
            <a:off x="7642459" y="3665694"/>
            <a:ext cx="3003082" cy="0"/>
          </a:xfrm>
          <a:prstGeom prst="line">
            <a:avLst/>
          </a:prstGeom>
          <a:noFill/>
          <a:ln w="9525">
            <a:solidFill>
              <a:srgbClr val="64748B"/>
            </a:solidFill>
            <a:prstDash val="dash"/>
          </a:ln>
        </p:spPr>
        <p:txBody>
          <a:bodyPr/>
          <a:lstStyle/>
          <a:p>
            <a:endParaRPr lang="en-GB"/>
          </a:p>
        </p:txBody>
      </p:sp>
      <p:sp>
        <p:nvSpPr>
          <p:cNvPr id="57" name="Shape 55"/>
          <p:cNvSpPr/>
          <p:nvPr/>
        </p:nvSpPr>
        <p:spPr>
          <a:xfrm>
            <a:off x="7532731" y="3555966"/>
            <a:ext cx="219456" cy="219456"/>
          </a:xfrm>
          <a:prstGeom prst="ellipse">
            <a:avLst/>
          </a:prstGeom>
          <a:solidFill>
            <a:srgbClr val="065A82"/>
          </a:solidFill>
          <a:ln w="9525">
            <a:solidFill>
              <a:srgbClr val="21295C"/>
            </a:solidFill>
            <a:prstDash val="solid"/>
          </a:ln>
        </p:spPr>
        <p:txBody>
          <a:bodyPr/>
          <a:lstStyle/>
          <a:p>
            <a:endParaRPr lang="en-GB"/>
          </a:p>
        </p:txBody>
      </p:sp>
      <p:sp>
        <p:nvSpPr>
          <p:cNvPr id="58" name="Text 56"/>
          <p:cNvSpPr/>
          <p:nvPr/>
        </p:nvSpPr>
        <p:spPr>
          <a:xfrm>
            <a:off x="7185259" y="32084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S2</a:t>
            </a:r>
            <a:endParaRPr lang="en-US" sz="1100" dirty="0"/>
          </a:p>
        </p:txBody>
      </p:sp>
      <p:sp>
        <p:nvSpPr>
          <p:cNvPr id="59" name="Shape 57"/>
          <p:cNvSpPr/>
          <p:nvPr/>
        </p:nvSpPr>
        <p:spPr>
          <a:xfrm>
            <a:off x="10535813" y="5125666"/>
            <a:ext cx="219456" cy="219456"/>
          </a:xfrm>
          <a:prstGeom prst="ellipse">
            <a:avLst/>
          </a:prstGeom>
          <a:solidFill>
            <a:srgbClr val="065A82"/>
          </a:solidFill>
          <a:ln w="9525">
            <a:solidFill>
              <a:srgbClr val="21295C"/>
            </a:solidFill>
            <a:prstDash val="solid"/>
          </a:ln>
        </p:spPr>
        <p:txBody>
          <a:bodyPr/>
          <a:lstStyle/>
          <a:p>
            <a:endParaRPr lang="en-GB"/>
          </a:p>
        </p:txBody>
      </p:sp>
      <p:sp>
        <p:nvSpPr>
          <p:cNvPr id="60" name="Text 58"/>
          <p:cNvSpPr/>
          <p:nvPr/>
        </p:nvSpPr>
        <p:spPr>
          <a:xfrm>
            <a:off x="10188341" y="47781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S1</a:t>
            </a:r>
            <a:endParaRPr lang="en-US" sz="1100" dirty="0"/>
          </a:p>
        </p:txBody>
      </p:sp>
      <p:sp>
        <p:nvSpPr>
          <p:cNvPr id="61" name="Shape 59"/>
          <p:cNvSpPr/>
          <p:nvPr/>
        </p:nvSpPr>
        <p:spPr>
          <a:xfrm>
            <a:off x="10535813" y="3555966"/>
            <a:ext cx="219456" cy="219456"/>
          </a:xfrm>
          <a:prstGeom prst="ellipse">
            <a:avLst/>
          </a:prstGeom>
          <a:solidFill>
            <a:srgbClr val="F2B632"/>
          </a:solidFill>
          <a:ln w="9525">
            <a:solidFill>
              <a:srgbClr val="21295C"/>
            </a:solidFill>
            <a:prstDash val="solid"/>
          </a:ln>
        </p:spPr>
        <p:txBody>
          <a:bodyPr/>
          <a:lstStyle/>
          <a:p>
            <a:endParaRPr lang="en-GB"/>
          </a:p>
        </p:txBody>
      </p:sp>
      <p:sp>
        <p:nvSpPr>
          <p:cNvPr id="62" name="Text 60"/>
          <p:cNvSpPr/>
          <p:nvPr/>
        </p:nvSpPr>
        <p:spPr>
          <a:xfrm>
            <a:off x="10188341" y="32084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baseline</a:t>
            </a:r>
            <a:endParaRPr lang="en-US" sz="1100" dirty="0"/>
          </a:p>
        </p:txBody>
      </p:sp>
      <p:sp>
        <p:nvSpPr>
          <p:cNvPr id="63" name="Text 61"/>
          <p:cNvSpPr/>
          <p:nvPr/>
        </p:nvSpPr>
        <p:spPr>
          <a:xfrm>
            <a:off x="6949440" y="5486400"/>
            <a:ext cx="4389120" cy="27432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 fewer facilities     sum_x     more facilities →</a:t>
            </a:r>
            <a:endParaRPr lang="en-US" sz="1000" dirty="0"/>
          </a:p>
        </p:txBody>
      </p:sp>
      <p:sp>
        <p:nvSpPr>
          <p:cNvPr id="64" name="Text 62"/>
          <p:cNvSpPr/>
          <p:nvPr/>
        </p:nvSpPr>
        <p:spPr>
          <a:xfrm rot="16200000">
            <a:off x="6446520" y="3520440"/>
            <a:ext cx="457200" cy="27432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travel cost</a:t>
            </a:r>
            <a:endParaRPr lang="en-US" sz="1000" dirty="0"/>
          </a:p>
        </p:txBody>
      </p:sp>
      <p:sp>
        <p:nvSpPr>
          <p:cNvPr id="65" name="Text 63"/>
          <p:cNvSpPr/>
          <p:nvPr/>
        </p:nvSpPr>
        <p:spPr>
          <a:xfrm>
            <a:off x="6217920" y="6263640"/>
            <a:ext cx="5486400" cy="32004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With the strong-linking LP, sum_x is a continuous lower bound on integer facility count.</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FROM FRACTIONS TO PHARMACIES</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How multistart rounds the LP relaxation  </a:t>
            </a:r>
            <a:r>
              <a:rPr lang="en-US" sz="2200" dirty="0">
                <a:solidFill>
                  <a:srgbClr val="1C3D5A"/>
                </a:solidFill>
                <a:latin typeface="Georgia" pitchFamily="34" charset="0"/>
                <a:ea typeface="Georgia" pitchFamily="34" charset="-122"/>
                <a:cs typeface="Georgia" pitchFamily="34" charset="-120"/>
              </a:rPr>
              <a:t>— and why it is an upper bound</a:t>
            </a:r>
            <a:endParaRPr lang="en-US" sz="2200" dirty="0"/>
          </a:p>
        </p:txBody>
      </p:sp>
      <p:sp>
        <p:nvSpPr>
          <p:cNvPr id="4" name="Shape 2"/>
          <p:cNvSpPr/>
          <p:nvPr/>
        </p:nvSpPr>
        <p:spPr>
          <a:xfrm>
            <a:off x="457200" y="1298448"/>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5" name="Text 3"/>
          <p:cNvSpPr/>
          <p:nvPr/>
        </p:nvSpPr>
        <p:spPr>
          <a:xfrm>
            <a:off x="457200" y="1298448"/>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024128" y="1280160"/>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Fix the count</a:t>
            </a:r>
            <a:endParaRPr lang="en-US" sz="1400" dirty="0"/>
          </a:p>
        </p:txBody>
      </p:sp>
      <p:sp>
        <p:nvSpPr>
          <p:cNvPr id="7" name="Text 5"/>
          <p:cNvSpPr/>
          <p:nvPr/>
        </p:nvSpPr>
        <p:spPr>
          <a:xfrm>
            <a:off x="1024128" y="1545336"/>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p = round(Σ xⱼ*) — the integer pharmacy count nearest the LP's fractional total, so every rounded point stays on the same axis as the relaxation.</a:t>
            </a:r>
            <a:endParaRPr lang="en-US" sz="1050" dirty="0"/>
          </a:p>
        </p:txBody>
      </p:sp>
      <p:sp>
        <p:nvSpPr>
          <p:cNvPr id="8" name="Shape 6"/>
          <p:cNvSpPr/>
          <p:nvPr/>
        </p:nvSpPr>
        <p:spPr>
          <a:xfrm>
            <a:off x="457200" y="219456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9" name="Text 7"/>
          <p:cNvSpPr/>
          <p:nvPr/>
        </p:nvSpPr>
        <p:spPr>
          <a:xfrm>
            <a:off x="457200" y="219456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p:nvPr/>
        </p:nvSpPr>
        <p:spPr>
          <a:xfrm>
            <a:off x="1024128" y="2176272"/>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Seed 10 candidate sets</a:t>
            </a:r>
            <a:endParaRPr lang="en-US" sz="1400" dirty="0"/>
          </a:p>
        </p:txBody>
      </p:sp>
      <p:sp>
        <p:nvSpPr>
          <p:cNvPr id="11" name="Text 9"/>
          <p:cNvSpPr/>
          <p:nvPr/>
        </p:nvSpPr>
        <p:spPr>
          <a:xfrm>
            <a:off x="1024128" y="2441448"/>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top-p by x* and the lazy-greedy set (CELF, Leskovec et al. 2007 — marginal travel gains are submodular), so the result can never be worse than either; plus 8 x*-weighted random draws (Efraimidis–Spirakis 2006 A-Res); must-open pharmacies (x*≈1) are always kept.</a:t>
            </a:r>
            <a:endParaRPr lang="en-US" sz="1050" dirty="0"/>
          </a:p>
        </p:txBody>
      </p:sp>
      <p:sp>
        <p:nvSpPr>
          <p:cNvPr id="12" name="Shape 10"/>
          <p:cNvSpPr/>
          <p:nvPr/>
        </p:nvSpPr>
        <p:spPr>
          <a:xfrm>
            <a:off x="457200" y="3090672"/>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3" name="Text 11"/>
          <p:cNvSpPr/>
          <p:nvPr/>
        </p:nvSpPr>
        <p:spPr>
          <a:xfrm>
            <a:off x="457200" y="3090672"/>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p:nvPr/>
        </p:nvSpPr>
        <p:spPr>
          <a:xfrm>
            <a:off x="1024128" y="3072384"/>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Polish by swaps</a:t>
            </a:r>
            <a:endParaRPr lang="en-US" sz="1400" dirty="0"/>
          </a:p>
        </p:txBody>
      </p:sp>
      <p:sp>
        <p:nvSpPr>
          <p:cNvPr id="15" name="Text 13"/>
          <p:cNvSpPr/>
          <p:nvPr/>
        </p:nvSpPr>
        <p:spPr>
          <a:xfrm>
            <a:off x="1024128" y="3337560"/>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best-improving open↔closed swaps over the fractional pool — the classic p-median vertex-substitution search, in its fast-interchange form (Resende &amp; Werneck 2007). Each swap is accepted only if the exact travel delta improves — cost strictly decreases, ≤ 12 rounds per seed.</a:t>
            </a:r>
            <a:endParaRPr lang="en-US" sz="1050" dirty="0"/>
          </a:p>
        </p:txBody>
      </p:sp>
      <p:sp>
        <p:nvSpPr>
          <p:cNvPr id="16" name="Shape 14"/>
          <p:cNvSpPr/>
          <p:nvPr/>
        </p:nvSpPr>
        <p:spPr>
          <a:xfrm>
            <a:off x="457200" y="3986784"/>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7" name="Text 15"/>
          <p:cNvSpPr/>
          <p:nvPr/>
        </p:nvSpPr>
        <p:spPr>
          <a:xfrm>
            <a:off x="457200" y="3986784"/>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p:nvPr/>
        </p:nvSpPr>
        <p:spPr>
          <a:xfrm>
            <a:off x="1024128" y="3968496"/>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Score coverage-honestly, keep the best</a:t>
            </a:r>
            <a:endParaRPr lang="en-US" sz="1400" dirty="0"/>
          </a:p>
        </p:txBody>
      </p:sp>
      <p:sp>
        <p:nvSpPr>
          <p:cNvPr id="19" name="Text 17"/>
          <p:cNvSpPr/>
          <p:nvPr/>
        </p:nvSpPr>
        <p:spPr>
          <a:xfrm>
            <a:off x="1024128" y="4233672"/>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every client priced at its nearest open pharmacy, c(t); a client left with no open pharmacy in the OD (stranded) is priced at BIG — 120 min (linear) / 1.0 (logistic), the same price as in the LP and the baseline, so abandoning remote clusters is never free. Lowest total wins.</a:t>
            </a:r>
            <a:endParaRPr lang="en-US" sz="1050" dirty="0"/>
          </a:p>
        </p:txBody>
      </p:sp>
      <p:sp>
        <p:nvSpPr>
          <p:cNvPr id="20" name="Shape 18"/>
          <p:cNvSpPr/>
          <p:nvPr/>
        </p:nvSpPr>
        <p:spPr>
          <a:xfrm>
            <a:off x="7315200" y="1298448"/>
            <a:ext cx="4416552" cy="3566160"/>
          </a:xfrm>
          <a:prstGeom prst="roundRect">
            <a:avLst>
              <a:gd name="adj" fmla="val 1538"/>
            </a:avLst>
          </a:prstGeom>
          <a:solidFill>
            <a:srgbClr val="F0F6F2"/>
          </a:solidFill>
          <a:ln w="12700">
            <a:solidFill>
              <a:srgbClr val="1E7A52"/>
            </a:solidFill>
            <a:prstDash val="solid"/>
          </a:ln>
        </p:spPr>
        <p:txBody>
          <a:bodyPr/>
          <a:lstStyle/>
          <a:p>
            <a:endParaRPr lang="en-GB"/>
          </a:p>
        </p:txBody>
      </p:sp>
      <p:sp>
        <p:nvSpPr>
          <p:cNvPr id="21" name="Text 19"/>
          <p:cNvSpPr/>
          <p:nvPr/>
        </p:nvSpPr>
        <p:spPr>
          <a:xfrm>
            <a:off x="7498080" y="1408176"/>
            <a:ext cx="4069080"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Why this is an upper bound ✓</a:t>
            </a:r>
            <a:endParaRPr lang="en-US" sz="1300" dirty="0"/>
          </a:p>
        </p:txBody>
      </p:sp>
      <p:sp>
        <p:nvSpPr>
          <p:cNvPr id="22" name="Text 20"/>
          <p:cNvSpPr/>
          <p:nvPr/>
        </p:nvSpPr>
        <p:spPr>
          <a:xfrm>
            <a:off x="7498080" y="1719072"/>
            <a:ext cx="4069080" cy="3063240"/>
          </a:xfrm>
          <a:prstGeom prst="rect">
            <a:avLst/>
          </a:prstGeom>
          <a:noFill/>
          <a:ln/>
        </p:spPr>
        <p:txBody>
          <a:bodyPr wrap="square" rtlCol="0" anchor="t"/>
          <a:lstStyle/>
          <a:p>
            <a:pPr marL="0" indent="0">
              <a:lnSpc>
                <a:spcPct val="104000"/>
              </a:lnSpc>
              <a:buNone/>
            </a:pPr>
            <a:r>
              <a:rPr lang="en-US" sz="1050" dirty="0">
                <a:solidFill>
                  <a:srgbClr val="12233A"/>
                </a:solidFill>
                <a:latin typeface="Calibri" pitchFamily="34" charset="0"/>
                <a:ea typeface="Calibri" pitchFamily="34" charset="-122"/>
                <a:cs typeface="Calibri" pitchFamily="34" charset="-120"/>
              </a:rPr>
              <a:t>The rounded set is a feasible point of the same (soft-coverage) problem: exactly p pharmacies actually open (x integer), and every client is either assigned to its nearest open pharmacy or explicitly left unserved at BIG. Feasible ⟹ its objective can only be ≥ the integer optimum, which is ≥ the LP optimum:</a:t>
            </a:r>
            <a:endParaRPr lang="en-US" sz="1050" dirty="0"/>
          </a:p>
          <a:p>
            <a:pPr marL="0" indent="0">
              <a:lnSpc>
                <a:spcPct val="104000"/>
              </a:lnSpc>
              <a:buNone/>
            </a:pPr>
            <a:endParaRPr lang="en-US" sz="1050" dirty="0"/>
          </a:p>
          <a:p>
            <a:pPr marL="0" indent="0" algn="ctr">
              <a:lnSpc>
                <a:spcPct val="104000"/>
              </a:lnSpc>
              <a:buNone/>
            </a:pPr>
            <a:r>
              <a:rPr lang="en-US" sz="1050" b="1" dirty="0">
                <a:solidFill>
                  <a:srgbClr val="1E7A52"/>
                </a:solidFill>
                <a:latin typeface="Calibri" pitchFamily="34" charset="0"/>
                <a:ea typeface="Calibri" pitchFamily="34" charset="-122"/>
                <a:cs typeface="Calibri" pitchFamily="34" charset="-120"/>
              </a:rPr>
              <a:t>LP relax  ≤  integer optimum  ≤  multistart</a:t>
            </a:r>
            <a:endParaRPr lang="en-US" sz="1050" dirty="0"/>
          </a:p>
          <a:p>
            <a:pPr marL="0" indent="0">
              <a:lnSpc>
                <a:spcPct val="104000"/>
              </a:lnSpc>
              <a:buNone/>
            </a:pPr>
            <a:endParaRPr lang="en-US" sz="1050" dirty="0"/>
          </a:p>
          <a:p>
            <a:pPr marL="0" indent="0">
              <a:lnSpc>
                <a:spcPct val="104000"/>
              </a:lnSpc>
              <a:buNone/>
            </a:pPr>
            <a:r>
              <a:rPr lang="en-US" sz="1050" dirty="0">
                <a:solidFill>
                  <a:srgbClr val="5B6B7B"/>
                </a:solidFill>
                <a:latin typeface="Calibri" pitchFamily="34" charset="0"/>
                <a:ea typeface="Calibri" pitchFamily="34" charset="-122"/>
                <a:cs typeface="Calibri" pitchFamily="34" charset="-120"/>
              </a:rPr>
              <a:t>Rigorous throughout — no caveat needed. Under soft coverage leaving a client unserved is part of the feasible space, and it is priced at the same BIG in the LP bound, in the rounding and in the baseline. The unserved count is reported next to every figure.</a:t>
            </a:r>
            <a:endParaRPr lang="en-US" sz="1050" dirty="0"/>
          </a:p>
          <a:p>
            <a:pPr marL="0" indent="0">
              <a:lnSpc>
                <a:spcPct val="104000"/>
              </a:lnSpc>
              <a:buNone/>
            </a:pPr>
            <a:endParaRPr lang="en-US" sz="1050" dirty="0"/>
          </a:p>
          <a:p>
            <a:pPr marL="0" indent="0">
              <a:lnSpc>
                <a:spcPct val="104000"/>
              </a:lnSpc>
              <a:buNone/>
            </a:pPr>
            <a:r>
              <a:rPr lang="en-US" sz="1050" i="1" dirty="0">
                <a:solidFill>
                  <a:srgbClr val="12233A"/>
                </a:solidFill>
                <a:latin typeface="Calibri" pitchFamily="34" charset="0"/>
                <a:ea typeface="Calibri" pitchFamily="34" charset="-122"/>
                <a:cs typeface="Calibri" pitchFamily="34" charset="-120"/>
              </a:rPr>
              <a:t>The multi-vs-relax column in the end tables is therefore a certified optimality gap: the integer optimum lies inside it.</a:t>
            </a:r>
            <a:endParaRPr lang="en-US" sz="1050" dirty="0"/>
          </a:p>
        </p:txBody>
      </p:sp>
      <p:sp>
        <p:nvSpPr>
          <p:cNvPr id="23" name="Shape 21"/>
          <p:cNvSpPr/>
          <p:nvPr/>
        </p:nvSpPr>
        <p:spPr>
          <a:xfrm>
            <a:off x="457200" y="5029200"/>
            <a:ext cx="11274552" cy="1143000"/>
          </a:xfrm>
          <a:prstGeom prst="roundRect">
            <a:avLst>
              <a:gd name="adj" fmla="val 4800"/>
            </a:avLst>
          </a:prstGeom>
          <a:solidFill>
            <a:srgbClr val="F2F5F8"/>
          </a:solidFill>
          <a:ln w="12700">
            <a:solidFill>
              <a:srgbClr val="D9E0E7"/>
            </a:solidFill>
            <a:prstDash val="solid"/>
          </a:ln>
        </p:spPr>
        <p:txBody>
          <a:bodyPr/>
          <a:lstStyle/>
          <a:p>
            <a:endParaRPr lang="en-GB"/>
          </a:p>
        </p:txBody>
      </p:sp>
      <p:sp>
        <p:nvSpPr>
          <p:cNvPr id="24" name="Text 22"/>
          <p:cNvSpPr/>
          <p:nvPr/>
        </p:nvSpPr>
        <p:spPr>
          <a:xfrm>
            <a:off x="685800" y="5166360"/>
            <a:ext cx="10835640" cy="914400"/>
          </a:xfrm>
          <a:prstGeom prst="rect">
            <a:avLst/>
          </a:prstGeom>
          <a:noFill/>
          <a:ln/>
        </p:spPr>
        <p:txBody>
          <a:bodyPr wrap="square" rtlCol="0" anchor="t"/>
          <a:lstStyle/>
          <a:p>
            <a:pPr marL="0" indent="0">
              <a:buNone/>
            </a:pPr>
            <a:r>
              <a:rPr lang="en-US" sz="1100" b="1" dirty="0">
                <a:solidFill>
                  <a:srgbClr val="12233A"/>
                </a:solidFill>
                <a:latin typeface="Calibri" pitchFamily="34" charset="0"/>
                <a:ea typeface="Calibri" pitchFamily="34" charset="-122"/>
                <a:cs typeface="Calibri" pitchFamily="34" charset="-120"/>
              </a:rPr>
              <a:t>Checked against the implementation (lp_run.jl).  </a:t>
            </a:r>
            <a:r>
              <a:rPr lang="en-US" sz="1100" dirty="0">
                <a:solidFill>
                  <a:srgbClr val="5B6B7B"/>
                </a:solidFill>
                <a:latin typeface="Calibri" pitchFamily="34" charset="0"/>
                <a:ea typeface="Calibri" pitchFamily="34" charset="-122"/>
                <a:cs typeface="Calibri" pitchFamily="34" charset="-120"/>
              </a:rPr>
              <a:t>An LP-guided matheuristic. The swap profit is the exact per-swap travel change (gain − loss + interaction term — verified case-by-case), so polish is monotone and multistart ≤ min(top-p, greedy) by construction; the final choice re-evaluates every polished set from scratch (travel_of). Deterministic: fixed RNG seed, so decks reproduce. Cost: seconds per point — the LP solve dominates.</a:t>
            </a:r>
            <a:endParaRPr lang="en-US" sz="1100" dirty="0"/>
          </a:p>
        </p:txBody>
      </p:sp>
      <p:sp>
        <p:nvSpPr>
          <p:cNvPr id="25" name="Text 23"/>
          <p:cNvSpPr/>
          <p:nvPr/>
        </p:nvSpPr>
        <p:spPr>
          <a:xfrm>
            <a:off x="457200" y="6355080"/>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lp_run.jl: multistart_round (seeds), swap_round! (fast interchange), travel_of (coverage-honest metric), assign_nearest (final assignment) · MS_RESTARTS=10, MS_ROUNDS=12, MS_SEED fixed.</a:t>
            </a:r>
            <a:endParaRPr lang="en-US" sz="850" dirty="0"/>
          </a:p>
        </p:txBody>
      </p:sp>
    </p:spTree>
    <p:extLst>
      <p:ext uri="{BB962C8B-B14F-4D97-AF65-F5344CB8AC3E}">
        <p14:creationId xmlns:p14="http://schemas.microsoft.com/office/powerpoint/2010/main" val="393993211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WHY FRACTIONAL SUM_X IS INFORMATIVE, NOT NOISE</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Integrality gap: LP can strictly beat IP</a:t>
            </a:r>
            <a:endParaRPr lang="en-US" sz="3200" dirty="0"/>
          </a:p>
        </p:txBody>
      </p:sp>
      <p:sp>
        <p:nvSpPr>
          <p:cNvPr id="4" name="Shape 2"/>
          <p:cNvSpPr/>
          <p:nvPr/>
        </p:nvSpPr>
        <p:spPr>
          <a:xfrm>
            <a:off x="548640" y="1554480"/>
            <a:ext cx="5029200" cy="4754880"/>
          </a:xfrm>
          <a:prstGeom prst="rect">
            <a:avLst/>
          </a:prstGeom>
          <a:solidFill>
            <a:srgbClr val="E8EEF3"/>
          </a:solidFill>
          <a:ln w="6350">
            <a:solidFill>
              <a:srgbClr val="DCE3EA"/>
            </a:solidFill>
            <a:prstDash val="solid"/>
          </a:ln>
        </p:spPr>
        <p:txBody>
          <a:bodyPr/>
          <a:lstStyle/>
          <a:p>
            <a:endParaRPr lang="en-GB"/>
          </a:p>
        </p:txBody>
      </p:sp>
      <p:sp>
        <p:nvSpPr>
          <p:cNvPr id="5" name="Shape 3"/>
          <p:cNvSpPr/>
          <p:nvPr/>
        </p:nvSpPr>
        <p:spPr>
          <a:xfrm flipH="1">
            <a:off x="1717060" y="2560320"/>
            <a:ext cx="1346180" cy="2331720"/>
          </a:xfrm>
          <a:prstGeom prst="line">
            <a:avLst/>
          </a:prstGeom>
          <a:noFill/>
          <a:ln w="19050">
            <a:solidFill>
              <a:srgbClr val="64748B"/>
            </a:solidFill>
            <a:prstDash val="solid"/>
            <a:headEnd type="none"/>
            <a:tailEnd type="none"/>
          </a:ln>
        </p:spPr>
        <p:txBody>
          <a:bodyPr/>
          <a:lstStyle/>
          <a:p>
            <a:endParaRPr lang="en-GB"/>
          </a:p>
        </p:txBody>
      </p:sp>
      <p:sp>
        <p:nvSpPr>
          <p:cNvPr id="6" name="Shape 4"/>
          <p:cNvSpPr/>
          <p:nvPr/>
        </p:nvSpPr>
        <p:spPr>
          <a:xfrm>
            <a:off x="1717060" y="4892040"/>
            <a:ext cx="2692359" cy="0"/>
          </a:xfrm>
          <a:prstGeom prst="line">
            <a:avLst/>
          </a:prstGeom>
          <a:noFill/>
          <a:ln w="19050">
            <a:solidFill>
              <a:srgbClr val="64748B"/>
            </a:solidFill>
            <a:prstDash val="solid"/>
            <a:headEnd type="none"/>
            <a:tailEnd type="none"/>
          </a:ln>
        </p:spPr>
        <p:txBody>
          <a:bodyPr/>
          <a:lstStyle/>
          <a:p>
            <a:endParaRPr lang="en-GB"/>
          </a:p>
        </p:txBody>
      </p:sp>
      <p:sp>
        <p:nvSpPr>
          <p:cNvPr id="7" name="Shape 5"/>
          <p:cNvSpPr/>
          <p:nvPr/>
        </p:nvSpPr>
        <p:spPr>
          <a:xfrm flipH="1" flipV="1">
            <a:off x="3063240" y="2560320"/>
            <a:ext cx="1346180" cy="2331720"/>
          </a:xfrm>
          <a:prstGeom prst="line">
            <a:avLst/>
          </a:prstGeom>
          <a:noFill/>
          <a:ln w="19050">
            <a:solidFill>
              <a:srgbClr val="64748B"/>
            </a:solidFill>
            <a:prstDash val="solid"/>
            <a:headEnd type="none"/>
            <a:tailEnd type="none"/>
          </a:ln>
        </p:spPr>
        <p:txBody>
          <a:bodyPr/>
          <a:lstStyle/>
          <a:p>
            <a:endParaRPr lang="en-GB"/>
          </a:p>
        </p:txBody>
      </p:sp>
      <p:sp>
        <p:nvSpPr>
          <p:cNvPr id="8" name="Shape 6"/>
          <p:cNvSpPr/>
          <p:nvPr/>
        </p:nvSpPr>
        <p:spPr>
          <a:xfrm>
            <a:off x="2880360" y="2377440"/>
            <a:ext cx="365760" cy="365760"/>
          </a:xfrm>
          <a:prstGeom prst="ellipse">
            <a:avLst/>
          </a:prstGeom>
          <a:solidFill>
            <a:srgbClr val="065A82"/>
          </a:solidFill>
          <a:ln w="6350">
            <a:solidFill>
              <a:srgbClr val="21295C"/>
            </a:solidFill>
            <a:prstDash val="solid"/>
          </a:ln>
        </p:spPr>
        <p:txBody>
          <a:bodyPr/>
          <a:lstStyle/>
          <a:p>
            <a:endParaRPr lang="en-GB"/>
          </a:p>
        </p:txBody>
      </p:sp>
      <p:sp>
        <p:nvSpPr>
          <p:cNvPr id="9" name="Text 7"/>
          <p:cNvSpPr/>
          <p:nvPr/>
        </p:nvSpPr>
        <p:spPr>
          <a:xfrm>
            <a:off x="2880360" y="237744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i₃</a:t>
            </a:r>
            <a:endParaRPr lang="en-US" sz="1300" dirty="0"/>
          </a:p>
        </p:txBody>
      </p:sp>
      <p:sp>
        <p:nvSpPr>
          <p:cNvPr id="10" name="Shape 8"/>
          <p:cNvSpPr/>
          <p:nvPr/>
        </p:nvSpPr>
        <p:spPr>
          <a:xfrm>
            <a:off x="1534180" y="4709160"/>
            <a:ext cx="365760" cy="365760"/>
          </a:xfrm>
          <a:prstGeom prst="ellipse">
            <a:avLst/>
          </a:prstGeom>
          <a:solidFill>
            <a:srgbClr val="065A82"/>
          </a:solidFill>
          <a:ln w="6350">
            <a:solidFill>
              <a:srgbClr val="21295C"/>
            </a:solidFill>
            <a:prstDash val="solid"/>
          </a:ln>
        </p:spPr>
        <p:txBody>
          <a:bodyPr/>
          <a:lstStyle/>
          <a:p>
            <a:endParaRPr lang="en-GB"/>
          </a:p>
        </p:txBody>
      </p:sp>
      <p:sp>
        <p:nvSpPr>
          <p:cNvPr id="11" name="Text 9"/>
          <p:cNvSpPr/>
          <p:nvPr/>
        </p:nvSpPr>
        <p:spPr>
          <a:xfrm>
            <a:off x="1534180" y="470916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i₁</a:t>
            </a:r>
            <a:endParaRPr lang="en-US" sz="1300" dirty="0"/>
          </a:p>
        </p:txBody>
      </p:sp>
      <p:sp>
        <p:nvSpPr>
          <p:cNvPr id="12" name="Shape 10"/>
          <p:cNvSpPr/>
          <p:nvPr/>
        </p:nvSpPr>
        <p:spPr>
          <a:xfrm>
            <a:off x="4226540" y="4709160"/>
            <a:ext cx="365760" cy="365760"/>
          </a:xfrm>
          <a:prstGeom prst="ellipse">
            <a:avLst/>
          </a:prstGeom>
          <a:solidFill>
            <a:srgbClr val="065A82"/>
          </a:solidFill>
          <a:ln w="6350">
            <a:solidFill>
              <a:srgbClr val="21295C"/>
            </a:solidFill>
            <a:prstDash val="solid"/>
          </a:ln>
        </p:spPr>
        <p:txBody>
          <a:bodyPr/>
          <a:lstStyle/>
          <a:p>
            <a:endParaRPr lang="en-GB"/>
          </a:p>
        </p:txBody>
      </p:sp>
      <p:sp>
        <p:nvSpPr>
          <p:cNvPr id="13" name="Text 11"/>
          <p:cNvSpPr/>
          <p:nvPr/>
        </p:nvSpPr>
        <p:spPr>
          <a:xfrm>
            <a:off x="4226540" y="470916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i₂</a:t>
            </a:r>
            <a:endParaRPr lang="en-US" sz="1300" dirty="0"/>
          </a:p>
        </p:txBody>
      </p:sp>
      <p:sp>
        <p:nvSpPr>
          <p:cNvPr id="14" name="Shape 12"/>
          <p:cNvSpPr/>
          <p:nvPr/>
        </p:nvSpPr>
        <p:spPr>
          <a:xfrm>
            <a:off x="2207270" y="3543300"/>
            <a:ext cx="365760" cy="365760"/>
          </a:xfrm>
          <a:prstGeom prst="rect">
            <a:avLst/>
          </a:prstGeom>
          <a:solidFill>
            <a:srgbClr val="F2B632"/>
          </a:solidFill>
          <a:ln w="6350">
            <a:solidFill>
              <a:srgbClr val="8A6510"/>
            </a:solidFill>
            <a:prstDash val="solid"/>
          </a:ln>
        </p:spPr>
        <p:txBody>
          <a:bodyPr/>
          <a:lstStyle/>
          <a:p>
            <a:endParaRPr lang="en-GB"/>
          </a:p>
        </p:txBody>
      </p:sp>
      <p:sp>
        <p:nvSpPr>
          <p:cNvPr id="15" name="Text 13"/>
          <p:cNvSpPr/>
          <p:nvPr/>
        </p:nvSpPr>
        <p:spPr>
          <a:xfrm>
            <a:off x="2207270" y="354330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j₂</a:t>
            </a:r>
            <a:endParaRPr lang="en-US" sz="1200" dirty="0"/>
          </a:p>
        </p:txBody>
      </p:sp>
      <p:sp>
        <p:nvSpPr>
          <p:cNvPr id="16" name="Shape 14"/>
          <p:cNvSpPr/>
          <p:nvPr/>
        </p:nvSpPr>
        <p:spPr>
          <a:xfrm>
            <a:off x="3553450" y="3543300"/>
            <a:ext cx="365760" cy="365760"/>
          </a:xfrm>
          <a:prstGeom prst="rect">
            <a:avLst/>
          </a:prstGeom>
          <a:solidFill>
            <a:srgbClr val="F2B632"/>
          </a:solidFill>
          <a:ln w="6350">
            <a:solidFill>
              <a:srgbClr val="8A6510"/>
            </a:solidFill>
            <a:prstDash val="solid"/>
          </a:ln>
        </p:spPr>
        <p:txBody>
          <a:bodyPr/>
          <a:lstStyle/>
          <a:p>
            <a:endParaRPr lang="en-GB"/>
          </a:p>
        </p:txBody>
      </p:sp>
      <p:sp>
        <p:nvSpPr>
          <p:cNvPr id="17" name="Text 15"/>
          <p:cNvSpPr/>
          <p:nvPr/>
        </p:nvSpPr>
        <p:spPr>
          <a:xfrm>
            <a:off x="3553450" y="354330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j₃</a:t>
            </a:r>
            <a:endParaRPr lang="en-US" sz="1200" dirty="0"/>
          </a:p>
        </p:txBody>
      </p:sp>
      <p:sp>
        <p:nvSpPr>
          <p:cNvPr id="18" name="Shape 16"/>
          <p:cNvSpPr/>
          <p:nvPr/>
        </p:nvSpPr>
        <p:spPr>
          <a:xfrm>
            <a:off x="2880360" y="4709160"/>
            <a:ext cx="365760" cy="365760"/>
          </a:xfrm>
          <a:prstGeom prst="rect">
            <a:avLst/>
          </a:prstGeom>
          <a:solidFill>
            <a:srgbClr val="F2B632"/>
          </a:solidFill>
          <a:ln w="6350">
            <a:solidFill>
              <a:srgbClr val="8A6510"/>
            </a:solidFill>
            <a:prstDash val="solid"/>
          </a:ln>
        </p:spPr>
        <p:txBody>
          <a:bodyPr/>
          <a:lstStyle/>
          <a:p>
            <a:endParaRPr lang="en-GB"/>
          </a:p>
        </p:txBody>
      </p:sp>
      <p:sp>
        <p:nvSpPr>
          <p:cNvPr id="19" name="Text 17"/>
          <p:cNvSpPr/>
          <p:nvPr/>
        </p:nvSpPr>
        <p:spPr>
          <a:xfrm>
            <a:off x="2880360" y="470916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j₁</a:t>
            </a:r>
            <a:endParaRPr lang="en-US" sz="1200" dirty="0"/>
          </a:p>
        </p:txBody>
      </p:sp>
      <p:sp>
        <p:nvSpPr>
          <p:cNvPr id="20" name="Text 18"/>
          <p:cNvSpPr/>
          <p:nvPr/>
        </p:nvSpPr>
        <p:spPr>
          <a:xfrm>
            <a:off x="2280422" y="455371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1" name="Text 19"/>
          <p:cNvSpPr/>
          <p:nvPr/>
        </p:nvSpPr>
        <p:spPr>
          <a:xfrm>
            <a:off x="3626602" y="455371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2" name="Text 20"/>
          <p:cNvSpPr/>
          <p:nvPr/>
        </p:nvSpPr>
        <p:spPr>
          <a:xfrm>
            <a:off x="1687845" y="419938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3" name="Text 21"/>
          <p:cNvSpPr/>
          <p:nvPr/>
        </p:nvSpPr>
        <p:spPr>
          <a:xfrm>
            <a:off x="2360935" y="303352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4" name="Text 22"/>
          <p:cNvSpPr/>
          <p:nvPr/>
        </p:nvSpPr>
        <p:spPr>
          <a:xfrm>
            <a:off x="4210035" y="419938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5" name="Text 23"/>
          <p:cNvSpPr/>
          <p:nvPr/>
        </p:nvSpPr>
        <p:spPr>
          <a:xfrm>
            <a:off x="3536945" y="303352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6" name="Text 24"/>
          <p:cNvSpPr/>
          <p:nvPr/>
        </p:nvSpPr>
        <p:spPr>
          <a:xfrm>
            <a:off x="640080" y="5943600"/>
            <a:ext cx="4846320" cy="32004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3 clients · 3 candidate pharmacies · weight = 1 each · λ = 2</a:t>
            </a:r>
            <a:endParaRPr lang="en-US" sz="1100" dirty="0"/>
          </a:p>
        </p:txBody>
      </p:sp>
      <p:sp>
        <p:nvSpPr>
          <p:cNvPr id="27" name="Text 25"/>
          <p:cNvSpPr/>
          <p:nvPr/>
        </p:nvSpPr>
        <p:spPr>
          <a:xfrm>
            <a:off x="5852160" y="1554480"/>
            <a:ext cx="5760720" cy="36576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Best integer</a:t>
            </a:r>
            <a:endParaRPr lang="en-US" sz="1800" dirty="0"/>
          </a:p>
        </p:txBody>
      </p:sp>
      <p:sp>
        <p:nvSpPr>
          <p:cNvPr id="28" name="Text 26"/>
          <p:cNvSpPr/>
          <p:nvPr/>
        </p:nvSpPr>
        <p:spPr>
          <a:xfrm>
            <a:off x="5852160" y="1965960"/>
            <a:ext cx="5760720" cy="1143000"/>
          </a:xfrm>
          <a:prstGeom prst="rect">
            <a:avLst/>
          </a:prstGeom>
          <a:noFill/>
          <a:ln/>
        </p:spPr>
        <p:txBody>
          <a:bodyPr wrap="square" lIns="0" tIns="0" rIns="0" bIns="0" rtlCol="0" anchor="t"/>
          <a:lstStyle/>
          <a:p>
            <a:pPr marL="0" indent="0">
              <a:buNone/>
            </a:pPr>
            <a:r>
              <a:rPr lang="en-US" sz="1400" dirty="0">
                <a:solidFill>
                  <a:srgbClr val="1F2937"/>
                </a:solidFill>
                <a:latin typeface="Calibri" pitchFamily="34" charset="0"/>
                <a:ea typeface="Calibri" pitchFamily="34" charset="-122"/>
                <a:cs typeface="Calibri" pitchFamily="34" charset="-120"/>
              </a:rPr>
              <a:t>Open any one pharmacy:  </a:t>
            </a:r>
            <a:r>
              <a:rPr lang="en-US" sz="1400" b="1" dirty="0">
                <a:solidFill>
                  <a:srgbClr val="21295C"/>
                </a:solidFill>
                <a:latin typeface="Calibri" pitchFamily="34" charset="0"/>
                <a:ea typeface="Calibri" pitchFamily="34" charset="-122"/>
                <a:cs typeface="Calibri" pitchFamily="34" charset="-120"/>
              </a:rPr>
              <a:t>1 + 1 + 3 + λ = 7</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Open any two:  </a:t>
            </a:r>
            <a:r>
              <a:rPr lang="en-US" sz="1400" b="1" dirty="0">
                <a:solidFill>
                  <a:srgbClr val="21295C"/>
                </a:solidFill>
                <a:latin typeface="Calibri" pitchFamily="34" charset="0"/>
                <a:ea typeface="Calibri" pitchFamily="34" charset="-122"/>
                <a:cs typeface="Calibri" pitchFamily="34" charset="-120"/>
              </a:rPr>
              <a:t>1 + 1 + 1 + 2λ = 7</a:t>
            </a:r>
            <a:endParaRPr lang="en-US" sz="1400" dirty="0"/>
          </a:p>
          <a:p>
            <a:pPr marL="0" indent="0">
              <a:buNone/>
            </a:pPr>
            <a:r>
              <a:rPr lang="en-US" sz="1400" i="1" dirty="0">
                <a:solidFill>
                  <a:srgbClr val="1C7293"/>
                </a:solidFill>
                <a:latin typeface="Calibri" pitchFamily="34" charset="0"/>
                <a:ea typeface="Calibri" pitchFamily="34" charset="-122"/>
                <a:cs typeface="Calibri" pitchFamily="34" charset="-120"/>
              </a:rPr>
              <a:t>→ IP optimum = 7   (1 or 2 facilities)</a:t>
            </a:r>
            <a:endParaRPr lang="en-US" sz="1400" dirty="0"/>
          </a:p>
        </p:txBody>
      </p:sp>
      <p:sp>
        <p:nvSpPr>
          <p:cNvPr id="29" name="Text 27"/>
          <p:cNvSpPr/>
          <p:nvPr/>
        </p:nvSpPr>
        <p:spPr>
          <a:xfrm>
            <a:off x="5852160" y="3246120"/>
            <a:ext cx="5760720" cy="36576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LP fractional</a:t>
            </a:r>
            <a:endParaRPr lang="en-US" sz="1800" dirty="0"/>
          </a:p>
        </p:txBody>
      </p:sp>
      <p:sp>
        <p:nvSpPr>
          <p:cNvPr id="30" name="Text 28"/>
          <p:cNvSpPr/>
          <p:nvPr/>
        </p:nvSpPr>
        <p:spPr>
          <a:xfrm>
            <a:off x="5852160" y="3657600"/>
            <a:ext cx="5760720" cy="1463040"/>
          </a:xfrm>
          <a:prstGeom prst="rect">
            <a:avLst/>
          </a:prstGeom>
          <a:noFill/>
          <a:ln/>
        </p:spPr>
        <p:txBody>
          <a:bodyPr wrap="square" lIns="0" tIns="0" rIns="0" bIns="0" rtlCol="0" anchor="t"/>
          <a:lstStyle/>
          <a:p>
            <a:pPr marL="0" indent="0">
              <a:buNone/>
            </a:pPr>
            <a:r>
              <a:rPr lang="en-US" sz="1400" dirty="0">
                <a:solidFill>
                  <a:srgbClr val="1F2937"/>
                </a:solidFill>
                <a:latin typeface="Calibri" pitchFamily="34" charset="0"/>
                <a:ea typeface="Calibri" pitchFamily="34" charset="-122"/>
                <a:cs typeface="Calibri" pitchFamily="34" charset="-120"/>
              </a:rPr>
              <a:t>Set </a:t>
            </a:r>
            <a:r>
              <a:rPr lang="en-US" sz="1400" b="1" dirty="0">
                <a:solidFill>
                  <a:srgbClr val="F2B632"/>
                </a:solidFill>
                <a:latin typeface="Calibri" pitchFamily="34" charset="0"/>
                <a:ea typeface="Calibri" pitchFamily="34" charset="-122"/>
                <a:cs typeface="Calibri" pitchFamily="34" charset="-120"/>
              </a:rPr>
              <a:t>x = (½, ½, ½)</a:t>
            </a:r>
            <a:r>
              <a:rPr lang="en-US" sz="1400" dirty="0">
                <a:solidFill>
                  <a:srgbClr val="1F2937"/>
                </a:solidFill>
                <a:latin typeface="Calibri" pitchFamily="34" charset="0"/>
                <a:ea typeface="Calibri" pitchFamily="34" charset="-122"/>
                <a:cs typeface="Calibri" pitchFamily="34" charset="-120"/>
              </a:rPr>
              <a:t>; each client routes ½ + ½ to its two near pharmacies (cost 1 each).</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Travel = 3, facility = 3 · ½ · 2 = 3</a:t>
            </a:r>
            <a:endParaRPr lang="en-US" sz="1400" dirty="0"/>
          </a:p>
          <a:p>
            <a:pPr marL="0" indent="0">
              <a:buNone/>
            </a:pPr>
            <a:r>
              <a:rPr lang="en-US" sz="1400" i="1" dirty="0">
                <a:solidFill>
                  <a:srgbClr val="1C7293"/>
                </a:solidFill>
                <a:latin typeface="Calibri" pitchFamily="34" charset="0"/>
                <a:ea typeface="Calibri" pitchFamily="34" charset="-122"/>
                <a:cs typeface="Calibri" pitchFamily="34" charset="-120"/>
              </a:rPr>
              <a:t>→ LP optimum = </a:t>
            </a:r>
            <a:r>
              <a:rPr lang="en-US" sz="1800" b="1" i="1" dirty="0">
                <a:solidFill>
                  <a:srgbClr val="F2B632"/>
                </a:solidFill>
                <a:latin typeface="Calibri" pitchFamily="34" charset="0"/>
                <a:ea typeface="Calibri" pitchFamily="34" charset="-122"/>
                <a:cs typeface="Calibri" pitchFamily="34" charset="-120"/>
              </a:rPr>
              <a:t>6</a:t>
            </a:r>
            <a:r>
              <a:rPr lang="en-US" sz="1400" i="1" dirty="0">
                <a:solidFill>
                  <a:srgbClr val="1C7293"/>
                </a:solidFill>
                <a:latin typeface="Calibri" pitchFamily="34" charset="0"/>
                <a:ea typeface="Calibri" pitchFamily="34" charset="-122"/>
                <a:cs typeface="Calibri" pitchFamily="34" charset="-120"/>
              </a:rPr>
              <a:t>  (sum_x = 1.5, strictly &lt; IP = 7)</a:t>
            </a:r>
            <a:endParaRPr lang="en-US" sz="1400" dirty="0"/>
          </a:p>
        </p:txBody>
      </p:sp>
      <p:sp>
        <p:nvSpPr>
          <p:cNvPr id="31" name="Shape 29"/>
          <p:cNvSpPr/>
          <p:nvPr/>
        </p:nvSpPr>
        <p:spPr>
          <a:xfrm>
            <a:off x="5852160" y="5212080"/>
            <a:ext cx="5760720" cy="1051560"/>
          </a:xfrm>
          <a:prstGeom prst="rect">
            <a:avLst/>
          </a:prstGeom>
          <a:solidFill>
            <a:srgbClr val="21295C"/>
          </a:solidFill>
          <a:ln/>
        </p:spPr>
        <p:txBody>
          <a:bodyPr/>
          <a:lstStyle/>
          <a:p>
            <a:endParaRPr lang="en-GB"/>
          </a:p>
        </p:txBody>
      </p:sp>
      <p:sp>
        <p:nvSpPr>
          <p:cNvPr id="32" name="Text 30"/>
          <p:cNvSpPr/>
          <p:nvPr/>
        </p:nvSpPr>
        <p:spPr>
          <a:xfrm>
            <a:off x="6035040" y="5303520"/>
            <a:ext cx="5486400" cy="914400"/>
          </a:xfrm>
          <a:prstGeom prst="rect">
            <a:avLst/>
          </a:prstGeom>
          <a:noFill/>
          <a:ln/>
        </p:spPr>
        <p:txBody>
          <a:bodyPr wrap="square" lIns="0" tIns="0" rIns="0" bIns="0" rtlCol="0" anchor="t"/>
          <a:lstStyle/>
          <a:p>
            <a:pPr marL="0" indent="0">
              <a:buNone/>
            </a:pPr>
            <a:r>
              <a:rPr lang="en-US" sz="1300" b="1" dirty="0">
                <a:solidFill>
                  <a:srgbClr val="F2B632"/>
                </a:solidFill>
                <a:latin typeface="Calibri" pitchFamily="34" charset="0"/>
                <a:ea typeface="Calibri" pitchFamily="34" charset="-122"/>
                <a:cs typeface="Calibri" pitchFamily="34" charset="-120"/>
              </a:rPr>
              <a:t>Takeaway</a:t>
            </a:r>
            <a:endParaRPr lang="en-US" sz="1300" dirty="0"/>
          </a:p>
          <a:p>
            <a:pPr marL="0" indent="0">
              <a:buNone/>
            </a:pPr>
            <a:r>
              <a:rPr lang="en-US" sz="1200" dirty="0">
                <a:solidFill>
                  <a:srgbClr val="FFFFFF"/>
                </a:solidFill>
                <a:latin typeface="Calibri" pitchFamily="34" charset="0"/>
                <a:ea typeface="Calibri" pitchFamily="34" charset="-122"/>
                <a:cs typeface="Calibri" pitchFamily="34" charset="-120"/>
              </a:rPr>
              <a:t>Fractional sum_x is not a solver artefact. The LP frontier is a true lower bound; geographies that resist clean integer covering show the gap.</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PHARMACY</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pharmacy  </a:t>
            </a:r>
            <a:r>
              <a:rPr lang="en-US" sz="2100" dirty="0">
                <a:solidFill>
                  <a:srgbClr val="1C3D5A"/>
                </a:solidFill>
                <a:latin typeface="Georgia" pitchFamily="34" charset="0"/>
                <a:ea typeface="Georgia" pitchFamily="34" charset="-122"/>
                <a:cs typeface="Georgia" pitchFamily="34" charset="-120"/>
              </a:rPr>
              <a:t>— per country</a:t>
            </a:r>
            <a:endParaRPr lang="en-US" sz="2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264160">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pharm.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resid/ph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Austria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25,354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Belgium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Czechia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18,348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Denmark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10,736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13,242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17,801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Estonia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Ireland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17,055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85,669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Latvia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Lithuania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Luxembourg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7,952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11,913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Norway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Portugal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19,709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Slovenia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bl>
          </a:graphicData>
        </a:graphic>
      </p:graphicFrame>
      <p:sp>
        <p:nvSpPr>
          <p:cNvPr id="4"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Catchment = residents whose nearest pharmacy BY ROAD-NETWORK travel time is this one (a cell's catchment split evenly among the pharmacies in it); p10..max = percentiles of that per-pharmacy catchment. #empty = pharmacies that are never the road-nearest for any populated cell (fully shadowed / disconnected); min&gt;0 = smallest non-zero catchment. Source: pharmacy_descriptives.csv (road OD; Lewis, 22 May).</a:t>
            </a:r>
            <a:endParaRPr lang="en-US" sz="800" dirty="0"/>
          </a:p>
        </p:txBody>
      </p:sp>
    </p:spTree>
    <p:extLst>
      <p:ext uri="{BB962C8B-B14F-4D97-AF65-F5344CB8AC3E}">
        <p14:creationId xmlns:p14="http://schemas.microsoft.com/office/powerpoint/2010/main" val="310704237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PHARMACY</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pharmacy  </a:t>
            </a:r>
            <a:r>
              <a:rPr lang="en-US" sz="2100" dirty="0">
                <a:solidFill>
                  <a:srgbClr val="1C3D5A"/>
                </a:solidFill>
                <a:latin typeface="Georgia" pitchFamily="34" charset="0"/>
                <a:ea typeface="Georgia" pitchFamily="34" charset="-122"/>
                <a:cs typeface="Georgia" pitchFamily="34" charset="-120"/>
              </a:rPr>
              <a:t>— key NUTS1 regions (FR / IT / SE)</a:t>
            </a:r>
            <a:endParaRPr lang="en-US" sz="2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187452">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pharm.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resid/ph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5,060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7,952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11,913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33,497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4,091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FRB</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12,847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15,413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11,655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FRJ</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12,834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4,520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1,859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3,160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85,669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43,077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85,669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61,270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47,393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9,628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12,659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2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9,944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13,041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10,842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16,931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Catchment = residents whose nearest pharmacy BY ROAD-NETWORK travel time is this one (a cell's catchment split evenly among the pharmacies in it); p10..max = percentiles of that per-pharmacy catchment. #empty = pharmacies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159513956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1 KM² LOCATION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1 km² location  </a:t>
            </a:r>
            <a:r>
              <a:rPr lang="en-US" sz="2100" dirty="0">
                <a:solidFill>
                  <a:srgbClr val="1C3D5A"/>
                </a:solidFill>
                <a:latin typeface="Georgia" pitchFamily="34" charset="0"/>
                <a:ea typeface="Georgia" pitchFamily="34" charset="-122"/>
                <a:cs typeface="Georgia" pitchFamily="34" charset="-120"/>
              </a:rPr>
              <a:t>— per country</a:t>
            </a:r>
            <a:endParaRPr lang="en-US" sz="2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264160">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locations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resid/loc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Austria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6,976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13,119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33,771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Belgium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29,568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Czechia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27,465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Denmark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20,513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40,606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Estonia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8,262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Ireland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8,616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112,620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Latvia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Lithuania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6,579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24,536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Luxembourg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9,508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22,601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13,827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34,905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Norway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26,161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Portugal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9,811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32,667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Slovenia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11,475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22,559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17,268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A location = a unique 1 km² cell with ≥1 pharmacy; catchment = residents whose nearest pharmacy cell BY ROAD is this one; p10..max = percentiles of that per-location catchment. #empty = locations that are never the road-nearest for any populated cell (fully shadowed / disconnected); min&gt;0 = smallest non-zero catchment. Source: pharmacy_descriptives.csv (road OD; Lewis, 22 May).</a:t>
            </a:r>
            <a:endParaRPr lang="en-US" sz="800" dirty="0"/>
          </a:p>
        </p:txBody>
      </p:sp>
    </p:spTree>
    <p:extLst>
      <p:ext uri="{BB962C8B-B14F-4D97-AF65-F5344CB8AC3E}">
        <p14:creationId xmlns:p14="http://schemas.microsoft.com/office/powerpoint/2010/main" val="28939059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1 KM² LOCATION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1 km² location  </a:t>
            </a:r>
            <a:r>
              <a:rPr lang="en-US" sz="2100" dirty="0">
                <a:solidFill>
                  <a:srgbClr val="1C3D5A"/>
                </a:solidFill>
                <a:latin typeface="Georgia" pitchFamily="34" charset="0"/>
                <a:ea typeface="Georgia" pitchFamily="34" charset="-122"/>
                <a:cs typeface="Georgia" pitchFamily="34" charset="-120"/>
              </a:rPr>
              <a:t>— key NUTS1 regions (FR / IT / SE)</a:t>
            </a:r>
            <a:endParaRPr lang="en-US" sz="2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187452">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locations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resid/loc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4,394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6,802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34,905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8,412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FRB</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15,552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15,013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17,786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22,395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FRJ</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17,607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25,354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8,837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4,919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8,616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13,684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112,620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43,077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6,995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13,080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112,620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13,929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61,270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47,393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14,419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5,220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17,268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2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12,552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17,034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35,654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25,507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A location = a unique 1 km² cell with ≥1 pharmacy; catchment = residents whose nearest pharmacy cell BY ROAD is this one; p10..max = percentiles of that per-location catchment. #empty = locations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197022419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972800" cy="274320"/>
          </a:xfrm>
          <a:prstGeom prst="rect">
            <a:avLst/>
          </a:prstGeom>
          <a:noFill/>
          <a:ln/>
        </p:spPr>
        <p:txBody>
          <a:bodyPr wrap="square" rtlCol="0" anchor="ctr"/>
          <a:lstStyle/>
          <a:p>
            <a:pPr marL="0" indent="0">
              <a:buNone/>
            </a:pPr>
            <a:r>
              <a:rPr lang="en-US" sz="1200" b="1" kern="0" spc="200" dirty="0">
                <a:solidFill>
                  <a:srgbClr val="E8A33D"/>
                </a:solidFill>
              </a:rPr>
              <a:t>PRELIMINARY · CATCHMENT-CAP LADDER (NO COST FUNCTION)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1900" b="1" dirty="0">
                <a:solidFill>
                  <a:srgbClr val="12233A"/>
                </a:solidFill>
                <a:latin typeface="Georgia" pitchFamily="34" charset="0"/>
                <a:ea typeface="Georgia" pitchFamily="34" charset="-122"/>
                <a:cs typeface="Georgia" pitchFamily="34" charset="-120"/>
              </a:rPr>
              <a:t>Netherlands — five rungs, capping catchments instead of a cost function  </a:t>
            </a:r>
            <a:r>
              <a:rPr lang="en-US" sz="1900" dirty="0">
                <a:solidFill>
                  <a:srgbClr val="1C3D5A"/>
                </a:solidFill>
                <a:latin typeface="Georgia" pitchFamily="34" charset="0"/>
                <a:ea typeface="Georgia" pitchFamily="34" charset="-122"/>
                <a:cs typeface="Georgia" pitchFamily="34" charset="-120"/>
              </a:rPr>
              <a:t>— S1 fix #, ↓travel · S2 ↓#, hold travel</a:t>
            </a:r>
            <a:endParaRPr lang="en-US" sz="1900" dirty="0"/>
          </a:p>
        </p:txBody>
      </p:sp>
      <p:sp>
        <p:nvSpPr>
          <p:cNvPr id="4" name="Shape 2"/>
          <p:cNvSpPr/>
          <p:nvPr/>
        </p:nvSpPr>
        <p:spPr>
          <a:xfrm>
            <a:off x="457200" y="1325880"/>
            <a:ext cx="3721608" cy="2286000"/>
          </a:xfrm>
          <a:prstGeom prst="roundRect">
            <a:avLst>
              <a:gd name="adj" fmla="val 2400"/>
            </a:avLst>
          </a:prstGeom>
          <a:solidFill>
            <a:srgbClr val="F2F5F8"/>
          </a:solidFill>
          <a:ln w="12700">
            <a:solidFill>
              <a:srgbClr val="0B6E99"/>
            </a:solidFill>
            <a:prstDash val="solid"/>
          </a:ln>
        </p:spPr>
        <p:txBody>
          <a:bodyPr/>
          <a:lstStyle/>
          <a:p>
            <a:endParaRPr lang="en-GB"/>
          </a:p>
        </p:txBody>
      </p:sp>
      <p:sp>
        <p:nvSpPr>
          <p:cNvPr id="5" name="Text 3"/>
          <p:cNvSpPr/>
          <p:nvPr/>
        </p:nvSpPr>
        <p:spPr>
          <a:xfrm>
            <a:off x="621792" y="1426464"/>
            <a:ext cx="3447288" cy="274320"/>
          </a:xfrm>
          <a:prstGeom prst="rect">
            <a:avLst/>
          </a:prstGeom>
          <a:noFill/>
          <a:ln/>
        </p:spPr>
        <p:txBody>
          <a:bodyPr wrap="square" rtlCol="0" anchor="ctr"/>
          <a:lstStyle/>
          <a:p>
            <a:pPr marL="0" indent="0">
              <a:buNone/>
            </a:pPr>
            <a:r>
              <a:rPr lang="en-US" sz="1500" b="1" dirty="0">
                <a:solidFill>
                  <a:srgbClr val="0B6E99"/>
                </a:solidFill>
                <a:latin typeface="Calibri" pitchFamily="34" charset="0"/>
                <a:ea typeface="Calibri" pitchFamily="34" charset="-122"/>
                <a:cs typeface="Calibri" pitchFamily="34" charset="-120"/>
              </a:rPr>
              <a:t>S1 · A</a:t>
            </a:r>
            <a:endParaRPr lang="en-US" sz="1500" dirty="0"/>
          </a:p>
        </p:txBody>
      </p:sp>
      <p:sp>
        <p:nvSpPr>
          <p:cNvPr id="6" name="Text 4"/>
          <p:cNvSpPr/>
          <p:nvPr/>
        </p:nvSpPr>
        <p:spPr>
          <a:xfrm>
            <a:off x="621792"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max cap · multiple per cell</a:t>
            </a:r>
            <a:endParaRPr lang="en-US" sz="950" dirty="0"/>
          </a:p>
        </p:txBody>
      </p:sp>
      <p:sp>
        <p:nvSpPr>
          <p:cNvPr id="7" name="Text 5"/>
          <p:cNvSpPr/>
          <p:nvPr/>
        </p:nvSpPr>
        <p:spPr>
          <a:xfrm>
            <a:off x="621792" y="2103120"/>
            <a:ext cx="3447288" cy="457200"/>
          </a:xfrm>
          <a:prstGeom prst="rect">
            <a:avLst/>
          </a:prstGeom>
          <a:noFill/>
          <a:ln/>
        </p:spPr>
        <p:txBody>
          <a:bodyPr wrap="square" rtlCol="0" anchor="ctr"/>
          <a:lstStyle/>
          <a:p>
            <a:pPr marL="0" indent="0">
              <a:buNone/>
            </a:pPr>
            <a:r>
              <a:rPr lang="en-US" sz="2500" b="1" dirty="0">
                <a:solidFill>
                  <a:srgbClr val="B23A2E"/>
                </a:solidFill>
                <a:latin typeface="Georgia" pitchFamily="34" charset="0"/>
                <a:ea typeface="Georgia" pitchFamily="34" charset="-122"/>
                <a:cs typeface="Georgia" pitchFamily="34" charset="-120"/>
              </a:rPr>
              <a:t>+13.3%</a:t>
            </a:r>
            <a:r>
              <a:rPr lang="en-US" sz="1050" dirty="0">
                <a:solidFill>
                  <a:srgbClr val="5B6B7B"/>
                </a:solidFill>
                <a:latin typeface="Georgia" pitchFamily="34" charset="0"/>
                <a:ea typeface="Georgia" pitchFamily="34" charset="-122"/>
                <a:cs typeface="Georgia" pitchFamily="34" charset="-120"/>
              </a:rPr>
              <a:t>  travel vs today</a:t>
            </a:r>
            <a:endParaRPr lang="en-US" sz="2500" dirty="0"/>
          </a:p>
        </p:txBody>
      </p:sp>
      <p:sp>
        <p:nvSpPr>
          <p:cNvPr id="8" name="Text 6"/>
          <p:cNvSpPr/>
          <p:nvPr/>
        </p:nvSpPr>
        <p:spPr>
          <a:xfrm>
            <a:off x="621792" y="2679192"/>
            <a:ext cx="3447288" cy="868680"/>
          </a:xfrm>
          <a:prstGeom prst="rect">
            <a:avLst/>
          </a:prstGeom>
          <a:noFill/>
          <a:ln/>
        </p:spPr>
        <p:txBody>
          <a:bodyPr wrap="square" rtlCol="0" anchor="t"/>
          <a:lstStyle/>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1,613 pharmacies · 1,593 cells</a:t>
            </a:r>
            <a:endParaRPr lang="en-US" sz="1000" dirty="0"/>
          </a:p>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1.9% stranded · cap 35,000</a:t>
            </a:r>
            <a:endParaRPr lang="en-US" sz="1000" dirty="0"/>
          </a:p>
        </p:txBody>
      </p:sp>
      <p:sp>
        <p:nvSpPr>
          <p:cNvPr id="9" name="Shape 7"/>
          <p:cNvSpPr/>
          <p:nvPr/>
        </p:nvSpPr>
        <p:spPr>
          <a:xfrm>
            <a:off x="4361688" y="1325880"/>
            <a:ext cx="3721608" cy="2286000"/>
          </a:xfrm>
          <a:prstGeom prst="roundRect">
            <a:avLst>
              <a:gd name="adj" fmla="val 2400"/>
            </a:avLst>
          </a:prstGeom>
          <a:solidFill>
            <a:srgbClr val="F2F5F8"/>
          </a:solidFill>
          <a:ln w="12700">
            <a:solidFill>
              <a:srgbClr val="0B6E99"/>
            </a:solidFill>
            <a:prstDash val="solid"/>
          </a:ln>
        </p:spPr>
        <p:txBody>
          <a:bodyPr/>
          <a:lstStyle/>
          <a:p>
            <a:endParaRPr lang="en-GB"/>
          </a:p>
        </p:txBody>
      </p:sp>
      <p:sp>
        <p:nvSpPr>
          <p:cNvPr id="10" name="Text 8"/>
          <p:cNvSpPr/>
          <p:nvPr/>
        </p:nvSpPr>
        <p:spPr>
          <a:xfrm>
            <a:off x="4526280" y="1426464"/>
            <a:ext cx="3447288" cy="274320"/>
          </a:xfrm>
          <a:prstGeom prst="rect">
            <a:avLst/>
          </a:prstGeom>
          <a:noFill/>
          <a:ln/>
        </p:spPr>
        <p:txBody>
          <a:bodyPr wrap="square" rtlCol="0" anchor="ctr"/>
          <a:lstStyle/>
          <a:p>
            <a:pPr marL="0" indent="0">
              <a:buNone/>
            </a:pPr>
            <a:r>
              <a:rPr lang="en-US" sz="1500" b="1" dirty="0">
                <a:solidFill>
                  <a:srgbClr val="0B6E99"/>
                </a:solidFill>
                <a:latin typeface="Calibri" pitchFamily="34" charset="0"/>
                <a:ea typeface="Calibri" pitchFamily="34" charset="-122"/>
                <a:cs typeface="Calibri" pitchFamily="34" charset="-120"/>
              </a:rPr>
              <a:t>S1 · B</a:t>
            </a:r>
            <a:endParaRPr lang="en-US" sz="1500" dirty="0"/>
          </a:p>
        </p:txBody>
      </p:sp>
      <p:sp>
        <p:nvSpPr>
          <p:cNvPr id="11" name="Text 9"/>
          <p:cNvSpPr/>
          <p:nvPr/>
        </p:nvSpPr>
        <p:spPr>
          <a:xfrm>
            <a:off x="4526280"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max cap · one per cell</a:t>
            </a:r>
            <a:endParaRPr lang="en-US" sz="950" dirty="0"/>
          </a:p>
        </p:txBody>
      </p:sp>
      <p:sp>
        <p:nvSpPr>
          <p:cNvPr id="12" name="Text 10"/>
          <p:cNvSpPr/>
          <p:nvPr/>
        </p:nvSpPr>
        <p:spPr>
          <a:xfrm>
            <a:off x="4526280" y="2103120"/>
            <a:ext cx="3447288" cy="457200"/>
          </a:xfrm>
          <a:prstGeom prst="rect">
            <a:avLst/>
          </a:prstGeom>
          <a:noFill/>
          <a:ln/>
        </p:spPr>
        <p:txBody>
          <a:bodyPr wrap="square" rtlCol="0" anchor="ctr"/>
          <a:lstStyle/>
          <a:p>
            <a:pPr marL="0" indent="0">
              <a:buNone/>
            </a:pPr>
            <a:r>
              <a:rPr lang="en-US" sz="2500" b="1" dirty="0">
                <a:solidFill>
                  <a:srgbClr val="1E7A52"/>
                </a:solidFill>
                <a:latin typeface="Georgia" pitchFamily="34" charset="0"/>
                <a:ea typeface="Georgia" pitchFamily="34" charset="-122"/>
                <a:cs typeface="Georgia" pitchFamily="34" charset="-120"/>
              </a:rPr>
              <a:t>-6.5%</a:t>
            </a:r>
            <a:r>
              <a:rPr lang="en-US" sz="1050" dirty="0">
                <a:solidFill>
                  <a:srgbClr val="5B6B7B"/>
                </a:solidFill>
                <a:latin typeface="Georgia" pitchFamily="34" charset="0"/>
                <a:ea typeface="Georgia" pitchFamily="34" charset="-122"/>
                <a:cs typeface="Georgia" pitchFamily="34" charset="-120"/>
              </a:rPr>
              <a:t>  travel vs today</a:t>
            </a:r>
            <a:endParaRPr lang="en-US" sz="2500" dirty="0"/>
          </a:p>
        </p:txBody>
      </p:sp>
      <p:sp>
        <p:nvSpPr>
          <p:cNvPr id="13" name="Text 11"/>
          <p:cNvSpPr/>
          <p:nvPr/>
        </p:nvSpPr>
        <p:spPr>
          <a:xfrm>
            <a:off x="4526280" y="2679192"/>
            <a:ext cx="3447288" cy="868680"/>
          </a:xfrm>
          <a:prstGeom prst="rect">
            <a:avLst/>
          </a:prstGeom>
          <a:noFill/>
          <a:ln/>
        </p:spPr>
        <p:txBody>
          <a:bodyPr wrap="square" rtlCol="0" anchor="t"/>
          <a:lstStyle/>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1,613 pharmacies · 1,613 cells</a:t>
            </a:r>
            <a:endParaRPr lang="en-US" sz="1000" dirty="0"/>
          </a:p>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0.8% stranded · cap 35,000</a:t>
            </a:r>
            <a:endParaRPr lang="en-US" sz="1000" dirty="0"/>
          </a:p>
        </p:txBody>
      </p:sp>
      <p:sp>
        <p:nvSpPr>
          <p:cNvPr id="14" name="Shape 12"/>
          <p:cNvSpPr/>
          <p:nvPr/>
        </p:nvSpPr>
        <p:spPr>
          <a:xfrm>
            <a:off x="8266176" y="1325880"/>
            <a:ext cx="3721608" cy="2286000"/>
          </a:xfrm>
          <a:prstGeom prst="roundRect">
            <a:avLst>
              <a:gd name="adj" fmla="val 2400"/>
            </a:avLst>
          </a:prstGeom>
          <a:solidFill>
            <a:srgbClr val="F2F5F8"/>
          </a:solidFill>
          <a:ln w="12700">
            <a:solidFill>
              <a:srgbClr val="C9D2DB"/>
            </a:solidFill>
            <a:prstDash val="solid"/>
          </a:ln>
        </p:spPr>
        <p:txBody>
          <a:bodyPr/>
          <a:lstStyle/>
          <a:p>
            <a:endParaRPr lang="en-GB"/>
          </a:p>
        </p:txBody>
      </p:sp>
      <p:sp>
        <p:nvSpPr>
          <p:cNvPr id="15" name="Text 13"/>
          <p:cNvSpPr/>
          <p:nvPr/>
        </p:nvSpPr>
        <p:spPr>
          <a:xfrm>
            <a:off x="8430768" y="142646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S1 · C</a:t>
            </a:r>
            <a:endParaRPr lang="en-US" sz="1500" dirty="0"/>
          </a:p>
        </p:txBody>
      </p:sp>
      <p:sp>
        <p:nvSpPr>
          <p:cNvPr id="16" name="Text 14"/>
          <p:cNvSpPr/>
          <p:nvPr/>
        </p:nvSpPr>
        <p:spPr>
          <a:xfrm>
            <a:off x="8430768"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urban fixed · model the rest</a:t>
            </a:r>
            <a:endParaRPr lang="en-US" sz="950" dirty="0"/>
          </a:p>
        </p:txBody>
      </p:sp>
      <p:sp>
        <p:nvSpPr>
          <p:cNvPr id="17" name="Text 15"/>
          <p:cNvSpPr/>
          <p:nvPr/>
        </p:nvSpPr>
        <p:spPr>
          <a:xfrm>
            <a:off x="8430768" y="219456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18" name="Shape 16"/>
          <p:cNvSpPr/>
          <p:nvPr/>
        </p:nvSpPr>
        <p:spPr>
          <a:xfrm>
            <a:off x="457200" y="3794760"/>
            <a:ext cx="3721608" cy="2286000"/>
          </a:xfrm>
          <a:prstGeom prst="roundRect">
            <a:avLst>
              <a:gd name="adj" fmla="val 2400"/>
            </a:avLst>
          </a:prstGeom>
          <a:solidFill>
            <a:srgbClr val="F2F5F8"/>
          </a:solidFill>
          <a:ln w="12700">
            <a:solidFill>
              <a:srgbClr val="C9D2DB"/>
            </a:solidFill>
            <a:prstDash val="solid"/>
          </a:ln>
        </p:spPr>
        <p:txBody>
          <a:bodyPr/>
          <a:lstStyle/>
          <a:p>
            <a:endParaRPr lang="en-GB"/>
          </a:p>
        </p:txBody>
      </p:sp>
      <p:sp>
        <p:nvSpPr>
          <p:cNvPr id="19" name="Text 17"/>
          <p:cNvSpPr/>
          <p:nvPr/>
        </p:nvSpPr>
        <p:spPr>
          <a:xfrm>
            <a:off x="621792" y="389534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S2 · A</a:t>
            </a:r>
            <a:endParaRPr lang="en-US" sz="1500" dirty="0"/>
          </a:p>
        </p:txBody>
      </p:sp>
      <p:sp>
        <p:nvSpPr>
          <p:cNvPr id="20" name="Text 18"/>
          <p:cNvSpPr/>
          <p:nvPr/>
        </p:nvSpPr>
        <p:spPr>
          <a:xfrm>
            <a:off x="621792" y="420624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min + max cap · all facilities</a:t>
            </a:r>
            <a:endParaRPr lang="en-US" sz="950" dirty="0"/>
          </a:p>
        </p:txBody>
      </p:sp>
      <p:sp>
        <p:nvSpPr>
          <p:cNvPr id="21" name="Text 19"/>
          <p:cNvSpPr/>
          <p:nvPr/>
        </p:nvSpPr>
        <p:spPr>
          <a:xfrm>
            <a:off x="621792" y="466344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22" name="Shape 20"/>
          <p:cNvSpPr/>
          <p:nvPr/>
        </p:nvSpPr>
        <p:spPr>
          <a:xfrm>
            <a:off x="4361688" y="3794760"/>
            <a:ext cx="3721608" cy="2286000"/>
          </a:xfrm>
          <a:prstGeom prst="roundRect">
            <a:avLst>
              <a:gd name="adj" fmla="val 2400"/>
            </a:avLst>
          </a:prstGeom>
          <a:solidFill>
            <a:srgbClr val="F2F5F8"/>
          </a:solidFill>
          <a:ln w="12700">
            <a:solidFill>
              <a:srgbClr val="C9D2DB"/>
            </a:solidFill>
            <a:prstDash val="solid"/>
          </a:ln>
        </p:spPr>
        <p:txBody>
          <a:bodyPr/>
          <a:lstStyle/>
          <a:p>
            <a:endParaRPr lang="en-GB"/>
          </a:p>
        </p:txBody>
      </p:sp>
      <p:sp>
        <p:nvSpPr>
          <p:cNvPr id="23" name="Text 21"/>
          <p:cNvSpPr/>
          <p:nvPr/>
        </p:nvSpPr>
        <p:spPr>
          <a:xfrm>
            <a:off x="4526280" y="389534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S2 · B</a:t>
            </a:r>
            <a:endParaRPr lang="en-US" sz="1500" dirty="0"/>
          </a:p>
        </p:txBody>
      </p:sp>
      <p:sp>
        <p:nvSpPr>
          <p:cNvPr id="24" name="Text 22"/>
          <p:cNvSpPr/>
          <p:nvPr/>
        </p:nvSpPr>
        <p:spPr>
          <a:xfrm>
            <a:off x="4526280" y="420624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min + max cap · outside urban</a:t>
            </a:r>
            <a:endParaRPr lang="en-US" sz="950" dirty="0"/>
          </a:p>
        </p:txBody>
      </p:sp>
      <p:sp>
        <p:nvSpPr>
          <p:cNvPr id="25" name="Text 23"/>
          <p:cNvSpPr/>
          <p:nvPr/>
        </p:nvSpPr>
        <p:spPr>
          <a:xfrm>
            <a:off x="4526280" y="466344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26" name="Text 24"/>
          <p:cNvSpPr/>
          <p:nvPr/>
        </p:nvSpPr>
        <p:spPr>
          <a:xfrm>
            <a:off x="8019288" y="3794760"/>
            <a:ext cx="3703320" cy="2286000"/>
          </a:xfrm>
          <a:prstGeom prst="rect">
            <a:avLst/>
          </a:prstGeom>
          <a:noFill/>
          <a:ln/>
        </p:spPr>
        <p:txBody>
          <a:bodyPr wrap="square" rtlCol="0" anchor="t"/>
          <a:lstStyle/>
          <a:p>
            <a:pPr marL="0" indent="0">
              <a:buNone/>
            </a:pPr>
            <a:r>
              <a:rPr lang="en-US" sz="1100" b="1" dirty="0">
                <a:solidFill>
                  <a:srgbClr val="0B6E99"/>
                </a:solidFill>
                <a:latin typeface="Calibri" pitchFamily="34" charset="0"/>
                <a:ea typeface="Calibri" pitchFamily="34" charset="-122"/>
                <a:cs typeface="Calibri" pitchFamily="34" charset="-120"/>
              </a:rPr>
              <a:t>S1 </a:t>
            </a:r>
            <a:r>
              <a:rPr lang="en-US" sz="1100" dirty="0">
                <a:solidFill>
                  <a:srgbClr val="12233A"/>
                </a:solidFill>
                <a:latin typeface="Calibri" pitchFamily="34" charset="0"/>
                <a:ea typeface="Calibri" pitchFamily="34" charset="-122"/>
                <a:cs typeface="Calibri" pitchFamily="34" charset="-120"/>
              </a:rPr>
              <a:t>keeps today's count, minimises travel under a max catchment cap.  </a:t>
            </a:r>
            <a:r>
              <a:rPr lang="en-US" sz="1100" b="1" dirty="0">
                <a:solidFill>
                  <a:srgbClr val="0B6E99"/>
                </a:solidFill>
                <a:latin typeface="Calibri" pitchFamily="34" charset="0"/>
                <a:ea typeface="Calibri" pitchFamily="34" charset="-122"/>
                <a:cs typeface="Calibri" pitchFamily="34" charset="-120"/>
              </a:rPr>
              <a:t>S2 </a:t>
            </a:r>
            <a:r>
              <a:rPr lang="en-US" sz="1100" dirty="0">
                <a:solidFill>
                  <a:srgbClr val="12233A"/>
                </a:solidFill>
                <a:latin typeface="Calibri" pitchFamily="34" charset="0"/>
                <a:ea typeface="Calibri" pitchFamily="34" charset="-122"/>
                <a:cs typeface="Calibri" pitchFamily="34" charset="-120"/>
              </a:rPr>
              <a:t>minimises the count under a min (viability) + max catchment, holding travel ≈ today.  Cost-function rung (S1-D / S2-C) = the λ-sweep that follows.</a:t>
            </a:r>
            <a:endParaRPr lang="en-US" sz="1100" dirty="0"/>
          </a:p>
        </p:txBody>
      </p:sp>
      <p:sp>
        <p:nvSpPr>
          <p:cNvPr id="27" name="Text 25"/>
          <p:cNvSpPr/>
          <p:nvPr/>
        </p:nvSpPr>
        <p:spPr>
          <a:xfrm>
            <a:off x="411480" y="6144768"/>
            <a:ext cx="11430000" cy="502920"/>
          </a:xfrm>
          <a:prstGeom prst="rect">
            <a:avLst/>
          </a:prstGeom>
          <a:noFill/>
          <a:ln/>
        </p:spPr>
        <p:txBody>
          <a:bodyPr wrap="square" rtlCol="0" anchor="t"/>
          <a:lstStyle/>
          <a:p>
            <a:pPr marL="0" indent="0">
              <a:buNone/>
            </a:pPr>
            <a:r>
              <a:rPr lang="en-US" sz="850" b="1" i="1" dirty="0">
                <a:solidFill>
                  <a:srgbClr val="B23A2E"/>
                </a:solidFill>
                <a:latin typeface="Calibri" pitchFamily="34" charset="0"/>
                <a:ea typeface="Calibri" pitchFamily="34" charset="-122"/>
                <a:cs typeface="Calibri" pitchFamily="34" charset="-120"/>
              </a:rPr>
              <a:t>PRELIMINARY — INDICATIVE ONLY. </a:t>
            </a:r>
            <a:r>
              <a:rPr lang="en-US" sz="850" i="1" dirty="0">
                <a:solidFill>
                  <a:srgbClr val="5B6B7B"/>
                </a:solidFill>
                <a:latin typeface="Calibri" pitchFamily="34" charset="0"/>
                <a:ea typeface="Calibri" pitchFamily="34" charset="-122"/>
                <a:cs typeface="Calibri" pitchFamily="34" charset="-120"/>
              </a:rPr>
              <a:t>Full-scale ladder run incomplete; S1 (fixed-count) figures are sensitive to LP-relaxation rounding and can shift on re-run (robust multistart rounding still to be ported) — read the direction, not the exact %. LINEAR travel cost; max cap = NL observed cell-catchment max (~35k). 'stranded' = demand the cap can't serve within reach, priced at that run's c(t_max) (the λ-sweep now prices stranding at BIG).</a:t>
            </a:r>
            <a:endParaRPr lang="en-US" sz="850" dirty="0"/>
          </a:p>
        </p:txBody>
      </p:sp>
    </p:spTree>
    <p:extLst>
      <p:ext uri="{BB962C8B-B14F-4D97-AF65-F5344CB8AC3E}">
        <p14:creationId xmlns:p14="http://schemas.microsoft.com/office/powerpoint/2010/main" val="395363720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NETHERLANDS</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Netherlands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1,615 cells · 3.48 min mean · </a:t>
            </a:r>
            <a:r>
              <a:rPr lang="en-US" sz="1000" dirty="0">
                <a:solidFill>
                  <a:srgbClr val="5B6B7B"/>
                </a:solidFill>
                <a:latin typeface="Calibri" pitchFamily="34" charset="0"/>
                <a:ea typeface="Calibri" pitchFamily="34" charset="-122"/>
                <a:cs typeface="Calibri" pitchFamily="34" charset="-120"/>
              </a:rPr>
              <a:t>travel (stranded at BIG)  LIN 60.7M · LOG 1.9M</a:t>
            </a:r>
            <a:endParaRPr lang="en-US" sz="1000" dirty="0"/>
          </a:p>
        </p:txBody>
      </p:sp>
      <p:pic>
        <p:nvPicPr>
          <p:cNvPr id="5" name="Image 0" descr="E:\prj\JRC\NetworkModel_EU\doc\charts\Netherlands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Netherlands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2377213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B8C311F-7253-4AED-9701-7FC0708C4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2384209-CB15-4CDF-9D31-C44FD9A3F2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2666617" y="-2666188"/>
            <a:ext cx="6858000" cy="12191233"/>
          </a:xfrm>
          <a:prstGeom prst="rect">
            <a:avLst/>
          </a:prstGeom>
          <a:gradFill>
            <a:gsLst>
              <a:gs pos="8000">
                <a:schemeClr val="accent1"/>
              </a:gs>
              <a:gs pos="100000">
                <a:schemeClr val="accent1">
                  <a:lumMod val="5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633B3B5-CC90-43F0-8714-D31D1F3F0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311" y="0"/>
            <a:ext cx="9070846" cy="6857572"/>
          </a:xfrm>
          <a:prstGeom prst="rect">
            <a:avLst/>
          </a:prstGeom>
          <a:gradFill>
            <a:gsLst>
              <a:gs pos="8000">
                <a:srgbClr val="000000">
                  <a:alpha val="52000"/>
                </a:srgbClr>
              </a:gs>
              <a:gs pos="100000">
                <a:schemeClr val="accent1"/>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A8D57A06-A426-446D-B02C-A2DC6B62E4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3649491" y="-1685840"/>
            <a:ext cx="4894564" cy="12193546"/>
          </a:xfrm>
          <a:prstGeom prst="rect">
            <a:avLst/>
          </a:prstGeom>
          <a:gradFill>
            <a:gsLst>
              <a:gs pos="0">
                <a:schemeClr val="accent5">
                  <a:lumMod val="60000"/>
                  <a:lumOff val="40000"/>
                  <a:alpha val="0"/>
                </a:schemeClr>
              </a:gs>
              <a:gs pos="100000">
                <a:srgbClr val="000000">
                  <a:alpha val="46000"/>
                </a:srgb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87825B26-4E0C-84C7-DBD5-CEE4003AEBB7}"/>
              </a:ext>
            </a:extLst>
          </p:cNvPr>
          <p:cNvPicPr>
            <a:picLocks noChangeAspect="1"/>
          </p:cNvPicPr>
          <p:nvPr/>
        </p:nvPicPr>
        <p:blipFill>
          <a:blip r:embed="rId2"/>
          <a:stretch>
            <a:fillRect/>
          </a:stretch>
        </p:blipFill>
        <p:spPr>
          <a:xfrm>
            <a:off x="457200" y="976123"/>
            <a:ext cx="11277600" cy="4905754"/>
          </a:xfrm>
          <a:prstGeom prst="rect">
            <a:avLst/>
          </a:prstGeom>
        </p:spPr>
      </p:pic>
    </p:spTree>
    <p:extLst>
      <p:ext uri="{BB962C8B-B14F-4D97-AF65-F5344CB8AC3E}">
        <p14:creationId xmlns:p14="http://schemas.microsoft.com/office/powerpoint/2010/main" val="308450683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LUXEMBOURG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Luxembourg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86 cells · 3.79 min mean · </a:t>
            </a:r>
            <a:r>
              <a:rPr lang="en-US" sz="1000" dirty="0">
                <a:solidFill>
                  <a:srgbClr val="5B6B7B"/>
                </a:solidFill>
                <a:latin typeface="Calibri" pitchFamily="34" charset="0"/>
                <a:ea typeface="Calibri" pitchFamily="34" charset="-122"/>
                <a:cs typeface="Calibri" pitchFamily="34" charset="-120"/>
              </a:rPr>
              <a:t>travel (stranded at BIG)  LIN 2.4M · LOG 71k</a:t>
            </a:r>
            <a:endParaRPr lang="en-US" sz="1000" dirty="0"/>
          </a:p>
        </p:txBody>
      </p:sp>
      <p:pic>
        <p:nvPicPr>
          <p:cNvPr id="5" name="Image 0" descr="E:\prj\JRC\NetworkModel_EU\doc\charts\Luxembour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uxembour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04921629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ESTONIA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Estonia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292 cells · 4.51 min mean · </a:t>
            </a:r>
            <a:r>
              <a:rPr lang="en-US" sz="1000" dirty="0">
                <a:solidFill>
                  <a:srgbClr val="5B6B7B"/>
                </a:solidFill>
                <a:latin typeface="Calibri" pitchFamily="34" charset="0"/>
                <a:ea typeface="Calibri" pitchFamily="34" charset="-122"/>
                <a:cs typeface="Calibri" pitchFamily="34" charset="-120"/>
              </a:rPr>
              <a:t>travel (stranded at BIG)  LIN 5.9M · LOG 174k</a:t>
            </a:r>
            <a:endParaRPr lang="en-US" sz="1000" dirty="0"/>
          </a:p>
        </p:txBody>
      </p:sp>
      <p:pic>
        <p:nvPicPr>
          <p:cNvPr id="5" name="Image 0" descr="E:\prj\JRC\NetworkModel_EU\doc\charts\Esto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Esto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6664446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LATVIA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Latvia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496 cells · 3.96 min mean · </a:t>
            </a:r>
            <a:r>
              <a:rPr lang="en-US" sz="1000" dirty="0">
                <a:solidFill>
                  <a:srgbClr val="5B6B7B"/>
                </a:solidFill>
                <a:latin typeface="Calibri" pitchFamily="34" charset="0"/>
                <a:ea typeface="Calibri" pitchFamily="34" charset="-122"/>
                <a:cs typeface="Calibri" pitchFamily="34" charset="-120"/>
              </a:rPr>
              <a:t>travel (stranded at BIG)  LIN 7.5M · LOG 230k</a:t>
            </a:r>
            <a:endParaRPr lang="en-US" sz="1000" dirty="0"/>
          </a:p>
        </p:txBody>
      </p:sp>
      <p:pic>
        <p:nvPicPr>
          <p:cNvPr id="5" name="Image 0" descr="E:\prj\JRC\NetworkModel_EU\doc\charts\Latv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atv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80287223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SLOVENIA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Slovenia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306 cells · 5.58 min mean · </a:t>
            </a:r>
            <a:r>
              <a:rPr lang="en-US" sz="1000" dirty="0">
                <a:solidFill>
                  <a:srgbClr val="5B6B7B"/>
                </a:solidFill>
                <a:latin typeface="Calibri" pitchFamily="34" charset="0"/>
                <a:ea typeface="Calibri" pitchFamily="34" charset="-122"/>
                <a:cs typeface="Calibri" pitchFamily="34" charset="-120"/>
              </a:rPr>
              <a:t>travel (stranded at BIG)  LIN 11.7M · LOG 284k</a:t>
            </a:r>
            <a:endParaRPr lang="en-US" sz="1000" dirty="0"/>
          </a:p>
        </p:txBody>
      </p:sp>
      <p:pic>
        <p:nvPicPr>
          <p:cNvPr id="5" name="Image 0" descr="E:\prj\JRC\NetworkModel_EU\doc\charts\Slove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love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1180066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LITHUANIA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Lithuania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582 cells · 4.39 min mean · </a:t>
            </a:r>
            <a:r>
              <a:rPr lang="en-US" sz="1000" dirty="0">
                <a:solidFill>
                  <a:srgbClr val="5B6B7B"/>
                </a:solidFill>
                <a:latin typeface="Calibri" pitchFamily="34" charset="0"/>
                <a:ea typeface="Calibri" pitchFamily="34" charset="-122"/>
                <a:cs typeface="Calibri" pitchFamily="34" charset="-120"/>
              </a:rPr>
              <a:t>travel (stranded at BIG)  LIN 12.3M · LOG 361k</a:t>
            </a:r>
            <a:endParaRPr lang="en-US" sz="1000" dirty="0"/>
          </a:p>
        </p:txBody>
      </p:sp>
      <p:pic>
        <p:nvPicPr>
          <p:cNvPr id="5" name="Image 0" descr="E:\prj\JRC\NetworkModel_EU\doc\charts\Lithua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ithua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90719314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IRELAND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Ireland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862 cells · 4.71 min mean · </a:t>
            </a:r>
            <a:r>
              <a:rPr lang="en-US" sz="1000" dirty="0">
                <a:solidFill>
                  <a:srgbClr val="5B6B7B"/>
                </a:solidFill>
                <a:latin typeface="Calibri" pitchFamily="34" charset="0"/>
                <a:ea typeface="Calibri" pitchFamily="34" charset="-122"/>
                <a:cs typeface="Calibri" pitchFamily="34" charset="-120"/>
              </a:rPr>
              <a:t>travel (stranded at BIG)  LIN 23.6M · LOG 630k</a:t>
            </a:r>
            <a:endParaRPr lang="en-US" sz="1000" dirty="0"/>
          </a:p>
        </p:txBody>
      </p:sp>
      <p:pic>
        <p:nvPicPr>
          <p:cNvPr id="5" name="Image 0" descr="E:\prj\JRC\NetworkModel_EU\doc\charts\Irelan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relan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79165548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NORWAY</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Norway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755 cells · 7.99 min mean · </a:t>
            </a:r>
            <a:r>
              <a:rPr lang="en-US" sz="1000" dirty="0">
                <a:solidFill>
                  <a:srgbClr val="5B6B7B"/>
                </a:solidFill>
                <a:latin typeface="Calibri" pitchFamily="34" charset="0"/>
                <a:ea typeface="Calibri" pitchFamily="34" charset="-122"/>
                <a:cs typeface="Calibri" pitchFamily="34" charset="-120"/>
              </a:rPr>
              <a:t>travel (stranded at BIG)  LIN 40.8M · LOG 896k</a:t>
            </a:r>
            <a:endParaRPr lang="en-US" sz="1000" dirty="0"/>
          </a:p>
        </p:txBody>
      </p:sp>
      <p:pic>
        <p:nvPicPr>
          <p:cNvPr id="5" name="Image 0" descr="E:\prj\JRC\NetworkModel_EU\doc\charts\Norway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Norway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0.00841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1929398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DENMARK</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Denmark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466 cells · 6.52 min mean · </a:t>
            </a:r>
            <a:r>
              <a:rPr lang="en-US" sz="1000" dirty="0">
                <a:solidFill>
                  <a:srgbClr val="5B6B7B"/>
                </a:solidFill>
                <a:latin typeface="Calibri" pitchFamily="34" charset="0"/>
                <a:ea typeface="Calibri" pitchFamily="34" charset="-122"/>
                <a:cs typeface="Calibri" pitchFamily="34" charset="-120"/>
              </a:rPr>
              <a:t>travel (stranded at BIG)  LIN 37.5M · LOG 860k</a:t>
            </a:r>
            <a:endParaRPr lang="en-US" sz="1000" dirty="0"/>
          </a:p>
        </p:txBody>
      </p:sp>
      <p:pic>
        <p:nvPicPr>
          <p:cNvPr id="5" name="Image 0" descr="E:\prj\JRC\NetworkModel_EU\doc\charts\Denmark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Denmark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0.00878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21973790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AUSTRIA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Austria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1,129 cells · 4.82 min mean · </a:t>
            </a:r>
            <a:r>
              <a:rPr lang="en-US" sz="1000" dirty="0">
                <a:solidFill>
                  <a:srgbClr val="5B6B7B"/>
                </a:solidFill>
                <a:latin typeface="Calibri" pitchFamily="34" charset="0"/>
                <a:ea typeface="Calibri" pitchFamily="34" charset="-122"/>
                <a:cs typeface="Calibri" pitchFamily="34" charset="-120"/>
              </a:rPr>
              <a:t>travel (stranded at BIG)  LIN 43.1M · LOG 1.2M</a:t>
            </a:r>
            <a:endParaRPr lang="en-US" sz="1000" dirty="0"/>
          </a:p>
        </p:txBody>
      </p:sp>
      <p:pic>
        <p:nvPicPr>
          <p:cNvPr id="5" name="Image 0" descr="E:\prj\JRC\NetworkModel_EU\doc\charts\Austr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Austr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76178910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PORTUGAL</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Portugal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1,882 cells · 8.56 min mean · </a:t>
            </a:r>
            <a:r>
              <a:rPr lang="en-US" sz="1000" dirty="0">
                <a:solidFill>
                  <a:srgbClr val="5B6B7B"/>
                </a:solidFill>
                <a:latin typeface="Calibri" pitchFamily="34" charset="0"/>
                <a:ea typeface="Calibri" pitchFamily="34" charset="-122"/>
                <a:cs typeface="Calibri" pitchFamily="34" charset="-120"/>
              </a:rPr>
              <a:t>travel (stranded at BIG)  LIN 88.1M · LOG 1.5M</a:t>
            </a:r>
            <a:endParaRPr lang="en-US" sz="1000" dirty="0"/>
          </a:p>
        </p:txBody>
      </p:sp>
      <p:pic>
        <p:nvPicPr>
          <p:cNvPr id="5" name="Image 0" descr="E:\prj\JRC\NetworkModel_EU\doc\charts\Portugal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ortugal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845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9806823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CZECHIA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Czechia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1,624 cells · 4.23 min mean · </a:t>
            </a:r>
            <a:r>
              <a:rPr lang="en-US" sz="1000" dirty="0">
                <a:solidFill>
                  <a:srgbClr val="5B6B7B"/>
                </a:solidFill>
                <a:latin typeface="Calibri" pitchFamily="34" charset="0"/>
                <a:ea typeface="Calibri" pitchFamily="34" charset="-122"/>
                <a:cs typeface="Calibri" pitchFamily="34" charset="-120"/>
              </a:rPr>
              <a:t>travel (stranded at BIG)  LIN 44.4M · LOG 1.3M</a:t>
            </a:r>
            <a:endParaRPr lang="en-US" sz="1000" dirty="0"/>
          </a:p>
        </p:txBody>
      </p:sp>
      <p:pic>
        <p:nvPicPr>
          <p:cNvPr id="5" name="Image 0" descr="E:\prj\JRC\NetworkModel_EU\doc\charts\Czech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Czech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10481373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BELGIUM</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Belgium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2,958 cells · 1.87 min mean · </a:t>
            </a:r>
            <a:r>
              <a:rPr lang="en-US" sz="1000" dirty="0">
                <a:solidFill>
                  <a:srgbClr val="5B6B7B"/>
                </a:solidFill>
                <a:latin typeface="Calibri" pitchFamily="34" charset="0"/>
                <a:ea typeface="Calibri" pitchFamily="34" charset="-122"/>
                <a:cs typeface="Calibri" pitchFamily="34" charset="-120"/>
              </a:rPr>
              <a:t>travel (stranded at BIG)  LIN 21.5M · LOG 1.1M</a:t>
            </a:r>
            <a:endParaRPr lang="en-US" sz="1000" dirty="0"/>
          </a:p>
        </p:txBody>
      </p:sp>
      <p:pic>
        <p:nvPicPr>
          <p:cNvPr id="5" name="Image 0" descr="E:\prj\JRC\NetworkModel_EU\doc\charts\Belgium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Belgium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3208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0.0738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0.000648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27214973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Poland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7,027 cells · 3.59 min mean · </a:t>
            </a:r>
            <a:r>
              <a:rPr lang="en-US" sz="1000" dirty="0">
                <a:solidFill>
                  <a:srgbClr val="5B6B7B"/>
                </a:solidFill>
                <a:latin typeface="Calibri" pitchFamily="34" charset="0"/>
                <a:ea typeface="Calibri" pitchFamily="34" charset="-122"/>
                <a:cs typeface="Calibri" pitchFamily="34" charset="-120"/>
              </a:rPr>
              <a:t>travel (stranded at BIG)  LIN 133M · LOG 4.1M</a:t>
            </a:r>
            <a:endParaRPr lang="en-US" sz="1000" dirty="0"/>
          </a:p>
        </p:txBody>
      </p:sp>
      <p:pic>
        <p:nvPicPr>
          <p:cNvPr id="5" name="Image 0" descr="E:\prj\JRC\NetworkModel_EU\doc\charts\Polan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olan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5156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7297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1260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7112842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FR1</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Île-de-France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1,449 cells · 1.03 min mean · </a:t>
            </a:r>
            <a:r>
              <a:rPr lang="en-US" sz="1000" dirty="0">
                <a:solidFill>
                  <a:srgbClr val="5B6B7B"/>
                </a:solidFill>
                <a:latin typeface="Calibri" pitchFamily="34" charset="0"/>
                <a:ea typeface="Calibri" pitchFamily="34" charset="-122"/>
                <a:cs typeface="Calibri" pitchFamily="34" charset="-120"/>
              </a:rPr>
              <a:t>travel (stranded at BIG)  LIN 12.7M · LOG 1.0M</a:t>
            </a:r>
            <a:endParaRPr lang="en-US" sz="1000" dirty="0"/>
          </a:p>
        </p:txBody>
      </p:sp>
      <p:pic>
        <p:nvPicPr>
          <p:cNvPr id="5" name="Image 0" descr="E:\prj\JRC\NetworkModel_EU\doc\charts\FR1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1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59280067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FRB</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Centre-Val de Loire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613 cells · 4.36 min mean · </a:t>
            </a:r>
            <a:r>
              <a:rPr lang="en-US" sz="1000" dirty="0">
                <a:solidFill>
                  <a:srgbClr val="5B6B7B"/>
                </a:solidFill>
                <a:latin typeface="Calibri" pitchFamily="34" charset="0"/>
                <a:ea typeface="Calibri" pitchFamily="34" charset="-122"/>
                <a:cs typeface="Calibri" pitchFamily="34" charset="-120"/>
              </a:rPr>
              <a:t>travel (stranded at BIG)  LIN 11.2M · LOG 309k</a:t>
            </a:r>
            <a:endParaRPr lang="en-US" sz="1000" dirty="0"/>
          </a:p>
        </p:txBody>
      </p:sp>
      <p:pic>
        <p:nvPicPr>
          <p:cNvPr id="5" name="Image 0" descr="E:\prj\JRC\NetworkModel_EU\doc\charts\FRB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B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13306312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FRC</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Bourgogne-Franche-Comté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723 cells · 4.78 min mean · </a:t>
            </a:r>
            <a:r>
              <a:rPr lang="en-US" sz="1000" dirty="0">
                <a:solidFill>
                  <a:srgbClr val="5B6B7B"/>
                </a:solidFill>
                <a:latin typeface="Calibri" pitchFamily="34" charset="0"/>
                <a:ea typeface="Calibri" pitchFamily="34" charset="-122"/>
                <a:cs typeface="Calibri" pitchFamily="34" charset="-120"/>
              </a:rPr>
              <a:t>travel (stranded at BIG)  LIN 13.4M · LOG 351k</a:t>
            </a:r>
            <a:endParaRPr lang="en-US" sz="1000" dirty="0"/>
          </a:p>
        </p:txBody>
      </p:sp>
      <p:pic>
        <p:nvPicPr>
          <p:cNvPr id="5" name="Image 0" descr="E:\prj\JRC\NetworkModel_EU\doc\charts\FRC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C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760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47816059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Normandie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679 cells · 4.31 min mean · </a:t>
            </a:r>
            <a:r>
              <a:rPr lang="en-US" sz="1000" dirty="0">
                <a:solidFill>
                  <a:srgbClr val="5B6B7B"/>
                </a:solidFill>
                <a:latin typeface="Calibri" pitchFamily="34" charset="0"/>
                <a:ea typeface="Calibri" pitchFamily="34" charset="-122"/>
                <a:cs typeface="Calibri" pitchFamily="34" charset="-120"/>
              </a:rPr>
              <a:t>travel (stranded at BIG)  LIN 14.2M · LOG 391k</a:t>
            </a:r>
            <a:endParaRPr lang="en-US" sz="1000" dirty="0"/>
          </a:p>
        </p:txBody>
      </p:sp>
      <p:pic>
        <p:nvPicPr>
          <p:cNvPr id="5" name="Image 0" descr="E:\prj\JRC\NetworkModel_EU\doc\charts\FR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32876024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FRE</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Hauts-de-France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1,333 cells · 2.92 min mean · </a:t>
            </a:r>
            <a:r>
              <a:rPr lang="en-US" sz="1000" dirty="0">
                <a:solidFill>
                  <a:srgbClr val="5B6B7B"/>
                </a:solidFill>
                <a:latin typeface="Calibri" pitchFamily="34" charset="0"/>
                <a:ea typeface="Calibri" pitchFamily="34" charset="-122"/>
                <a:cs typeface="Calibri" pitchFamily="34" charset="-120"/>
              </a:rPr>
              <a:t>travel (stranded at BIG)  LIN 17.5M · LOG 619k</a:t>
            </a:r>
            <a:endParaRPr lang="en-US" sz="1000" dirty="0"/>
          </a:p>
        </p:txBody>
      </p:sp>
      <p:pic>
        <p:nvPicPr>
          <p:cNvPr id="5" name="Image 0" descr="E:\prj\JRC\NetworkModel_EU\doc\charts\FRE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E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01514644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FRF</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Grand 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1,167 cells · 3.85 min mean · </a:t>
            </a:r>
            <a:r>
              <a:rPr lang="en-US" sz="1000" dirty="0">
                <a:solidFill>
                  <a:srgbClr val="5B6B7B"/>
                </a:solidFill>
                <a:latin typeface="Calibri" pitchFamily="34" charset="0"/>
                <a:ea typeface="Calibri" pitchFamily="34" charset="-122"/>
                <a:cs typeface="Calibri" pitchFamily="34" charset="-120"/>
              </a:rPr>
              <a:t>travel (stranded at BIG)  LIN 21.4M · LOG 636k</a:t>
            </a:r>
            <a:endParaRPr lang="en-US" sz="1000" dirty="0"/>
          </a:p>
        </p:txBody>
      </p:sp>
      <p:pic>
        <p:nvPicPr>
          <p:cNvPr id="5" name="Image 0" descr="E:\prj\JRC\NetworkModel_EU\doc\charts\FRF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F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58652396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Pays de la Loire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848 cells · 4.06 min mean · </a:t>
            </a:r>
            <a:r>
              <a:rPr lang="en-US" sz="1000" dirty="0">
                <a:solidFill>
                  <a:srgbClr val="5B6B7B"/>
                </a:solidFill>
                <a:latin typeface="Calibri" pitchFamily="34" charset="0"/>
                <a:ea typeface="Calibri" pitchFamily="34" charset="-122"/>
                <a:cs typeface="Calibri" pitchFamily="34" charset="-120"/>
              </a:rPr>
              <a:t>travel (stranded at BIG)  LIN 15.6M · LOG 446k</a:t>
            </a:r>
            <a:endParaRPr lang="en-US" sz="1000" dirty="0"/>
          </a:p>
        </p:txBody>
      </p:sp>
      <p:pic>
        <p:nvPicPr>
          <p:cNvPr id="5" name="Image 0" descr="E:\prj\JRC\NetworkModel_EU\doc\charts\FR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57041353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FRH</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Bretagne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793 cells · 4.34 min mean · </a:t>
            </a:r>
            <a:r>
              <a:rPr lang="en-US" sz="1000" dirty="0">
                <a:solidFill>
                  <a:srgbClr val="5B6B7B"/>
                </a:solidFill>
                <a:latin typeface="Calibri" pitchFamily="34" charset="0"/>
                <a:ea typeface="Calibri" pitchFamily="34" charset="-122"/>
                <a:cs typeface="Calibri" pitchFamily="34" charset="-120"/>
              </a:rPr>
              <a:t>travel (stranded at BIG)  LIN 14.5M · LOG 397k</a:t>
            </a:r>
            <a:endParaRPr lang="en-US" sz="1000" dirty="0"/>
          </a:p>
        </p:txBody>
      </p:sp>
      <p:pic>
        <p:nvPicPr>
          <p:cNvPr id="5" name="Image 0" descr="E:\prj\JRC\NetworkModel_EU\doc\charts\FRH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H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18182918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FRI</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Nouvelle-Aquitaine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1,584 cells · 4.54 min mean · </a:t>
            </a:r>
            <a:r>
              <a:rPr lang="en-US" sz="1000" dirty="0">
                <a:solidFill>
                  <a:srgbClr val="5B6B7B"/>
                </a:solidFill>
                <a:latin typeface="Calibri" pitchFamily="34" charset="0"/>
                <a:ea typeface="Calibri" pitchFamily="34" charset="-122"/>
                <a:cs typeface="Calibri" pitchFamily="34" charset="-120"/>
              </a:rPr>
              <a:t>travel (stranded at BIG)  LIN 27.5M · LOG 741k</a:t>
            </a:r>
            <a:endParaRPr lang="en-US" sz="1000" dirty="0"/>
          </a:p>
        </p:txBody>
      </p:sp>
      <p:pic>
        <p:nvPicPr>
          <p:cNvPr id="5" name="Image 0" descr="E:\prj\JRC\NetworkModel_EU\doc\charts\FRI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I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14710949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FRJ</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Occitanie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1,424 cells · 3.91 min mean · </a:t>
            </a:r>
            <a:r>
              <a:rPr lang="en-US" sz="1000" dirty="0">
                <a:solidFill>
                  <a:srgbClr val="5B6B7B"/>
                </a:solidFill>
                <a:latin typeface="Calibri" pitchFamily="34" charset="0"/>
                <a:ea typeface="Calibri" pitchFamily="34" charset="-122"/>
                <a:cs typeface="Calibri" pitchFamily="34" charset="-120"/>
              </a:rPr>
              <a:t>travel (stranded at BIG)  LIN 23.5M · LOG 695k</a:t>
            </a:r>
            <a:endParaRPr lang="en-US" sz="1000" dirty="0"/>
          </a:p>
        </p:txBody>
      </p:sp>
      <p:pic>
        <p:nvPicPr>
          <p:cNvPr id="5" name="Image 0" descr="E:\prj\JRC\NetworkModel_EU\doc\charts\FRJ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J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28277928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FRK</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Auvergne-Rhône-Alpes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1,685 cells · 3.62 min mean · </a:t>
            </a:r>
            <a:r>
              <a:rPr lang="en-US" sz="1000" dirty="0">
                <a:solidFill>
                  <a:srgbClr val="5B6B7B"/>
                </a:solidFill>
                <a:latin typeface="Calibri" pitchFamily="34" charset="0"/>
                <a:ea typeface="Calibri" pitchFamily="34" charset="-122"/>
                <a:cs typeface="Calibri" pitchFamily="34" charset="-120"/>
              </a:rPr>
              <a:t>travel (stranded at BIG)  LIN 29.4M · LOG 912k</a:t>
            </a:r>
            <a:endParaRPr lang="en-US" sz="1000" dirty="0"/>
          </a:p>
        </p:txBody>
      </p:sp>
      <p:pic>
        <p:nvPicPr>
          <p:cNvPr id="5" name="Image 0" descr="E:\prj\JRC\NetworkModel_EU\doc\charts\FRK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K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87296893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FRL</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Provence-Alpes-Côte d'Azur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1,026 cells · 2.60 min mean · </a:t>
            </a:r>
            <a:r>
              <a:rPr lang="en-US" sz="1000" dirty="0">
                <a:solidFill>
                  <a:srgbClr val="5B6B7B"/>
                </a:solidFill>
                <a:latin typeface="Calibri" pitchFamily="34" charset="0"/>
                <a:ea typeface="Calibri" pitchFamily="34" charset="-122"/>
                <a:cs typeface="Calibri" pitchFamily="34" charset="-120"/>
              </a:rPr>
              <a:t>travel (stranded at BIG)  LIN 13.1M · LOG 515k</a:t>
            </a:r>
            <a:endParaRPr lang="en-US" sz="1000" dirty="0"/>
          </a:p>
        </p:txBody>
      </p:sp>
      <p:pic>
        <p:nvPicPr>
          <p:cNvPr id="5" name="Image 0" descr="E:\prj\JRC\NetworkModel_EU\doc\charts\FRL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L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54288094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FRM</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Corse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87 cells · 5.11 min mean · </a:t>
            </a:r>
            <a:r>
              <a:rPr lang="en-US" sz="1000" dirty="0">
                <a:solidFill>
                  <a:srgbClr val="5B6B7B"/>
                </a:solidFill>
                <a:latin typeface="Calibri" pitchFamily="34" charset="0"/>
                <a:ea typeface="Calibri" pitchFamily="34" charset="-122"/>
                <a:cs typeface="Calibri" pitchFamily="34" charset="-120"/>
              </a:rPr>
              <a:t>travel (stranded at BIG)  LIN 1.7M · LOG 45k</a:t>
            </a:r>
            <a:endParaRPr lang="en-US" sz="1000" dirty="0"/>
          </a:p>
        </p:txBody>
      </p:sp>
      <p:pic>
        <p:nvPicPr>
          <p:cNvPr id="5" name="Image 0" descr="E:\prj\JRC\NetworkModel_EU\doc\charts\FRM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M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2744282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ITC</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Nord-Ovest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2,890 cells · 2.93 min mean · </a:t>
            </a:r>
            <a:r>
              <a:rPr lang="en-US" sz="1000" dirty="0">
                <a:solidFill>
                  <a:srgbClr val="5B6B7B"/>
                </a:solidFill>
                <a:latin typeface="Calibri" pitchFamily="34" charset="0"/>
                <a:ea typeface="Calibri" pitchFamily="34" charset="-122"/>
                <a:cs typeface="Calibri" pitchFamily="34" charset="-120"/>
              </a:rPr>
              <a:t>travel (stranded at BIG)  LIN 46.4M · LOG 1.7M</a:t>
            </a:r>
            <a:endParaRPr lang="en-US" sz="1000" dirty="0"/>
          </a:p>
        </p:txBody>
      </p:sp>
      <p:pic>
        <p:nvPicPr>
          <p:cNvPr id="5" name="Image 0" descr="E:\prj\JRC\NetworkModel_EU\doc\charts\ITC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C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42023639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ITF</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Sud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1,253 cells · 6.67 min mean · </a:t>
            </a:r>
            <a:r>
              <a:rPr lang="en-US" sz="1000" dirty="0">
                <a:solidFill>
                  <a:srgbClr val="5B6B7B"/>
                </a:solidFill>
                <a:latin typeface="Calibri" pitchFamily="34" charset="0"/>
                <a:ea typeface="Calibri" pitchFamily="34" charset="-122"/>
                <a:cs typeface="Calibri" pitchFamily="34" charset="-120"/>
              </a:rPr>
              <a:t>travel (stranded at BIG)  LIN 88.9M · LOG 2.1M</a:t>
            </a:r>
            <a:endParaRPr lang="en-US" sz="1000" dirty="0"/>
          </a:p>
        </p:txBody>
      </p:sp>
      <p:pic>
        <p:nvPicPr>
          <p:cNvPr id="5" name="Image 0" descr="E:\prj\JRC\NetworkModel_EU\doc\charts\ITF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F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0.0165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02902362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Isole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884 cells · 22.30 min mean · </a:t>
            </a:r>
            <a:r>
              <a:rPr lang="en-US" sz="1000" dirty="0">
                <a:solidFill>
                  <a:srgbClr val="5B6B7B"/>
                </a:solidFill>
                <a:latin typeface="Calibri" pitchFamily="34" charset="0"/>
                <a:ea typeface="Calibri" pitchFamily="34" charset="-122"/>
                <a:cs typeface="Calibri" pitchFamily="34" charset="-120"/>
              </a:rPr>
              <a:t>travel (stranded at BIG)  LIN 139M · LOG 1.6M</a:t>
            </a:r>
            <a:endParaRPr lang="en-US" sz="1000" dirty="0"/>
          </a:p>
        </p:txBody>
      </p:sp>
      <p:pic>
        <p:nvPicPr>
          <p:cNvPr id="5" name="Image 0" descr="E:\prj\JRC\NetworkModel_EU\doc\charts\IT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0.0224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47343551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ITH</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Nord-Est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2,079 cells · 4.20 min mean · </a:t>
            </a:r>
            <a:r>
              <a:rPr lang="en-US" sz="1000" dirty="0">
                <a:solidFill>
                  <a:srgbClr val="5B6B7B"/>
                </a:solidFill>
                <a:latin typeface="Calibri" pitchFamily="34" charset="0"/>
                <a:ea typeface="Calibri" pitchFamily="34" charset="-122"/>
                <a:cs typeface="Calibri" pitchFamily="34" charset="-120"/>
              </a:rPr>
              <a:t>travel (stranded at BIG)  LIN 48.4M · LOG 1.4M</a:t>
            </a:r>
            <a:endParaRPr lang="en-US" sz="1000" dirty="0"/>
          </a:p>
        </p:txBody>
      </p:sp>
      <p:pic>
        <p:nvPicPr>
          <p:cNvPr id="5" name="Image 0" descr="E:\prj\JRC\NetworkModel_EU\doc\charts\ITH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H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01880778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ITI</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Centro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1,631 cells · 4.19 min mean · </a:t>
            </a:r>
            <a:r>
              <a:rPr lang="en-US" sz="1000" dirty="0">
                <a:solidFill>
                  <a:srgbClr val="5B6B7B"/>
                </a:solidFill>
                <a:latin typeface="Calibri" pitchFamily="34" charset="0"/>
                <a:ea typeface="Calibri" pitchFamily="34" charset="-122"/>
                <a:cs typeface="Calibri" pitchFamily="34" charset="-120"/>
              </a:rPr>
              <a:t>travel (stranded at BIG)  LIN 49.0M · LOG 1.4M</a:t>
            </a:r>
            <a:endParaRPr lang="en-US" sz="1000" dirty="0"/>
          </a:p>
        </p:txBody>
      </p:sp>
      <p:pic>
        <p:nvPicPr>
          <p:cNvPr id="5" name="Image 0" descr="E:\prj\JRC\NetworkModel_EU\doc\charts\ITI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I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0.00421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29864158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SE1</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Östra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388 cells · 5.41 min mean · </a:t>
            </a:r>
            <a:r>
              <a:rPr lang="en-US" sz="1000" dirty="0">
                <a:solidFill>
                  <a:srgbClr val="5B6B7B"/>
                </a:solidFill>
                <a:latin typeface="Calibri" pitchFamily="34" charset="0"/>
                <a:ea typeface="Calibri" pitchFamily="34" charset="-122"/>
                <a:cs typeface="Calibri" pitchFamily="34" charset="-120"/>
              </a:rPr>
              <a:t>travel (stranded at BIG)  LIN 22.1M · LOG 573k</a:t>
            </a:r>
            <a:endParaRPr lang="en-US" sz="1000" dirty="0"/>
          </a:p>
        </p:txBody>
      </p:sp>
      <p:pic>
        <p:nvPicPr>
          <p:cNvPr id="5" name="Image 0" descr="E:\prj\JRC\NetworkModel_EU\doc\charts\SE1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1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0.440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0.00700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67708824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SE2</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Södra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452 cells · 8.05 min mean · </a:t>
            </a:r>
            <a:r>
              <a:rPr lang="en-US" sz="1000" dirty="0">
                <a:solidFill>
                  <a:srgbClr val="5B6B7B"/>
                </a:solidFill>
                <a:latin typeface="Calibri" pitchFamily="34" charset="0"/>
                <a:ea typeface="Calibri" pitchFamily="34" charset="-122"/>
                <a:cs typeface="Calibri" pitchFamily="34" charset="-120"/>
              </a:rPr>
              <a:t>travel (stranded at BIG)  LIN 35.4M · LOG 747k</a:t>
            </a:r>
            <a:endParaRPr lang="en-US" sz="1000" dirty="0"/>
          </a:p>
        </p:txBody>
      </p:sp>
      <p:pic>
        <p:nvPicPr>
          <p:cNvPr id="5" name="Image 0" descr="E:\prj\JRC\NetworkModel_EU\doc\charts\SE2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2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0.700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0.00979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3731905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SE3</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246 cells · 9.46 min mean · </a:t>
            </a:r>
            <a:r>
              <a:rPr lang="en-US" sz="1000" dirty="0">
                <a:solidFill>
                  <a:srgbClr val="5B6B7B"/>
                </a:solidFill>
                <a:latin typeface="Calibri" pitchFamily="34" charset="0"/>
                <a:ea typeface="Calibri" pitchFamily="34" charset="-122"/>
                <a:cs typeface="Calibri" pitchFamily="34" charset="-120"/>
              </a:rPr>
              <a:t>travel (stranded at BIG)  LIN 16.4M · LOG 350k</a:t>
            </a:r>
            <a:endParaRPr lang="en-US" sz="1000" dirty="0"/>
          </a:p>
        </p:txBody>
      </p:sp>
      <p:pic>
        <p:nvPicPr>
          <p:cNvPr id="5" name="Image 0" descr="E:\prj\JRC\NetworkModel_EU\doc\charts\SE3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3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0.00937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87717774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PL2</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Południowy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1,442 cells · 3.21 min mean · </a:t>
            </a:r>
            <a:r>
              <a:rPr lang="en-US" sz="1000" dirty="0">
                <a:solidFill>
                  <a:srgbClr val="5B6B7B"/>
                </a:solidFill>
                <a:latin typeface="Calibri" pitchFamily="34" charset="0"/>
                <a:ea typeface="Calibri" pitchFamily="34" charset="-122"/>
                <a:cs typeface="Calibri" pitchFamily="34" charset="-120"/>
              </a:rPr>
              <a:t>travel (stranded at BIG)  LIN 24.5M · LOG 811k</a:t>
            </a:r>
            <a:endParaRPr lang="en-US" sz="1000" dirty="0"/>
          </a:p>
        </p:txBody>
      </p:sp>
      <p:pic>
        <p:nvPicPr>
          <p:cNvPr id="5" name="Image 0" descr="E:\prj\JRC\NetworkModel_EU\doc\charts\PL2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2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20366222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PL4</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Północno-Zachodni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1,200 cells · 3.66 min mean · </a:t>
            </a:r>
            <a:r>
              <a:rPr lang="en-US" sz="1000" dirty="0">
                <a:solidFill>
                  <a:srgbClr val="5B6B7B"/>
                </a:solidFill>
                <a:latin typeface="Calibri" pitchFamily="34" charset="0"/>
                <a:ea typeface="Calibri" pitchFamily="34" charset="-122"/>
                <a:cs typeface="Calibri" pitchFamily="34" charset="-120"/>
              </a:rPr>
              <a:t>travel (stranded at BIG)  LIN 22.1M · LOG 685k</a:t>
            </a:r>
            <a:endParaRPr lang="en-US" sz="1000" dirty="0"/>
          </a:p>
        </p:txBody>
      </p:sp>
      <p:pic>
        <p:nvPicPr>
          <p:cNvPr id="5" name="Image 0" descr="E:\prj\JRC\NetworkModel_EU\doc\charts\PL4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4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08395927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PL5</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Południowo-Zachodni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688 cells · 3.41 min mean · </a:t>
            </a:r>
            <a:r>
              <a:rPr lang="en-US" sz="1000" dirty="0">
                <a:solidFill>
                  <a:srgbClr val="5B6B7B"/>
                </a:solidFill>
                <a:latin typeface="Calibri" pitchFamily="34" charset="0"/>
                <a:ea typeface="Calibri" pitchFamily="34" charset="-122"/>
                <a:cs typeface="Calibri" pitchFamily="34" charset="-120"/>
              </a:rPr>
              <a:t>travel (stranded at BIG)  LIN 12.8M · LOG 411k</a:t>
            </a:r>
            <a:endParaRPr lang="en-US" sz="1000" dirty="0"/>
          </a:p>
        </p:txBody>
      </p:sp>
      <p:pic>
        <p:nvPicPr>
          <p:cNvPr id="5" name="Image 0" descr="E:\prj\JRC\NetworkModel_EU\doc\charts\PL5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5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11830412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PL6</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Północny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1,023 cells · 3.78 min mean · </a:t>
            </a:r>
            <a:r>
              <a:rPr lang="en-US" sz="1000" dirty="0">
                <a:solidFill>
                  <a:srgbClr val="5B6B7B"/>
                </a:solidFill>
                <a:latin typeface="Calibri" pitchFamily="34" charset="0"/>
                <a:ea typeface="Calibri" pitchFamily="34" charset="-122"/>
                <a:cs typeface="Calibri" pitchFamily="34" charset="-120"/>
              </a:rPr>
              <a:t>travel (stranded at BIG)  LIN 21.1M · LOG 642k</a:t>
            </a:r>
            <a:endParaRPr lang="en-US" sz="1000" dirty="0"/>
          </a:p>
        </p:txBody>
      </p:sp>
      <p:pic>
        <p:nvPicPr>
          <p:cNvPr id="5" name="Image 0" descr="E:\prj\JRC\NetworkModel_EU\doc\charts\PL6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6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691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11682788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PL7</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Centralny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675 cells · 3.84 min mean · </a:t>
            </a:r>
            <a:r>
              <a:rPr lang="en-US" sz="1000" dirty="0">
                <a:solidFill>
                  <a:srgbClr val="5B6B7B"/>
                </a:solidFill>
                <a:latin typeface="Calibri" pitchFamily="34" charset="0"/>
                <a:ea typeface="Calibri" pitchFamily="34" charset="-122"/>
                <a:cs typeface="Calibri" pitchFamily="34" charset="-120"/>
              </a:rPr>
              <a:t>travel (stranded at BIG)  LIN 13.6M · LOG 405k</a:t>
            </a:r>
            <a:endParaRPr lang="en-US" sz="1000" dirty="0"/>
          </a:p>
        </p:txBody>
      </p:sp>
      <p:pic>
        <p:nvPicPr>
          <p:cNvPr id="5" name="Image 0" descr="E:\prj\JRC\NetworkModel_EU\doc\charts\PL7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7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75748157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PL8</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Wschodni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1,065 cells · 14.56 min mean · </a:t>
            </a:r>
            <a:r>
              <a:rPr lang="en-US" sz="1000" dirty="0">
                <a:solidFill>
                  <a:srgbClr val="5B6B7B"/>
                </a:solidFill>
                <a:latin typeface="Calibri" pitchFamily="34" charset="0"/>
                <a:ea typeface="Calibri" pitchFamily="34" charset="-122"/>
                <a:cs typeface="Calibri" pitchFamily="34" charset="-120"/>
              </a:rPr>
              <a:t>travel (stranded at BIG)  LIN 71.7M · LOG 983k</a:t>
            </a:r>
            <a:endParaRPr lang="en-US" sz="1000" dirty="0"/>
          </a:p>
        </p:txBody>
      </p:sp>
      <p:pic>
        <p:nvPicPr>
          <p:cNvPr id="5" name="Image 0" descr="E:\prj\JRC\NetworkModel_EU\doc\charts\PL8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8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0.00700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107966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PL9</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Mazowiecki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933 cells · 3.20 min mean · </a:t>
            </a:r>
            <a:r>
              <a:rPr lang="en-US" sz="1000" dirty="0">
                <a:solidFill>
                  <a:srgbClr val="5B6B7B"/>
                </a:solidFill>
                <a:latin typeface="Calibri" pitchFamily="34" charset="0"/>
                <a:ea typeface="Calibri" pitchFamily="34" charset="-122"/>
                <a:cs typeface="Calibri" pitchFamily="34" charset="-120"/>
              </a:rPr>
              <a:t>travel (stranded at BIG)  LIN 17.5M · LOG 591k</a:t>
            </a:r>
            <a:endParaRPr lang="en-US" sz="1000" dirty="0"/>
          </a:p>
        </p:txBody>
      </p:sp>
      <p:pic>
        <p:nvPicPr>
          <p:cNvPr id="5" name="Image 0" descr="E:\prj\JRC\NetworkModel_EU\doc\charts\PL9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9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48948233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ALL AREAS COMBINED · 41 DISJOINT AREAS</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The aggregated frontier  </a:t>
            </a:r>
            <a:r>
              <a:rPr lang="en-US" sz="2200" dirty="0">
                <a:solidFill>
                  <a:srgbClr val="1C3D5A"/>
                </a:solidFill>
                <a:latin typeface="Georgia" pitchFamily="34" charset="0"/>
                <a:ea typeface="Georgia" pitchFamily="34" charset="-122"/>
                <a:cs typeface="Georgia" pitchFamily="34" charset="-120"/>
              </a:rPr>
              <a:t>— facilities and travel cost summed per λ</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aggregate baseline (current)  </a:t>
            </a:r>
            <a:r>
              <a:rPr lang="en-US" sz="1000" dirty="0">
                <a:solidFill>
                  <a:srgbClr val="12233A"/>
                </a:solidFill>
                <a:latin typeface="Calibri" pitchFamily="34" charset="0"/>
                <a:ea typeface="Calibri" pitchFamily="34" charset="-122"/>
                <a:cs typeface="Calibri" pitchFamily="34" charset="-120"/>
              </a:rPr>
              <a:t>43,313 pharmacy cells · </a:t>
            </a:r>
            <a:r>
              <a:rPr lang="en-US" sz="1000" dirty="0">
                <a:solidFill>
                  <a:srgbClr val="5B6B7B"/>
                </a:solidFill>
                <a:latin typeface="Calibri" pitchFamily="34" charset="0"/>
                <a:ea typeface="Calibri" pitchFamily="34" charset="-122"/>
                <a:cs typeface="Calibri" pitchFamily="34" charset="-120"/>
              </a:rPr>
              <a:t>travel  LIN 1245M · LOG 31.9M</a:t>
            </a:r>
            <a:endParaRPr lang="en-US" sz="1000" dirty="0"/>
          </a:p>
        </p:txBody>
      </p:sp>
      <p:pic>
        <p:nvPicPr>
          <p:cNvPr id="5" name="Image 0" descr="E:\prj\JRC\NetworkModel_EU\doc\charts\AGGREGATE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AGGREGATE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7200" y="4864608"/>
          <a:ext cx="11274552" cy="914400"/>
        </p:xfrm>
        <a:graphic>
          <a:graphicData uri="http://schemas.openxmlformats.org/drawingml/2006/table">
            <a:tbl>
              <a:tblPr/>
              <a:tblGrid>
                <a:gridCol w="109728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463040">
                  <a:extLst>
                    <a:ext uri="{9D8B030D-6E8A-4147-A177-3AD203B41FA5}">
                      <a16:colId xmlns:a16="http://schemas.microsoft.com/office/drawing/2014/main" val="20004"/>
                    </a:ext>
                  </a:extLst>
                </a:gridCol>
                <a:gridCol w="1920240">
                  <a:extLst>
                    <a:ext uri="{9D8B030D-6E8A-4147-A177-3AD203B41FA5}">
                      <a16:colId xmlns:a16="http://schemas.microsoft.com/office/drawing/2014/main" val="20005"/>
                    </a:ext>
                  </a:extLst>
                </a:gridCol>
                <a:gridCol w="1947672">
                  <a:extLst>
                    <a:ext uri="{9D8B030D-6E8A-4147-A177-3AD203B41FA5}">
                      <a16:colId xmlns:a16="http://schemas.microsoft.com/office/drawing/2014/main" val="20006"/>
                    </a:ext>
                  </a:extLst>
                </a:gridCol>
              </a:tblGrid>
              <a:tr h="256032">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point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Δ facilities</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Δ travel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56032">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LINEAR</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S1 (same count)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0.141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43,321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-34%</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S2 (same travel)</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0.300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25,280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-42%</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+6%</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fewest facilities swept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0.500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16,972</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-61%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+13%</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+33%</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most facilities swept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0.000100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434,802</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+904%</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-94%</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56032">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LOGISTIC</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S1 (same count)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0.00141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44,057</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-16%</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5"/>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S2 (same travel)</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0.00355</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24,324</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-44%</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fewest facilities swept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0.0200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11,174</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-74%</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+60%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7"/>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most facilities swept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0.000100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195,299</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+351%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-35%</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8" name="Text 3"/>
          <p:cNvSpPr/>
          <p:nvPr/>
        </p:nvSpPr>
        <p:spPr>
          <a:xfrm>
            <a:off x="457200" y="6382512"/>
            <a:ext cx="11274552" cy="420624"/>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Exact-by-separability aggregation over 41 disjoint areas (13 countries + FR/IT/SE/PL NUTS-1; country-level Poland excluded in favour of its 7 NUTS-1): at a common λ the sum of the regional optima IS the combined optimum. Summed at the union of swept w-values inside the range every area covers (63 points; an area without that exact λ is log-interpolated between its adjacent sweep points — the λ-table rule).</a:t>
            </a:r>
            <a:endParaRPr lang="en-US" sz="850" dirty="0"/>
          </a:p>
        </p:txBody>
      </p:sp>
    </p:spTree>
    <p:extLst>
      <p:ext uri="{BB962C8B-B14F-4D97-AF65-F5344CB8AC3E}">
        <p14:creationId xmlns:p14="http://schemas.microsoft.com/office/powerpoint/2010/main" val="163886916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SCENARIO λ</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Interpolated λ for S1 and S2  </a:t>
            </a:r>
            <a:r>
              <a:rPr lang="en-US" sz="2200" dirty="0">
                <a:solidFill>
                  <a:srgbClr val="1C3D5A"/>
                </a:solidFill>
                <a:latin typeface="Georgia" pitchFamily="34" charset="0"/>
                <a:ea typeface="Georgia" pitchFamily="34" charset="-122"/>
                <a:cs typeface="Georgia" pitchFamily="34" charset="-120"/>
              </a:rPr>
              <a:t>— per country, by travel-cost function</a:t>
            </a:r>
            <a:endParaRPr lang="en-US" sz="22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731520" y="1536192"/>
          <a:ext cx="10698480" cy="914400"/>
        </p:xfrm>
        <a:graphic>
          <a:graphicData uri="http://schemas.openxmlformats.org/drawingml/2006/table">
            <a:tbl>
              <a:tblPr/>
              <a:tblGrid>
                <a:gridCol w="237744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737360">
                  <a:extLst>
                    <a:ext uri="{9D8B030D-6E8A-4147-A177-3AD203B41FA5}">
                      <a16:colId xmlns:a16="http://schemas.microsoft.com/office/drawing/2014/main" val="20003"/>
                    </a:ext>
                  </a:extLst>
                </a:gridCol>
                <a:gridCol w="1737360">
                  <a:extLst>
                    <a:ext uri="{9D8B030D-6E8A-4147-A177-3AD203B41FA5}">
                      <a16:colId xmlns:a16="http://schemas.microsoft.com/office/drawing/2014/main" val="20004"/>
                    </a:ext>
                  </a:extLst>
                </a:gridCol>
                <a:gridCol w="1737360">
                  <a:extLst>
                    <a:ext uri="{9D8B030D-6E8A-4147-A177-3AD203B41FA5}">
                      <a16:colId xmlns:a16="http://schemas.microsoft.com/office/drawing/2014/main" val="20005"/>
                    </a:ext>
                  </a:extLst>
                </a:gridCol>
              </a:tblGrid>
              <a:tr h="304800">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country</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baseline #</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λ · S1 (lin)</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λ · S2 (lin)</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λ · S1 (log)</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λ · S2 (log)</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Netherlands</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1,615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24,532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34,329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229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373</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Luxembourg</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86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15,945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25,641</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146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262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Estonia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292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11,388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19,421</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145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Latvia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496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8,822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14,262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103</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205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Slovenia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17,680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25,450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195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357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Lithuania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582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10,987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19,834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128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Ireland</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862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14,565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20,893</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270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Norway</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755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23,174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49,999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324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841</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Denmark</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466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37,082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55,960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448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867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Austria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1,129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18,361</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31,027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204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496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Portugal</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1,882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17,642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54,700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175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533</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Czechia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1,624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15,064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22,879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278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Belgium</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2,958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5,666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7,340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67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Poland</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7,027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10,254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15,809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107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188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bl>
          </a:graphicData>
        </a:graphic>
      </p:graphicFrame>
      <p:sp>
        <p:nvSpPr>
          <p:cNvPr id="5" name="Text 2"/>
          <p:cNvSpPr/>
          <p:nvPr/>
        </p:nvSpPr>
        <p:spPr>
          <a:xfrm>
            <a:off x="731520" y="6309360"/>
            <a:ext cx="10698480" cy="457200"/>
          </a:xfrm>
          <a:prstGeom prst="rect">
            <a:avLst/>
          </a:prstGeom>
          <a:noFill/>
          <a:ln/>
        </p:spPr>
        <p:txBody>
          <a:bodyPr wrap="square" rtlCol="0" anchor="t"/>
          <a:lstStyle/>
          <a:p>
            <a:pPr marL="0" indent="0">
              <a:buNone/>
            </a:pPr>
            <a:r>
              <a:rPr lang="en-US" sz="900" b="1" i="1" dirty="0">
                <a:solidFill>
                  <a:srgbClr val="1C3D5A"/>
                </a:solidFill>
                <a:latin typeface="Calibri" pitchFamily="34" charset="0"/>
                <a:ea typeface="Calibri" pitchFamily="34" charset="-122"/>
                <a:cs typeface="Calibri" pitchFamily="34" charset="-120"/>
              </a:rPr>
              <a:t>λ = w · €100,000 (facility fixed-cost weight). </a:t>
            </a:r>
            <a:r>
              <a:rPr lang="en-US" sz="900" i="1" dirty="0">
                <a:solidFill>
                  <a:srgbClr val="5B6B7B"/>
                </a:solidFill>
                <a:latin typeface="Calibri" pitchFamily="34" charset="0"/>
                <a:ea typeface="Calibri" pitchFamily="34" charset="-122"/>
                <a:cs typeface="Calibri" pitchFamily="34" charset="-120"/>
              </a:rPr>
              <a:t>S1 = λ at which the open-facility count equals the baseline #cells; S2 = λ at which the multistart travel cost equals the baseline — each log-interpolated between adjacent sweep points, per travel-cost function (lin / log). “—” = the baseline target lies outside the swept λ range (S1/S2 not yet bracketed — see roadmap).</a:t>
            </a:r>
            <a:endParaRPr lang="en-US" sz="900" dirty="0"/>
          </a:p>
        </p:txBody>
      </p:sp>
    </p:spTree>
    <p:extLst>
      <p:ext uri="{BB962C8B-B14F-4D97-AF65-F5344CB8AC3E}">
        <p14:creationId xmlns:p14="http://schemas.microsoft.com/office/powerpoint/2010/main" val="283367310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SCENARIO λ · NUTS-1</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Interpolated λ for S1 and S2  </a:t>
            </a:r>
            <a:r>
              <a:rPr lang="en-US" sz="2200" dirty="0">
                <a:solidFill>
                  <a:srgbClr val="1C3D5A"/>
                </a:solidFill>
                <a:latin typeface="Georgia" pitchFamily="34" charset="0"/>
                <a:ea typeface="Georgia" pitchFamily="34" charset="-122"/>
                <a:cs typeface="Georgia" pitchFamily="34" charset="-120"/>
              </a:rPr>
              <a:t>— FR / IT / SE NUTS-1 regions</a:t>
            </a:r>
            <a:endParaRPr lang="en-US" sz="22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731520" y="1536192"/>
          <a:ext cx="10698480" cy="914400"/>
        </p:xfrm>
        <a:graphic>
          <a:graphicData uri="http://schemas.openxmlformats.org/drawingml/2006/table">
            <a:tbl>
              <a:tblPr/>
              <a:tblGrid>
                <a:gridCol w="301752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577340">
                  <a:extLst>
                    <a:ext uri="{9D8B030D-6E8A-4147-A177-3AD203B41FA5}">
                      <a16:colId xmlns:a16="http://schemas.microsoft.com/office/drawing/2014/main" val="20002"/>
                    </a:ext>
                  </a:extLst>
                </a:gridCol>
                <a:gridCol w="1577340">
                  <a:extLst>
                    <a:ext uri="{9D8B030D-6E8A-4147-A177-3AD203B41FA5}">
                      <a16:colId xmlns:a16="http://schemas.microsoft.com/office/drawing/2014/main" val="20003"/>
                    </a:ext>
                  </a:extLst>
                </a:gridCol>
                <a:gridCol w="1577340">
                  <a:extLst>
                    <a:ext uri="{9D8B030D-6E8A-4147-A177-3AD203B41FA5}">
                      <a16:colId xmlns:a16="http://schemas.microsoft.com/office/drawing/2014/main" val="20004"/>
                    </a:ext>
                  </a:extLst>
                </a:gridCol>
                <a:gridCol w="1577340">
                  <a:extLst>
                    <a:ext uri="{9D8B030D-6E8A-4147-A177-3AD203B41FA5}">
                      <a16:colId xmlns:a16="http://schemas.microsoft.com/office/drawing/2014/main" val="20005"/>
                    </a:ext>
                  </a:extLst>
                </a:gridCol>
              </a:tblGrid>
              <a:tr h="201168">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NUTS-1 region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baseline #</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λ · S1 (lin)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λ · S2 (lin)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λ · S1 (log)</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λ · S2 (log)</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FR1 · Île-de-France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1,449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11,918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16,444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FRB · Centre-Val de Loire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613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10,000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13,670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FRC · Bourgogne-Franche-Comté</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723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9,783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13,075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FRD · Normandie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679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11,278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14,679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179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FRE · Hauts-de-France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1,333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9,048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11,670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FRF · Grand Est</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1,167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10,901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14,257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170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FRG · Pays de la Loire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848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11,153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14,447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173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FRH · Bretagne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793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9,858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13,828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FRI · Nouvelle-Aquitaine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1,584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8,368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10,901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FRJ · Occitanie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1,424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9,698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13,202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FRK · Auvergne-Rhône-Alpes</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1,685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10,207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13,737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FRL · Provence-Alpes-Côte d'Azur</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1,026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9,741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14,155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FRM · Corse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10,336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16,993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259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ITC · Nord-Ovest</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2,890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10,511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20,047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218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ITF · Sud</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1,253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30,189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101,789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350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1,655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ITG · Isole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884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70,747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276,192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597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2,271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ITH · Nord-Est</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2,079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12,775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22,482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287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ITI · Centro</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1,631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16,279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33,187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421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SE1 · Östra Sverige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388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27,492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44,267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299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711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SE2 · Södra Sverige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452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31,426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63,078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413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981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SE3 · Norra Sverige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246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27,508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52,988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439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929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PL2 · Południowy</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1,442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9,666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15,455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171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2"/>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PL4 · Północno-Zachodni</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1,200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9,925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15,169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193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PL5 · Południowo-Zachodni</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688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10,586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15,617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189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PL6 · Północny</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1,023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11,568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17,393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220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PL7 · Centralny</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675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10,013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14,885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188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6"/>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PL8 · Wschodni</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1,065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23,099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66,701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214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601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7"/>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PL9 · Mazowiecki</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933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11,084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16,582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198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8"/>
                  </a:ext>
                </a:extLst>
              </a:tr>
            </a:tbl>
          </a:graphicData>
        </a:graphic>
      </p:graphicFrame>
      <p:sp>
        <p:nvSpPr>
          <p:cNvPr id="5" name="Text 2"/>
          <p:cNvSpPr/>
          <p:nvPr/>
        </p:nvSpPr>
        <p:spPr>
          <a:xfrm>
            <a:off x="731520" y="6309360"/>
            <a:ext cx="10698480" cy="457200"/>
          </a:xfrm>
          <a:prstGeom prst="rect">
            <a:avLst/>
          </a:prstGeom>
          <a:noFill/>
          <a:ln/>
        </p:spPr>
        <p:txBody>
          <a:bodyPr wrap="square" rtlCol="0" anchor="t"/>
          <a:lstStyle/>
          <a:p>
            <a:pPr marL="0" indent="0">
              <a:buNone/>
            </a:pPr>
            <a:r>
              <a:rPr lang="en-US" sz="900" b="1" i="1" dirty="0">
                <a:solidFill>
                  <a:srgbClr val="1C3D5A"/>
                </a:solidFill>
                <a:latin typeface="Calibri" pitchFamily="34" charset="0"/>
                <a:ea typeface="Calibri" pitchFamily="34" charset="-122"/>
                <a:cs typeface="Calibri" pitchFamily="34" charset="-120"/>
              </a:rPr>
              <a:t>λ = w · €100,000 (facility fixed-cost weight). </a:t>
            </a:r>
            <a:r>
              <a:rPr lang="en-US" sz="900" i="1" dirty="0">
                <a:solidFill>
                  <a:srgbClr val="5B6B7B"/>
                </a:solidFill>
                <a:latin typeface="Calibri" pitchFamily="34" charset="0"/>
                <a:ea typeface="Calibri" pitchFamily="34" charset="-122"/>
                <a:cs typeface="Calibri" pitchFamily="34" charset="-120"/>
              </a:rPr>
              <a:t>S1 = λ at which the open-facility count equals the baseline #cells; S2 = λ at which the multistart travel cost equals the baseline — each log-interpolated between adjacent sweep points, per travel-cost function (lin / log). “—” = the baseline target lies outside the swept λ range (S1/S2 not yet bracketed — see roadmap).</a:t>
            </a:r>
            <a:endParaRPr lang="en-US" sz="900" dirty="0"/>
          </a:p>
        </p:txBody>
      </p:sp>
    </p:spTree>
    <p:extLst>
      <p:ext uri="{BB962C8B-B14F-4D97-AF65-F5344CB8AC3E}">
        <p14:creationId xmlns:p14="http://schemas.microsoft.com/office/powerpoint/2010/main" val="413043727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rtlCol="0" anchor="ctr"/>
          <a:lstStyle/>
          <a:p>
            <a:pPr marL="0" indent="0">
              <a:buNone/>
            </a:pPr>
            <a:r>
              <a:rPr lang="en-US" sz="1200" b="1" kern="0" spc="200" dirty="0">
                <a:solidFill>
                  <a:srgbClr val="E8A33D"/>
                </a:solidFill>
              </a:rPr>
              <a:t>LINEAR vs LOGISTIC</a:t>
            </a:r>
            <a:endParaRPr lang="en-US" sz="1200" dirty="0"/>
          </a:p>
        </p:txBody>
      </p:sp>
      <p:sp>
        <p:nvSpPr>
          <p:cNvPr id="3" name="Text 1"/>
          <p:cNvSpPr/>
          <p:nvPr/>
        </p:nvSpPr>
        <p:spPr>
          <a:xfrm>
            <a:off x="457200" y="548640"/>
            <a:ext cx="11247120" cy="640080"/>
          </a:xfrm>
          <a:prstGeom prst="rect">
            <a:avLst/>
          </a:prstGeom>
          <a:noFill/>
          <a:ln/>
        </p:spPr>
        <p:txBody>
          <a:bodyPr wrap="square" rtlCol="0" anchor="ctr"/>
          <a:lstStyle/>
          <a:p>
            <a:pPr marL="0" indent="0">
              <a:buNone/>
            </a:pPr>
            <a:r>
              <a:rPr lang="en-US" sz="2400" dirty="0">
                <a:solidFill>
                  <a:srgbClr val="FFFFFF"/>
                </a:solidFill>
                <a:latin typeface="Georgia" pitchFamily="34" charset="0"/>
                <a:ea typeface="Georgia" pitchFamily="34" charset="-122"/>
                <a:cs typeface="Georgia" pitchFamily="34" charset="-120"/>
              </a:rPr>
              <a:t>multistart tracks the LP-relax lower bound — the gap is tightest under LOGISTIC</a:t>
            </a:r>
            <a:endParaRPr lang="en-US" sz="2400" dirty="0"/>
          </a:p>
        </p:txBody>
      </p:sp>
      <p:sp>
        <p:nvSpPr>
          <p:cNvPr id="4" name="Shape 2"/>
          <p:cNvSpPr/>
          <p:nvPr/>
        </p:nvSpPr>
        <p:spPr>
          <a:xfrm>
            <a:off x="457200" y="1371600"/>
            <a:ext cx="5486400" cy="1234440"/>
          </a:xfrm>
          <a:prstGeom prst="roundRect">
            <a:avLst>
              <a:gd name="adj" fmla="val 4444"/>
            </a:avLst>
          </a:prstGeom>
          <a:solidFill>
            <a:srgbClr val="1B3350"/>
          </a:solidFill>
          <a:ln w="12700">
            <a:solidFill>
              <a:srgbClr val="E8A33D"/>
            </a:solidFill>
            <a:prstDash val="solid"/>
          </a:ln>
        </p:spPr>
      </p:sp>
      <p:sp>
        <p:nvSpPr>
          <p:cNvPr id="5" name="Text 3"/>
          <p:cNvSpPr/>
          <p:nvPr/>
        </p:nvSpPr>
        <p:spPr>
          <a:xfrm>
            <a:off x="685800" y="1481328"/>
            <a:ext cx="5029200" cy="274320"/>
          </a:xfrm>
          <a:prstGeom prst="rect">
            <a:avLst/>
          </a:prstGeom>
          <a:noFill/>
          <a:ln/>
        </p:spPr>
        <p:txBody>
          <a:bodyPr wrap="square" rtlCol="0" anchor="ctr"/>
          <a:lstStyle/>
          <a:p>
            <a:pPr marL="0" indent="0">
              <a:buNone/>
            </a:pPr>
            <a:r>
              <a:rPr lang="en-US" sz="1300" b="1" dirty="0">
                <a:solidFill>
                  <a:srgbClr val="E8A33D"/>
                </a:solidFill>
                <a:latin typeface="Calibri" pitchFamily="34" charset="0"/>
                <a:ea typeface="Calibri" pitchFamily="34" charset="-122"/>
                <a:cs typeface="Calibri" pitchFamily="34" charset="-120"/>
              </a:rPr>
              <a:t>LINEAR  c(t) — unbounded, stranding expensive</a:t>
            </a:r>
            <a:endParaRPr lang="en-US" sz="1300" dirty="0"/>
          </a:p>
        </p:txBody>
      </p:sp>
      <p:sp>
        <p:nvSpPr>
          <p:cNvPr id="6" name="Text 4"/>
          <p:cNvSpPr/>
          <p:nvPr/>
        </p:nvSpPr>
        <p:spPr>
          <a:xfrm>
            <a:off x="685800" y="1755648"/>
            <a:ext cx="5029200" cy="457200"/>
          </a:xfrm>
          <a:prstGeom prst="rect">
            <a:avLst/>
          </a:prstGeom>
          <a:noFill/>
          <a:ln/>
        </p:spPr>
        <p:txBody>
          <a:bodyPr wrap="square" rtlCol="0" anchor="ctr"/>
          <a:lstStyle/>
          <a:p>
            <a:pPr marL="0" indent="0">
              <a:buNone/>
            </a:pPr>
            <a:r>
              <a:rPr lang="en-US" sz="1900" b="1" dirty="0">
                <a:solidFill>
                  <a:srgbClr val="FFFFFF"/>
                </a:solidFill>
                <a:latin typeface="Georgia" pitchFamily="34" charset="0"/>
                <a:ea typeface="Georgia" pitchFamily="34" charset="-122"/>
                <a:cs typeface="Georgia" pitchFamily="34" charset="-120"/>
              </a:rPr>
              <a:t>multistart sits +0–18% over the LP bound</a:t>
            </a:r>
            <a:endParaRPr lang="en-US" sz="1900" dirty="0"/>
          </a:p>
        </p:txBody>
      </p:sp>
      <p:sp>
        <p:nvSpPr>
          <p:cNvPr id="7" name="Text 5"/>
          <p:cNvSpPr/>
          <p:nvPr/>
        </p:nvSpPr>
        <p:spPr>
          <a:xfrm>
            <a:off x="685800" y="2194560"/>
            <a:ext cx="5074920" cy="365760"/>
          </a:xfrm>
          <a:prstGeom prst="rect">
            <a:avLst/>
          </a:prstGeom>
          <a:noFill/>
          <a:ln/>
        </p:spPr>
        <p:txBody>
          <a:bodyPr wrap="square" rtlCol="0" anchor="ctr"/>
          <a:lstStyle/>
          <a:p>
            <a:pPr marL="0" indent="0">
              <a:buNone/>
            </a:pPr>
            <a:r>
              <a:rPr lang="en-US" sz="1050" dirty="0">
                <a:solidFill>
                  <a:srgbClr val="C7D2DD"/>
                </a:solidFill>
                <a:latin typeface="Calibri" pitchFamily="34" charset="0"/>
                <a:ea typeface="Calibri" pitchFamily="34" charset="-122"/>
                <a:cs typeface="Calibri" pitchFamily="34" charset="-120"/>
              </a:rPr>
              <a:t>integer rounding costs more where stranding is dear</a:t>
            </a:r>
            <a:endParaRPr lang="en-US" sz="1050" dirty="0"/>
          </a:p>
        </p:txBody>
      </p:sp>
      <p:sp>
        <p:nvSpPr>
          <p:cNvPr id="8" name="Shape 6"/>
          <p:cNvSpPr/>
          <p:nvPr/>
        </p:nvSpPr>
        <p:spPr>
          <a:xfrm>
            <a:off x="6245352" y="1371600"/>
            <a:ext cx="5486400" cy="1234440"/>
          </a:xfrm>
          <a:prstGeom prst="roundRect">
            <a:avLst>
              <a:gd name="adj" fmla="val 4444"/>
            </a:avLst>
          </a:prstGeom>
          <a:solidFill>
            <a:srgbClr val="1B3350"/>
          </a:solidFill>
          <a:ln w="12700">
            <a:solidFill>
              <a:srgbClr val="0B6E99"/>
            </a:solidFill>
            <a:prstDash val="solid"/>
          </a:ln>
        </p:spPr>
      </p:sp>
      <p:sp>
        <p:nvSpPr>
          <p:cNvPr id="9" name="Text 7"/>
          <p:cNvSpPr/>
          <p:nvPr/>
        </p:nvSpPr>
        <p:spPr>
          <a:xfrm>
            <a:off x="6473952" y="1481328"/>
            <a:ext cx="5029200" cy="274320"/>
          </a:xfrm>
          <a:prstGeom prst="rect">
            <a:avLst/>
          </a:prstGeom>
          <a:noFill/>
          <a:ln/>
        </p:spPr>
        <p:txBody>
          <a:bodyPr wrap="square" rtlCol="0" anchor="ctr"/>
          <a:lstStyle/>
          <a:p>
            <a:pPr marL="0" indent="0">
              <a:buNone/>
            </a:pPr>
            <a:r>
              <a:rPr lang="en-US" sz="1300" b="1" dirty="0">
                <a:solidFill>
                  <a:srgbClr val="0B6E99"/>
                </a:solidFill>
                <a:latin typeface="Calibri" pitchFamily="34" charset="0"/>
                <a:ea typeface="Calibri" pitchFamily="34" charset="-122"/>
                <a:cs typeface="Calibri" pitchFamily="34" charset="-120"/>
              </a:rPr>
              <a:t>LOGISTIC  c(t) — saturates ≈1, stranding cheap</a:t>
            </a:r>
            <a:endParaRPr lang="en-US" sz="1300" dirty="0"/>
          </a:p>
        </p:txBody>
      </p:sp>
      <p:sp>
        <p:nvSpPr>
          <p:cNvPr id="10" name="Text 8"/>
          <p:cNvSpPr/>
          <p:nvPr/>
        </p:nvSpPr>
        <p:spPr>
          <a:xfrm>
            <a:off x="6473952" y="1755648"/>
            <a:ext cx="5029200" cy="457200"/>
          </a:xfrm>
          <a:prstGeom prst="rect">
            <a:avLst/>
          </a:prstGeom>
          <a:noFill/>
          <a:ln/>
        </p:spPr>
        <p:txBody>
          <a:bodyPr wrap="square" rtlCol="0" anchor="ctr"/>
          <a:lstStyle/>
          <a:p>
            <a:pPr marL="0" indent="0">
              <a:buNone/>
            </a:pPr>
            <a:r>
              <a:rPr lang="en-US" sz="1900" b="1" dirty="0">
                <a:solidFill>
                  <a:srgbClr val="FFFFFF"/>
                </a:solidFill>
                <a:latin typeface="Georgia" pitchFamily="34" charset="0"/>
                <a:ea typeface="Georgia" pitchFamily="34" charset="-122"/>
                <a:cs typeface="Georgia" pitchFamily="34" charset="-120"/>
              </a:rPr>
              <a:t>multistart sits +0–4.7% over the LP bound</a:t>
            </a:r>
            <a:endParaRPr lang="en-US" sz="1900" dirty="0"/>
          </a:p>
        </p:txBody>
      </p:sp>
      <p:sp>
        <p:nvSpPr>
          <p:cNvPr id="11" name="Text 9"/>
          <p:cNvSpPr/>
          <p:nvPr/>
        </p:nvSpPr>
        <p:spPr>
          <a:xfrm>
            <a:off x="6473952" y="2194560"/>
            <a:ext cx="5074920" cy="365760"/>
          </a:xfrm>
          <a:prstGeom prst="rect">
            <a:avLst/>
          </a:prstGeom>
          <a:noFill/>
          <a:ln/>
        </p:spPr>
        <p:txBody>
          <a:bodyPr wrap="square" rtlCol="0" anchor="ctr"/>
          <a:lstStyle/>
          <a:p>
            <a:pPr marL="0" indent="0">
              <a:buNone/>
            </a:pPr>
            <a:r>
              <a:rPr lang="en-US" sz="1050" dirty="0">
                <a:solidFill>
                  <a:srgbClr val="C7D2DD"/>
                </a:solidFill>
                <a:latin typeface="Calibri" pitchFamily="34" charset="0"/>
                <a:ea typeface="Calibri" pitchFamily="34" charset="-122"/>
                <a:cs typeface="Calibri" pitchFamily="34" charset="-120"/>
              </a:rPr>
              <a:t>rounding is nearly free; the frontier is almost integral</a:t>
            </a:r>
            <a:endParaRPr lang="en-US" sz="105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7200" y="3200400"/>
          <a:ext cx="5513832" cy="914400"/>
        </p:xfrm>
        <a:graphic>
          <a:graphicData uri="http://schemas.openxmlformats.org/drawingml/2006/table">
            <a:tbl>
              <a:tblPr/>
              <a:tblGrid>
                <a:gridCol w="868680">
                  <a:extLst>
                    <a:ext uri="{9D8B030D-6E8A-4147-A177-3AD203B41FA5}">
                      <a16:colId xmlns:a16="http://schemas.microsoft.com/office/drawing/2014/main" val="20000"/>
                    </a:ext>
                  </a:extLst>
                </a:gridCol>
                <a:gridCol w="1161288">
                  <a:extLst>
                    <a:ext uri="{9D8B030D-6E8A-4147-A177-3AD203B41FA5}">
                      <a16:colId xmlns:a16="http://schemas.microsoft.com/office/drawing/2014/main" val="20001"/>
                    </a:ext>
                  </a:extLst>
                </a:gridCol>
                <a:gridCol w="1161288">
                  <a:extLst>
                    <a:ext uri="{9D8B030D-6E8A-4147-A177-3AD203B41FA5}">
                      <a16:colId xmlns:a16="http://schemas.microsoft.com/office/drawing/2014/main" val="20002"/>
                    </a:ext>
                  </a:extLst>
                </a:gridCol>
                <a:gridCol w="1161288">
                  <a:extLst>
                    <a:ext uri="{9D8B030D-6E8A-4147-A177-3AD203B41FA5}">
                      <a16:colId xmlns:a16="http://schemas.microsoft.com/office/drawing/2014/main" val="20003"/>
                    </a:ext>
                  </a:extLst>
                </a:gridCol>
                <a:gridCol w="1161288">
                  <a:extLst>
                    <a:ext uri="{9D8B030D-6E8A-4147-A177-3AD203B41FA5}">
                      <a16:colId xmlns:a16="http://schemas.microsoft.com/office/drawing/2014/main" val="20004"/>
                    </a:ext>
                  </a:extLst>
                </a:gridCol>
              </a:tblGrid>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reg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Netherlands</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Luxembourg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Estonia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Latvia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Slovenia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Lithuania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Ireland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Norway</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(54)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Denmark</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Austria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Portugal</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(351)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+16% (1308)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(437)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+6% (1151)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Czechia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Belgium</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Poland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FRB</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FRC</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FRE</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FRF</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21"/>
                  </a:ext>
                </a:extLst>
              </a:tr>
            </a:tbl>
          </a:graphicData>
        </a:graphic>
      </p:graphicFrame>
      <p:graphicFrame>
        <p:nvGraphicFramePr>
          <p:cNvPr id="109" name="Table 1"/>
          <p:cNvGraphicFramePr>
            <a:graphicFrameLocks noGrp="1"/>
          </p:cNvGraphicFramePr>
          <p:nvPr>
            <p:extLst>
              <p:ext uri="{D42A27DB-BD31-4B8C-83A1-F6EECF244321}">
                <p14:modId xmlns:p14="http://schemas.microsoft.com/office/powerpoint/2010/main" val="1579011935"/>
              </p:ext>
            </p:extLst>
          </p:nvPr>
        </p:nvGraphicFramePr>
        <p:xfrm>
          <a:off x="6217920" y="3200400"/>
          <a:ext cx="5513832" cy="914400"/>
        </p:xfrm>
        <a:graphic>
          <a:graphicData uri="http://schemas.openxmlformats.org/drawingml/2006/table">
            <a:tbl>
              <a:tblPr/>
              <a:tblGrid>
                <a:gridCol w="868680">
                  <a:extLst>
                    <a:ext uri="{9D8B030D-6E8A-4147-A177-3AD203B41FA5}">
                      <a16:colId xmlns:a16="http://schemas.microsoft.com/office/drawing/2014/main" val="20000"/>
                    </a:ext>
                  </a:extLst>
                </a:gridCol>
                <a:gridCol w="1161288">
                  <a:extLst>
                    <a:ext uri="{9D8B030D-6E8A-4147-A177-3AD203B41FA5}">
                      <a16:colId xmlns:a16="http://schemas.microsoft.com/office/drawing/2014/main" val="20001"/>
                    </a:ext>
                  </a:extLst>
                </a:gridCol>
                <a:gridCol w="1161288">
                  <a:extLst>
                    <a:ext uri="{9D8B030D-6E8A-4147-A177-3AD203B41FA5}">
                      <a16:colId xmlns:a16="http://schemas.microsoft.com/office/drawing/2014/main" val="20002"/>
                    </a:ext>
                  </a:extLst>
                </a:gridCol>
                <a:gridCol w="1161288">
                  <a:extLst>
                    <a:ext uri="{9D8B030D-6E8A-4147-A177-3AD203B41FA5}">
                      <a16:colId xmlns:a16="http://schemas.microsoft.com/office/drawing/2014/main" val="20003"/>
                    </a:ext>
                  </a:extLst>
                </a:gridCol>
                <a:gridCol w="1161288">
                  <a:extLst>
                    <a:ext uri="{9D8B030D-6E8A-4147-A177-3AD203B41FA5}">
                      <a16:colId xmlns:a16="http://schemas.microsoft.com/office/drawing/2014/main" val="20004"/>
                    </a:ext>
                  </a:extLst>
                </a:gridCol>
              </a:tblGrid>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reg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FRH</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FRI</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FRJ</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FRK</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FRL</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FRM</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ITC</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ITF</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+3% (208)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+3% (730)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(1725)</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+1% (2409)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(1470)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(2202)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ITH</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ITI</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(115)</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(141)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(134)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(138)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(168)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PL5</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(1815)</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+1% (2218)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(1966)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+5% (2789)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21"/>
                  </a:ext>
                </a:extLst>
              </a:tr>
            </a:tbl>
          </a:graphicData>
        </a:graphic>
      </p:graphicFrame>
      <p:sp>
        <p:nvSpPr>
          <p:cNvPr id="14" name="Text 10"/>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9FB0C2"/>
                </a:solidFill>
                <a:latin typeface="Calibri" pitchFamily="34" charset="0"/>
                <a:ea typeface="Calibri" pitchFamily="34" charset="-122"/>
                <a:cs typeface="Calibri" pitchFamily="34" charset="-120"/>
              </a:rPr>
              <a:t>cell = multistart travel above the LP-relax bound  (multistart clients stranded by rounding, priced at BIG).  Sparse Swedish regions keep the largest bound-gaps.</a:t>
            </a:r>
            <a:endParaRPr lang="en-US" sz="850" dirty="0"/>
          </a:p>
        </p:txBody>
      </p:sp>
    </p:spTree>
    <p:extLst>
      <p:ext uri="{BB962C8B-B14F-4D97-AF65-F5344CB8AC3E}">
        <p14:creationId xmlns:p14="http://schemas.microsoft.com/office/powerpoint/2010/main" val="304227107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ROADMAP</a:t>
            </a:r>
            <a:endParaRPr lang="en-US" sz="1200" dirty="0"/>
          </a:p>
        </p:txBody>
      </p:sp>
      <p:sp>
        <p:nvSpPr>
          <p:cNvPr id="3" name="Text 1"/>
          <p:cNvSpPr/>
          <p:nvPr/>
        </p:nvSpPr>
        <p:spPr>
          <a:xfrm>
            <a:off x="411480" y="493776"/>
            <a:ext cx="11430000" cy="384048"/>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Status against Lewis's &amp; Bernhard's framing  </a:t>
            </a:r>
            <a:r>
              <a:rPr lang="en-US" sz="2100" dirty="0">
                <a:solidFill>
                  <a:srgbClr val="1C3D5A"/>
                </a:solidFill>
                <a:latin typeface="Georgia" pitchFamily="34" charset="0"/>
                <a:ea typeface="Georgia" pitchFamily="34" charset="-122"/>
                <a:cs typeface="Georgia" pitchFamily="34" charset="-120"/>
              </a:rPr>
              <a:t>— implemented · in progress · remaining</a:t>
            </a:r>
            <a:endParaRPr lang="en-US" sz="2100" dirty="0"/>
          </a:p>
        </p:txBody>
      </p:sp>
      <p:sp>
        <p:nvSpPr>
          <p:cNvPr id="4" name="Text 2"/>
          <p:cNvSpPr/>
          <p:nvPr/>
        </p:nvSpPr>
        <p:spPr>
          <a:xfrm>
            <a:off x="411480" y="886968"/>
            <a:ext cx="11430000" cy="365760"/>
          </a:xfrm>
          <a:prstGeom prst="rect">
            <a:avLst/>
          </a:prstGeom>
          <a:noFill/>
          <a:ln/>
        </p:spPr>
        <p:txBody>
          <a:bodyPr wrap="square" rtlCol="0" anchor="t"/>
          <a:lstStyle/>
          <a:p>
            <a:pPr marL="0" indent="0">
              <a:buNone/>
            </a:pPr>
            <a:r>
              <a:rPr lang="en-US" sz="950" b="1" dirty="0">
                <a:solidFill>
                  <a:srgbClr val="12233A"/>
                </a:solidFill>
                <a:latin typeface="Calibri" pitchFamily="34" charset="0"/>
                <a:ea typeface="Calibri" pitchFamily="34" charset="-122"/>
                <a:cs typeface="Calibri" pitchFamily="34" charset="-120"/>
              </a:rPr>
              <a:t>The λ-sweep is the working general method. </a:t>
            </a:r>
            <a:r>
              <a:rPr lang="en-US" sz="950" dirty="0">
                <a:solidFill>
                  <a:srgbClr val="5B6B7B"/>
                </a:solidFill>
                <a:latin typeface="Calibri" pitchFamily="34" charset="0"/>
                <a:ea typeface="Calibri" pitchFamily="34" charset="-122"/>
                <a:cs typeface="Calibri" pitchFamily="34" charset="-120"/>
              </a:rPr>
              <a:t>A proposed A→D ladder would cap catchments + set a min threshold to sidestep it — but the descriptives show catchments vary so widely (p10–p90 several-fold; many pharmacies at zero) that realistic bounds are hard to set, and the ladder may not actually simplify the problem.</a:t>
            </a:r>
            <a:endParaRPr lang="en-US" sz="950" dirty="0"/>
          </a:p>
        </p:txBody>
      </p:sp>
      <p:sp>
        <p:nvSpPr>
          <p:cNvPr id="5" name="Shape 3"/>
          <p:cNvSpPr/>
          <p:nvPr/>
        </p:nvSpPr>
        <p:spPr>
          <a:xfrm>
            <a:off x="365760" y="1298448"/>
            <a:ext cx="3721608" cy="4526280"/>
          </a:xfrm>
          <a:prstGeom prst="roundRect">
            <a:avLst>
              <a:gd name="adj" fmla="val 1229"/>
            </a:avLst>
          </a:prstGeom>
          <a:solidFill>
            <a:srgbClr val="F0F6F2"/>
          </a:solidFill>
          <a:ln w="12700">
            <a:solidFill>
              <a:srgbClr val="1E7A52"/>
            </a:solidFill>
            <a:prstDash val="solid"/>
          </a:ln>
        </p:spPr>
      </p:sp>
      <p:sp>
        <p:nvSpPr>
          <p:cNvPr id="6" name="Text 4"/>
          <p:cNvSpPr/>
          <p:nvPr/>
        </p:nvSpPr>
        <p:spPr>
          <a:xfrm>
            <a:off x="530352" y="1371600"/>
            <a:ext cx="3383280"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Implemented ✓</a:t>
            </a:r>
            <a:endParaRPr lang="en-US" sz="1300" dirty="0"/>
          </a:p>
        </p:txBody>
      </p:sp>
      <p:sp>
        <p:nvSpPr>
          <p:cNvPr id="7" name="Text 5"/>
          <p:cNvSpPr/>
          <p:nvPr/>
        </p:nvSpPr>
        <p:spPr>
          <a:xfrm>
            <a:off x="548640" y="1700784"/>
            <a:ext cx="3401568" cy="4069080"/>
          </a:xfrm>
          <a:prstGeom prst="rect">
            <a:avLst/>
          </a:prstGeom>
          <a:noFill/>
          <a:ln/>
        </p:spPr>
        <p:txBody>
          <a:bodyPr wrap="square" rtlCol="0" anchor="t"/>
          <a:lstStyle/>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Tabula-rasa LP allocation + λ-sweep → Pareto curve of #facilities vs travel cost (Option D)</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Lewis's 3 cases live: S1 (same #, ↓travel) · S2 (same travel, ↓#) · S3 full frontier</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All 6 of Lewis's 22-May descriptive indicators, per country (deck pages 5–8)</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Catchments now by ROAD-network travel time (not Euclidean); #empty + smallest non-zero catchment reported</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Cap-ladder rungs prototyped (cost-function-free, exploratory): S1-A/B · S2-A/B — run for NL</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Recalculation done: candidates = ≥50-pop cells ∪ pharmacy cells · clients = FULL population · adapted logit (25/10) — all 42 areas re-swept, incl. Poland + its 7 NUTS-1</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Aggregated frontier over all 41 disjoint areas (exact by separability) — new page after the region pages</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LINEAR &amp; LOGISTIC travel costs both run &amp; compared</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Soft coverage (Σy ≤ 1, unserved priced at BIG on BOTH sides): FRM, ITG, SE2, DK now bracket S1 &amp; S2; baseline coverage-consistent</a:t>
            </a:r>
            <a:endParaRPr lang="en-US" sz="900" dirty="0"/>
          </a:p>
        </p:txBody>
      </p:sp>
      <p:sp>
        <p:nvSpPr>
          <p:cNvPr id="8" name="Shape 6"/>
          <p:cNvSpPr/>
          <p:nvPr/>
        </p:nvSpPr>
        <p:spPr>
          <a:xfrm>
            <a:off x="4224528" y="1298448"/>
            <a:ext cx="3721608" cy="4526280"/>
          </a:xfrm>
          <a:prstGeom prst="roundRect">
            <a:avLst>
              <a:gd name="adj" fmla="val 1229"/>
            </a:avLst>
          </a:prstGeom>
          <a:solidFill>
            <a:srgbClr val="FBF5EA"/>
          </a:solidFill>
          <a:ln w="12700">
            <a:solidFill>
              <a:srgbClr val="B9791C"/>
            </a:solidFill>
            <a:prstDash val="solid"/>
          </a:ln>
        </p:spPr>
      </p:sp>
      <p:sp>
        <p:nvSpPr>
          <p:cNvPr id="9" name="Text 7"/>
          <p:cNvSpPr/>
          <p:nvPr/>
        </p:nvSpPr>
        <p:spPr>
          <a:xfrm>
            <a:off x="4389120" y="1371600"/>
            <a:ext cx="3383280" cy="274320"/>
          </a:xfrm>
          <a:prstGeom prst="rect">
            <a:avLst/>
          </a:prstGeom>
          <a:noFill/>
          <a:ln/>
        </p:spPr>
        <p:txBody>
          <a:bodyPr wrap="square" rtlCol="0" anchor="ctr"/>
          <a:lstStyle/>
          <a:p>
            <a:pPr marL="0" indent="0">
              <a:buNone/>
            </a:pPr>
            <a:r>
              <a:rPr lang="en-US" sz="1300" b="1" dirty="0">
                <a:solidFill>
                  <a:srgbClr val="B9791C"/>
                </a:solidFill>
                <a:latin typeface="Calibri" pitchFamily="34" charset="0"/>
                <a:ea typeface="Calibri" pitchFamily="34" charset="-122"/>
                <a:cs typeface="Calibri" pitchFamily="34" charset="-120"/>
              </a:rPr>
              <a:t>In progress ◐</a:t>
            </a:r>
            <a:endParaRPr lang="en-US" sz="1300" dirty="0"/>
          </a:p>
        </p:txBody>
      </p:sp>
      <p:sp>
        <p:nvSpPr>
          <p:cNvPr id="10" name="Text 8"/>
          <p:cNvSpPr/>
          <p:nvPr/>
        </p:nvSpPr>
        <p:spPr>
          <a:xfrm>
            <a:off x="4407408" y="1700784"/>
            <a:ext cx="3401568" cy="4069080"/>
          </a:xfrm>
          <a:prstGeom prst="rect">
            <a:avLst/>
          </a:prstGeom>
          <a:noFill/>
          <a:ln/>
        </p:spPr>
        <p:txBody>
          <a:bodyPr wrap="square" rtlCol="0" anchor="t"/>
          <a:lstStyle/>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Extend Belgium &amp; FRI LINEAR sweeps past w = 0.2 (LP time limit) — the last gap: aggregate LINEAR S2</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A single 2-D status-quo→frontier distance metric (coverage-honest; stranded priced at BIG)</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Calculating better estimations for S1 and S2 (exact soft-coverage p-median MIP at p = baseline)</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Exploring (not committed): max-cap + min-threshold rungs — but the descriptives suggest realistic bounds are hard to set, so this may not pay off</a:t>
            </a:r>
            <a:endParaRPr lang="en-US" sz="900" dirty="0"/>
          </a:p>
        </p:txBody>
      </p:sp>
      <p:sp>
        <p:nvSpPr>
          <p:cNvPr id="11" name="Shape 9"/>
          <p:cNvSpPr/>
          <p:nvPr/>
        </p:nvSpPr>
        <p:spPr>
          <a:xfrm>
            <a:off x="8083296" y="1298448"/>
            <a:ext cx="3721608" cy="4526280"/>
          </a:xfrm>
          <a:prstGeom prst="roundRect">
            <a:avLst>
              <a:gd name="adj" fmla="val 1229"/>
            </a:avLst>
          </a:prstGeom>
          <a:solidFill>
            <a:srgbClr val="F2F5F8"/>
          </a:solidFill>
          <a:ln w="12700">
            <a:solidFill>
              <a:srgbClr val="5B6B7B"/>
            </a:solidFill>
            <a:prstDash val="solid"/>
          </a:ln>
        </p:spPr>
      </p:sp>
      <p:sp>
        <p:nvSpPr>
          <p:cNvPr id="12" name="Text 10"/>
          <p:cNvSpPr/>
          <p:nvPr/>
        </p:nvSpPr>
        <p:spPr>
          <a:xfrm>
            <a:off x="8247888" y="1371600"/>
            <a:ext cx="3383280" cy="274320"/>
          </a:xfrm>
          <a:prstGeom prst="rect">
            <a:avLst/>
          </a:prstGeom>
          <a:noFill/>
          <a:ln/>
        </p:spPr>
        <p:txBody>
          <a:bodyPr wrap="square" rtlCol="0" anchor="ctr"/>
          <a:lstStyle/>
          <a:p>
            <a:pPr marL="0" indent="0">
              <a:buNone/>
            </a:pPr>
            <a:r>
              <a:rPr lang="en-US" sz="1300" b="1" dirty="0">
                <a:solidFill>
                  <a:srgbClr val="5B6B7B"/>
                </a:solidFill>
                <a:latin typeface="Calibri" pitchFamily="34" charset="0"/>
                <a:ea typeface="Calibri" pitchFamily="34" charset="-122"/>
                <a:cs typeface="Calibri" pitchFamily="34" charset="-120"/>
              </a:rPr>
              <a:t>Remaining ○</a:t>
            </a:r>
            <a:endParaRPr lang="en-US" sz="1300" dirty="0"/>
          </a:p>
        </p:txBody>
      </p:sp>
      <p:sp>
        <p:nvSpPr>
          <p:cNvPr id="13" name="Text 11"/>
          <p:cNvSpPr/>
          <p:nvPr/>
        </p:nvSpPr>
        <p:spPr>
          <a:xfrm>
            <a:off x="8266176" y="1700784"/>
            <a:ext cx="3401568" cy="4069080"/>
          </a:xfrm>
          <a:prstGeom prst="rect">
            <a:avLst/>
          </a:prstGeom>
          <a:noFill/>
          <a:ln/>
        </p:spPr>
        <p:txBody>
          <a:bodyPr wrap="square" rtlCol="0" anchor="t"/>
          <a:lstStyle/>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Urban/non-urban flag → model only non-urban, hold urban fixed (options B/C)</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Settlement candidate set: verify existing ⊂ settlements, then restrict locations</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Flat-then-linear travel-cost variant; sweep logit-parameter sensitivity</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Calibrate real pharmacy a,b (schools: 99 699 + 3 277.5x); ?fixed cost vs &lt;6-y care</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Communicate λ intuitively (person-minutes / value-per-user)</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Cost-function-free S3: balance #/capita vs mean travel, widen beyond the A–B segment</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Counterfactuals: −10% pop · replace a known X% · choose which X to close (hard)</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Pharmacist-based cap (Ana); caps/thresholds pooled across countries, reported per-country</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Border-cases</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Corr catchment &amp; travel costs</a:t>
            </a:r>
            <a:endParaRPr lang="en-US" sz="900" dirty="0"/>
          </a:p>
        </p:txBody>
      </p:sp>
      <p:sp>
        <p:nvSpPr>
          <p:cNvPr id="14" name="Text 12"/>
          <p:cNvSpPr/>
          <p:nvPr/>
        </p:nvSpPr>
        <p:spPr>
          <a:xfrm>
            <a:off x="411480" y="5943600"/>
            <a:ext cx="11430000" cy="640080"/>
          </a:xfrm>
          <a:prstGeom prst="rect">
            <a:avLst/>
          </a:prstGeom>
          <a:noFill/>
          <a:ln/>
        </p:spPr>
        <p:txBody>
          <a:bodyPr wrap="square" rtlCol="0" anchor="t"/>
          <a:lstStyle/>
          <a:p>
            <a:pPr marL="0" indent="0">
              <a:buNone/>
            </a:pPr>
            <a:r>
              <a:rPr lang="en-US" sz="1000" b="1" i="1" dirty="0">
                <a:solidFill>
                  <a:srgbClr val="1C3D5A"/>
                </a:solidFill>
                <a:latin typeface="Calibri" pitchFamily="34" charset="0"/>
                <a:ea typeface="Calibri" pitchFamily="34" charset="-122"/>
                <a:cs typeface="Calibri" pitchFamily="34" charset="-120"/>
              </a:rPr>
              <a:t>Open questions for the group:  </a:t>
            </a:r>
            <a:r>
              <a:rPr lang="en-US" sz="1000" i="1" dirty="0">
                <a:solidFill>
                  <a:srgbClr val="5B6B7B"/>
                </a:solidFill>
                <a:latin typeface="Calibri" pitchFamily="34" charset="0"/>
                <a:ea typeface="Calibri" pitchFamily="34" charset="-122"/>
                <a:cs typeface="Calibri" pitchFamily="34" charset="-120"/>
              </a:rPr>
              <a:t>is the cap/threshold ladder worth pursuing given how widely catchments vary?  ·  logistic vs linear travel cost (the equity-weighting choice)?  ·  best way to communicate λ?</a:t>
            </a:r>
            <a:endParaRPr lang="en-US" sz="1000" dirty="0"/>
          </a:p>
        </p:txBody>
      </p:sp>
    </p:spTree>
    <p:extLst>
      <p:ext uri="{BB962C8B-B14F-4D97-AF65-F5344CB8AC3E}">
        <p14:creationId xmlns:p14="http://schemas.microsoft.com/office/powerpoint/2010/main" val="186126665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TRAVEL-COST FUNCTION</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Logistic c(t)  </a:t>
            </a:r>
            <a:r>
              <a:rPr lang="en-US" sz="2200" dirty="0">
                <a:solidFill>
                  <a:srgbClr val="1C3D5A"/>
                </a:solidFill>
                <a:latin typeface="Georgia" pitchFamily="34" charset="0"/>
                <a:ea typeface="Georgia" pitchFamily="34" charset="-122"/>
                <a:cs typeface="Georgia" pitchFamily="34" charset="-120"/>
              </a:rPr>
              <a:t>— the adopted Lewis-tuned curve vs the previous one</a:t>
            </a:r>
            <a:endParaRPr lang="en-US" sz="2200" dirty="0"/>
          </a:p>
        </p:txBody>
      </p:sp>
      <p:pic>
        <p:nvPicPr>
          <p:cNvPr id="4" name="Image 0" descr="E:\prj\JRC\NetworkModel_EU\doc\charts\logistic_compare.png"/>
          <p:cNvPicPr>
            <a:picLocks noChangeAspect="1"/>
          </p:cNvPicPr>
          <p:nvPr/>
        </p:nvPicPr>
        <p:blipFill>
          <a:blip r:embed="rId3"/>
          <a:stretch>
            <a:fillRect/>
          </a:stretch>
        </p:blipFill>
        <p:spPr>
          <a:xfrm>
            <a:off x="320040" y="1417320"/>
            <a:ext cx="7132320" cy="3849624"/>
          </a:xfrm>
          <a:prstGeom prst="rect">
            <a:avLst/>
          </a:prstGeom>
        </p:spPr>
      </p:pic>
      <p:sp>
        <p:nvSpPr>
          <p:cNvPr id="5" name="Text 2"/>
          <p:cNvSpPr/>
          <p:nvPr/>
        </p:nvSpPr>
        <p:spPr>
          <a:xfrm>
            <a:off x="7680960" y="1463040"/>
            <a:ext cx="4206240" cy="256032"/>
          </a:xfrm>
          <a:prstGeom prst="rect">
            <a:avLst/>
          </a:prstGeom>
          <a:noFill/>
          <a:ln/>
        </p:spPr>
        <p:txBody>
          <a:bodyPr wrap="square" rtlCol="0" anchor="ctr"/>
          <a:lstStyle/>
          <a:p>
            <a:pPr marL="0" indent="0">
              <a:buNone/>
            </a:pPr>
            <a:r>
              <a:rPr lang="en-US" sz="1200" b="1" dirty="0">
                <a:solidFill>
                  <a:srgbClr val="185FA5"/>
                </a:solidFill>
                <a:latin typeface="Calibri" pitchFamily="34" charset="0"/>
                <a:ea typeface="Calibri" pitchFamily="34" charset="-122"/>
                <a:cs typeface="Calibri" pitchFamily="34" charset="-120"/>
              </a:rPr>
              <a:t>previous</a:t>
            </a:r>
            <a:r>
              <a:rPr lang="en-US" sz="1200" dirty="0">
                <a:solidFill>
                  <a:srgbClr val="5B6B7B"/>
                </a:solidFill>
                <a:latin typeface="Calibri" pitchFamily="34" charset="0"/>
                <a:ea typeface="Calibri" pitchFamily="34" charset="-122"/>
                <a:cs typeface="Calibri" pitchFamily="34" charset="-120"/>
              </a:rPr>
              <a:t>   midpoint 30 · scale 15</a:t>
            </a:r>
            <a:endParaRPr lang="en-US" sz="1200" dirty="0"/>
          </a:p>
        </p:txBody>
      </p:sp>
      <p:sp>
        <p:nvSpPr>
          <p:cNvPr id="6" name="Text 3"/>
          <p:cNvSpPr/>
          <p:nvPr/>
        </p:nvSpPr>
        <p:spPr>
          <a:xfrm>
            <a:off x="7680960" y="1755648"/>
            <a:ext cx="4206240" cy="256032"/>
          </a:xfrm>
          <a:prstGeom prst="rect">
            <a:avLst/>
          </a:prstGeom>
          <a:noFill/>
          <a:ln/>
        </p:spPr>
        <p:txBody>
          <a:bodyPr wrap="square" rtlCol="0" anchor="ctr"/>
          <a:lstStyle/>
          <a:p>
            <a:pPr marL="0" indent="0">
              <a:buNone/>
            </a:pPr>
            <a:r>
              <a:rPr lang="en-US" sz="1200" b="1" dirty="0">
                <a:solidFill>
                  <a:srgbClr val="1D9E75"/>
                </a:solidFill>
                <a:latin typeface="Calibri" pitchFamily="34" charset="0"/>
                <a:ea typeface="Calibri" pitchFamily="34" charset="-122"/>
                <a:cs typeface="Calibri" pitchFamily="34" charset="-120"/>
              </a:rPr>
              <a:t>adopted</a:t>
            </a:r>
            <a:r>
              <a:rPr lang="en-US" sz="1200" dirty="0">
                <a:solidFill>
                  <a:srgbClr val="5B6B7B"/>
                </a:solidFill>
                <a:latin typeface="Calibri" pitchFamily="34" charset="0"/>
                <a:ea typeface="Calibri" pitchFamily="34" charset="-122"/>
                <a:cs typeface="Calibri" pitchFamily="34" charset="-120"/>
              </a:rPr>
              <a:t>   midpoint 25 · scale 10</a:t>
            </a:r>
            <a:endParaRPr lang="en-US" sz="12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7680960" y="2212848"/>
          <a:ext cx="4160520" cy="914400"/>
        </p:xfrm>
        <a:graphic>
          <a:graphicData uri="http://schemas.openxmlformats.org/drawingml/2006/table">
            <a:tbl>
              <a:tblPr/>
              <a:tblGrid>
                <a:gridCol w="132588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tblGrid>
              <a:tr h="274320">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t (min)</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previous</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adopted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0.12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0.08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0.16</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0.12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0.27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0.27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0.42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0.50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0.50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0.62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5"/>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0.73</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0.88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0.88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0.97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7"/>
                  </a:ext>
                </a:extLst>
              </a:tr>
            </a:tbl>
          </a:graphicData>
        </a:graphic>
      </p:graphicFrame>
      <p:sp>
        <p:nvSpPr>
          <p:cNvPr id="8" name="Text 4"/>
          <p:cNvSpPr/>
          <p:nvPr/>
        </p:nvSpPr>
        <p:spPr>
          <a:xfrm>
            <a:off x="7680960" y="4297680"/>
            <a:ext cx="4206240" cy="960120"/>
          </a:xfrm>
          <a:prstGeom prst="rect">
            <a:avLst/>
          </a:prstGeom>
          <a:noFill/>
          <a:ln/>
        </p:spPr>
        <p:txBody>
          <a:bodyPr wrap="square" rtlCol="0" anchor="t"/>
          <a:lstStyle/>
          <a:p>
            <a:pPr marL="0" indent="0">
              <a:buNone/>
            </a:pPr>
            <a:r>
              <a:rPr lang="en-US" sz="1000" i="1" dirty="0">
                <a:solidFill>
                  <a:srgbClr val="12233A"/>
                </a:solidFill>
                <a:latin typeface="Calibri" pitchFamily="34" charset="0"/>
                <a:ea typeface="Calibri" pitchFamily="34" charset="-122"/>
                <a:cs typeface="Calibri" pitchFamily="34" charset="-120"/>
              </a:rPr>
              <a:t>Both cross at ≈15 min (0.27). </a:t>
            </a:r>
            <a:r>
              <a:rPr lang="en-US" sz="1000" i="1" dirty="0">
                <a:solidFill>
                  <a:srgbClr val="5B6B7B"/>
                </a:solidFill>
                <a:latin typeface="Calibri" pitchFamily="34" charset="0"/>
                <a:ea typeface="Calibri" pitchFamily="34" charset="-122"/>
                <a:cs typeface="Calibri" pitchFamily="34" charset="-120"/>
              </a:rPr>
              <a:t>The adopted curve is lower below ~10 min (ignores minor relocations) and saturates by ~45 min (caps remote weight) — Lewis's 22-May ask. Applied in the recalculation (settings.jl defaults; previous variant via LOGISTIC_MIDPOINT=30 LOGISTIC_SCALE=15).</a:t>
            </a:r>
            <a:endParaRPr lang="en-US" sz="1000" dirty="0"/>
          </a:p>
        </p:txBody>
      </p:sp>
      <p:sp>
        <p:nvSpPr>
          <p:cNvPr id="9" name="Text 5"/>
          <p:cNvSpPr/>
          <p:nvPr/>
        </p:nvSpPr>
        <p:spPr>
          <a:xfrm>
            <a:off x="411480" y="6446520"/>
            <a:ext cx="11430000"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c(t) is applied to travel time in minutes (raw OD seconds ÷ 60); LINEAR uses c(t)=t. settings.jl:82</a:t>
            </a:r>
            <a:endParaRPr lang="en-US" sz="850" dirty="0"/>
          </a:p>
        </p:txBody>
      </p:sp>
    </p:spTree>
    <p:extLst>
      <p:ext uri="{BB962C8B-B14F-4D97-AF65-F5344CB8AC3E}">
        <p14:creationId xmlns:p14="http://schemas.microsoft.com/office/powerpoint/2010/main" val="154101464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6184760-D065-63FC-E013-BFAA39485B33}"/>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Baselines and their frontier projections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A8BB54BC-D1CE-7943-3142-72550DD10061}"/>
              </a:ext>
            </a:extLst>
          </p:cNvPr>
          <p:cNvPicPr>
            <a:picLocks/>
          </p:cNvPicPr>
          <p:nvPr/>
        </p:nvPicPr>
        <p:blipFill>
          <a:blip r:embed="rId2"/>
          <a:stretch>
            <a:fillRect/>
          </a:stretch>
        </p:blipFill>
        <p:spPr>
          <a:xfrm>
            <a:off x="1948053" y="889000"/>
            <a:ext cx="8295894" cy="5715000"/>
          </a:xfrm>
          <a:prstGeom prst="rect">
            <a:avLst/>
          </a:prstGeom>
        </p:spPr>
      </p:pic>
    </p:spTree>
    <p:extLst>
      <p:ext uri="{BB962C8B-B14F-4D97-AF65-F5344CB8AC3E}">
        <p14:creationId xmlns:p14="http://schemas.microsoft.com/office/powerpoint/2010/main" val="232655612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5657EF4-0331-E146-E951-A9354366530D}"/>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Baselines and their frontier projections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6AB89B8B-9CDB-0296-88EE-F429795DC2A2}"/>
              </a:ext>
            </a:extLst>
          </p:cNvPr>
          <p:cNvPicPr>
            <a:picLocks/>
          </p:cNvPicPr>
          <p:nvPr/>
        </p:nvPicPr>
        <p:blipFill>
          <a:blip r:embed="rId2"/>
          <a:stretch>
            <a:fillRect/>
          </a:stretch>
        </p:blipFill>
        <p:spPr>
          <a:xfrm>
            <a:off x="1948053" y="889000"/>
            <a:ext cx="8295894" cy="5715000"/>
          </a:xfrm>
          <a:prstGeom prst="rect">
            <a:avLst/>
          </a:prstGeom>
        </p:spPr>
      </p:pic>
    </p:spTree>
    <p:extLst>
      <p:ext uri="{BB962C8B-B14F-4D97-AF65-F5344CB8AC3E}">
        <p14:creationId xmlns:p14="http://schemas.microsoft.com/office/powerpoint/2010/main" val="366814639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45BCA48-3709-5D54-577E-DA690AB00D94}"/>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Lambda at the balanced-improvement crossing, ranked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79D820D3-213E-C4F3-6B15-45D893A4AD6E}"/>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11943148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F349E2F-94E2-FDB9-04E4-EF74C1CE2458}"/>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Lambda at the balanced-improvement crossing, ranked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515B3B62-B45C-E676-AE06-0FAE4C694806}"/>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152493973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643EB3E-1D1F-E345-EE2E-05BA9FB14398}"/>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Improvement-potential rectangle area (raw), ranked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A9DEE0D1-7073-077C-598C-B61E9BD66DC4}"/>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35531929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EEFBE2F-32BF-C956-DFD7-17BB287980EC}"/>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Improvement-potential rectangle area (raw), ranked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517BFC3B-E233-2269-7463-3D1BC63E89E5}"/>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278992237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EDEE01C-85B1-9480-9B42-10144CDC7639}"/>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 potential relative to baseline facility x travel cost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2C653BE1-E614-3648-3AB2-68114A485090}"/>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30777779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C28DA1D-3BDF-E43B-39AD-7D92D3CD3227}"/>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 potential relative to baseline facility x travel cost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068713FF-74F5-089B-F22B-970BBE868761}"/>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351502842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13392</Words>
  <Application>Microsoft Office PowerPoint</Application>
  <PresentationFormat>Widescreen</PresentationFormat>
  <Paragraphs>3426</Paragraphs>
  <Slides>69</Slides>
  <Notes>60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69</vt:i4>
      </vt:variant>
    </vt:vector>
  </HeadingPairs>
  <TitlesOfParts>
    <vt:vector size="74" baseType="lpstr">
      <vt:lpstr>Arial</vt:lpstr>
      <vt:lpstr>Calibri</vt:lpstr>
      <vt:lpstr>Cambria Math</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lambda_sweep.jl — UFLP-LP for pharmacy locations</dc:title>
  <dc:subject>PptxGenJS Presentation</dc:subject>
  <dc:creator>Servaas Storm / Object Vision</dc:creator>
  <cp:lastModifiedBy>Maarten Hilferink</cp:lastModifiedBy>
  <cp:revision>4</cp:revision>
  <dcterms:created xsi:type="dcterms:W3CDTF">2026-06-01T08:24:25Z</dcterms:created>
  <dcterms:modified xsi:type="dcterms:W3CDTF">2026-07-22T09:57:17Z</dcterms:modified>
</cp:coreProperties>
</file>