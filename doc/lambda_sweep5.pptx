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3"/>
  </p:notesMasterIdLst>
  <p:sldIdLst>
    <p:sldId id="256" r:id="rId2"/>
    <p:sldId id="260" r:id="rId3"/>
    <p:sldId id="261" r:id="rId4"/>
    <p:sldId id="262" r:id="rId5"/>
    <p:sldId id="263" r:id="rId6"/>
    <p:sldId id="257" r:id="rId7"/>
    <p:sldId id="264" r:id="rId8"/>
    <p:sldId id="258" r:id="rId9"/>
    <p:sldId id="259" r:id="rId10"/>
    <p:sldId id="265" r:id="rId11"/>
    <p:sldId id="266" r:id="rId12"/>
    <p:sldId id="267" r:id="rId13"/>
    <p:sldId id="268" r:id="rId14"/>
    <p:sldId id="269" r:id="rId15"/>
    <p:sldId id="270" r:id="rId16"/>
    <p:sldId id="318"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6" r:id="rId63"/>
    <p:sldId id="317" r:id="rId64"/>
    <p:sldId id="319" r:id="rId65"/>
    <p:sldId id="320" r:id="rId66"/>
    <p:sldId id="321" r:id="rId67"/>
    <p:sldId id="322" r:id="rId68"/>
    <p:sldId id="323" r:id="rId69"/>
    <p:sldId id="324" r:id="rId70"/>
    <p:sldId id="325" r:id="rId71"/>
    <p:sldId id="326" r:id="rId7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1594665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42351823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4323422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41225281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7778489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40581127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1406413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25166068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2881002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5719109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6226892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42681772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32103664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4115842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412736951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6003233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37677335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42301053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336539160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338140639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9486953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9731414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50411127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248654477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6591900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93521644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2183063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40719049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24776947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170258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86687183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8353893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216983030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34675440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92444610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344702768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18874772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25123417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5586341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62234688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16701607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56893130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35511486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49533101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327215877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9188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404981583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423805800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397166827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326456807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52723159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350757329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37028804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33553453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34023290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31912024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24799783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3793714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00609343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3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3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3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3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3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4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4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4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5.png"/></Relationships>
</file>

<file path=ppt/slides/_rels/slide4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4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4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4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3.png"/></Relationships>
</file>

<file path=ppt/slides/_rels/slide4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5.png"/></Relationships>
</file>

<file path=ppt/slides/_rels/slide4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4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69.png"/></Relationships>
</file>

<file path=ppt/slides/_rels/slide5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1.png"/></Relationships>
</file>

<file path=ppt/slides/_rels/slide5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3.png"/></Relationships>
</file>

<file path=ppt/slides/_rels/slide52.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5.png"/></Relationships>
</file>

<file path=ppt/slides/_rels/slide53.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77.png"/></Relationships>
</file>

<file path=ppt/slides/_rels/slide54.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79.png"/></Relationships>
</file>

<file path=ppt/slides/_rels/slide55.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1.png"/></Relationships>
</file>

<file path=ppt/slides/_rels/slide56.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3.png"/></Relationships>
</file>

<file path=ppt/slides/_rels/slide57.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85.png"/></Relationships>
</file>

<file path=ppt/slides/_rels/slide58.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548640" y="1828800"/>
            <a:ext cx="91440" cy="3200400"/>
          </a:xfrm>
          <a:prstGeom prst="rect">
            <a:avLst/>
          </a:prstGeom>
          <a:solidFill>
            <a:srgbClr val="F2B632"/>
          </a:solidFill>
          <a:ln/>
        </p:spPr>
        <p:txBody>
          <a:bodyPr/>
          <a:lstStyle/>
          <a:p>
            <a:endParaRPr lang="en-GB"/>
          </a:p>
        </p:txBody>
      </p:sp>
      <p:sp>
        <p:nvSpPr>
          <p:cNvPr id="3" name="Text 1"/>
          <p:cNvSpPr/>
          <p:nvPr/>
        </p:nvSpPr>
        <p:spPr>
          <a:xfrm>
            <a:off x="914400" y="1828800"/>
            <a:ext cx="10515600" cy="1097280"/>
          </a:xfrm>
          <a:prstGeom prst="rect">
            <a:avLst/>
          </a:prstGeom>
          <a:noFill/>
          <a:ln/>
        </p:spPr>
        <p:txBody>
          <a:bodyPr wrap="square" lIns="0" tIns="0" rIns="0" bIns="0" rtlCol="0" anchor="ctr"/>
          <a:lstStyle/>
          <a:p>
            <a:pPr marL="0" indent="0">
              <a:buNone/>
            </a:pPr>
            <a:r>
              <a:rPr lang="en-US" sz="4400" b="1" dirty="0">
                <a:solidFill>
                  <a:srgbClr val="FFFFFF"/>
                </a:solidFill>
                <a:latin typeface="Georgia" pitchFamily="34" charset="0"/>
                <a:ea typeface="Georgia" pitchFamily="34" charset="-122"/>
                <a:cs typeface="Georgia" pitchFamily="34" charset="-120"/>
              </a:rPr>
              <a:t>λ-sweep over an LP relaxation</a:t>
            </a:r>
            <a:endParaRPr lang="en-US" sz="4400" dirty="0"/>
          </a:p>
        </p:txBody>
      </p:sp>
      <p:sp>
        <p:nvSpPr>
          <p:cNvPr id="4" name="Text 2"/>
          <p:cNvSpPr/>
          <p:nvPr/>
        </p:nvSpPr>
        <p:spPr>
          <a:xfrm>
            <a:off x="914400" y="3017520"/>
            <a:ext cx="10515600" cy="731520"/>
          </a:xfrm>
          <a:prstGeom prst="rect">
            <a:avLst/>
          </a:prstGeom>
          <a:noFill/>
          <a:ln/>
        </p:spPr>
        <p:txBody>
          <a:bodyPr wrap="square" lIns="0" tIns="0" rIns="0" bIns="0" rtlCol="0" anchor="ctr"/>
          <a:lstStyle/>
          <a:p>
            <a:pPr marL="0" indent="0">
              <a:buNone/>
            </a:pPr>
            <a:r>
              <a:rPr lang="en-US" sz="2200" i="1" dirty="0">
                <a:solidFill>
                  <a:srgbClr val="CADCFC"/>
                </a:solidFill>
                <a:latin typeface="Calibri" pitchFamily="34" charset="0"/>
                <a:ea typeface="Calibri" pitchFamily="34" charset="-122"/>
                <a:cs typeface="Calibri" pitchFamily="34" charset="-120"/>
              </a:rPr>
              <a:t>Pareto frontiers, integrality gaps, and what the Netherlands sweep tells us</a:t>
            </a:r>
            <a:endParaRPr lang="en-US" sz="2200" dirty="0"/>
          </a:p>
        </p:txBody>
      </p:sp>
      <p:sp>
        <p:nvSpPr>
          <p:cNvPr id="5" name="Text 3"/>
          <p:cNvSpPr/>
          <p:nvPr/>
        </p:nvSpPr>
        <p:spPr>
          <a:xfrm>
            <a:off x="914400" y="6035040"/>
            <a:ext cx="10515600" cy="365760"/>
          </a:xfrm>
          <a:prstGeom prst="rect">
            <a:avLst/>
          </a:prstGeom>
          <a:noFill/>
          <a:ln/>
        </p:spPr>
        <p:txBody>
          <a:bodyPr wrap="square" lIns="0" tIns="0" rIns="0" bIns="0" rtlCol="0" anchor="ctr"/>
          <a:lstStyle/>
          <a:p>
            <a:pPr marL="0" indent="0">
              <a:buNone/>
            </a:pPr>
            <a:r>
              <a:rPr lang="en-US" sz="1200" dirty="0">
                <a:solidFill>
                  <a:srgbClr val="8CA3C9"/>
                </a:solidFill>
                <a:latin typeface="Calibri" pitchFamily="34" charset="0"/>
                <a:ea typeface="Calibri" pitchFamily="34" charset="-122"/>
                <a:cs typeface="Calibri" pitchFamily="34" charset="-120"/>
              </a:rPr>
              <a:t>lambda_sweep.jl  ·  NetworkModel_EU / ServiceAccess  ·  May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Tabula-rasa LP allocation + λ-sweep over the road-network OD; how to read the #facilities ↔ travel-cost frontier.</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Descriptive metrics per country &amp; key NUTS1 — residents per pharmacy and catchment-size distributions, by road.</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pharmacies) per country and NUTS1 — what the frontiers show so far.</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Logistic vs linear, and the adapted logit with kinks at ~5 &amp; ~45 min (following page).</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 but catchments vary so widely that realistic min/max bounds are hard to set. Pursue or drop?</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Known issues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Baseline consistency (FRM / ITG / SE2; clients with no reachable pharmacy); priorities and next steps.</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(logistic vs linear / adapted logit)  ·  whether the cap–threshold ladder is worth pursuing  ·  how to communicate λ.</a:t>
            </a:r>
            <a:endParaRPr lang="en-US" sz="1000" dirty="0"/>
          </a:p>
        </p:txBody>
      </p:sp>
    </p:spTree>
    <p:extLst>
      <p:ext uri="{BB962C8B-B14F-4D97-AF65-F5344CB8AC3E}">
        <p14:creationId xmlns:p14="http://schemas.microsoft.com/office/powerpoint/2010/main" val="12714592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pharmacy</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facility cost a+b·q reduces to λ·#open: the b·q part is ~constant while (nearly) all demand is served, so only the fixed cost a matters. Under soft coverage it cancels only approximately — the unserved share carries no b·q.</a:t>
            </a:r>
            <a:endParaRPr lang="en-US" sz="1050" dirty="0"/>
          </a:p>
        </p:txBody>
      </p:sp>
      <p:sp>
        <p:nvSpPr>
          <p:cNvPr id="13" name="Text 11"/>
          <p:cNvSpPr/>
          <p:nvPr/>
        </p:nvSpPr>
        <p:spPr>
          <a:xfrm>
            <a:off x="6812280" y="2962656"/>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209544"/>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and it can bind at S2-level facility counts. Clients still unreachable within t_max are priced at BIG on BOTH sides — stranded in the baseline, optionally stranded in the LP — so ★ and frontier stay directly comparable. After the scope rules on p4 that is only 0.012% of residents: 34 of 41 areas have none at all, the largest remainder is SE2 with 165 cells / 14,210 residents (0.32%), and these are genuinely remote cells rather than a coverage artefact.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yⱼ ∈ {0,1} this is the (NP-hard) uncapacitated facility-location problem, in its strong disaggregated formulation — one xᵢⱼ ≤ yⱼ per OD pair — whose LP relaxation is known to be nearly integral, which the sweeps confirm (frac_y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6)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6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42475506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SCOPE</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What the model covers  </a:t>
            </a:r>
            <a:r>
              <a:rPr lang="en-US" sz="2200" dirty="0">
                <a:solidFill>
                  <a:srgbClr val="1C3D5A"/>
                </a:solidFill>
                <a:latin typeface="Georgia" pitchFamily="34" charset="0"/>
                <a:ea typeface="Georgia" pitchFamily="34" charset="-122"/>
                <a:cs typeface="Georgia" pitchFamily="34" charset="-120"/>
              </a:rPr>
              <a:t>— and what it deliberately excludes</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Under soft coverage every resident the model cannot route to a pharmacy is priced at BIG (120 min). That is right for someone who is genuinely remote — and wrong when the network or the supply data is simply missing, because it turns a DATA gap into apparent policy headroom. Two rules separate the cases.</a:t>
            </a:r>
            <a:endParaRPr lang="en-US" sz="1000" dirty="0"/>
          </a:p>
        </p:txBody>
      </p:sp>
      <p:sp>
        <p:nvSpPr>
          <p:cNvPr id="5" name="Shape 3"/>
          <p:cNvSpPr/>
          <p:nvPr/>
        </p:nvSpPr>
        <p:spPr>
          <a:xfrm>
            <a:off x="365760" y="1417320"/>
            <a:ext cx="5715000" cy="3977640"/>
          </a:xfrm>
          <a:prstGeom prst="roundRect">
            <a:avLst>
              <a:gd name="adj" fmla="val 1149"/>
            </a:avLst>
          </a:prstGeom>
          <a:solidFill>
            <a:srgbClr val="F0F6F2"/>
          </a:solidFill>
          <a:ln w="12700">
            <a:solidFill>
              <a:srgbClr val="1E7A52"/>
            </a:solidFill>
            <a:prstDash val="solid"/>
          </a:ln>
        </p:spPr>
        <p:txBody>
          <a:bodyPr/>
          <a:lstStyle/>
          <a:p>
            <a:endParaRPr lang="en-GB"/>
          </a:p>
        </p:txBody>
      </p:sp>
      <p:sp>
        <p:nvSpPr>
          <p:cNvPr id="6" name="Text 4"/>
          <p:cNvSpPr/>
          <p:nvPr/>
        </p:nvSpPr>
        <p:spPr>
          <a:xfrm>
            <a:off x="566928" y="1499616"/>
            <a:ext cx="5349240" cy="274320"/>
          </a:xfrm>
          <a:prstGeom prst="rect">
            <a:avLst/>
          </a:prstGeom>
          <a:noFill/>
          <a:ln/>
        </p:spPr>
        <p:txBody>
          <a:bodyPr wrap="square" rtlCol="0" anchor="ctr"/>
          <a:lstStyle/>
          <a:p>
            <a:pPr marL="0" indent="0">
              <a:buNone/>
            </a:pPr>
            <a:r>
              <a:rPr lang="en-US" sz="1350" b="1" dirty="0">
                <a:solidFill>
                  <a:srgbClr val="1E7A52"/>
                </a:solidFill>
                <a:latin typeface="Calibri" pitchFamily="34" charset="0"/>
                <a:ea typeface="Calibri" pitchFamily="34" charset="-122"/>
                <a:cs typeface="Calibri" pitchFamily="34" charset="-120"/>
              </a:rPr>
              <a:t>1 · Road network — per landbody</a:t>
            </a:r>
            <a:endParaRPr lang="en-US" sz="1350" dirty="0"/>
          </a:p>
        </p:txBody>
      </p:sp>
      <p:sp>
        <p:nvSpPr>
          <p:cNvPr id="7" name="Text 5"/>
          <p:cNvSpPr/>
          <p:nvPr/>
        </p:nvSpPr>
        <p:spPr>
          <a:xfrm>
            <a:off x="5669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The largest strongly-connected network is kept for EVERY separate landbody, not just the single largest one in the study area.</a:t>
            </a:r>
            <a:endParaRPr lang="en-US" sz="1000" dirty="0"/>
          </a:p>
        </p:txBody>
      </p:sp>
      <p:sp>
        <p:nvSpPr>
          <p:cNvPr id="8" name="Text 6"/>
          <p:cNvSpPr/>
          <p:nvPr/>
        </p:nvSpPr>
        <p:spPr>
          <a:xfrm>
            <a:off x="5852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Before, one component survived per study area, so island networks — and the ferry links inside them — were discarded entirely.</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Sicilia and Sardegna are two separate landbodies, so at most one of them could ever be kept.</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source data changed: the links were always in the TomTom extract, they were being pruned.</a:t>
            </a:r>
            <a:endParaRPr lang="en-US" sz="950" dirty="0"/>
          </a:p>
        </p:txBody>
      </p:sp>
      <p:sp>
        <p:nvSpPr>
          <p:cNvPr id="9" name="Text 7"/>
          <p:cNvSpPr/>
          <p:nvPr/>
        </p:nvSpPr>
        <p:spPr>
          <a:xfrm>
            <a:off x="585216" y="4828032"/>
            <a:ext cx="5303520" cy="502920"/>
          </a:xfrm>
          <a:prstGeom prst="rect">
            <a:avLst/>
          </a:prstGeom>
          <a:noFill/>
          <a:ln/>
        </p:spPr>
        <p:txBody>
          <a:bodyPr wrap="square" rtlCol="0" anchor="t"/>
          <a:lstStyle/>
          <a:p>
            <a:pPr marL="0" indent="0">
              <a:buNone/>
            </a:pPr>
            <a:r>
              <a:rPr lang="en-US" sz="950" b="1" dirty="0">
                <a:solidFill>
                  <a:srgbClr val="1E7A52"/>
                </a:solidFill>
                <a:latin typeface="Calibri" pitchFamily="34" charset="0"/>
                <a:ea typeface="Calibri" pitchFamily="34" charset="-122"/>
                <a:cs typeface="Calibri" pitchFamily="34" charset="-120"/>
              </a:rPr>
              <a:t>ITG: mean travel 22.3 → 4.9 min · unreachable residents 983,169 → 591</a:t>
            </a:r>
            <a:endParaRPr lang="en-US" sz="950" dirty="0"/>
          </a:p>
        </p:txBody>
      </p:sp>
      <p:sp>
        <p:nvSpPr>
          <p:cNvPr id="10" name="Shape 8"/>
          <p:cNvSpPr/>
          <p:nvPr/>
        </p:nvSpPr>
        <p:spPr>
          <a:xfrm>
            <a:off x="6309360" y="1417320"/>
            <a:ext cx="5715000" cy="3977640"/>
          </a:xfrm>
          <a:prstGeom prst="roundRect">
            <a:avLst>
              <a:gd name="adj" fmla="val 1149"/>
            </a:avLst>
          </a:prstGeom>
          <a:solidFill>
            <a:srgbClr val="FBF5EA"/>
          </a:solidFill>
          <a:ln w="12700">
            <a:solidFill>
              <a:srgbClr val="B9791C"/>
            </a:solidFill>
            <a:prstDash val="solid"/>
          </a:ln>
        </p:spPr>
        <p:txBody>
          <a:bodyPr/>
          <a:lstStyle/>
          <a:p>
            <a:endParaRPr lang="en-GB"/>
          </a:p>
        </p:txBody>
      </p:sp>
      <p:sp>
        <p:nvSpPr>
          <p:cNvPr id="11" name="Text 9"/>
          <p:cNvSpPr/>
          <p:nvPr/>
        </p:nvSpPr>
        <p:spPr>
          <a:xfrm>
            <a:off x="6510528" y="1499616"/>
            <a:ext cx="5349240" cy="274320"/>
          </a:xfrm>
          <a:prstGeom prst="rect">
            <a:avLst/>
          </a:prstGeom>
          <a:noFill/>
          <a:ln/>
        </p:spPr>
        <p:txBody>
          <a:bodyPr wrap="square" rtlCol="0" anchor="ctr"/>
          <a:lstStyle/>
          <a:p>
            <a:pPr marL="0" indent="0">
              <a:buNone/>
            </a:pPr>
            <a:r>
              <a:rPr lang="en-US" sz="1350" b="1" dirty="0">
                <a:solidFill>
                  <a:srgbClr val="B9791C"/>
                </a:solidFill>
                <a:latin typeface="Calibri" pitchFamily="34" charset="0"/>
                <a:ea typeface="Calibri" pitchFamily="34" charset="-122"/>
                <a:cs typeface="Calibri" pitchFamily="34" charset="-120"/>
              </a:rPr>
              <a:t>2 · Regions the model cannot serve at all</a:t>
            </a:r>
            <a:endParaRPr lang="en-US" sz="1350" dirty="0"/>
          </a:p>
        </p:txBody>
      </p:sp>
      <p:sp>
        <p:nvSpPr>
          <p:cNvPr id="12" name="Text 10"/>
          <p:cNvSpPr/>
          <p:nvPr/>
        </p:nvSpPr>
        <p:spPr>
          <a:xfrm>
            <a:off x="65105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If more than 50% of a NUTS region's inhabitant locations are absent from the OD matrix, the WHOLE region is excluded — its population AND its candidate locations.</a:t>
            </a:r>
            <a:endParaRPr lang="en-US" sz="1000" dirty="0"/>
          </a:p>
        </p:txBody>
      </p:sp>
      <p:sp>
        <p:nvSpPr>
          <p:cNvPr id="13" name="Text 11"/>
          <p:cNvSpPr/>
          <p:nvPr/>
        </p:nvSpPr>
        <p:spPr>
          <a:xfrm>
            <a:off x="65288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Level: NUTS3 where populated, otherwise NUTS2, otherwise NUTS1.</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Judged on the EXISTING network, so the baseline and the λ-sweep always agree on who is in scope.</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Excluded today: PT200 Azores (919 cells, 212,855 residents) and PT300 Madeira (419 cells, 244,867 residents) — both 100% absent. They hold population but no pharmacy anywhere in the source data, so no network fix could reach them.</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other area comes near the threshold: it is 100% or far below.</a:t>
            </a:r>
            <a:endParaRPr lang="en-US" sz="950" dirty="0"/>
          </a:p>
        </p:txBody>
      </p:sp>
      <p:sp>
        <p:nvSpPr>
          <p:cNvPr id="14" name="Text 12"/>
          <p:cNvSpPr/>
          <p:nvPr/>
        </p:nvSpPr>
        <p:spPr>
          <a:xfrm>
            <a:off x="6528816" y="4828032"/>
            <a:ext cx="5303520" cy="502920"/>
          </a:xfrm>
          <a:prstGeom prst="rect">
            <a:avLst/>
          </a:prstGeom>
          <a:noFill/>
          <a:ln/>
        </p:spPr>
        <p:txBody>
          <a:bodyPr wrap="square" rtlCol="0" anchor="t"/>
          <a:lstStyle/>
          <a:p>
            <a:pPr marL="0" indent="0">
              <a:buNone/>
            </a:pPr>
            <a:r>
              <a:rPr lang="en-US" sz="950" b="1" dirty="0">
                <a:solidFill>
                  <a:srgbClr val="B9791C"/>
                </a:solidFill>
                <a:latin typeface="Calibri" pitchFamily="34" charset="0"/>
                <a:ea typeface="Calibri" pitchFamily="34" charset="-122"/>
                <a:cs typeface="Calibri" pitchFamily="34" charset="-120"/>
              </a:rPr>
              <a:t>Portugal: baseline travel −62% · mean 8.64 → 3.47 min · figures now cover the MAINLAND ONLY</a:t>
            </a:r>
            <a:endParaRPr lang="en-US" sz="950" dirty="0"/>
          </a:p>
        </p:txBody>
      </p:sp>
      <p:sp>
        <p:nvSpPr>
          <p:cNvPr id="15" name="Shape 13"/>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6" name="Text 14"/>
          <p:cNvSpPr/>
          <p:nvPr/>
        </p:nvSpPr>
        <p:spPr>
          <a:xfrm>
            <a:off x="548640" y="5605272"/>
            <a:ext cx="11338560" cy="457200"/>
          </a:xfrm>
          <a:prstGeom prst="rect">
            <a:avLst/>
          </a:prstGeom>
          <a:noFill/>
          <a:ln/>
        </p:spPr>
        <p:txBody>
          <a:bodyPr wrap="square" rtlCol="0" anchor="t"/>
          <a:lstStyle/>
          <a:p>
            <a:pPr marL="0" indent="0">
              <a:buNone/>
            </a:pPr>
            <a:r>
              <a:rPr lang="en-US" sz="930" b="1" dirty="0">
                <a:solidFill>
                  <a:srgbClr val="B9791C"/>
                </a:solidFill>
                <a:latin typeface="Calibri" pitchFamily="34" charset="0"/>
                <a:ea typeface="Calibri" pitchFamily="34" charset="-122"/>
                <a:cs typeface="Calibri" pitchFamily="34" charset="-120"/>
              </a:rPr>
              <a:t>⚠ Not comparable with the previous deck.  </a:t>
            </a:r>
            <a:r>
              <a:rPr lang="en-US" sz="930" dirty="0">
                <a:solidFill>
                  <a:srgbClr val="12233A"/>
                </a:solidFill>
                <a:latin typeface="Calibri" pitchFamily="34" charset="0"/>
                <a:ea typeface="Calibri" pitchFamily="34" charset="-122"/>
                <a:cs typeface="Calibri" pitchFamily="34" charset="-120"/>
              </a:rPr>
              <a:t>Both rules change which residents are counted, so baselines, frontiers and the ranked improvement lists all shift. Absence of a pharmacy record is not evidence of absence of a pharmacy — excluding those regions states what we do not know, rather than asserting the strong version of it.</a:t>
            </a:r>
            <a:endParaRPr lang="en-US" sz="930" dirty="0"/>
          </a:p>
        </p:txBody>
      </p:sp>
    </p:spTree>
    <p:extLst>
      <p:ext uri="{BB962C8B-B14F-4D97-AF65-F5344CB8AC3E}">
        <p14:creationId xmlns:p14="http://schemas.microsoft.com/office/powerpoint/2010/main" val="37093298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CHOICE SET</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choice set  </a:t>
            </a:r>
            <a:r>
              <a:rPr lang="en-US" sz="2200" dirty="0">
                <a:solidFill>
                  <a:srgbClr val="1C3D5A"/>
                </a:solidFill>
                <a:latin typeface="Georgia" pitchFamily="34" charset="0"/>
                <a:ea typeface="Georgia" pitchFamily="34" charset="-122"/>
                <a:cs typeface="Georgia" pitchFamily="34" charset="-120"/>
              </a:rPr>
              <a:t>— where the 5-nearest rule binds, and why widening it comes before RSSV</a:t>
            </a:r>
            <a:endParaRPr lang="en-US" sz="2200" dirty="0"/>
          </a:p>
        </p:txBody>
      </p:sp>
      <p:sp>
        <p:nvSpPr>
          <p:cNvPr id="4" name="Text 2"/>
          <p:cNvSpPr/>
          <p:nvPr/>
        </p:nvSpPr>
        <p:spPr>
          <a:xfrm>
            <a:off x="411480" y="914400"/>
            <a:ext cx="11430000" cy="411480"/>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Each client is connected to every candidate cell within the road distance to its 5th-nearest EXISTING pharmacy (or 120 min). That radius holds ~70–90 candidates on average — so it is not “5 choices”, it is a radius fixed by today’s five. When the optimiser removes facilities, the radius does not grow.</a:t>
            </a:r>
            <a:endParaRPr lang="en-US" sz="1000" dirty="0"/>
          </a:p>
        </p:txBody>
      </p:sp>
      <p:sp>
        <p:nvSpPr>
          <p:cNvPr id="5" name="Shape 3"/>
          <p:cNvSpPr/>
          <p:nvPr/>
        </p:nvSpPr>
        <p:spPr>
          <a:xfrm>
            <a:off x="365760" y="1444752"/>
            <a:ext cx="3749040" cy="3931920"/>
          </a:xfrm>
          <a:prstGeom prst="roundRect">
            <a:avLst>
              <a:gd name="adj" fmla="val 1220"/>
            </a:avLst>
          </a:prstGeom>
          <a:solidFill>
            <a:srgbClr val="FBF5EA"/>
          </a:solidFill>
          <a:ln w="12700">
            <a:solidFill>
              <a:srgbClr val="B9791C"/>
            </a:solidFill>
            <a:prstDash val="solid"/>
          </a:ln>
        </p:spPr>
        <p:txBody>
          <a:bodyPr/>
          <a:lstStyle/>
          <a:p>
            <a:endParaRPr lang="en-GB"/>
          </a:p>
        </p:txBody>
      </p:sp>
      <p:sp>
        <p:nvSpPr>
          <p:cNvPr id="6" name="Text 4"/>
          <p:cNvSpPr/>
          <p:nvPr/>
        </p:nvSpPr>
        <p:spPr>
          <a:xfrm>
            <a:off x="548640" y="1517904"/>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Where it binds — measured at S2</a:t>
            </a:r>
            <a:endParaRPr lang="en-US" sz="1300" dirty="0"/>
          </a:p>
        </p:txBody>
      </p:sp>
      <p:sp>
        <p:nvSpPr>
          <p:cNvPr id="7" name="Text 5"/>
          <p:cNvSpPr/>
          <p:nvPr/>
        </p:nvSpPr>
        <p:spPr>
          <a:xfrm>
            <a:off x="566928"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SE2 at S2 (309 of 452 open): 1,730 cells / 449,261 residents — 10.2% of the population — have exactly ONE open facility left inside their radius. Closing it would strand them at BIG, so the optimiser must keep it open even where a 6th-nearest pharmacy would serve them.</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ITF at S2 (519 of 1,253 open): 9.0% of residents are already stranded and a further 23.9% are one closure away — a third of the population pins the solution.</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Even at S1 — same count as today, only relocated — ITF strands 1.84%: relocation moved facilities out of clients’ fixed radii.</a:t>
            </a:r>
            <a:endParaRPr lang="en-US" sz="940" dirty="0"/>
          </a:p>
        </p:txBody>
      </p:sp>
      <p:sp>
        <p:nvSpPr>
          <p:cNvPr id="8" name="Text 6"/>
          <p:cNvSpPr/>
          <p:nvPr/>
        </p:nvSpPr>
        <p:spPr>
          <a:xfrm>
            <a:off x="566928" y="4773168"/>
            <a:ext cx="3346704" cy="548640"/>
          </a:xfrm>
          <a:prstGeom prst="rect">
            <a:avLst/>
          </a:prstGeom>
          <a:noFill/>
          <a:ln/>
        </p:spPr>
        <p:txBody>
          <a:bodyPr wrap="square" rtlCol="0" anchor="t"/>
          <a:lstStyle/>
          <a:p>
            <a:pPr marL="0" indent="0">
              <a:buNone/>
            </a:pPr>
            <a:r>
              <a:rPr lang="en-US" sz="920" b="1" dirty="0">
                <a:solidFill>
                  <a:srgbClr val="B9791C"/>
                </a:solidFill>
                <a:latin typeface="Calibri" pitchFamily="34" charset="0"/>
                <a:ea typeface="Calibri" pitchFamily="34" charset="-122"/>
                <a:cs typeface="Calibri" pitchFamily="34" charset="-120"/>
              </a:rPr>
              <a:t>The frontier is under-estimated wherever the radius, not the geography, decides who can be served.</a:t>
            </a:r>
            <a:endParaRPr lang="en-US" sz="920" dirty="0"/>
          </a:p>
        </p:txBody>
      </p:sp>
      <p:sp>
        <p:nvSpPr>
          <p:cNvPr id="9" name="Shape 7"/>
          <p:cNvSpPr/>
          <p:nvPr/>
        </p:nvSpPr>
        <p:spPr>
          <a:xfrm>
            <a:off x="4315968" y="1444752"/>
            <a:ext cx="3749040" cy="3931920"/>
          </a:xfrm>
          <a:prstGeom prst="roundRect">
            <a:avLst>
              <a:gd name="adj" fmla="val 1220"/>
            </a:avLst>
          </a:prstGeom>
          <a:solidFill>
            <a:srgbClr val="F0F6F2"/>
          </a:solidFill>
          <a:ln w="12700">
            <a:solidFill>
              <a:srgbClr val="1E7A52"/>
            </a:solidFill>
            <a:prstDash val="solid"/>
          </a:ln>
        </p:spPr>
        <p:txBody>
          <a:bodyPr/>
          <a:lstStyle/>
          <a:p>
            <a:endParaRPr lang="en-GB"/>
          </a:p>
        </p:txBody>
      </p:sp>
      <p:sp>
        <p:nvSpPr>
          <p:cNvPr id="10" name="Text 8"/>
          <p:cNvSpPr/>
          <p:nvPr/>
        </p:nvSpPr>
        <p:spPr>
          <a:xfrm>
            <a:off x="4498848" y="1517904"/>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widening helps</a:t>
            </a:r>
            <a:endParaRPr lang="en-US" sz="1300" dirty="0"/>
          </a:p>
        </p:txBody>
      </p:sp>
      <p:sp>
        <p:nvSpPr>
          <p:cNvPr id="11" name="Text 9"/>
          <p:cNvSpPr/>
          <p:nvPr/>
        </p:nvSpPr>
        <p:spPr>
          <a:xfrm>
            <a:off x="4517136"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More existing and potential locations per client → a wider radius → the optimiser can consolidate further without stranding anyone → S2 reaches the baseline travel cost with fewer facilities.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gain is concentrated exactly where the lists rank improvement potential: the areas with the most one-option clients.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Keep the EXISTING-side radius at 5 for the baseline, so ★ stays comparable with earlier decks; widen the CANDIDATE side only.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Cost: a wider radius enlarges the full OD (build time, memory) and the exact solve on small areas.</a:t>
            </a:r>
            <a:endParaRPr lang="en-US" sz="940" dirty="0"/>
          </a:p>
        </p:txBody>
      </p:sp>
      <p:sp>
        <p:nvSpPr>
          <p:cNvPr id="12" name="Text 10"/>
          <p:cNvSpPr/>
          <p:nvPr/>
        </p:nvSpPr>
        <p:spPr>
          <a:xfrm>
            <a:off x="4517136" y="4773168"/>
            <a:ext cx="3346704" cy="548640"/>
          </a:xfrm>
          <a:prstGeom prst="rect">
            <a:avLst/>
          </a:prstGeom>
          <a:noFill/>
          <a:ln/>
        </p:spPr>
        <p:txBody>
          <a:bodyPr wrap="square" rtlCol="0" anchor="t"/>
          <a:lstStyle/>
          <a:p>
            <a:pPr marL="0" indent="0">
              <a:buNone/>
            </a:pPr>
            <a:r>
              <a:rPr lang="en-US" sz="920" b="1" dirty="0">
                <a:solidFill>
                  <a:srgbClr val="1E7A52"/>
                </a:solidFill>
                <a:latin typeface="Calibri" pitchFamily="34" charset="0"/>
                <a:ea typeface="Calibri" pitchFamily="34" charset="-122"/>
                <a:cs typeface="Calibri" pitchFamily="34" charset="-120"/>
              </a:rPr>
              <a:t>A cheap experiment: one area, radius 5 → 10, compare S2 facility count and stranding.</a:t>
            </a:r>
            <a:endParaRPr lang="en-US" sz="920" dirty="0"/>
          </a:p>
        </p:txBody>
      </p:sp>
      <p:sp>
        <p:nvSpPr>
          <p:cNvPr id="13" name="Shape 11"/>
          <p:cNvSpPr/>
          <p:nvPr/>
        </p:nvSpPr>
        <p:spPr>
          <a:xfrm>
            <a:off x="8266176" y="1444752"/>
            <a:ext cx="3749040" cy="3931920"/>
          </a:xfrm>
          <a:prstGeom prst="roundRect">
            <a:avLst>
              <a:gd name="adj" fmla="val 1220"/>
            </a:avLst>
          </a:prstGeom>
          <a:solidFill>
            <a:srgbClr val="EEF5FA"/>
          </a:solidFill>
          <a:ln w="12700">
            <a:solidFill>
              <a:srgbClr val="0B6E99"/>
            </a:solidFill>
            <a:prstDash val="solid"/>
          </a:ln>
        </p:spPr>
        <p:txBody>
          <a:bodyPr/>
          <a:lstStyle/>
          <a:p>
            <a:endParaRPr lang="en-GB"/>
          </a:p>
        </p:txBody>
      </p:sp>
      <p:sp>
        <p:nvSpPr>
          <p:cNvPr id="14" name="Text 12"/>
          <p:cNvSpPr/>
          <p:nvPr/>
        </p:nvSpPr>
        <p:spPr>
          <a:xfrm>
            <a:off x="8449056" y="1517904"/>
            <a:ext cx="338328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Why RSSV requires it</a:t>
            </a:r>
            <a:endParaRPr lang="en-US" sz="1300" dirty="0"/>
          </a:p>
        </p:txBody>
      </p:sp>
      <p:sp>
        <p:nvSpPr>
          <p:cNvPr id="15" name="Text 13"/>
          <p:cNvSpPr/>
          <p:nvPr/>
        </p:nvSpPr>
        <p:spPr>
          <a:xfrm>
            <a:off x="8467344"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RSSV solves many sub-problems on random CANDIDATE subsets Jᵤ with the FULL client set. Every client must still reach some sampled candidate — otherwise it is stranded at BIG for that sub-problem alone, and those spurious penalties corrupt the spatial votes.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chance that a random Jᵤ leaves a client with no reachable candidate falls as the radius widens. A thin radius makes voting noisy; a wide one makes it robust.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So the two size-control knobs trade against each other: under RSSV, size control moves from pruning per client to sample → vote → filter → exact solve. Widening the radius is the precondition, not a nicety.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Stratified (not uniform) sampling lets a narrower radius suffice — a lever to trade against OD size.</a:t>
            </a:r>
            <a:endParaRPr lang="en-US" sz="940" dirty="0"/>
          </a:p>
        </p:txBody>
      </p:sp>
      <p:sp>
        <p:nvSpPr>
          <p:cNvPr id="16" name="Text 14"/>
          <p:cNvSpPr/>
          <p:nvPr/>
        </p:nvSpPr>
        <p:spPr>
          <a:xfrm>
            <a:off x="8467344" y="4773168"/>
            <a:ext cx="3346704" cy="548640"/>
          </a:xfrm>
          <a:prstGeom prst="rect">
            <a:avLst/>
          </a:prstGeom>
          <a:noFill/>
          <a:ln/>
        </p:spPr>
        <p:txBody>
          <a:bodyPr wrap="square" rtlCol="0" anchor="t"/>
          <a:lstStyle/>
          <a:p>
            <a:pPr marL="0" indent="0">
              <a:buNone/>
            </a:pPr>
            <a:r>
              <a:rPr lang="en-US" sz="920" b="1" dirty="0">
                <a:solidFill>
                  <a:srgbClr val="0B6E99"/>
                </a:solidFill>
                <a:latin typeface="Calibri" pitchFamily="34" charset="0"/>
                <a:ea typeface="Calibri" pitchFamily="34" charset="-122"/>
                <a:cs typeface="Calibri" pitchFamily="34" charset="-120"/>
              </a:rPr>
              <a:t>Sequence: widen the candidate radius → RSSV → exact MIP on the reduced set.</a:t>
            </a:r>
            <a:endParaRPr lang="en-US" sz="920" dirty="0"/>
          </a:p>
        </p:txBody>
      </p:sp>
      <p:sp>
        <p:nvSpPr>
          <p:cNvPr id="17" name="Shape 15"/>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8" name="Text 16"/>
          <p:cNvSpPr/>
          <p:nvPr/>
        </p:nvSpPr>
        <p:spPr>
          <a:xfrm>
            <a:off x="548640" y="5596128"/>
            <a:ext cx="11338560" cy="475488"/>
          </a:xfrm>
          <a:prstGeom prst="rect">
            <a:avLst/>
          </a:prstGeom>
          <a:noFill/>
          <a:ln/>
        </p:spPr>
        <p:txBody>
          <a:bodyPr wrap="square" rtlCol="0" anchor="t"/>
          <a:lstStyle/>
          <a:p>
            <a:pPr marL="0" indent="0">
              <a:buNone/>
            </a:pPr>
            <a:r>
              <a:rPr lang="en-US" sz="880" b="1" dirty="0">
                <a:solidFill>
                  <a:srgbClr val="B9791C"/>
                </a:solidFill>
                <a:latin typeface="Calibri" pitchFamily="34" charset="0"/>
                <a:ea typeface="Calibri" pitchFamily="34" charset="-122"/>
                <a:cs typeface="Calibri" pitchFamily="34" charset="-120"/>
              </a:rPr>
              <a:t>Also found: </a:t>
            </a:r>
            <a:r>
              <a:rPr lang="en-US" sz="880" dirty="0">
                <a:solidFill>
                  <a:srgbClr val="12233A"/>
                </a:solidFill>
                <a:latin typeface="Calibri" pitchFamily="34" charset="0"/>
                <a:ea typeface="Calibri" pitchFamily="34" charset="-122"/>
                <a:cs typeface="Calibri" pitchFamily="34" charset="-120"/>
              </a:rPr>
              <a:t>S1 and S2 are read off the nearest swept λ grid point. In 5 of 42 areas (FRC, FRH, FRJ, FRK, SE2) both scenarios snap to the SAME point — SE2’s S1 bracket (0.2, 0.5) and S2 bracket (0.5, 1.0) both resolve to w = 0.5, so its delivered S1 has 309 open, not the baseline 452. The interpolated tables on p57–58 are unaffected; the exported S1/S2 location files and the exact-MIP step are where this needs a refinement step rather than a snap.</a:t>
            </a:r>
            <a:endParaRPr lang="en-US" sz="880" dirty="0"/>
          </a:p>
        </p:txBody>
      </p:sp>
    </p:spTree>
    <p:extLst>
      <p:ext uri="{BB962C8B-B14F-4D97-AF65-F5344CB8AC3E}">
        <p14:creationId xmlns:p14="http://schemas.microsoft.com/office/powerpoint/2010/main" val="13805977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90672"/>
          </a:xfrm>
          <a:prstGeom prst="rect">
            <a:avLst/>
          </a:prstGeom>
          <a:noFill/>
          <a:ln/>
        </p:spPr>
        <p:txBody>
          <a:bodyPr wrap="square" rtlCol="0" anchor="t"/>
          <a:lstStyle/>
          <a:p>
            <a:pPr marL="0" indent="0">
              <a:lnSpc>
                <a:spcPct val="100000"/>
              </a:lnSpc>
              <a:buNone/>
            </a:pPr>
            <a:r>
              <a:rPr lang="en-US" sz="96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960" dirty="0"/>
          </a:p>
          <a:p>
            <a:pPr marL="0" indent="0">
              <a:lnSpc>
                <a:spcPct val="100000"/>
              </a:lnSpc>
              <a:buNone/>
            </a:pPr>
            <a:endParaRPr lang="en-US" sz="960" dirty="0"/>
          </a:p>
          <a:p>
            <a:pPr marL="0" indent="0" algn="ctr">
              <a:lnSpc>
                <a:spcPct val="100000"/>
              </a:lnSpc>
              <a:buNone/>
            </a:pPr>
            <a:r>
              <a:rPr lang="en-US" sz="960" b="1" dirty="0">
                <a:solidFill>
                  <a:srgbClr val="1E7A52"/>
                </a:solidFill>
                <a:latin typeface="Calibri" pitchFamily="34" charset="0"/>
                <a:ea typeface="Calibri" pitchFamily="34" charset="-122"/>
                <a:cs typeface="Calibri" pitchFamily="34" charset="-120"/>
              </a:rPr>
              <a:t>LP relax  ≤  integer optimum  ≤  multistart</a:t>
            </a:r>
            <a:endParaRPr lang="en-US" sz="960" dirty="0"/>
          </a:p>
          <a:p>
            <a:pPr marL="0" indent="0">
              <a:lnSpc>
                <a:spcPct val="100000"/>
              </a:lnSpc>
              <a:buNone/>
            </a:pPr>
            <a:endParaRPr lang="en-US" sz="960" dirty="0"/>
          </a:p>
          <a:p>
            <a:pPr marL="0" indent="0">
              <a:lnSpc>
                <a:spcPct val="100000"/>
              </a:lnSpc>
              <a:buNone/>
            </a:pPr>
            <a:r>
              <a:rPr lang="en-US" sz="96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960" dirty="0"/>
          </a:p>
          <a:p>
            <a:pPr marL="0" indent="0">
              <a:lnSpc>
                <a:spcPct val="100000"/>
              </a:lnSpc>
              <a:buNone/>
            </a:pPr>
            <a:endParaRPr lang="en-US" sz="960" dirty="0"/>
          </a:p>
          <a:p>
            <a:pPr marL="0" indent="0">
              <a:lnSpc>
                <a:spcPct val="100000"/>
              </a:lnSpc>
              <a:buNone/>
            </a:pPr>
            <a:r>
              <a:rPr lang="en-US" sz="960" i="1" dirty="0">
                <a:solidFill>
                  <a:srgbClr val="12233A"/>
                </a:solidFill>
                <a:latin typeface="Calibri" pitchFamily="34" charset="0"/>
                <a:ea typeface="Calibri" pitchFamily="34" charset="-122"/>
                <a:cs typeface="Calibri" pitchFamily="34" charset="-120"/>
              </a:rPr>
              <a:t>The multi-vs-relax column in the end tables is therefore a certified optimality gap on TOTAL cost: the integer optimum lies inside it. </a:t>
            </a:r>
            <a:r>
              <a:rPr lang="en-US" sz="960" i="1" dirty="0">
                <a:solidFill>
                  <a:srgbClr val="5B6B7B"/>
                </a:solidFill>
                <a:latin typeface="Calibri" pitchFamily="34" charset="0"/>
                <a:ea typeface="Calibri" pitchFamily="34" charset="-122"/>
                <a:cs typeface="Calibri" pitchFamily="34" charset="-120"/>
              </a:rPr>
              <a:t>It does NOT bound travel and facility cost separately — the discrete solution may sit with higher travel and lower facility cost than the relaxation, or the reverse. For the logistic variant the bound is on the transformed cost c(t), not on minutes; mean_t is reported alongside and carries no bound. In practice the two bounds are now nearly a line for most areas.</a:t>
            </a:r>
            <a:endParaRPr lang="en-US" sz="96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10560294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26576118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36449655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22652017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36899012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40293218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461396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39232754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700725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381804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790097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136892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562703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792393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165613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090009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148036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3.47 min mean · </a:t>
            </a:r>
            <a:r>
              <a:rPr lang="en-US" sz="1000" dirty="0">
                <a:solidFill>
                  <a:srgbClr val="5B6B7B"/>
                </a:solidFill>
                <a:latin typeface="Calibri" pitchFamily="34" charset="0"/>
                <a:ea typeface="Calibri" pitchFamily="34" charset="-122"/>
                <a:cs typeface="Calibri" pitchFamily="34" charset="-120"/>
              </a:rPr>
              <a:t>travel (stranded at BIG)  LIN 34.2M · LOG 1.1M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213104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632494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839733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534338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018068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8613228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349336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679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9354639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17.5M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41086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0409952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848 cells · 4.06 min mean · </a:t>
            </a:r>
            <a:r>
              <a:rPr lang="en-US" sz="1000" dirty="0">
                <a:solidFill>
                  <a:srgbClr val="5B6B7B"/>
                </a:solidFill>
                <a:latin typeface="Calibri" pitchFamily="34" charset="0"/>
                <a:ea typeface="Calibri" pitchFamily="34" charset="-122"/>
                <a:cs typeface="Calibri" pitchFamily="34" charset="-120"/>
              </a:rPr>
              <a:t>travel (stranded at BIG)  LIN 15.6M · LOG 446k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439575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793 cells · 4.34 min mean · </a:t>
            </a:r>
            <a:r>
              <a:rPr lang="en-US" sz="1000" dirty="0">
                <a:solidFill>
                  <a:srgbClr val="5B6B7B"/>
                </a:solidFill>
                <a:latin typeface="Calibri" pitchFamily="34" charset="0"/>
                <a:ea typeface="Calibri" pitchFamily="34" charset="-122"/>
                <a:cs typeface="Calibri" pitchFamily="34" charset="-120"/>
              </a:rPr>
              <a:t>travel (stranded at BIG)  LIN 14.5M · LOG 397k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627144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1,584 cells · 4.54 min mean · </a:t>
            </a:r>
            <a:r>
              <a:rPr lang="en-US" sz="1000" dirty="0">
                <a:solidFill>
                  <a:srgbClr val="5B6B7B"/>
                </a:solidFill>
                <a:latin typeface="Calibri" pitchFamily="34" charset="0"/>
                <a:ea typeface="Calibri" pitchFamily="34" charset="-122"/>
                <a:cs typeface="Calibri" pitchFamily="34" charset="-120"/>
              </a:rPr>
              <a:t>travel (stranded at BIG)  LIN 27.5M · LOG 741k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4680713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3.91 min mean · </a:t>
            </a:r>
            <a:r>
              <a:rPr lang="en-US" sz="1000" dirty="0">
                <a:solidFill>
                  <a:srgbClr val="5B6B7B"/>
                </a:solidFill>
                <a:latin typeface="Calibri" pitchFamily="34" charset="0"/>
                <a:ea typeface="Calibri" pitchFamily="34" charset="-122"/>
                <a:cs typeface="Calibri" pitchFamily="34" charset="-120"/>
              </a:rPr>
              <a:t>travel (stranded at BIG)  LIN 23.5M · LOG 695k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3952723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071897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1,026 cells · 2.60 min mean · </a:t>
            </a:r>
            <a:r>
              <a:rPr lang="en-US" sz="1000" dirty="0">
                <a:solidFill>
                  <a:srgbClr val="5B6B7B"/>
                </a:solidFill>
                <a:latin typeface="Calibri" pitchFamily="34" charset="0"/>
                <a:ea typeface="Calibri" pitchFamily="34" charset="-122"/>
                <a:cs typeface="Calibri" pitchFamily="34" charset="-120"/>
              </a:rPr>
              <a:t>travel (stranded at BIG)  LIN 13.1M · LOG 515k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848532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5.11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1819053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2,890 cells · 2.93 min mean · </a:t>
            </a:r>
            <a:r>
              <a:rPr lang="en-US" sz="1000" dirty="0">
                <a:solidFill>
                  <a:srgbClr val="5B6B7B"/>
                </a:solidFill>
                <a:latin typeface="Calibri" pitchFamily="34" charset="0"/>
                <a:ea typeface="Calibri" pitchFamily="34" charset="-122"/>
                <a:cs typeface="Calibri" pitchFamily="34" charset="-120"/>
              </a:rPr>
              <a:t>travel (stranded at BIG)  LIN 46.4M · LOG 1.7M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622329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1,253 cells · 6.67 min mean · </a:t>
            </a:r>
            <a:r>
              <a:rPr lang="en-US" sz="1000" dirty="0">
                <a:solidFill>
                  <a:srgbClr val="5B6B7B"/>
                </a:solidFill>
                <a:latin typeface="Calibri" pitchFamily="34" charset="0"/>
                <a:ea typeface="Calibri" pitchFamily="34" charset="-122"/>
                <a:cs typeface="Calibri" pitchFamily="34" charset="-120"/>
              </a:rPr>
              <a:t>travel (stranded at BIG)  LIN 88.9M · LOG 2.1M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091015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891 cells · 4.88 min mean · </a:t>
            </a:r>
            <a:r>
              <a:rPr lang="en-US" sz="1000" dirty="0">
                <a:solidFill>
                  <a:srgbClr val="5B6B7B"/>
                </a:solidFill>
                <a:latin typeface="Calibri" pitchFamily="34" charset="0"/>
                <a:ea typeface="Calibri" pitchFamily="34" charset="-122"/>
                <a:cs typeface="Calibri" pitchFamily="34" charset="-120"/>
              </a:rPr>
              <a:t>travel (stranded at BIG)  LIN 30.6M · LOG 845k</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6916412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2,079 cells · 4.20 min mean · </a:t>
            </a:r>
            <a:r>
              <a:rPr lang="en-US" sz="1000" dirty="0">
                <a:solidFill>
                  <a:srgbClr val="5B6B7B"/>
                </a:solidFill>
                <a:latin typeface="Calibri" pitchFamily="34" charset="0"/>
                <a:ea typeface="Calibri" pitchFamily="34" charset="-122"/>
                <a:cs typeface="Calibri" pitchFamily="34" charset="-120"/>
              </a:rPr>
              <a:t>travel (stranded at BIG)  LIN 48.4M · LOG 1.4M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8539849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1,631 cells · 4.19 min mean · </a:t>
            </a:r>
            <a:r>
              <a:rPr lang="en-US" sz="1000" dirty="0">
                <a:solidFill>
                  <a:srgbClr val="5B6B7B"/>
                </a:solidFill>
                <a:latin typeface="Calibri" pitchFamily="34" charset="0"/>
                <a:ea typeface="Calibri" pitchFamily="34" charset="-122"/>
                <a:cs typeface="Calibri" pitchFamily="34" charset="-120"/>
              </a:rPr>
              <a:t>travel (stranded at BIG)  LIN 49.0M · LOG 1.4M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9309513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388 cells · 5.41 min mean · </a:t>
            </a:r>
            <a:r>
              <a:rPr lang="en-US" sz="1000" dirty="0">
                <a:solidFill>
                  <a:srgbClr val="5B6B7B"/>
                </a:solidFill>
                <a:latin typeface="Calibri" pitchFamily="34" charset="0"/>
                <a:ea typeface="Calibri" pitchFamily="34" charset="-122"/>
                <a:cs typeface="Calibri" pitchFamily="34" charset="-120"/>
              </a:rPr>
              <a:t>travel (stranded at BIG)  LIN 22.1M · LOG 573k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9590284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7.36 min mean · </a:t>
            </a:r>
            <a:r>
              <a:rPr lang="en-US" sz="1000" dirty="0">
                <a:solidFill>
                  <a:srgbClr val="5B6B7B"/>
                </a:solidFill>
                <a:latin typeface="Calibri" pitchFamily="34" charset="0"/>
                <a:ea typeface="Calibri" pitchFamily="34" charset="-122"/>
                <a:cs typeface="Calibri" pitchFamily="34" charset="-120"/>
              </a:rPr>
              <a:t>travel (stranded at BIG)  LIN 32.4M · LOG 716k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5641017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9.48 min mean · </a:t>
            </a:r>
            <a:r>
              <a:rPr lang="en-US" sz="1000" dirty="0">
                <a:solidFill>
                  <a:srgbClr val="5B6B7B"/>
                </a:solidFill>
                <a:latin typeface="Calibri" pitchFamily="34" charset="0"/>
                <a:ea typeface="Calibri" pitchFamily="34" charset="-122"/>
                <a:cs typeface="Calibri" pitchFamily="34" charset="-120"/>
              </a:rPr>
              <a:t>travel (stranded at BIG)  LIN 16.4M · LOG 349k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4258899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6270056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3.66 min mean · </a:t>
            </a:r>
            <a:r>
              <a:rPr lang="en-US" sz="1000" dirty="0">
                <a:solidFill>
                  <a:srgbClr val="5B6B7B"/>
                </a:solidFill>
                <a:latin typeface="Calibri" pitchFamily="34" charset="0"/>
                <a:ea typeface="Calibri" pitchFamily="34" charset="-122"/>
                <a:cs typeface="Calibri" pitchFamily="34" charset="-120"/>
              </a:rPr>
              <a:t>travel (stranded at BIG)  LIN 22.1M · LOG 685k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1457101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5326286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314585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8066351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4.53 min mean · </a:t>
            </a:r>
            <a:r>
              <a:rPr lang="en-US" sz="1000" dirty="0">
                <a:solidFill>
                  <a:srgbClr val="5B6B7B"/>
                </a:solidFill>
                <a:latin typeface="Calibri" pitchFamily="34" charset="0"/>
                <a:ea typeface="Calibri" pitchFamily="34" charset="-122"/>
                <a:cs typeface="Calibri" pitchFamily="34" charset="-120"/>
              </a:rPr>
              <a:t>travel (stranded at BIG)  LIN 22.9M · LOG 619k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3555150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06243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41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43,320 pharmacy cells · </a:t>
            </a:r>
            <a:r>
              <a:rPr lang="en-US" sz="1000" dirty="0">
                <a:solidFill>
                  <a:srgbClr val="5B6B7B"/>
                </a:solidFill>
                <a:latin typeface="Calibri" pitchFamily="34" charset="0"/>
                <a:ea typeface="Calibri" pitchFamily="34" charset="-122"/>
                <a:cs typeface="Calibri" pitchFamily="34" charset="-120"/>
              </a:rPr>
              <a:t>travel  LIN 1030M · LOG 30.3M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4864608"/>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56032">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point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facilities</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travel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LINEAR</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0.130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43,357</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-26%</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0.227</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28,609</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0.500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15,808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+55%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433,828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+901%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LOGISTIC</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0.00130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44,416</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0.00282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26,673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0.0200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10,933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191,428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+342%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82512"/>
            <a:ext cx="11274552" cy="420624"/>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Exact-by-separability aggregation over 41 disjoint areas (13 countries + FR/IT/SE/PL NUTS-1; country-level Poland excluded in favour of its 7 NUTS-1): at a common λ the sum of the regional optima IS the combined optimum. Summed at the union of swept w-values inside the range every area covers (68 points; an area without that exact λ is log-interpolated between its adjacent sweep points — the λ-table rule).</a:t>
            </a:r>
            <a:endParaRPr lang="en-US" sz="850" dirty="0"/>
          </a:p>
        </p:txBody>
      </p:sp>
    </p:spTree>
    <p:extLst>
      <p:ext uri="{BB962C8B-B14F-4D97-AF65-F5344CB8AC3E}">
        <p14:creationId xmlns:p14="http://schemas.microsoft.com/office/powerpoint/2010/main" val="222278648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3048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baseline #</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Netherlands</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1,615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24,532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34,329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Luxembourg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15,945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25,641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Estonia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11,388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19,421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Latvia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8,822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Slovenia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17,680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25,450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Lithuania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10,987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19,834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Ireland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21,020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Norway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755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23,174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49,999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Denmark</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37,082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55,960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448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Austria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18,361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31,027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10,473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17,033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Czechia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22,885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Belgium</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5,666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7,340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10,254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165019408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FR / IT / SE NUTS-1 regions</a:t>
            </a:r>
            <a:endParaRPr lang="en-US" sz="2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77340">
                  <a:extLst>
                    <a:ext uri="{9D8B030D-6E8A-4147-A177-3AD203B41FA5}">
                      <a16:colId xmlns:a16="http://schemas.microsoft.com/office/drawing/2014/main" val="20002"/>
                    </a:ext>
                  </a:extLst>
                </a:gridCol>
                <a:gridCol w="1577340">
                  <a:extLst>
                    <a:ext uri="{9D8B030D-6E8A-4147-A177-3AD203B41FA5}">
                      <a16:colId xmlns:a16="http://schemas.microsoft.com/office/drawing/2014/main" val="20003"/>
                    </a:ext>
                  </a:extLst>
                </a:gridCol>
                <a:gridCol w="1577340">
                  <a:extLst>
                    <a:ext uri="{9D8B030D-6E8A-4147-A177-3AD203B41FA5}">
                      <a16:colId xmlns:a16="http://schemas.microsoft.com/office/drawing/2014/main" val="20004"/>
                    </a:ext>
                  </a:extLst>
                </a:gridCol>
                <a:gridCol w="1577340">
                  <a:extLst>
                    <a:ext uri="{9D8B030D-6E8A-4147-A177-3AD203B41FA5}">
                      <a16:colId xmlns:a16="http://schemas.microsoft.com/office/drawing/2014/main" val="20005"/>
                    </a:ext>
                  </a:extLst>
                </a:gridCol>
              </a:tblGrid>
              <a:tr h="20116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NUTS-1 region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baseline #</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FR1 · Île-de-France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11,918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16,444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FRB · Centre-Val de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FRC · Bourgogne-Franche-Comté</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9,783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13,075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FRD · Normandie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11,278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FRE · Hauts-de-France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9,048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FRF · Grand 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14,257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FRG · Pays de la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FRH · Bretagne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13,828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FRI · Nouvelle-Aquitaine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8,368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FRJ · Occitanie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13,202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FRK · Auvergne-Rhône-Alpes</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13,737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FRL · Provence-Alpes-Côte d'Azur</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9,741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14,155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FRM · Corse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10,336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259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ITC · Nord-Ovest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2,890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20,047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ITF · Sud</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101,789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ITG · Isole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891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18,626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56,207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917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ITH · Nord-Est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12,529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23,350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ITI · Centro</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16,279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33,187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421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SE1 · Östra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27,492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44,267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SE2 · Södra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452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33,567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57,265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SE3 · Norra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30,810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52,783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910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PL2 · Południowy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9,666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15,455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PL4 · Północno-Zachodni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9,925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PL5 · Południowo-Zachodni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10,586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15,617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PL6 · Północny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11,568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PL7 · Centralny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14,885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PL8 · Wschodni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16,347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PL9 · Mazowiecki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11,084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16,582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364156343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graphicFrame>
        <p:nvGraphicFramePr>
          <p:cNvPr id="113"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(208)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34232721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in progress · remaining</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Two method changes since the previous deck — landbody-complete networks and NUTS region exclusion — make these figures NOT comparable with earlier ones. A proposed A→D ladder would cap catchments + set a min threshold to sidestep it — but the descriptives show catchments vary so widely (p10–p90 several-fold; many pharmacies at zero) that realistic bounds are hard to set, and the ladder may not actually simplify the problem.</a:t>
            </a:r>
            <a:endParaRPr lang="en-US" sz="950" dirty="0"/>
          </a:p>
        </p:txBody>
      </p:sp>
      <p:sp>
        <p:nvSpPr>
          <p:cNvPr id="5" name="Shape 3"/>
          <p:cNvSpPr/>
          <p:nvPr/>
        </p:nvSpPr>
        <p:spPr>
          <a:xfrm>
            <a:off x="365760" y="1298448"/>
            <a:ext cx="3721608" cy="4526280"/>
          </a:xfrm>
          <a:prstGeom prst="roundRect">
            <a:avLst>
              <a:gd name="adj" fmla="val 1229"/>
            </a:avLst>
          </a:prstGeom>
          <a:solidFill>
            <a:srgbClr val="F0F6F2"/>
          </a:solidFill>
          <a:ln w="12700">
            <a:solidFill>
              <a:srgbClr val="1E7A52"/>
            </a:solidFill>
            <a:prstDash val="solid"/>
          </a:ln>
        </p:spPr>
      </p:sp>
      <p:sp>
        <p:nvSpPr>
          <p:cNvPr id="6" name="Text 4"/>
          <p:cNvSpPr/>
          <p:nvPr/>
        </p:nvSpPr>
        <p:spPr>
          <a:xfrm>
            <a:off x="530352" y="1371600"/>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NETWORK per landbody: the largest strongly-connected road network is now kept for EVERY separate landbody, not just the single largest one EU-wide — island networks (Sicilia/Sardegna, and their ferry links) were being pruned. ITG baseline mean travel 22.3 → 4.9 min; unreachable residents 983k → 591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REGION EXCLUSION: a NUTS region where &gt;50% of inhabitant locations cannot reach any pharmacy is dropped entirely — population AND candidates. Excludes the Azores (PT200) and Madeira (PT300), which hold population but no pharmacy in the source data; Portugal baseline travel −62%. Prevents a DATA gap from ranking as policy headroom</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Tabula-rasa LP allocation + λ-sweep → Pareto curve of #facilities vs travel cost (Option D); canonical p-median notation (x = assignment, y = facility)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Lewis's 3 cases live: S1 (same #, ↓travel) · S2 (same travel, ↓#) · S3 full frontier — S1/S2 now INTERPOLATED onto the frontier (dense-grid + refine, tight to ≤0.1 λ-octave)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All 6 of Lewis's 22-May descriptive indicators, per country (deck pages 5–8); catchments by ROAD-network travel time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Recalc: candidates = ≥50-pop cells ∪ pharmacy cells · clients = FULL population · adapted logit (25/10) · Italy from ESPON shapefile — all 42 areas swept incl. Poland + 7 NUTS-1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Soft coverage (Σx ≤ 1, unserved priced at BIG on BOTH sides): every region brackets S1 &amp; S2; baseline coverage-consistent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Aggregated frontier over 41 disjoint areas (exact by separability) — now brackets S1 AND S2 for LINEAR &amp; LOGISTIC (Belgium/FRI extended to w = 0.5)</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Status-quo↔frontier metric: improvement rectangle (raw + relative to baseline #F × travel), its diagonal crossing + λ, baseline point-cloud with frontier projections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Ordered region lists coloured by pharmacy policy typology (regulation archetype + formalisation, from the collaborators' framing) — now free of coverage artefacts: ITG drops from #1 to #2 and Portugal and PL8 leave the top 8, while ITF takes #1 on an UNCHANGED value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Large-region candidate subsampling keeps EVERY baseline location, so the frontier still dominates the baseline (FRI/PL8 made tractable)</a:t>
            </a:r>
            <a:endParaRPr lang="en-US" sz="900" dirty="0"/>
          </a:p>
        </p:txBody>
      </p:sp>
      <p:sp>
        <p:nvSpPr>
          <p:cNvPr id="8" name="Shape 6"/>
          <p:cNvSpPr/>
          <p:nvPr/>
        </p:nvSpPr>
        <p:spPr>
          <a:xfrm>
            <a:off x="4224528" y="1298448"/>
            <a:ext cx="3721608" cy="4526280"/>
          </a:xfrm>
          <a:prstGeom prst="roundRect">
            <a:avLst>
              <a:gd name="adj" fmla="val 1229"/>
            </a:avLst>
          </a:prstGeom>
          <a:solidFill>
            <a:srgbClr val="FBF5EA"/>
          </a:solidFill>
          <a:ln w="12700">
            <a:solidFill>
              <a:srgbClr val="B9791C"/>
            </a:solidFill>
            <a:prstDash val="solid"/>
          </a:ln>
        </p:spPr>
      </p:sp>
      <p:sp>
        <p:nvSpPr>
          <p:cNvPr id="9" name="Text 7"/>
          <p:cNvSpPr/>
          <p:nvPr/>
        </p:nvSpPr>
        <p:spPr>
          <a:xfrm>
            <a:off x="4389120" y="1371600"/>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In progress ◐</a:t>
            </a:r>
            <a:endParaRPr lang="en-US" sz="1300" dirty="0"/>
          </a:p>
        </p:txBody>
      </p:sp>
      <p:sp>
        <p:nvSpPr>
          <p:cNvPr id="10" name="Text 8"/>
          <p:cNvSpPr/>
          <p:nvPr/>
        </p:nvSpPr>
        <p:spPr>
          <a:xfrm>
            <a:off x="4407408"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Exact soft-coverage p-median MIP to pin S1/S2 at p = baseline (the interpolation is already tight; the MIP would make it exact)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RSSV spatial-voting candidate reduction (Avignon CpLP paper, Figueiredo &amp; Genre-Grandpierre) — a principled replacement for the stride subsample on the largest regions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Territorial coverage constraints (≥1 pharmacy per NUTS unit; multi-scale) as a STRUCTURED equity lever alongside the soft-coverage BIG penalty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Exploring (not committed): max-cap + min-threshold rungs — the descriptives suggest realistic bounds are hard to set, so this may not pay off</a:t>
            </a:r>
            <a:endParaRPr lang="en-US" sz="900" dirty="0"/>
          </a:p>
        </p:txBody>
      </p:sp>
      <p:sp>
        <p:nvSpPr>
          <p:cNvPr id="11" name="Shape 9"/>
          <p:cNvSpPr/>
          <p:nvPr/>
        </p:nvSpPr>
        <p:spPr>
          <a:xfrm>
            <a:off x="8083296" y="1298448"/>
            <a:ext cx="3721608" cy="4526280"/>
          </a:xfrm>
          <a:prstGeom prst="roundRect">
            <a:avLst>
              <a:gd name="adj" fmla="val 1229"/>
            </a:avLst>
          </a:prstGeom>
          <a:solidFill>
            <a:srgbClr val="F2F5F8"/>
          </a:solidFill>
          <a:ln w="12700">
            <a:solidFill>
              <a:srgbClr val="5B6B7B"/>
            </a:solidFill>
            <a:prstDash val="solid"/>
          </a:ln>
        </p:spPr>
      </p:sp>
      <p:sp>
        <p:nvSpPr>
          <p:cNvPr id="12" name="Text 10"/>
          <p:cNvSpPr/>
          <p:nvPr/>
        </p:nvSpPr>
        <p:spPr>
          <a:xfrm>
            <a:off x="8247888" y="1371600"/>
            <a:ext cx="3383280"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a:t>
            </a:r>
            <a:endParaRPr lang="en-US" sz="1300" dirty="0"/>
          </a:p>
        </p:txBody>
      </p:sp>
      <p:sp>
        <p:nvSpPr>
          <p:cNvPr id="13" name="Text 11"/>
          <p:cNvSpPr/>
          <p:nvPr/>
        </p:nvSpPr>
        <p:spPr>
          <a:xfrm>
            <a:off x="8266176"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Capacity / max-catchment cap constraint (CpMP; the Avignon strengthened ILP shows how to solve it)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Urban/non-urban flag → model only non-urban, hold urban fixed (options B/C)</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Settlement candidate set: verify existing ⊂ settlements, then restrict locations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Flat-then-linear travel-cost variant; sweep logit-parameter sensitivity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real pharmacy a,b (schools: 99 699 + 3 277.5x); ?fixed cost vs &lt;6-y care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Communicate λ intuitively (person-minutes / value-per-user)</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Cost-function-free S3: balance #/capita vs mean travel, widen beyond the A–B segment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Pharmacist-based cap (Ana); caps/thresholds pooled across countries, reported per-country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Corr catchment &amp; travel costs · border-cases</a:t>
            </a:r>
            <a:endParaRPr lang="en-US" sz="900" dirty="0"/>
          </a:p>
        </p:txBody>
      </p:sp>
      <p:sp>
        <p:nvSpPr>
          <p:cNvPr id="14" name="Text 12"/>
          <p:cNvSpPr/>
          <p:nvPr/>
        </p:nvSpPr>
        <p:spPr>
          <a:xfrm>
            <a:off x="411480" y="5943600"/>
            <a:ext cx="11430000" cy="64008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adopt territorial coverage constraints (≥1 per unit) for equity, or keep soft coverage?  ·  logistic vs linear travel cost (the equity-weighting choice)?  ·  best way to communicate λ?</a:t>
            </a:r>
            <a:endParaRPr lang="en-US" sz="1000" dirty="0"/>
          </a:p>
        </p:txBody>
      </p:sp>
    </p:spTree>
    <p:extLst>
      <p:ext uri="{BB962C8B-B14F-4D97-AF65-F5344CB8AC3E}">
        <p14:creationId xmlns:p14="http://schemas.microsoft.com/office/powerpoint/2010/main" val="246248585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Shape 5"/>
          <p:cNvSpPr/>
          <p:nvPr/>
        </p:nvSpPr>
        <p:spPr>
          <a:xfrm>
            <a:off x="365760" y="5413248"/>
            <a:ext cx="11475720" cy="960120"/>
          </a:xfrm>
          <a:prstGeom prst="roundRect">
            <a:avLst>
              <a:gd name="adj" fmla="val 4762"/>
            </a:avLst>
          </a:prstGeom>
          <a:solidFill>
            <a:srgbClr val="F0F6F2"/>
          </a:solidFill>
          <a:ln w="12700">
            <a:solidFill>
              <a:srgbClr val="1E7A52"/>
            </a:solidFill>
            <a:prstDash val="solid"/>
          </a:ln>
        </p:spPr>
      </p:sp>
      <p:sp>
        <p:nvSpPr>
          <p:cNvPr id="10" name="Text 6"/>
          <p:cNvSpPr/>
          <p:nvPr/>
        </p:nvSpPr>
        <p:spPr>
          <a:xfrm>
            <a:off x="548640" y="5468112"/>
            <a:ext cx="11155680" cy="868680"/>
          </a:xfrm>
          <a:prstGeom prst="rect">
            <a:avLst/>
          </a:prstGeom>
          <a:noFill/>
          <a:ln/>
        </p:spPr>
        <p:txBody>
          <a:bodyPr wrap="square" rtlCol="0" anchor="t"/>
          <a:lstStyle/>
          <a:p>
            <a:pPr marL="0" indent="0">
              <a:lnSpc>
                <a:spcPct val="98000"/>
              </a:lnSpc>
              <a:buNone/>
            </a:pPr>
            <a:r>
              <a:rPr lang="en-US" sz="860" b="1" dirty="0">
                <a:solidFill>
                  <a:srgbClr val="1E7A52"/>
                </a:solidFill>
                <a:latin typeface="Calibri" pitchFamily="34" charset="0"/>
                <a:ea typeface="Calibri" pitchFamily="34" charset="-122"/>
                <a:cs typeface="Calibri" pitchFamily="34" charset="-120"/>
              </a:rPr>
              <a:t>Answers to the review.  </a:t>
            </a:r>
            <a:r>
              <a:rPr lang="en-US" sz="860" dirty="0">
                <a:solidFill>
                  <a:srgbClr val="12233A"/>
                </a:solidFill>
                <a:latin typeface="Calibri" pitchFamily="34" charset="0"/>
                <a:ea typeface="Calibri" pitchFamily="34" charset="-122"/>
                <a:cs typeface="Calibri" pitchFamily="34" charset="-120"/>
              </a:rPr>
              <a:t>It is a plain logistic, not a log-logistic:  c(t) = 1 / (1 + e</a:t>
            </a:r>
            <a:r>
              <a:rPr lang="en-US" sz="750" baseline="30000" dirty="0">
                <a:solidFill>
                  <a:srgbClr val="12233A"/>
                </a:solidFill>
                <a:latin typeface="Calibri" pitchFamily="34" charset="0"/>
                <a:ea typeface="Calibri" pitchFamily="34" charset="-122"/>
                <a:cs typeface="Calibri" pitchFamily="34" charset="-120"/>
              </a:rPr>
              <a:t>−(t−25)/10</a:t>
            </a:r>
            <a:r>
              <a:rPr lang="en-US" sz="860" dirty="0">
                <a:solidFill>
                  <a:srgbClr val="12233A"/>
                </a:solidFill>
                <a:latin typeface="Calibri" pitchFamily="34" charset="0"/>
                <a:ea typeface="Calibri" pitchFamily="34" charset="-122"/>
                <a:cs typeface="Calibri" pitchFamily="34" charset="-120"/>
              </a:rPr>
              <a:t>).  It does not start at zero — c(0) = 0.076 — so a relocation within a few minutes is nearly free but not free; c(60) = 0.971, c(120) ≈ 1.  </a:t>
            </a:r>
            <a:r>
              <a:rPr lang="en-US" sz="860" b="1" dirty="0">
                <a:solidFill>
                  <a:srgbClr val="12233A"/>
                </a:solidFill>
                <a:latin typeface="Calibri" pitchFamily="34" charset="0"/>
                <a:ea typeface="Calibri" pitchFamily="34" charset="-122"/>
                <a:cs typeface="Calibri" pitchFamily="34" charset="-120"/>
              </a:rPr>
              <a:t>The degeneracy: </a:t>
            </a:r>
            <a:r>
              <a:rPr lang="en-US" sz="860" dirty="0">
                <a:solidFill>
                  <a:srgbClr val="5B6B7B"/>
                </a:solidFill>
                <a:latin typeface="Calibri" pitchFamily="34" charset="0"/>
                <a:ea typeface="Calibri" pitchFamily="34" charset="-122"/>
                <a:cs typeface="Calibri" pitchFamily="34" charset="-120"/>
              </a:rPr>
              <a:t>both variants sweep the same 1-2-5/decade λ-grid (1e-4 … 5), but c(t) here spans only 0.08–1 where the linear one spans 0–120, so the travel term is ~100× smaller relative to λ·#open. The aggregate’s useful λ-range is 1e-4 … 0.02 for logistic against 1e-4 … 0.5 for linear — that compression is the degeneracy: many λ values map to one solution.  </a:t>
            </a:r>
            <a:r>
              <a:rPr lang="en-US" sz="860" b="1" dirty="0">
                <a:solidFill>
                  <a:srgbClr val="B9791C"/>
                </a:solidFill>
                <a:latin typeface="Calibri" pitchFamily="34" charset="0"/>
                <a:ea typeface="Calibri" pitchFamily="34" charset="-122"/>
                <a:cs typeface="Calibri" pitchFamily="34" charset="-120"/>
              </a:rPr>
              <a:t>Open (BN, 23 Jul): </a:t>
            </a:r>
            <a:r>
              <a:rPr lang="en-US" sz="860" dirty="0">
                <a:solidFill>
                  <a:srgbClr val="5B6B7B"/>
                </a:solidFill>
                <a:latin typeface="Calibri" pitchFamily="34" charset="0"/>
                <a:ea typeface="Calibri" pitchFamily="34" charset="-122"/>
                <a:cs typeface="Calibri" pitchFamily="34" charset="-120"/>
              </a:rPr>
              <a:t>rescale c(t) so c(0) and c(60) match the linear curve. It would spread the λ-range and reduce degeneracy, but it also changes the equity weighting the group chose the logistic for — a group decision, not a tuning.</a:t>
            </a:r>
            <a:endParaRPr lang="en-US" sz="860" dirty="0"/>
          </a:p>
        </p:txBody>
      </p:sp>
      <p:sp>
        <p:nvSpPr>
          <p:cNvPr id="11" name="Text 7"/>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 c(): logistic_midpoint=25, logistic_scale=10.</a:t>
            </a:r>
            <a:endParaRPr lang="en-US" sz="850" dirty="0"/>
          </a:p>
        </p:txBody>
      </p:sp>
    </p:spTree>
    <p:extLst>
      <p:ext uri="{BB962C8B-B14F-4D97-AF65-F5344CB8AC3E}">
        <p14:creationId xmlns:p14="http://schemas.microsoft.com/office/powerpoint/2010/main" val="21940790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904F719-4F8E-07CD-D635-2FF25FD40531}"/>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690EB424-E55C-DC0E-4AB8-87172DC694CD}"/>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98169090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880E934-BBB8-FC45-41B8-E3CEC6AA3DCF}"/>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729FBC3D-18BA-B48B-B957-50684D78839B}"/>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152179384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6919A06-4FA3-0E9C-5621-FFA9F3F4FB32}"/>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EF26A2D8-9FC1-BCB6-C793-FA64B773EE1B}"/>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46458913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3655353-5867-8984-C216-E66629BAF97C}"/>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B3544FE2-2090-A078-4203-98E7EB931E58}"/>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28664574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2AC7ED-15F0-D9D4-B0D0-C6E65971C7D1}"/>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574F3802-64F6-D471-DF50-E514B5BF2919}"/>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00140104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36EAB1-4627-F254-C15E-006ED8FE6AC7}"/>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1F879702-901B-F382-7AB5-67E37A24BFF2}"/>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33244746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72A6B9-1FAD-0865-43B9-A202C06087BB}"/>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489FC308-D903-76F0-6BC2-750986CCAC5C}"/>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08795758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0B866A1-71ED-5951-9EE6-D8D9793695A5}"/>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7CE3FCB1-D14E-2464-6043-907BA0758524}"/>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41733937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15026</Words>
  <Application>Microsoft Office PowerPoint</Application>
  <PresentationFormat>Widescreen</PresentationFormat>
  <Paragraphs>3469</Paragraphs>
  <Slides>71</Slides>
  <Notes>62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71</vt:i4>
      </vt:variant>
    </vt:vector>
  </HeadingPairs>
  <TitlesOfParts>
    <vt:vector size="76"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2026-09-04T14:22:44Z</dcterms:modified>
</cp:coreProperties>
</file>