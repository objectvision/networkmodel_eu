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5"/>
  </p:notesMasterIdLst>
  <p:sldIdLst>
    <p:sldId id="256" r:id="rId2"/>
    <p:sldId id="260" r:id="rId3"/>
    <p:sldId id="257" r:id="rId4"/>
    <p:sldId id="258" r:id="rId5"/>
    <p:sldId id="259" r:id="rId6"/>
    <p:sldId id="261" r:id="rId7"/>
    <p:sldId id="262" r:id="rId8"/>
    <p:sldId id="263" r:id="rId9"/>
    <p:sldId id="264" r:id="rId10"/>
    <p:sldId id="265" r:id="rId11"/>
    <p:sldId id="266" r:id="rId12"/>
    <p:sldId id="298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1680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0051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7196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82649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34996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615287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6384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94516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0505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2317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3404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60094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624116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043260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051334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24243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85676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39085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32697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44952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62561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56495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19094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79906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07522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16641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13248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6967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963013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03368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22703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29232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90883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06358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887668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4664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448252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99274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71997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0574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7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9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0"/>
            <a:ext cx="91440" cy="320040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λ-sweep over an LP relaxation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30175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frontiers, integrality gaps, and what the Netherlands sweep tells us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  ·  NetworkModel_EU / ServiceAccess  ·  May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Proposed agenda  </a:t>
            </a:r>
            <a:r>
              <a:rPr lang="en-US" sz="24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assessing the current pharmacy distribution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24128" y="1435608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&amp; method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24128" y="1728216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Tabula-rasa LP allocation + λ-sweep over the road-network OD; how to read the #facilities ↔ travel-cost frontier.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249424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457200" y="22494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24128" y="2221992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current distribution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24128" y="2514600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metrics per country &amp; key NUTS1 — residents per pharmacy and catchment-size distributions, by road.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03580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57200" y="303580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24128" y="3008376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results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24128" y="3300984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(same #, less travel) and S2 (same travel, fewer pharmacies) per country and NUTS1 — what the frontiers show so far.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822192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457200" y="38221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24128" y="379476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Travel-cost function</a:t>
            </a:r>
            <a:r>
              <a:rPr lang="en-US" sz="1100" i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▸ for discussion / decision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24128" y="4087368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vs linear, and the adapted logit with kinks at ~5 &amp; ~45 min (following page).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4608576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457200" y="460857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24128" y="4581144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/ threshold ladder</a:t>
            </a:r>
            <a:r>
              <a:rPr lang="en-US" sz="1100" i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▸ for discussion / decision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024128" y="4873752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proposed shortcut to the λ-sweep — but catchments vary so widely that realistic min/max bounds are hard to set. Pursue or drop?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539496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457200" y="53949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24128" y="5367528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issues &amp; roadmap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024128" y="5660136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consistency (FRM / ITG / SE2; clients with no reachable pharmacy); priorities and next steps.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11480" y="6364224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sought: 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travel-cost shape (logistic vs linear / adapted logit)  ·  whether the cap–threshold ladder is worth pursuing  ·  how to communicate λ.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9364063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Scenarios and what the sweep computes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91440" cy="22860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pharmacy network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client → nearest existing pharmacy.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total travel cost, mean travel time, and the count of grid cells with at least one pharmacy (target_cells).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217920" y="155448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cost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9224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S1 — fix #facilities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9224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travel time at sum_x ≈ target_cells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9224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Σ wᵢ·c(tᵢⱼ)·yₖ + λ·Σⱼxⱼ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λ to land sum_x at the baseline cell count.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LP-relaxation of UFLP, strong linking yₖ ≤ x_{j(k)}.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548640" y="411480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access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2296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S2 — fix travel cost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2296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#facilities at C ≈ baseline cost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296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objective, different λ target.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Closest point on sweep to the baseline travel cost; trade fewer pharmacies for the same access.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217920" y="4114800"/>
            <a:ext cx="91440" cy="228600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sweep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9224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S3 — reduce both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49224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the full Pareto frontier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9224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Coarse sweep w ∈ {1e-5 … 1e3}, then fine sweep bracketing the S1 and S2 targets.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sum_x and travel cost at each λ.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SWEEP TRACES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Pareto frontier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competing objectives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total person-c(t), weighted by population.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count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sum_x, the LP-relaxed number of opened pharmacies.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sweep works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520440"/>
            <a:ext cx="5303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λ gives one Pareto point (sum_x, travel_c).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λ → many cheap facilities, low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λ → few expensive facilities, high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and S2 are two specific points on the same curve.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sweep traces the curve between and beyond them.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0" y="1691640"/>
            <a:ext cx="512064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6400800" y="1371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 (schematic)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949440" y="281178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6949440" y="365760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949440" y="450342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6949440" y="5349240"/>
            <a:ext cx="438912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6949440" y="1965960"/>
            <a:ext cx="0" cy="338328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6949440" y="1965960"/>
            <a:ext cx="109728" cy="41045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7059168" y="2376410"/>
            <a:ext cx="109728" cy="3366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168896" y="2713057"/>
            <a:ext cx="109728" cy="28110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7278624" y="2994164"/>
            <a:ext cx="109728" cy="23826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7388352" y="3232428"/>
            <a:ext cx="109728" cy="20452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7498080" y="3436951"/>
            <a:ext cx="109728" cy="17747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7607808" y="3614426"/>
            <a:ext cx="109728" cy="15545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7717536" y="3769885"/>
            <a:ext cx="109728" cy="13730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7827264" y="3907186"/>
            <a:ext cx="109728" cy="12214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7936992" y="4029335"/>
            <a:ext cx="109728" cy="10937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8046720" y="4138709"/>
            <a:ext cx="109728" cy="9850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8156448" y="4237212"/>
            <a:ext cx="109728" cy="891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8266176" y="4326388"/>
            <a:ext cx="109728" cy="811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8375904" y="4407502"/>
            <a:ext cx="109728" cy="740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8485632" y="4481601"/>
            <a:ext cx="109728" cy="6795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8595360" y="4549556"/>
            <a:ext cx="109728" cy="6254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8705088" y="4612101"/>
            <a:ext cx="109728" cy="5775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8814816" y="4669857"/>
            <a:ext cx="109728" cy="534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8924544" y="4723355"/>
            <a:ext cx="109728" cy="4969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9034272" y="4773048"/>
            <a:ext cx="109728" cy="4628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9144000" y="4819329"/>
            <a:ext cx="109728" cy="4320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9253728" y="4862536"/>
            <a:ext cx="109728" cy="4043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9363456" y="4902967"/>
            <a:ext cx="109728" cy="379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9473184" y="4940881"/>
            <a:ext cx="109728" cy="3562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9582912" y="4976506"/>
            <a:ext cx="109728" cy="3353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9692640" y="5010042"/>
            <a:ext cx="109728" cy="3162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9802368" y="5041669"/>
            <a:ext cx="109728" cy="298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9912096" y="5071545"/>
            <a:ext cx="109728" cy="2826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10021824" y="5099811"/>
            <a:ext cx="109728" cy="2678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10131552" y="5126594"/>
            <a:ext cx="109728" cy="254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10241280" y="5152008"/>
            <a:ext cx="109728" cy="241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10351008" y="5176156"/>
            <a:ext cx="109728" cy="2297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10460736" y="5199129"/>
            <a:ext cx="109728" cy="21882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10570464" y="5221011"/>
            <a:ext cx="109728" cy="2086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10680192" y="5241878"/>
            <a:ext cx="109728" cy="1992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10789920" y="5261799"/>
            <a:ext cx="109728" cy="1903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10899648" y="5280838"/>
            <a:ext cx="109728" cy="1821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11009376" y="5299051"/>
            <a:ext cx="109728" cy="1744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11119104" y="5316490"/>
            <a:ext cx="109728" cy="1671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11228832" y="5333205"/>
            <a:ext cx="109728" cy="1603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10645541" y="3665694"/>
            <a:ext cx="0" cy="156970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7642459" y="3665694"/>
            <a:ext cx="3003082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7532731" y="35559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7185259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10535813" y="51256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Text 58"/>
          <p:cNvSpPr/>
          <p:nvPr/>
        </p:nvSpPr>
        <p:spPr>
          <a:xfrm>
            <a:off x="10188341" y="47781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10535813" y="3555966"/>
            <a:ext cx="219456" cy="219456"/>
          </a:xfrm>
          <a:prstGeom prst="ellipse">
            <a:avLst/>
          </a:prstGeom>
          <a:solidFill>
            <a:srgbClr val="F2B63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Text 60"/>
          <p:cNvSpPr/>
          <p:nvPr/>
        </p:nvSpPr>
        <p:spPr>
          <a:xfrm>
            <a:off x="10188341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6949440" y="54864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fewer facilities     sum_x     more facilities →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 rot="16200000">
            <a:off x="6446520" y="35204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21792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strong-linking LP, sum_x is a continuous lower bound on integer facility count.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FRACTIONAL SUM_X IS INFORMATIVE, NOT NOISE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Integrality gap: LP can strictly beat IP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029200" cy="475488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 flipH="1">
            <a:off x="171706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717060" y="4892040"/>
            <a:ext cx="2692359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 flipH="1" flipV="1">
            <a:off x="306324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2880360" y="237744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288036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3418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53418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i₁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2654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22654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j₁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28042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2660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68784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36093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21003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53694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5943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clients · 3 candidate pharmacies · weight = 1 each · λ = 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52160" y="15544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integer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852160" y="1965960"/>
            <a:ext cx="5760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one pharmacy: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+ 3 + λ = 7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two: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+ 1 + 2λ = 7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IP optimum = 7   (1 or 2 facilities)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852160" y="32461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LP fractional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852160" y="365760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</a:t>
            </a:r>
            <a:r>
              <a:rPr lang="en-US" sz="14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(½, ½, ½)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each client routes ½ + ½ to its two near pharmacies (cost 1 each).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= 3, facility = 3 · ½ · 2 = 3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LP optimum = </a:t>
            </a:r>
            <a:r>
              <a:rPr lang="en-US" sz="1800" b="1" i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(sum_x = 1.5, strictly &lt; IP = 7)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852160" y="5212080"/>
            <a:ext cx="5760720" cy="105156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6035040" y="53035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Fractional sum_x is not a solver artefact. The LP frontier is a true lower bound; geographies that resist clean integer covering show the gap.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PHARMACY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pharmacy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</a:t>
            </a:r>
            <a:endParaRPr lang="en-US" sz="2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24,799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19,709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= residents whose nearest pharmacy BY ROAD-NETWORK travel time is this one (a cell's catchment split evenly among the pharmacies in it); p10..max = percentiles of that per-pharmacy catchment. #empty = pharmacies that are never the road-nearest for any populated cell (fully shadowed / disconnected); min&gt;0 = smallest non-zero catchment.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4107913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PHARMACY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pharmacy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key NUTS1 regions (FR / IT / SE)</a:t>
            </a:r>
            <a:endParaRPr lang="en-US" sz="2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15,413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FRJ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28,136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27,919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24,740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13,162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9,360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33,444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= residents whose nearest pharmacy BY ROAD-NETWORK travel time is this one (a cell's catchment split evenly among the pharmacies in it); p10..max = percentiles of that per-pharmacy catchment. #empty = pharmacies that are never the road-nearest for any populated cell (fully shadowed / disconnected); min&gt;0 = smallest non-zero catchment. Country rows bold, NUTS1 indented below.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4238265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1 KM² LOCATION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1 km² location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</a:t>
            </a:r>
            <a:endParaRPr lang="en-US" sz="2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resid/loc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7,768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33,771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11,629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14,232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8,930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22,601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17,812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26,161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32,667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22,487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17,129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4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= a unique 1 km² cell with ≥1 pharmacy; catchment = residents whose nearest pharmacy cell BY ROAD is this one; p10..max = percentiles of that per-location catchment. #empty = locations that are never the road-nearest for any populated cell (fully shadowed / disconnected); min&gt;0 = smallest non-zero catchment.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1099685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1 KM² LOCATION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1 km² location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key NUTS1 regions (FR / IT / SE)</a:t>
            </a:r>
            <a:endParaRPr lang="en-US" sz="2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resid/loc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17,812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15,712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22,395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18,820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FRJ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17,607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39,489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27,919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11,481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17,129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13,592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19,528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25,505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= a unique 1 km² cell with ≥1 pharmacy; catchment = residents whose nearest pharmacy cell BY ROAD is this one; p10..max = percentiles of that per-location catchment. #empty = locations that are never the road-nearest for any populated cell (fully shadowed / disconnected); min&gt;0 = smallest non-zero catchment. Country rows bold, NUTS1 indented below.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568886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PRELIMINARY · CATCHMENT-CAP LADDER (NO COST FUNCTION)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— five rungs, capping catchments instead of a cost function  </a:t>
            </a:r>
            <a:r>
              <a:rPr lang="en-US" sz="19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S1 fix #, ↓travel · S2 ↓#, hold travel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0B6E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621792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21792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cap · multiple per cell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21792" y="2103120"/>
            <a:ext cx="3447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B2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+13.3%</a:t>
            </a:r>
            <a:r>
              <a:rPr lang="en-US" sz="1050" dirty="0">
                <a:solidFill>
                  <a:srgbClr val="5B6B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travel vs today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621792" y="2679192"/>
            <a:ext cx="344728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pharmacies · 1,593 cells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1.9% stranded · cap 35,000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61688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0B6E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526280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B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26280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cap · one per cell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26280" y="2103120"/>
            <a:ext cx="3447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7A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-6.5%</a:t>
            </a:r>
            <a:r>
              <a:rPr lang="en-US" sz="1050" dirty="0">
                <a:solidFill>
                  <a:srgbClr val="5B6B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travel vs today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4526280" y="2679192"/>
            <a:ext cx="344728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pharmacies · 1,613 cells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0.8% stranded · cap 35,000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266176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8430768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C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430768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fixed · model the rest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430768" y="219456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79476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21792" y="389534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1792" y="420624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+ max cap · all facilities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21792" y="466344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61688" y="379476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4526280" y="389534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B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26280" y="420624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+ max cap · outside urban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526280" y="466344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019288" y="3794760"/>
            <a:ext cx="37033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</a:t>
            </a:r>
            <a:r>
              <a:rPr lang="en-US" sz="11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today's count, minimises travel under a max catchment cap.  </a:t>
            </a:r>
            <a:r>
              <a:rPr lang="en-US" sz="11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</a:t>
            </a:r>
            <a:r>
              <a:rPr lang="en-US" sz="11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minimises the count under a min (viability) + max catchment, holding travel ≈ today.  Cost-function rung (S1-D / S2-C) = the λ-sweep that follows.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11480" y="6144768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b="1" i="1" dirty="0">
                <a:solidFill>
                  <a:srgbClr val="B2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— INDICATIVE ONLY. </a:t>
            </a: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ladder run incomplete; S1 (fixed-count) figures are sensitive to LP-relaxation rounding and can shift on re-run (robust multistart rounding still to be ported) — read the direction, not the exact %. LINEAR travel cost; max cap = NL observed cell-catchment max (~35k). 'stranded' = demand the cap can't serve within reach,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2110261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NETHERLANDS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cells · 3.44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59.8M · LOG 2.6M</a:t>
            </a:r>
            <a:endParaRPr lang="en-US" sz="1000" dirty="0"/>
          </a:p>
        </p:txBody>
      </p:sp>
      <p:pic>
        <p:nvPicPr>
          <p:cNvPr id="5" name="Image 0" descr="E:\prj\JRC\NetworkModel_EU\doc\charts\Netherlands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Netherlands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3670840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825B26-4E0C-84C7-DBD5-CEE4003AE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76123"/>
            <a:ext cx="11277600" cy="4905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71467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LUXEMBOURG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Luxembourg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 cells · 3.73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2.3M · LOG 94k</a:t>
            </a:r>
            <a:endParaRPr lang="en-US" sz="1000" dirty="0"/>
          </a:p>
        </p:txBody>
      </p:sp>
      <p:pic>
        <p:nvPicPr>
          <p:cNvPr id="5" name="Image 0" descr="E:\prj\JRC\NetworkModel_EU\doc\charts\Luxembour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Luxembour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1720399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ESTONIA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Estonia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291 cells · 3.75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4.6M · LOG 191k</a:t>
            </a:r>
            <a:endParaRPr lang="en-US" sz="1000" dirty="0"/>
          </a:p>
        </p:txBody>
      </p:sp>
      <p:pic>
        <p:nvPicPr>
          <p:cNvPr id="5" name="Image 0" descr="E:\prj\JRC\NetworkModel_EU\doc\charts\Eston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Eston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8434928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LATVIA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Latvia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496 cells · 3.17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5.6M · LOG 259k</a:t>
            </a:r>
            <a:endParaRPr lang="en-US" sz="1000" dirty="0"/>
          </a:p>
        </p:txBody>
      </p:sp>
      <p:pic>
        <p:nvPicPr>
          <p:cNvPr id="5" name="Image 0" descr="E:\prj\JRC\NetworkModel_EU\doc\charts\Latv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Latv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954499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SLOVENIA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Slovenia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306 cells · 5.45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11.2M · LOG 346k</a:t>
            </a:r>
            <a:endParaRPr lang="en-US" sz="1000" dirty="0"/>
          </a:p>
        </p:txBody>
      </p:sp>
      <p:pic>
        <p:nvPicPr>
          <p:cNvPr id="5" name="Image 0" descr="E:\prj\JRC\NetworkModel_EU\doc\charts\Sloven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loven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8778772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NORWAY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Norway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746 cells · 7.31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35.6M · LOG 932k</a:t>
            </a:r>
            <a:endParaRPr lang="en-US" sz="1000" dirty="0"/>
          </a:p>
        </p:txBody>
      </p:sp>
      <p:pic>
        <p:nvPicPr>
          <p:cNvPr id="5" name="Image 0" descr="E:\prj\JRC\NetworkModel_EU\doc\charts\Norway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Norway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1061241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CZECHIA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Czechia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1,622 cells · 4.15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43.1M · LOG 1.6M</a:t>
            </a:r>
            <a:endParaRPr lang="en-US" sz="1000" dirty="0"/>
          </a:p>
        </p:txBody>
      </p:sp>
      <p:pic>
        <p:nvPicPr>
          <p:cNvPr id="5" name="Image 0" descr="E:\prj\JRC\NetworkModel_EU\doc\charts\Czech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Czech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6342597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BELGIUM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Belgium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2,957 cells · 1.85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21.2M · LOG 1.5M</a:t>
            </a:r>
            <a:endParaRPr lang="en-US" sz="1000" dirty="0"/>
          </a:p>
        </p:txBody>
      </p:sp>
      <p:pic>
        <p:nvPicPr>
          <p:cNvPr id="5" name="Image 0" descr="E:\prj\JRC\NetworkModel_EU\doc\charts\Belgium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Belgium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7065951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Île-de-France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1,447 cells · 1.03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12.6M · LOG 1.6M</a:t>
            </a:r>
            <a:endParaRPr lang="en-US" sz="1000" dirty="0"/>
          </a:p>
        </p:txBody>
      </p:sp>
      <p:pic>
        <p:nvPicPr>
          <p:cNvPr id="5" name="Image 0" descr="E:\prj\JRC\NetworkModel_EU\doc\charts\FR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5744461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Centre-Val de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613 cells · 4.13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10.2M · LOG 384k</a:t>
            </a:r>
            <a:endParaRPr lang="en-US" sz="1000" dirty="0"/>
          </a:p>
        </p:txBody>
      </p:sp>
      <p:pic>
        <p:nvPicPr>
          <p:cNvPr id="5" name="Image 0" descr="E:\prj\JRC\NetworkModel_EU\doc\charts\FRB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B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5086289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Bourgogne-Franche-Comté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723 cells · 4.56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12.3M · LOG 429k</a:t>
            </a:r>
            <a:endParaRPr lang="en-US" sz="1000" dirty="0"/>
          </a:p>
        </p:txBody>
      </p:sp>
      <p:pic>
        <p:nvPicPr>
          <p:cNvPr id="5" name="Image 0" descr="E:\prj\JRC\NetworkModel_EU\doc\charts\FR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04047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Normandie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679 cells · 4.21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13.6M · LOG 500k</a:t>
            </a:r>
            <a:endParaRPr lang="en-US" sz="1000" dirty="0"/>
          </a:p>
        </p:txBody>
      </p:sp>
      <p:pic>
        <p:nvPicPr>
          <p:cNvPr id="5" name="Image 0" descr="E:\prj\JRC\NetworkModel_EU\doc\charts\FRD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D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8183499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Hauts-de-France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1,332 cells · 2.88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17.1M · LOG 852k</a:t>
            </a:r>
            <a:endParaRPr lang="en-US" sz="1000" dirty="0"/>
          </a:p>
        </p:txBody>
      </p:sp>
      <p:pic>
        <p:nvPicPr>
          <p:cNvPr id="5" name="Image 0" descr="E:\prj\JRC\NetworkModel_EU\doc\charts\FRE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E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9675630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Grand 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1,167 cells · 3.77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20.7M · LOG 832k</a:t>
            </a:r>
            <a:endParaRPr lang="en-US" sz="1000" dirty="0"/>
          </a:p>
        </p:txBody>
      </p:sp>
      <p:pic>
        <p:nvPicPr>
          <p:cNvPr id="5" name="Image 0" descr="E:\prj\JRC\NetworkModel_EU\doc\charts\FR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9572463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Pays de la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848 cells · 3.97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15.0M · LOG 578k</a:t>
            </a:r>
            <a:endParaRPr lang="en-US" sz="1000" dirty="0"/>
          </a:p>
        </p:txBody>
      </p:sp>
      <p:pic>
        <p:nvPicPr>
          <p:cNvPr id="5" name="Image 0" descr="E:\prj\JRC\NetworkModel_EU\doc\charts\FR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2642379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Bretagne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793 cells · 4.23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13.9M · LOG 508k</a:t>
            </a:r>
            <a:endParaRPr lang="en-US" sz="1000" dirty="0"/>
          </a:p>
        </p:txBody>
      </p:sp>
      <p:pic>
        <p:nvPicPr>
          <p:cNvPr id="5" name="Image 0" descr="E:\prj\JRC\NetworkModel_EU\doc\charts\FR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474431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Nouvelle-Aquitaine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1,583 cells · 4.30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24.9M · LOG 906k</a:t>
            </a:r>
            <a:endParaRPr lang="en-US" sz="1000" dirty="0"/>
          </a:p>
        </p:txBody>
      </p:sp>
      <p:pic>
        <p:nvPicPr>
          <p:cNvPr id="5" name="Image 0" descr="E:\prj\JRC\NetworkModel_EU\doc\charts\FR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4040449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FRJ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Occitanie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1,424 cells · 3.63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21.0M · LOG 870k</a:t>
            </a:r>
            <a:endParaRPr lang="en-US" sz="1000" dirty="0"/>
          </a:p>
        </p:txBody>
      </p:sp>
      <p:pic>
        <p:nvPicPr>
          <p:cNvPr id="5" name="Image 0" descr="E:\prj\JRC\NetworkModel_EU\doc\charts\FRJ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J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63494728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Auvergne-Rhône-Alpes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1,683 cells · 3.46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27.5M · LOG 1.2M</a:t>
            </a:r>
            <a:endParaRPr lang="en-US" sz="1000" dirty="0"/>
          </a:p>
        </p:txBody>
      </p:sp>
      <p:pic>
        <p:nvPicPr>
          <p:cNvPr id="5" name="Image 0" descr="E:\prj\JRC\NetworkModel_EU\doc\charts\FRK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K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44842219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Provence-Alpes-Côte d'Azur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1,021 cells · 2.51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12.5M · LOG 702k</a:t>
            </a:r>
            <a:endParaRPr lang="en-US" sz="1000" dirty="0"/>
          </a:p>
        </p:txBody>
      </p:sp>
      <p:pic>
        <p:nvPicPr>
          <p:cNvPr id="5" name="Image 0" descr="E:\prj\JRC\NetworkModel_EU\doc\charts\FRL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L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93637774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Corse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cells · 4.59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1.5M · LOG 51k</a:t>
            </a:r>
            <a:endParaRPr lang="en-US" sz="1000" dirty="0"/>
          </a:p>
        </p:txBody>
      </p:sp>
      <p:pic>
        <p:nvPicPr>
          <p:cNvPr id="5" name="Image 0" descr="E:\prj\JRC\NetworkModel_EU\doc\charts\FRM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M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01364821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Nord-Ovest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3,652 cells · 2.55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40.1M · LOG 2.2M</a:t>
            </a:r>
            <a:endParaRPr lang="en-US" sz="1000" dirty="0"/>
          </a:p>
        </p:txBody>
      </p:sp>
      <p:pic>
        <p:nvPicPr>
          <p:cNvPr id="5" name="Image 0" descr="E:\prj\JRC\NetworkModel_EU\doc\charts\IT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16860532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Sud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2,841 cells · 3.19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42.0M · LOG 1.9M</a:t>
            </a:r>
            <a:endParaRPr lang="en-US" sz="1000" dirty="0"/>
          </a:p>
        </p:txBody>
      </p:sp>
      <p:pic>
        <p:nvPicPr>
          <p:cNvPr id="5" name="Image 0" descr="E:\prj\JRC\NetworkModel_EU\doc\charts\IT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5266020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Isole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1,181 cells · 2.73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14.6M · LOG 766k</a:t>
            </a:r>
            <a:endParaRPr lang="en-US" sz="1000" dirty="0"/>
          </a:p>
        </p:txBody>
      </p:sp>
      <p:pic>
        <p:nvPicPr>
          <p:cNvPr id="5" name="Image 0" descr="E:\prj\JRC\NetworkModel_EU\doc\charts\IT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5609708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2,722 cells · 3.58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40.7M · LOG 1.7M</a:t>
            </a:r>
            <a:endParaRPr lang="en-US" sz="1000" dirty="0"/>
          </a:p>
        </p:txBody>
      </p:sp>
      <p:pic>
        <p:nvPicPr>
          <p:cNvPr id="5" name="Image 0" descr="E:\prj\JRC\NetworkModel_EU\doc\charts\IT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26150766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Centro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2,242 cells · 3.47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40.0M · LOG 1.7M</a:t>
            </a:r>
            <a:endParaRPr lang="en-US" sz="1000" dirty="0"/>
          </a:p>
        </p:txBody>
      </p:sp>
      <p:pic>
        <p:nvPicPr>
          <p:cNvPr id="5" name="Image 0" descr="E:\prj\JRC\NetworkModel_EU\doc\charts\IT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69720539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Östra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385 cells · 5.01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19.9M · LOG 659k</a:t>
            </a:r>
            <a:endParaRPr lang="en-US" sz="1000" dirty="0"/>
          </a:p>
        </p:txBody>
      </p:sp>
      <p:pic>
        <p:nvPicPr>
          <p:cNvPr id="5" name="Image 0" descr="E:\prj\JRC\NetworkModel_EU\doc\charts\SE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32161595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Södra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451 cells · 6.70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28.0M · LOG 765k</a:t>
            </a:r>
            <a:endParaRPr lang="en-US" sz="1000" dirty="0"/>
          </a:p>
        </p:txBody>
      </p:sp>
      <p:pic>
        <p:nvPicPr>
          <p:cNvPr id="5" name="Image 0" descr="E:\prj\JRC\NetworkModel_EU\doc\charts\SE2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2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6624276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246 cells · 8.14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13.1M · LOG 323k</a:t>
            </a:r>
            <a:endParaRPr lang="en-US" sz="1000" dirty="0"/>
          </a:p>
        </p:txBody>
      </p:sp>
      <p:pic>
        <p:nvPicPr>
          <p:cNvPr id="5" name="Image 0" descr="E:\prj\JRC\NetworkModel_EU\doc\charts\SE3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3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50791395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LINEAR vs LOGISTIC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tracks the LP-relax lower bound — the gap is tightest under LOGISTIC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 c(t) — unbounded, stranding expensive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+0–18% over the LP bound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85800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 rounding costs more where stranding is dear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45352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0B6E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3952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 c(t) — saturates ≈1, stranding cheap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73952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+0–4.7% over the LP bound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473952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rounding is nearly free; the frontier is almost integral</a:t>
            </a:r>
            <a:endParaRPr lang="en-US" sz="105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(195)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(546)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(685)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(311)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(671)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 (610)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 (1179)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(387)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(832)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(40)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(62)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(42)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(395)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(189)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(722)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(218)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(567)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(656)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(746)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(873)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(659)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 (391)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(555)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(633)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(633)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(171)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(161)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(167)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(377)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(224)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(372)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7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(174)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(269)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 (1233)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(1210)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(939)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(939)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FRJ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(256)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(576)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(455)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(550)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(263)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(776)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(306)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(500)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(94)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(311)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(136)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(53)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(107)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(242)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(225)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(337)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(1187)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(503)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 (2517)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(679)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(45)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= multistart travel above the LP-relax bound  (multistart clients stranded by rounding, priced at c(t_max)).  Sparse Swedish regions keep the largest bound-gaps.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8183594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Status against Lewis's &amp; Bernhard's framing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implemented · in progress · remaining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11480" y="886968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λ-sweep is the working general method. </a:t>
            </a:r>
            <a:r>
              <a:rPr lang="en-US" sz="9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proposed A→D ladder would cap catchments + set a min threshold to sidestep it — but the descriptives show catchments vary so widely (p10–p90 several-fold; many pharmacies at zero) that realistic bounds are hard to set, and the ladder may not actually simplify the problem.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0F6F2"/>
          </a:solidFill>
          <a:ln w="12700">
            <a:solidFill>
              <a:srgbClr val="1E7A5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Tabula-rasa LP allocation + λ-sweep → Pareto curve of #facilities vs travel cost (Option D)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Lewis's 3 cases live: S1 (same #, ↓travel) · S2 (same travel, ↓#) · S3 full frontier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6 of Lewis's 22-May descriptive indicators, per country (deck pages 5–8)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Catchments now by ROAD-network travel time (not Euclidean); #empty + smallest non-zero catchment reported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Cap-ladder rungs prototyped (cost-function-free, exploratory): S1-A/B · S2-A/B — run for NL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&amp; LOGISTIC travel costs both run &amp; compared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Coverage: 17 countries + per-NUTS-1 (FR/IT/SE); inhabited-cell candidates, pharmacies merged per cell (1 992→1 617 NL)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224528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BF5EA"/>
          </a:solidFill>
          <a:ln w="12700">
            <a:solidFill>
              <a:srgbClr val="B9791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0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 ◐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407408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Sweeping the 13 newly-available countries (small→large) — networks + OD now prepped per country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per-NUTS-1 λ-sweeps for the large countries (FR / IT / PL)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and fix sweeps for FRM, ITG, SE2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and apply adapted logit function (see next page)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baseline_metrics: it drops un-reachable clients (ITG ≈14% of pop) while the sweep prices them at c(t_max) — make consistent before any distance-to-Pareto metric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2-D status-quo→frontier distance metric (coverage-honest; stranded priced at c(t_max))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Exploring (not committed): max-cap + min-threshold rungs — but the descriptives suggest realistic bounds are hard to set, so this may not pay off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8083296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2F5F8"/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47888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66176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Urban/non-urban flag → model only non-urban, hold urban fixed (options B/C)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candidate set: verify existing ⊂ settlements, then restrict locations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Retune logistic to Lewis's ~5 &amp; ~45-min kinks; add flat-then-linear; sweep sensitivity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real pharmacy a,b (schools: 99 699 + 3 277.5x); ?fixed cost vs &lt;6-y care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λ intuitively (person-minutes / value-per-user)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Cost-function-free S3: balance #/capita vs mean travel, widen beyond the A–B segment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Pareto frontier per country (combine the regional sweeps)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Counterfactuals: −10% pop · replace a known X% · choose which X to close (hard)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Pharmacist-based cap (Ana); caps/thresholds pooled across countries, reported per-country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1480" y="5943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 for the group: 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cap/threshold ladder worth pursuing given how widely catchments vary?  ·  logistic vs linear travel cost (the equity-weighting choice)?  ·  best way to communicate λ?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43159077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TRAVEL-COST FUNCTION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 c(t)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current vs a Lewis-tuned alternative</a:t>
            </a:r>
            <a:endParaRPr lang="en-US" sz="2200" dirty="0"/>
          </a:p>
        </p:txBody>
      </p:sp>
      <p:pic>
        <p:nvPicPr>
          <p:cNvPr id="4" name="Image 0" descr="E:\prj\JRC\NetworkModel_EU\doc\charts\logistic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417320"/>
            <a:ext cx="7132320" cy="38496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80960" y="1463040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30 · scale 15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680960" y="1755648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25 · scale 10</a:t>
            </a:r>
            <a:endParaRPr lang="en-US" sz="12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212848"/>
          <a:ext cx="4160520" cy="9144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(min)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7680960" y="429768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cross at ≈15 min (0.27).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alternative is lower below ~10 min (ignores minor relocations) and saturates by ~45 min (caps remote weight) — closer to Lewis's 22-May ask. Not yet swept; see roadmap.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411480" y="644652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c(t) is applied to travel time in minutes (raw OD seconds ÷ 60); LINEAR uses c(t)=t. settings.jl:82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8981787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7986</Words>
  <Application>Microsoft Office PowerPoint</Application>
  <PresentationFormat>Widescreen</PresentationFormat>
  <Paragraphs>2495</Paragraphs>
  <Slides>43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7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lambda_sweep.jl — UFLP-LP for pharmacy locations</dc:title>
  <dc:subject>PptxGenJS Presentation</dc:subject>
  <dc:creator>Servaas Storm / Object Vision</dc:creator>
  <cp:lastModifiedBy>Maarten Hilferink</cp:lastModifiedBy>
  <cp:revision>3</cp:revision>
  <dcterms:created xsi:type="dcterms:W3CDTF">2026-06-01T08:24:25Z</dcterms:created>
  <dcterms:modified xsi:type="dcterms:W3CDTF">2026-06-23T13:47:21Z</dcterms:modified>
</cp:coreProperties>
</file>