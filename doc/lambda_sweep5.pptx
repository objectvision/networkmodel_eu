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6"/>
  </p:notesMasterIdLst>
  <p:sldIdLst>
    <p:sldId id="260" r:id="rId2"/>
    <p:sldId id="261" r:id="rId3"/>
    <p:sldId id="267" r:id="rId4"/>
    <p:sldId id="268" r:id="rId5"/>
    <p:sldId id="269" r:id="rId6"/>
    <p:sldId id="270" r:id="rId7"/>
    <p:sldId id="262" r:id="rId8"/>
    <p:sldId id="263" r:id="rId9"/>
    <p:sldId id="264" r:id="rId10"/>
    <p:sldId id="265" r:id="rId11"/>
    <p:sldId id="257" r:id="rId12"/>
    <p:sldId id="266" r:id="rId13"/>
    <p:sldId id="258" r:id="rId14"/>
    <p:sldId id="259" r:id="rId15"/>
    <p:sldId id="271" r:id="rId16"/>
    <p:sldId id="272" r:id="rId17"/>
    <p:sldId id="320"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1" r:id="rId66"/>
    <p:sldId id="322" r:id="rId67"/>
    <p:sldId id="323" r:id="rId68"/>
    <p:sldId id="324" r:id="rId69"/>
    <p:sldId id="325" r:id="rId70"/>
    <p:sldId id="326" r:id="rId71"/>
    <p:sldId id="327" r:id="rId72"/>
    <p:sldId id="328" r:id="rId73"/>
    <p:sldId id="329" r:id="rId74"/>
    <p:sldId id="330" r:id="rId7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9" d="100"/>
          <a:sy n="159" d="100"/>
        </p:scale>
        <p:origin x="1680"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10051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2920025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5098019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97781585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26598542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40099316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21610308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2484571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393046247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280236175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255230490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6187138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281476408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334728971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0708023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927417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77524905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4411173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356667520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1700063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30263511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263267991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324731492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38887272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297802440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357929383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22776103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66707932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317558869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289711607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309627678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32104196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224245256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5108360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322696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52972450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388603437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317503634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55609204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277131950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245461363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297246577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93794845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426121802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38789154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28538322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260950979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349559308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365211138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7026336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228344972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207426255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9725099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13771586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65141220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240539988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417062284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3579107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2390414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218623514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28990077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82202319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2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2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26.png"/></Relationships>
</file>

<file path=ppt/slides/_rels/slide2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30.png"/></Relationships>
</file>

<file path=ppt/slides/_rels/slide3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3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36.png"/></Relationships>
</file>

<file path=ppt/slides/_rels/slide3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3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40.png"/></Relationships>
</file>

<file path=ppt/slides/_rels/slide3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42.png"/></Relationships>
</file>

<file path=ppt/slides/_rels/slide3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44.png"/></Relationships>
</file>

<file path=ppt/slides/_rels/slide3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46.png"/></Relationships>
</file>

<file path=ppt/slides/_rels/slide3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48.png"/></Relationships>
</file>

<file path=ppt/slides/_rels/slide4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50.png"/></Relationships>
</file>

<file path=ppt/slides/_rels/slide4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52.png"/></Relationships>
</file>

<file path=ppt/slides/_rels/slide4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54.png"/></Relationships>
</file>

<file path=ppt/slides/_rels/slide4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56.png"/></Relationships>
</file>

<file path=ppt/slides/_rels/slide44.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58.png"/></Relationships>
</file>

<file path=ppt/slides/_rels/slide4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60.png"/></Relationships>
</file>

<file path=ppt/slides/_rels/slide46.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4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64.png"/></Relationships>
</file>

<file path=ppt/slides/_rels/slide48.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66.png"/></Relationships>
</file>

<file path=ppt/slides/_rels/slide49.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48.xml"/><Relationship Id="rId1" Type="http://schemas.openxmlformats.org/officeDocument/2006/relationships/slideLayout" Target="../slideLayouts/slideLayout1.xml"/><Relationship Id="rId4" Type="http://schemas.openxmlformats.org/officeDocument/2006/relationships/image" Target="../media/image68.png"/></Relationships>
</file>

<file path=ppt/slides/_rels/slide5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9.xml"/><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5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72.png"/></Relationships>
</file>

<file path=ppt/slides/_rels/slide52.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74.png"/></Relationships>
</file>

<file path=ppt/slides/_rels/slide53.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76.png"/></Relationships>
</file>

<file path=ppt/slides/_rels/slide54.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78.png"/></Relationships>
</file>

<file path=ppt/slides/_rels/slide55.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54.xml"/><Relationship Id="rId1" Type="http://schemas.openxmlformats.org/officeDocument/2006/relationships/slideLayout" Target="../slideLayouts/slideLayout1.xml"/><Relationship Id="rId4" Type="http://schemas.openxmlformats.org/officeDocument/2006/relationships/image" Target="../media/image80.png"/></Relationships>
</file>

<file path=ppt/slides/_rels/slide56.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55.xml"/><Relationship Id="rId1" Type="http://schemas.openxmlformats.org/officeDocument/2006/relationships/slideLayout" Target="../slideLayouts/slideLayout1.xml"/><Relationship Id="rId4" Type="http://schemas.openxmlformats.org/officeDocument/2006/relationships/image" Target="../media/image82.png"/></Relationships>
</file>

<file path=ppt/slides/_rels/slide57.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56.xml"/><Relationship Id="rId1" Type="http://schemas.openxmlformats.org/officeDocument/2006/relationships/slideLayout" Target="../slideLayouts/slideLayout1.xml"/><Relationship Id="rId4" Type="http://schemas.openxmlformats.org/officeDocument/2006/relationships/image" Target="../media/image84.png"/></Relationships>
</file>

<file path=ppt/slides/_rels/slide58.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86.png"/></Relationships>
</file>

<file path=ppt/slides/_rels/slide59.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58.xml"/><Relationship Id="rId1" Type="http://schemas.openxmlformats.org/officeDocument/2006/relationships/slideLayout" Target="../slideLayouts/slideLayout1.xml"/><Relationship Id="rId4" Type="http://schemas.openxmlformats.org/officeDocument/2006/relationships/image" Target="../media/image88.png"/></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48640" y="1417320"/>
            <a:ext cx="91440" cy="3566160"/>
          </a:xfrm>
          <a:prstGeom prst="rect">
            <a:avLst/>
          </a:prstGeom>
          <a:solidFill>
            <a:srgbClr val="0B6E99"/>
          </a:solidFill>
          <a:ln w="12700">
            <a:solidFill>
              <a:srgbClr val="333333"/>
            </a:solidFill>
            <a:prstDash val="solid"/>
          </a:ln>
        </p:spPr>
        <p:txBody>
          <a:bodyPr/>
          <a:lstStyle/>
          <a:p>
            <a:endParaRPr lang="en-GB"/>
          </a:p>
        </p:txBody>
      </p:sp>
      <p:sp>
        <p:nvSpPr>
          <p:cNvPr id="3" name="Text 1"/>
          <p:cNvSpPr/>
          <p:nvPr/>
        </p:nvSpPr>
        <p:spPr>
          <a:xfrm>
            <a:off x="914400" y="1417320"/>
            <a:ext cx="10515600" cy="292608"/>
          </a:xfrm>
          <a:prstGeom prst="rect">
            <a:avLst/>
          </a:prstGeom>
          <a:noFill/>
          <a:ln/>
        </p:spPr>
        <p:txBody>
          <a:bodyPr wrap="square" rtlCol="0" anchor="ctr"/>
          <a:lstStyle/>
          <a:p>
            <a:pPr marL="0" indent="0">
              <a:buNone/>
            </a:pPr>
            <a:r>
              <a:rPr lang="en-US" sz="1200" b="1" kern="0" spc="200" dirty="0">
                <a:solidFill>
                  <a:srgbClr val="0B6E99"/>
                </a:solidFill>
                <a:latin typeface="Calibri" pitchFamily="34" charset="0"/>
                <a:ea typeface="Calibri" pitchFamily="34" charset="-122"/>
                <a:cs typeface="Calibri" pitchFamily="34" charset="-120"/>
              </a:rPr>
              <a:t>NETWORKMODEL_EU  ·  SERVICE ACCESS  ·  PHARMACIES</a:t>
            </a:r>
            <a:endParaRPr lang="en-US" sz="1200" dirty="0"/>
          </a:p>
        </p:txBody>
      </p:sp>
      <p:sp>
        <p:nvSpPr>
          <p:cNvPr id="4" name="Text 2"/>
          <p:cNvSpPr/>
          <p:nvPr/>
        </p:nvSpPr>
        <p:spPr>
          <a:xfrm>
            <a:off x="914400" y="1783080"/>
            <a:ext cx="10515600" cy="1325880"/>
          </a:xfrm>
          <a:prstGeom prst="rect">
            <a:avLst/>
          </a:prstGeom>
          <a:noFill/>
          <a:ln/>
        </p:spPr>
        <p:txBody>
          <a:bodyPr wrap="square" rtlCol="0" anchor="t"/>
          <a:lstStyle/>
          <a:p>
            <a:pPr marL="0" indent="0">
              <a:buNone/>
            </a:pPr>
            <a:r>
              <a:rPr lang="en-US" sz="3200" b="1" dirty="0">
                <a:solidFill>
                  <a:srgbClr val="12233A"/>
                </a:solidFill>
                <a:latin typeface="Georgia" pitchFamily="34" charset="0"/>
                <a:ea typeface="Georgia" pitchFamily="34" charset="-122"/>
                <a:cs typeface="Georgia" pitchFamily="34" charset="-120"/>
              </a:rPr>
              <a:t>Pharmacy locations across EU regions: how far is today's network from the frontier?</a:t>
            </a:r>
            <a:endParaRPr lang="en-US" sz="3200" dirty="0"/>
          </a:p>
        </p:txBody>
      </p:sp>
      <p:sp>
        <p:nvSpPr>
          <p:cNvPr id="5" name="Text 3"/>
          <p:cNvSpPr/>
          <p:nvPr/>
        </p:nvSpPr>
        <p:spPr>
          <a:xfrm>
            <a:off x="914400" y="3200400"/>
            <a:ext cx="10515600" cy="868680"/>
          </a:xfrm>
          <a:prstGeom prst="rect">
            <a:avLst/>
          </a:prstGeom>
          <a:noFill/>
          <a:ln/>
        </p:spPr>
        <p:txBody>
          <a:bodyPr wrap="square" rtlCol="0" anchor="t"/>
          <a:lstStyle/>
          <a:p>
            <a:pPr marL="0" indent="0">
              <a:buNone/>
            </a:pPr>
            <a:r>
              <a:rPr lang="en-US" sz="1500" dirty="0">
                <a:solidFill>
                  <a:srgbClr val="1C3D5A"/>
                </a:solidFill>
                <a:latin typeface="Calibri" pitchFamily="34" charset="0"/>
                <a:ea typeface="Calibri" pitchFamily="34" charset="-122"/>
                <a:cs typeface="Calibri" pitchFamily="34" charset="-120"/>
              </a:rPr>
              <a:t>A λ-sweep over a facility-location LP on the road network — what exists today, by how much it could improve at equal cost or equal accessibility, and which of 42 study areas have the most to gain</a:t>
            </a:r>
            <a:endParaRPr lang="en-US" sz="1500" dirty="0"/>
          </a:p>
        </p:txBody>
      </p:sp>
      <p:sp>
        <p:nvSpPr>
          <p:cNvPr id="6" name="Text 4"/>
          <p:cNvSpPr/>
          <p:nvPr/>
        </p:nvSpPr>
        <p:spPr>
          <a:xfrm>
            <a:off x="914400" y="4343400"/>
            <a:ext cx="10515600" cy="685800"/>
          </a:xfrm>
          <a:prstGeom prst="rect">
            <a:avLst/>
          </a:prstGeom>
          <a:noFill/>
          <a:ln/>
        </p:spPr>
        <p:txBody>
          <a:bodyPr wrap="square" rtlCol="0" anchor="t"/>
          <a:lstStyle/>
          <a:p>
            <a:pPr marL="0" indent="0">
              <a:buNone/>
            </a:pPr>
            <a:r>
              <a:rPr lang="en-US" sz="1600" b="1" dirty="0">
                <a:solidFill>
                  <a:srgbClr val="12233A"/>
                </a:solidFill>
                <a:latin typeface="Calibri" pitchFamily="34" charset="0"/>
                <a:ea typeface="Calibri" pitchFamily="34" charset="-122"/>
                <a:cs typeface="Calibri" pitchFamily="34" charset="-120"/>
              </a:rPr>
              <a:t>Lola Dekhuijzen  ·  Maarten Hilferink</a:t>
            </a:r>
            <a:endParaRPr lang="en-US" sz="1600" dirty="0"/>
          </a:p>
          <a:p>
            <a:pPr marL="0" indent="0">
              <a:buNone/>
            </a:pPr>
            <a:r>
              <a:rPr lang="en-US" sz="1600" dirty="0">
                <a:solidFill>
                  <a:srgbClr val="5B6B7B"/>
                </a:solidFill>
                <a:latin typeface="Calibri" pitchFamily="34" charset="0"/>
                <a:ea typeface="Calibri" pitchFamily="34" charset="-122"/>
                <a:cs typeface="Calibri" pitchFamily="34" charset="-120"/>
              </a:rPr>
              <a:t>Object Vision</a:t>
            </a:r>
            <a:endParaRPr lang="en-US" sz="1600" dirty="0"/>
          </a:p>
        </p:txBody>
      </p:sp>
      <p:sp>
        <p:nvSpPr>
          <p:cNvPr id="7" name="Text 5"/>
          <p:cNvSpPr/>
          <p:nvPr/>
        </p:nvSpPr>
        <p:spPr>
          <a:xfrm>
            <a:off x="914400" y="6035040"/>
            <a:ext cx="10515600" cy="365760"/>
          </a:xfrm>
          <a:prstGeom prst="rect">
            <a:avLst/>
          </a:prstGeom>
          <a:noFill/>
          <a:ln/>
        </p:spPr>
        <p:txBody>
          <a:bodyPr wrap="square" rtlCol="0" anchor="ctr"/>
          <a:lstStyle/>
          <a:p>
            <a:pPr marL="0" indent="0">
              <a:buNone/>
            </a:pPr>
            <a:r>
              <a:rPr lang="en-US" sz="1000" i="1" dirty="0">
                <a:solidFill>
                  <a:srgbClr val="5B6B7B"/>
                </a:solidFill>
                <a:latin typeface="Calibri" pitchFamily="34" charset="0"/>
                <a:ea typeface="Calibri" pitchFamily="34" charset="-122"/>
                <a:cs typeface="Calibri" pitchFamily="34" charset="-120"/>
              </a:rPr>
              <a:t>Draft for discussion  ·  September 2026  ·  GeoDMS road-network OD + Julia (JuMP / HiGHS)  ·  NetworkModel_EU / ServiceAccess</a:t>
            </a:r>
            <a:endParaRPr lang="en-US" sz="1000" dirty="0"/>
          </a:p>
        </p:txBody>
      </p:sp>
    </p:spTree>
    <p:extLst>
      <p:ext uri="{BB962C8B-B14F-4D97-AF65-F5344CB8AC3E}">
        <p14:creationId xmlns:p14="http://schemas.microsoft.com/office/powerpoint/2010/main" val="40791517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310896"/>
            <a:ext cx="8229600" cy="274320"/>
          </a:xfrm>
          <a:prstGeom prst="rect">
            <a:avLst/>
          </a:prstGeom>
          <a:noFill/>
          <a:ln/>
        </p:spPr>
        <p:txBody>
          <a:bodyPr wrap="square" rtlCol="0" anchor="ctr"/>
          <a:lstStyle/>
          <a:p>
            <a:pPr marL="0" indent="0">
              <a:buNone/>
            </a:pPr>
            <a:r>
              <a:rPr lang="en-US" sz="1200" b="1" kern="0" spc="200" dirty="0">
                <a:solidFill>
                  <a:srgbClr val="0B6E99"/>
                </a:solidFill>
              </a:rPr>
              <a:t>AGENDA</a:t>
            </a:r>
            <a:endParaRPr lang="en-US" sz="1200" dirty="0"/>
          </a:p>
        </p:txBody>
      </p:sp>
      <p:sp>
        <p:nvSpPr>
          <p:cNvPr id="3" name="Text 1"/>
          <p:cNvSpPr/>
          <p:nvPr/>
        </p:nvSpPr>
        <p:spPr>
          <a:xfrm>
            <a:off x="411480" y="566928"/>
            <a:ext cx="11430000" cy="457200"/>
          </a:xfrm>
          <a:prstGeom prst="rect">
            <a:avLst/>
          </a:prstGeom>
          <a:noFill/>
          <a:ln/>
        </p:spPr>
        <p:txBody>
          <a:bodyPr wrap="square" rtlCol="0" anchor="ctr"/>
          <a:lstStyle/>
          <a:p>
            <a:pPr marL="0" indent="0">
              <a:buNone/>
            </a:pPr>
            <a:r>
              <a:rPr lang="en-US" sz="2400" b="1" dirty="0">
                <a:solidFill>
                  <a:srgbClr val="12233A"/>
                </a:solidFill>
                <a:latin typeface="Georgia" pitchFamily="34" charset="0"/>
                <a:ea typeface="Georgia" pitchFamily="34" charset="-122"/>
                <a:cs typeface="Georgia" pitchFamily="34" charset="-120"/>
              </a:rPr>
              <a:t>Proposed agenda  </a:t>
            </a:r>
            <a:r>
              <a:rPr lang="en-US" sz="2400" dirty="0">
                <a:solidFill>
                  <a:srgbClr val="1C3D5A"/>
                </a:solidFill>
                <a:latin typeface="Georgia" pitchFamily="34" charset="0"/>
                <a:ea typeface="Georgia" pitchFamily="34" charset="-122"/>
                <a:cs typeface="Georgia" pitchFamily="34" charset="-120"/>
              </a:rPr>
              <a:t>— assessing the current pharmacy distribution</a:t>
            </a:r>
            <a:endParaRPr lang="en-US" sz="2400" dirty="0"/>
          </a:p>
        </p:txBody>
      </p:sp>
      <p:sp>
        <p:nvSpPr>
          <p:cNvPr id="4" name="Shape 2"/>
          <p:cNvSpPr/>
          <p:nvPr/>
        </p:nvSpPr>
        <p:spPr>
          <a:xfrm>
            <a:off x="457200" y="146304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46304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43560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The current distribution</a:t>
            </a:r>
            <a:endParaRPr lang="en-US" sz="1500" dirty="0"/>
          </a:p>
        </p:txBody>
      </p:sp>
      <p:sp>
        <p:nvSpPr>
          <p:cNvPr id="7" name="Text 5"/>
          <p:cNvSpPr/>
          <p:nvPr/>
        </p:nvSpPr>
        <p:spPr>
          <a:xfrm>
            <a:off x="1024128" y="172821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What exists today: residents per pharmacy and per 1 km² location, per country and key NUTS1, catchments by road (p3–6).</a:t>
            </a:r>
            <a:endParaRPr lang="en-US" sz="1150" dirty="0"/>
          </a:p>
        </p:txBody>
      </p:sp>
      <p:sp>
        <p:nvSpPr>
          <p:cNvPr id="8" name="Shape 6"/>
          <p:cNvSpPr/>
          <p:nvPr/>
        </p:nvSpPr>
        <p:spPr>
          <a:xfrm>
            <a:off x="457200" y="224942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24942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221992"/>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Scope &amp; method</a:t>
            </a:r>
            <a:endParaRPr lang="en-US" sz="1500" dirty="0"/>
          </a:p>
        </p:txBody>
      </p:sp>
      <p:sp>
        <p:nvSpPr>
          <p:cNvPr id="11" name="Text 9"/>
          <p:cNvSpPr/>
          <p:nvPr/>
        </p:nvSpPr>
        <p:spPr>
          <a:xfrm>
            <a:off x="1024128" y="2514600"/>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By how much can accessibility improve at equal cost, or cost fall at equal accessibility? A tabula-rasa LP allocation on the road OD, swept over λ, answers that as a frontier of #locations vs travel (p7–14). Cost and accessibility trade off continuously under exogenous demand — there is no trilemma to resolve.</a:t>
            </a:r>
            <a:endParaRPr lang="en-US" sz="1150" dirty="0"/>
          </a:p>
        </p:txBody>
      </p:sp>
      <p:sp>
        <p:nvSpPr>
          <p:cNvPr id="12" name="Shape 10"/>
          <p:cNvSpPr/>
          <p:nvPr/>
        </p:nvSpPr>
        <p:spPr>
          <a:xfrm>
            <a:off x="457200" y="303580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3580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08376"/>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Scenario results</a:t>
            </a:r>
            <a:endParaRPr lang="en-US" sz="1500" dirty="0"/>
          </a:p>
        </p:txBody>
      </p:sp>
      <p:sp>
        <p:nvSpPr>
          <p:cNvPr id="15" name="Text 13"/>
          <p:cNvSpPr/>
          <p:nvPr/>
        </p:nvSpPr>
        <p:spPr>
          <a:xfrm>
            <a:off x="1024128" y="3300984"/>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S1 (same #, less travel) and S2 (same travel, fewer locations) per area, quantified first in native units — locations and person-minutes, which need no λ — and only then in € (p16–61).</a:t>
            </a:r>
            <a:endParaRPr lang="en-US" sz="1150" dirty="0"/>
          </a:p>
        </p:txBody>
      </p:sp>
      <p:sp>
        <p:nvSpPr>
          <p:cNvPr id="16" name="Shape 14"/>
          <p:cNvSpPr/>
          <p:nvPr/>
        </p:nvSpPr>
        <p:spPr>
          <a:xfrm>
            <a:off x="457200" y="382219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82219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794760"/>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Travel-cost function</a:t>
            </a:r>
            <a:r>
              <a:rPr lang="en-US" sz="1100" i="1" dirty="0">
                <a:solidFill>
                  <a:srgbClr val="0B6E99"/>
                </a:solidFill>
                <a:latin typeface="Calibri" pitchFamily="34" charset="0"/>
                <a:ea typeface="Calibri" pitchFamily="34" charset="-122"/>
                <a:cs typeface="Calibri" pitchFamily="34" charset="-120"/>
              </a:rPr>
              <a:t>    ▸ for discussion / decision</a:t>
            </a:r>
            <a:endParaRPr lang="en-US" sz="1500" dirty="0"/>
          </a:p>
        </p:txBody>
      </p:sp>
      <p:sp>
        <p:nvSpPr>
          <p:cNvPr id="19" name="Text 17"/>
          <p:cNvSpPr/>
          <p:nvPr/>
        </p:nvSpPr>
        <p:spPr>
          <a:xfrm>
            <a:off x="1024128" y="4087368"/>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Linear vs the logistic (midpoint 25 / scale 10), its compressed λ-range, and BN's proposal to rescale it (p64).</a:t>
            </a:r>
            <a:endParaRPr lang="en-US" sz="1150" dirty="0"/>
          </a:p>
        </p:txBody>
      </p:sp>
      <p:sp>
        <p:nvSpPr>
          <p:cNvPr id="20" name="Shape 18"/>
          <p:cNvSpPr/>
          <p:nvPr/>
        </p:nvSpPr>
        <p:spPr>
          <a:xfrm>
            <a:off x="457200" y="4608576"/>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1" name="Text 19"/>
          <p:cNvSpPr/>
          <p:nvPr/>
        </p:nvSpPr>
        <p:spPr>
          <a:xfrm>
            <a:off x="457200" y="4608576"/>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2" name="Text 20"/>
          <p:cNvSpPr/>
          <p:nvPr/>
        </p:nvSpPr>
        <p:spPr>
          <a:xfrm>
            <a:off x="1024128" y="4581144"/>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Cap / threshold ladder</a:t>
            </a:r>
            <a:endParaRPr lang="en-US" sz="1500" dirty="0"/>
          </a:p>
        </p:txBody>
      </p:sp>
      <p:sp>
        <p:nvSpPr>
          <p:cNvPr id="23" name="Text 21"/>
          <p:cNvSpPr/>
          <p:nvPr/>
        </p:nvSpPr>
        <p:spPr>
          <a:xfrm>
            <a:off x="1024128" y="4873752"/>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A proposed shortcut to the λ-sweep, explored on the Netherlands — catchments vary so widely that realistic min/max bounds cannot be set. Dropped; p15 kept as the record.</a:t>
            </a:r>
            <a:endParaRPr lang="en-US" sz="1150" dirty="0"/>
          </a:p>
        </p:txBody>
      </p:sp>
      <p:sp>
        <p:nvSpPr>
          <p:cNvPr id="24" name="Shape 22"/>
          <p:cNvSpPr/>
          <p:nvPr/>
        </p:nvSpPr>
        <p:spPr>
          <a:xfrm>
            <a:off x="457200" y="53949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5" name="Text 23"/>
          <p:cNvSpPr/>
          <p:nvPr/>
        </p:nvSpPr>
        <p:spPr>
          <a:xfrm>
            <a:off x="457200" y="53949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26" name="Text 24"/>
          <p:cNvSpPr/>
          <p:nvPr/>
        </p:nvSpPr>
        <p:spPr>
          <a:xfrm>
            <a:off x="1024128" y="536752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Choice set, open items &amp; roadmap</a:t>
            </a:r>
            <a:endParaRPr lang="en-US" sz="1500" dirty="0"/>
          </a:p>
        </p:txBody>
      </p:sp>
      <p:sp>
        <p:nvSpPr>
          <p:cNvPr id="27" name="Text 25"/>
          <p:cNvSpPr/>
          <p:nvPr/>
        </p:nvSpPr>
        <p:spPr>
          <a:xfrm>
            <a:off x="1024128" y="566013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Where the 5-nearest choice set binds and why widening it precedes RSSV (p9); exact S1/S2 pinning; what remains, in priority order, and what was dropped (p63).</a:t>
            </a:r>
            <a:endParaRPr lang="en-US" sz="1150" dirty="0"/>
          </a:p>
        </p:txBody>
      </p:sp>
      <p:sp>
        <p:nvSpPr>
          <p:cNvPr id="28" name="Text 26"/>
          <p:cNvSpPr/>
          <p:nvPr/>
        </p:nvSpPr>
        <p:spPr>
          <a:xfrm>
            <a:off x="411480" y="6364224"/>
            <a:ext cx="11430000" cy="36576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Decisions sought:  </a:t>
            </a:r>
            <a:r>
              <a:rPr lang="en-US" sz="1000" i="1" dirty="0">
                <a:solidFill>
                  <a:srgbClr val="5B6B7B"/>
                </a:solidFill>
                <a:latin typeface="Calibri" pitchFamily="34" charset="0"/>
                <a:ea typeface="Calibri" pitchFamily="34" charset="-122"/>
                <a:cs typeface="Calibri" pitchFamily="34" charset="-120"/>
              </a:rPr>
              <a:t>travel-cost shape (linear vs logistic, and BN's rescaling)  ·  widen the candidate radius before RSSV  ·  territorial coverage constraints for equity, or keep soft coverage.</a:t>
            </a:r>
            <a:endParaRPr lang="en-US" sz="1000" dirty="0"/>
          </a:p>
        </p:txBody>
      </p:sp>
    </p:spTree>
    <p:extLst>
      <p:ext uri="{BB962C8B-B14F-4D97-AF65-F5344CB8AC3E}">
        <p14:creationId xmlns:p14="http://schemas.microsoft.com/office/powerpoint/2010/main" val="3062181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64160">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18,348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19,709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Source: pharmacy_descriptives.csv (road OD; Lewis, 22 May).</a:t>
            </a:r>
            <a:endParaRPr lang="en-US" sz="800" dirty="0"/>
          </a:p>
        </p:txBody>
      </p:sp>
    </p:spTree>
    <p:extLst>
      <p:ext uri="{BB962C8B-B14F-4D97-AF65-F5344CB8AC3E}">
        <p14:creationId xmlns:p14="http://schemas.microsoft.com/office/powerpoint/2010/main" val="17936543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15,413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36893845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64160">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22,601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26,161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9,811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32,667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11,475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Source: pharmacy_descriptives.csv (road OD; Lewis, 22 May).</a:t>
            </a:r>
            <a:endParaRPr lang="en-US" sz="800" dirty="0"/>
          </a:p>
        </p:txBody>
      </p:sp>
    </p:spTree>
    <p:extLst>
      <p:ext uri="{BB962C8B-B14F-4D97-AF65-F5344CB8AC3E}">
        <p14:creationId xmlns:p14="http://schemas.microsoft.com/office/powerpoint/2010/main" val="36778252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15,013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22,395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8,837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13,082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23,316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35,654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8486548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MODEL</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optimization problem  </a:t>
            </a:r>
            <a:r>
              <a:rPr lang="en-US" sz="2200" dirty="0">
                <a:solidFill>
                  <a:srgbClr val="1C3D5A"/>
                </a:solidFill>
                <a:latin typeface="Georgia" pitchFamily="34" charset="0"/>
                <a:ea typeface="Georgia" pitchFamily="34" charset="-122"/>
                <a:cs typeface="Georgia" pitchFamily="34" charset="-120"/>
              </a:rPr>
              <a:t>— uncapacitated facility location on the road OD</a:t>
            </a:r>
            <a:endParaRPr lang="en-US" sz="2200" dirty="0"/>
          </a:p>
        </p:txBody>
      </p:sp>
      <p:sp>
        <p:nvSpPr>
          <p:cNvPr id="4" name="Shape 2"/>
          <p:cNvSpPr/>
          <p:nvPr/>
        </p:nvSpPr>
        <p:spPr>
          <a:xfrm>
            <a:off x="457200" y="1234440"/>
            <a:ext cx="6035040" cy="3108960"/>
          </a:xfrm>
          <a:prstGeom prst="roundRect">
            <a:avLst>
              <a:gd name="adj" fmla="val 1765"/>
            </a:avLst>
          </a:prstGeom>
          <a:solidFill>
            <a:srgbClr val="12233A"/>
          </a:solidFill>
          <a:ln w="12700">
            <a:solidFill>
              <a:srgbClr val="333333"/>
            </a:solidFill>
            <a:prstDash val="solid"/>
          </a:ln>
        </p:spPr>
        <p:txBody>
          <a:bodyPr/>
          <a:lstStyle/>
          <a:p>
            <a:endParaRPr lang="en-GB"/>
          </a:p>
        </p:txBody>
      </p:sp>
      <p:sp>
        <p:nvSpPr>
          <p:cNvPr id="5" name="Text 3"/>
          <p:cNvSpPr/>
          <p:nvPr/>
        </p:nvSpPr>
        <p:spPr>
          <a:xfrm>
            <a:off x="731520" y="1371600"/>
            <a:ext cx="5577840" cy="365760"/>
          </a:xfrm>
          <a:prstGeom prst="rect">
            <a:avLst/>
          </a:prstGeom>
          <a:noFill/>
          <a:ln/>
        </p:spPr>
        <p:txBody>
          <a:bodyPr wrap="square" rtlCol="0" anchor="ctr"/>
          <a:lstStyle/>
          <a:p>
            <a:pPr marL="0" indent="0">
              <a:buNone/>
            </a:pPr>
            <a:r>
              <a:rPr lang="en-US" sz="1400" b="1" dirty="0">
                <a:solidFill>
                  <a:srgbClr val="8FD4F0"/>
                </a:solidFill>
                <a:latin typeface="Cambria Math" pitchFamily="34" charset="0"/>
                <a:ea typeface="Cambria Math" pitchFamily="34" charset="-122"/>
                <a:cs typeface="Cambria Math" pitchFamily="34" charset="-120"/>
              </a:rPr>
              <a:t>min</a:t>
            </a:r>
            <a:r>
              <a:rPr lang="en-US" sz="1000" baseline="-40000" dirty="0">
                <a:solidFill>
                  <a:srgbClr val="8FD4F0"/>
                </a:solidFill>
                <a:latin typeface="Cambria Math" pitchFamily="34" charset="0"/>
                <a:ea typeface="Cambria Math" pitchFamily="34" charset="-122"/>
                <a:cs typeface="Cambria Math" pitchFamily="34" charset="-120"/>
              </a:rPr>
              <a:t>x,y</a:t>
            </a:r>
            <a:r>
              <a:rPr lang="en-US" sz="1400" dirty="0">
                <a:solidFill>
                  <a:srgbClr val="FFFFFF"/>
                </a:solidFill>
                <a:latin typeface="Cambria Math" pitchFamily="34" charset="0"/>
                <a:ea typeface="Cambria Math" pitchFamily="34" charset="-122"/>
                <a:cs typeface="Cambria Math" pitchFamily="34" charset="-120"/>
              </a:rPr>
              <a:t>   Σᵢ popᵢ · [ Σⱼ c(tᵢⱼ)·xᵢⱼ  +  BIG·(1 − Σⱼ xᵢⱼ) ]   +   λ · Σⱼ yⱼ</a:t>
            </a:r>
            <a:endParaRPr lang="en-US" sz="1400" dirty="0"/>
          </a:p>
        </p:txBody>
      </p:sp>
      <p:sp>
        <p:nvSpPr>
          <p:cNvPr id="6" name="Text 4"/>
          <p:cNvSpPr/>
          <p:nvPr/>
        </p:nvSpPr>
        <p:spPr>
          <a:xfrm>
            <a:off x="731520" y="1737360"/>
            <a:ext cx="5577840" cy="228600"/>
          </a:xfrm>
          <a:prstGeom prst="rect">
            <a:avLst/>
          </a:prstGeom>
          <a:noFill/>
          <a:ln/>
        </p:spPr>
        <p:txBody>
          <a:bodyPr wrap="square" rtlCol="0" anchor="ctr"/>
          <a:lstStyle/>
          <a:p>
            <a:pPr marL="0" indent="0">
              <a:buNone/>
            </a:pPr>
            <a:r>
              <a:rPr lang="en-US" sz="900" i="1" dirty="0">
                <a:solidFill>
                  <a:srgbClr val="9FB0C2"/>
                </a:solidFill>
                <a:latin typeface="Calibri" pitchFamily="34" charset="0"/>
                <a:ea typeface="Calibri" pitchFamily="34" charset="-122"/>
                <a:cs typeface="Calibri" pitchFamily="34" charset="-120"/>
              </a:rPr>
              <a:t>travel of the served share   +   the unserved share, priced at BIG   +   facility cost</a:t>
            </a:r>
            <a:endParaRPr lang="en-US" sz="900" dirty="0"/>
          </a:p>
        </p:txBody>
      </p:sp>
      <p:sp>
        <p:nvSpPr>
          <p:cNvPr id="7" name="Text 5"/>
          <p:cNvSpPr/>
          <p:nvPr/>
        </p:nvSpPr>
        <p:spPr>
          <a:xfrm>
            <a:off x="731520" y="2057400"/>
            <a:ext cx="5577840" cy="1280160"/>
          </a:xfrm>
          <a:prstGeom prst="rect">
            <a:avLst/>
          </a:prstGeom>
          <a:noFill/>
          <a:ln/>
        </p:spPr>
        <p:txBody>
          <a:bodyPr wrap="square" rtlCol="0" anchor="ctr"/>
          <a:lstStyle/>
          <a:p>
            <a:pPr marL="0" indent="0">
              <a:lnSpc>
                <a:spcPct val="135000"/>
              </a:lnSpc>
              <a:buNone/>
            </a:pPr>
            <a:r>
              <a:rPr lang="en-US" sz="1500" b="1" dirty="0">
                <a:solidFill>
                  <a:srgbClr val="8FD4F0"/>
                </a:solidFill>
                <a:latin typeface="Cambria Math" pitchFamily="34" charset="0"/>
                <a:ea typeface="Cambria Math" pitchFamily="34" charset="-122"/>
                <a:cs typeface="Cambria Math" pitchFamily="34" charset="-120"/>
              </a:rPr>
              <a:t>s.t.</a:t>
            </a:r>
            <a:r>
              <a:rPr lang="en-US" sz="1500" dirty="0">
                <a:solidFill>
                  <a:srgbClr val="FFFFFF"/>
                </a:solidFill>
                <a:latin typeface="Cambria Math" pitchFamily="34" charset="0"/>
                <a:ea typeface="Cambria Math" pitchFamily="34" charset="-122"/>
                <a:cs typeface="Cambria Math" pitchFamily="34" charset="-120"/>
              </a:rPr>
              <a:t>  Σⱼ xᵢⱼ  ≤  1</a:t>
            </a:r>
            <a:r>
              <a:rPr lang="en-US" sz="1050" dirty="0">
                <a:solidFill>
                  <a:srgbClr val="FFD9A0"/>
                </a:solidFill>
                <a:latin typeface="Calibri" pitchFamily="34" charset="0"/>
                <a:ea typeface="Calibri" pitchFamily="34" charset="-122"/>
                <a:cs typeface="Calibri" pitchFamily="34" charset="-120"/>
              </a:rPr>
              <a:t>          a client MAY be left unserved</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xᵢⱼ  ≤  yⱼ</a:t>
            </a:r>
            <a:r>
              <a:rPr lang="en-US" sz="1050" dirty="0">
                <a:solidFill>
                  <a:srgbClr val="9FB0C2"/>
                </a:solidFill>
                <a:latin typeface="Calibri" pitchFamily="34" charset="0"/>
                <a:ea typeface="Calibri" pitchFamily="34" charset="-122"/>
                <a:cs typeface="Calibri" pitchFamily="34" charset="-120"/>
              </a:rPr>
              <a:t>            only to open pharmacies</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yⱼ ∈ {0,1}</a:t>
            </a:r>
            <a:r>
              <a:rPr lang="en-US" sz="1500" dirty="0">
                <a:solidFill>
                  <a:srgbClr val="FFD9A0"/>
                </a:solidFill>
                <a:latin typeface="Cambria Math" pitchFamily="34" charset="0"/>
                <a:ea typeface="Cambria Math" pitchFamily="34" charset="-122"/>
                <a:cs typeface="Cambria Math" pitchFamily="34" charset="-120"/>
              </a:rPr>
              <a:t>  →  relaxed to  0 ≤ yⱼ ≤ 1,   xᵢⱼ ≥ 0</a:t>
            </a:r>
            <a:endParaRPr lang="en-US" sz="1500" dirty="0"/>
          </a:p>
        </p:txBody>
      </p:sp>
      <p:sp>
        <p:nvSpPr>
          <p:cNvPr id="8" name="Text 6"/>
          <p:cNvSpPr/>
          <p:nvPr/>
        </p:nvSpPr>
        <p:spPr>
          <a:xfrm>
            <a:off x="731520" y="3364992"/>
            <a:ext cx="5532120" cy="868680"/>
          </a:xfrm>
          <a:prstGeom prst="rect">
            <a:avLst/>
          </a:prstGeom>
          <a:noFill/>
          <a:ln/>
        </p:spPr>
        <p:txBody>
          <a:bodyPr wrap="square" rtlCol="0" anchor="t"/>
          <a:lstStyle/>
          <a:p>
            <a:pPr marL="0" indent="0">
              <a:buNone/>
            </a:pPr>
            <a:r>
              <a:rPr lang="en-US" sz="1100" i="1" dirty="0">
                <a:solidFill>
                  <a:srgbClr val="FFFFFF"/>
                </a:solidFill>
                <a:latin typeface="Cambria Math" pitchFamily="34" charset="0"/>
                <a:ea typeface="Cambria Math" pitchFamily="34" charset="-122"/>
                <a:cs typeface="Cambria Math" pitchFamily="34" charset="-120"/>
              </a:rPr>
              <a:t>i</a:t>
            </a:r>
            <a:r>
              <a:rPr lang="en-US" sz="1050" dirty="0">
                <a:solidFill>
                  <a:srgbClr val="C7D2DD"/>
                </a:solidFill>
                <a:latin typeface="Calibri" pitchFamily="34" charset="0"/>
                <a:ea typeface="Calibri" pitchFamily="34" charset="-122"/>
                <a:cs typeface="Calibri" pitchFamily="34" charset="-120"/>
              </a:rPr>
              <a:t> = populated 1 km² cells (clients) · </a:t>
            </a:r>
            <a:r>
              <a:rPr lang="en-US" sz="1100" i="1" dirty="0">
                <a:solidFill>
                  <a:srgbClr val="FFFFFF"/>
                </a:solidFill>
                <a:latin typeface="Cambria Math" pitchFamily="34" charset="0"/>
                <a:ea typeface="Cambria Math" pitchFamily="34" charset="-122"/>
                <a:cs typeface="Cambria Math" pitchFamily="34" charset="-120"/>
              </a:rPr>
              <a:t>j</a:t>
            </a:r>
            <a:r>
              <a:rPr lang="en-US" sz="1050" dirty="0">
                <a:solidFill>
                  <a:srgbClr val="C7D2DD"/>
                </a:solidFill>
                <a:latin typeface="Calibri" pitchFamily="34" charset="0"/>
                <a:ea typeface="Calibri" pitchFamily="34" charset="-122"/>
                <a:cs typeface="Calibri" pitchFamily="34" charset="-120"/>
              </a:rPr>
              <a:t> = candidate pharmacy cells · </a:t>
            </a:r>
            <a:r>
              <a:rPr lang="en-US" sz="1100" i="1" dirty="0">
                <a:solidFill>
                  <a:srgbClr val="FFFFFF"/>
                </a:solidFill>
                <a:latin typeface="Cambria Math" pitchFamily="34" charset="0"/>
                <a:ea typeface="Cambria Math" pitchFamily="34" charset="-122"/>
                <a:cs typeface="Cambria Math" pitchFamily="34" charset="-120"/>
              </a:rPr>
              <a:t>(i,j)</a:t>
            </a:r>
            <a:r>
              <a:rPr lang="en-US" sz="1050" dirty="0">
                <a:solidFill>
                  <a:srgbClr val="C7D2DD"/>
                </a:solidFill>
                <a:latin typeface="Calibri" pitchFamily="34" charset="0"/>
                <a:ea typeface="Calibri" pitchFamily="34" charset="-122"/>
                <a:cs typeface="Calibri" pitchFamily="34" charset="-120"/>
              </a:rPr>
              <a:t> only where the road network gives tᵢⱼ ≤ t_max — the exported OD.  </a:t>
            </a:r>
            <a:r>
              <a:rPr lang="en-US" sz="1100" i="1" dirty="0">
                <a:solidFill>
                  <a:srgbClr val="FFD9A0"/>
                </a:solidFill>
                <a:latin typeface="Cambria Math" pitchFamily="34" charset="0"/>
                <a:ea typeface="Cambria Math" pitchFamily="34" charset="-122"/>
                <a:cs typeface="Cambria Math" pitchFamily="34" charset="-120"/>
              </a:rPr>
              <a:t>BIG</a:t>
            </a:r>
            <a:r>
              <a:rPr lang="en-US" sz="1050" dirty="0">
                <a:solidFill>
                  <a:srgbClr val="C7D2DD"/>
                </a:solidFill>
                <a:latin typeface="Calibri" pitchFamily="34" charset="0"/>
                <a:ea typeface="Calibri" pitchFamily="34" charset="-122"/>
                <a:cs typeface="Calibri" pitchFamily="34" charset="-120"/>
              </a:rPr>
              <a:t> = price of leaving a client unserved: 120 min (linear) / 1.0 (logistic saturation). Opening a facility only pays off where it saves more travel than λ.</a:t>
            </a:r>
            <a:endParaRPr lang="en-US" sz="1100" dirty="0"/>
          </a:p>
        </p:txBody>
      </p:sp>
      <p:sp>
        <p:nvSpPr>
          <p:cNvPr id="9" name="Text 7"/>
          <p:cNvSpPr/>
          <p:nvPr/>
        </p:nvSpPr>
        <p:spPr>
          <a:xfrm>
            <a:off x="6812280" y="1280160"/>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c(t) — travel cost, t in minutes</a:t>
            </a:r>
            <a:endParaRPr lang="en-US" sz="1250" dirty="0"/>
          </a:p>
        </p:txBody>
      </p:sp>
      <p:sp>
        <p:nvSpPr>
          <p:cNvPr id="10" name="Text 8"/>
          <p:cNvSpPr/>
          <p:nvPr/>
        </p:nvSpPr>
        <p:spPr>
          <a:xfrm>
            <a:off x="6812280" y="1527048"/>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LINEAR c(t)=t; LOGISTIC (adapted logit) c(t)=1/(1+e^−(t−25)/10). The swept LPs run once per function.</a:t>
            </a:r>
            <a:endParaRPr lang="en-US" sz="1050" dirty="0"/>
          </a:p>
        </p:txBody>
      </p:sp>
      <p:sp>
        <p:nvSpPr>
          <p:cNvPr id="11" name="Text 9"/>
          <p:cNvSpPr/>
          <p:nvPr/>
        </p:nvSpPr>
        <p:spPr>
          <a:xfrm>
            <a:off x="6812280" y="2121408"/>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λ = w · €100,000 — the price of a location (placeholder)</a:t>
            </a:r>
            <a:endParaRPr lang="en-US" sz="1250" dirty="0"/>
          </a:p>
        </p:txBody>
      </p:sp>
      <p:sp>
        <p:nvSpPr>
          <p:cNvPr id="12" name="Text 10"/>
          <p:cNvSpPr/>
          <p:nvPr/>
        </p:nvSpPr>
        <p:spPr>
          <a:xfrm>
            <a:off x="6812280" y="2368296"/>
            <a:ext cx="4937760" cy="566928"/>
          </a:xfrm>
          <a:prstGeom prst="rect">
            <a:avLst/>
          </a:prstGeom>
          <a:noFill/>
          <a:ln/>
        </p:spPr>
        <p:txBody>
          <a:bodyPr wrap="square" rtlCol="0" anchor="t"/>
          <a:lstStyle/>
          <a:p>
            <a:pPr marL="0" indent="0">
              <a:buNone/>
            </a:pPr>
            <a:r>
              <a:rPr lang="en-US" sz="960" dirty="0">
                <a:solidFill>
                  <a:srgbClr val="5B6B7B"/>
                </a:solidFill>
                <a:latin typeface="Calibri" pitchFamily="34" charset="0"/>
                <a:ea typeface="Calibri" pitchFamily="34" charset="-122"/>
                <a:cs typeface="Calibri" pitchFamily="34" charset="-120"/>
              </a:rPr>
              <a:t>Linear cost a + b·q reduces to λ·#open: b·q is ~constant while (nearly) all demand is served, so only the fixed cost a matters (approximately, under soft coverage). €100,000 is a placeholder, not an estimate: the frontier, S1/S2 and the rankings are invariant to it — only the € labels move with the true a.</a:t>
            </a:r>
            <a:endParaRPr lang="en-US" sz="960" dirty="0"/>
          </a:p>
        </p:txBody>
      </p:sp>
      <p:sp>
        <p:nvSpPr>
          <p:cNvPr id="13" name="Text 11"/>
          <p:cNvSpPr/>
          <p:nvPr/>
        </p:nvSpPr>
        <p:spPr>
          <a:xfrm>
            <a:off x="6812280" y="3072384"/>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One LP per λ, exact</a:t>
            </a:r>
            <a:endParaRPr lang="en-US" sz="1250" dirty="0"/>
          </a:p>
        </p:txBody>
      </p:sp>
      <p:sp>
        <p:nvSpPr>
          <p:cNvPr id="14" name="Text 12"/>
          <p:cNvSpPr/>
          <p:nvPr/>
        </p:nvSpPr>
        <p:spPr>
          <a:xfrm>
            <a:off x="6812280" y="3319272"/>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JuMP + HiGHS dual simplex; the model is built once and re-solved along the w-grid from the previous optimal basis (lp_run.jl solve_at_w!) — millions of xᵢⱼ, minutes per point.</a:t>
            </a:r>
            <a:endParaRPr lang="en-US" sz="1050" dirty="0"/>
          </a:p>
        </p:txBody>
      </p:sp>
      <p:sp>
        <p:nvSpPr>
          <p:cNvPr id="15" name="Shape 13"/>
          <p:cNvSpPr/>
          <p:nvPr/>
        </p:nvSpPr>
        <p:spPr>
          <a:xfrm>
            <a:off x="6812280" y="3858768"/>
            <a:ext cx="4937760" cy="713232"/>
          </a:xfrm>
          <a:prstGeom prst="roundRect">
            <a:avLst>
              <a:gd name="adj" fmla="val 6410"/>
            </a:avLst>
          </a:prstGeom>
          <a:solidFill>
            <a:srgbClr val="FBF5EA"/>
          </a:solidFill>
          <a:ln w="12700">
            <a:solidFill>
              <a:srgbClr val="B9791C"/>
            </a:solidFill>
            <a:prstDash val="solid"/>
          </a:ln>
        </p:spPr>
        <p:txBody>
          <a:bodyPr/>
          <a:lstStyle/>
          <a:p>
            <a:endParaRPr lang="en-GB"/>
          </a:p>
        </p:txBody>
      </p:sp>
      <p:sp>
        <p:nvSpPr>
          <p:cNvPr id="16" name="Text 14"/>
          <p:cNvSpPr/>
          <p:nvPr/>
        </p:nvSpPr>
        <p:spPr>
          <a:xfrm>
            <a:off x="6931152" y="3913632"/>
            <a:ext cx="4718304" cy="621792"/>
          </a:xfrm>
          <a:prstGeom prst="rect">
            <a:avLst/>
          </a:prstGeom>
          <a:noFill/>
          <a:ln/>
        </p:spPr>
        <p:txBody>
          <a:bodyPr wrap="square" rtlCol="0" anchor="t"/>
          <a:lstStyle/>
          <a:p>
            <a:pPr marL="0" indent="0">
              <a:lnSpc>
                <a:spcPct val="98000"/>
              </a:lnSpc>
              <a:buNone/>
            </a:pPr>
            <a:r>
              <a:rPr lang="en-US" sz="830" b="1" dirty="0">
                <a:solidFill>
                  <a:srgbClr val="B9791C"/>
                </a:solidFill>
                <a:latin typeface="Calibri" pitchFamily="34" charset="0"/>
                <a:ea typeface="Calibri" pitchFamily="34" charset="-122"/>
                <a:cs typeface="Calibri" pitchFamily="34" charset="-120"/>
              </a:rPr>
              <a:t>⚠ For review:  </a:t>
            </a:r>
            <a:r>
              <a:rPr lang="en-US" sz="830" dirty="0">
                <a:solidFill>
                  <a:srgbClr val="12233A"/>
                </a:solidFill>
                <a:latin typeface="Calibri" pitchFamily="34" charset="0"/>
                <a:ea typeface="Calibri" pitchFamily="34" charset="-122"/>
                <a:cs typeface="Calibri" pitchFamily="34" charset="-120"/>
              </a:rPr>
              <a:t>each client's OD holds every candidate out to its 5 nearest EXISTING pharmacies (max_nr_facilities_per_client) — it shrinks the LP but limits reassignment choice, and it can bind at S2-level facility counts. Clients still unreachable within t_max are priced at BIG on BOTH sides — stranded in the baseline, optionally stranded in the LP — so ★ and frontier stay directly comparable. After the scope rules on p8 that is only 0.012% of residents: 34 of 41 areas have none at all, the largest remainder is SE2 with 165 cells / 14,210 residents (0.32%), and these are genuinely remote cells rather than a coverage artefact. Feedback welcome.</a:t>
            </a:r>
            <a:endParaRPr lang="en-US" sz="830" dirty="0"/>
          </a:p>
        </p:txBody>
      </p:sp>
      <p:sp>
        <p:nvSpPr>
          <p:cNvPr id="17" name="Shape 15"/>
          <p:cNvSpPr/>
          <p:nvPr/>
        </p:nvSpPr>
        <p:spPr>
          <a:xfrm>
            <a:off x="457200" y="4617720"/>
            <a:ext cx="11274552" cy="1691640"/>
          </a:xfrm>
          <a:prstGeom prst="roundRect">
            <a:avLst>
              <a:gd name="adj" fmla="val 3243"/>
            </a:avLst>
          </a:prstGeom>
          <a:solidFill>
            <a:srgbClr val="F2F5F8"/>
          </a:solidFill>
          <a:ln w="12700">
            <a:solidFill>
              <a:srgbClr val="D9E0E7"/>
            </a:solidFill>
            <a:prstDash val="solid"/>
          </a:ln>
        </p:spPr>
        <p:txBody>
          <a:bodyPr/>
          <a:lstStyle/>
          <a:p>
            <a:endParaRPr lang="en-GB"/>
          </a:p>
        </p:txBody>
      </p:sp>
      <p:sp>
        <p:nvSpPr>
          <p:cNvPr id="18" name="Text 16"/>
          <p:cNvSpPr/>
          <p:nvPr/>
        </p:nvSpPr>
        <p:spPr>
          <a:xfrm>
            <a:off x="685800" y="4754880"/>
            <a:ext cx="10835640" cy="1481328"/>
          </a:xfrm>
          <a:prstGeom prst="rect">
            <a:avLst/>
          </a:prstGeom>
          <a:noFill/>
          <a:ln/>
        </p:spPr>
        <p:txBody>
          <a:bodyPr wrap="square" rtlCol="0" anchor="t"/>
          <a:lstStyle/>
          <a:p>
            <a:pPr marL="0" indent="0">
              <a:buNone/>
            </a:pPr>
            <a:r>
              <a:rPr lang="en-US" sz="1000" b="1" dirty="0">
                <a:solidFill>
                  <a:srgbClr val="12233A"/>
                </a:solidFill>
                <a:latin typeface="Calibri" pitchFamily="34" charset="0"/>
                <a:ea typeface="Calibri" pitchFamily="34" charset="-122"/>
                <a:cs typeface="Calibri" pitchFamily="34" charset="-120"/>
              </a:rPr>
              <a:t>Why the relaxation, and what it buys.  </a:t>
            </a:r>
            <a:r>
              <a:rPr lang="en-US" sz="1000" dirty="0">
                <a:solidFill>
                  <a:srgbClr val="5B6B7B"/>
                </a:solidFill>
                <a:latin typeface="Calibri" pitchFamily="34" charset="0"/>
                <a:ea typeface="Calibri" pitchFamily="34" charset="-122"/>
                <a:cs typeface="Calibri" pitchFamily="34" charset="-120"/>
              </a:rPr>
              <a:t>With yⱼ ∈ {0,1} this is the (NP-hard) uncapacitated facility-location problem, in its strong disaggregated formulation — one xᵢⱼ ≤ yⱼ per OD pair — whose LP relaxation is known to be nearly integral, which the sweeps confirm (frac_y stays small). The LP optimum is a certified </a:t>
            </a:r>
            <a:r>
              <a:rPr lang="en-US" sz="1000" b="1" dirty="0">
                <a:solidFill>
                  <a:srgbClr val="5B6B7B"/>
                </a:solidFill>
                <a:latin typeface="Calibri" pitchFamily="34" charset="0"/>
                <a:ea typeface="Calibri" pitchFamily="34" charset="-122"/>
                <a:cs typeface="Calibri" pitchFamily="34" charset="-120"/>
              </a:rPr>
              <a:t>lower bound</a:t>
            </a:r>
            <a:r>
              <a:rPr lang="en-US" sz="1000" dirty="0">
                <a:solidFill>
                  <a:srgbClr val="5B6B7B"/>
                </a:solidFill>
                <a:latin typeface="Calibri" pitchFamily="34" charset="0"/>
                <a:ea typeface="Calibri" pitchFamily="34" charset="-122"/>
                <a:cs typeface="Calibri" pitchFamily="34" charset="-120"/>
              </a:rPr>
              <a:t> (the grey dashed line); rounding x* to a real set of pharmacies (multistart, p. 12) gives a feasible </a:t>
            </a:r>
            <a:r>
              <a:rPr lang="en-US" sz="1000" b="1" dirty="0">
                <a:solidFill>
                  <a:srgbClr val="0B6E99"/>
                </a:solidFill>
                <a:latin typeface="Calibri" pitchFamily="34" charset="0"/>
                <a:ea typeface="Calibri" pitchFamily="34" charset="-122"/>
                <a:cs typeface="Calibri" pitchFamily="34" charset="-120"/>
              </a:rPr>
              <a:t>upper bound</a:t>
            </a:r>
            <a:r>
              <a:rPr lang="en-US" sz="1000" dirty="0">
                <a:solidFill>
                  <a:srgbClr val="5B6B7B"/>
                </a:solidFill>
                <a:latin typeface="Calibri" pitchFamily="34" charset="0"/>
                <a:ea typeface="Calibri" pitchFamily="34" charset="-122"/>
                <a:cs typeface="Calibri" pitchFamily="34" charset="-120"/>
              </a:rPr>
              <a:t> — the integer optimum is pinched between the two (+0–18% LINEAR, +0–4.7% LOGISTIC).</a:t>
            </a:r>
            <a:endParaRPr lang="en-US" sz="1000" dirty="0"/>
          </a:p>
          <a:p>
            <a:pPr marL="0" indent="0">
              <a:buNone/>
            </a:pPr>
            <a:r>
              <a:rPr lang="en-US" sz="1000" b="1" dirty="0">
                <a:solidFill>
                  <a:srgbClr val="12233A"/>
                </a:solidFill>
                <a:latin typeface="Calibri" pitchFamily="34" charset="0"/>
                <a:ea typeface="Calibri" pitchFamily="34" charset="-122"/>
                <a:cs typeface="Calibri" pitchFamily="34" charset="-120"/>
              </a:rPr>
              <a:t>Relation to the p-median problem.  </a:t>
            </a:r>
            <a:r>
              <a:rPr lang="en-US" sz="1000" dirty="0">
                <a:solidFill>
                  <a:srgbClr val="5B6B7B"/>
                </a:solidFill>
                <a:latin typeface="Calibri" pitchFamily="34" charset="0"/>
                <a:ea typeface="Calibri" pitchFamily="34" charset="-122"/>
                <a:cs typeface="Calibri" pitchFamily="34" charset="-120"/>
              </a:rPr>
              <a:t>Imposing the count (Σⱼ yⱼ = p) instead of pricing it gives the p-median problem with costs c(tᵢⱼ) (ReVelle &amp; Swain 1970) — S1 at the baseline count is a p-median instance, in its soft-coverage form: a client may go unserved at BIG rather than be forced onto a far facility (an outside option / p-median with an upper bound on assignment cost). The λ-sweep is its Lagrangian relaxation w.r.t. that constraint (Cornuéjols, Fisher &amp; Nemhauser 1977): it recovers only the p’s on the lower convex envelope of the p-median value function, so p-values in non-convex gaps are unreachable by any λ — there S1/S2 are interpolated between sweep points, or pinned exactly with the cardinality constraint (roadmap: better S1/S2 estimations). The swap polish of p. 12 is the classic p-median vertex-substitution search.</a:t>
            </a:r>
            <a:endParaRPr lang="en-US" sz="1000" dirty="0"/>
          </a:p>
        </p:txBody>
      </p:sp>
      <p:sp>
        <p:nvSpPr>
          <p:cNvPr id="19" name="Text 17"/>
          <p:cNvSpPr/>
          <p:nvPr/>
        </p:nvSpPr>
        <p:spPr>
          <a:xfrm>
            <a:off x="457200" y="644652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Implementation: lp_run.jl (build_lp_warmstart / solve_at_w!) · weights popᵢ = total residents of cell i (CLIENT_WEIGHT=total_pop) · OD from GeoDMS impedance_matrix_od64, t = seconds/60.</a:t>
            </a:r>
            <a:endParaRPr lang="en-US" sz="850" dirty="0"/>
          </a:p>
        </p:txBody>
      </p:sp>
    </p:spTree>
    <p:extLst>
      <p:ext uri="{BB962C8B-B14F-4D97-AF65-F5344CB8AC3E}">
        <p14:creationId xmlns:p14="http://schemas.microsoft.com/office/powerpoint/2010/main" val="1711933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SCOPE</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What the model covers  </a:t>
            </a:r>
            <a:r>
              <a:rPr lang="en-US" sz="2200" dirty="0">
                <a:solidFill>
                  <a:srgbClr val="1C3D5A"/>
                </a:solidFill>
                <a:latin typeface="Georgia" pitchFamily="34" charset="0"/>
                <a:ea typeface="Georgia" pitchFamily="34" charset="-122"/>
                <a:cs typeface="Georgia" pitchFamily="34" charset="-120"/>
              </a:rPr>
              <a:t>— and what it deliberately excludes</a:t>
            </a:r>
            <a:endParaRPr lang="en-US" sz="2200" dirty="0"/>
          </a:p>
        </p:txBody>
      </p:sp>
      <p:sp>
        <p:nvSpPr>
          <p:cNvPr id="4" name="Text 2"/>
          <p:cNvSpPr/>
          <p:nvPr/>
        </p:nvSpPr>
        <p:spPr>
          <a:xfrm>
            <a:off x="411480" y="914400"/>
            <a:ext cx="11430000" cy="384048"/>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Under soft coverage every resident the model cannot route to a pharmacy is priced at BIG (120 min). That is right for someone who is genuinely remote — and wrong when the network or the supply data is simply missing, because it turns a DATA gap into apparent policy headroom. Two rules separate the cases.</a:t>
            </a:r>
            <a:endParaRPr lang="en-US" sz="1000" dirty="0"/>
          </a:p>
        </p:txBody>
      </p:sp>
      <p:sp>
        <p:nvSpPr>
          <p:cNvPr id="5" name="Shape 3"/>
          <p:cNvSpPr/>
          <p:nvPr/>
        </p:nvSpPr>
        <p:spPr>
          <a:xfrm>
            <a:off x="365760" y="1417320"/>
            <a:ext cx="5715000" cy="3977640"/>
          </a:xfrm>
          <a:prstGeom prst="roundRect">
            <a:avLst>
              <a:gd name="adj" fmla="val 1149"/>
            </a:avLst>
          </a:prstGeom>
          <a:solidFill>
            <a:srgbClr val="F0F6F2"/>
          </a:solidFill>
          <a:ln w="12700">
            <a:solidFill>
              <a:srgbClr val="1E7A52"/>
            </a:solidFill>
            <a:prstDash val="solid"/>
          </a:ln>
        </p:spPr>
        <p:txBody>
          <a:bodyPr/>
          <a:lstStyle/>
          <a:p>
            <a:endParaRPr lang="en-GB"/>
          </a:p>
        </p:txBody>
      </p:sp>
      <p:sp>
        <p:nvSpPr>
          <p:cNvPr id="6" name="Text 4"/>
          <p:cNvSpPr/>
          <p:nvPr/>
        </p:nvSpPr>
        <p:spPr>
          <a:xfrm>
            <a:off x="566928" y="1499616"/>
            <a:ext cx="5349240" cy="274320"/>
          </a:xfrm>
          <a:prstGeom prst="rect">
            <a:avLst/>
          </a:prstGeom>
          <a:noFill/>
          <a:ln/>
        </p:spPr>
        <p:txBody>
          <a:bodyPr wrap="square" rtlCol="0" anchor="ctr"/>
          <a:lstStyle/>
          <a:p>
            <a:pPr marL="0" indent="0">
              <a:buNone/>
            </a:pPr>
            <a:r>
              <a:rPr lang="en-US" sz="1350" b="1" dirty="0">
                <a:solidFill>
                  <a:srgbClr val="1E7A52"/>
                </a:solidFill>
                <a:latin typeface="Calibri" pitchFamily="34" charset="0"/>
                <a:ea typeface="Calibri" pitchFamily="34" charset="-122"/>
                <a:cs typeface="Calibri" pitchFamily="34" charset="-120"/>
              </a:rPr>
              <a:t>1 · Road network — per landbody</a:t>
            </a:r>
            <a:endParaRPr lang="en-US" sz="1350" dirty="0"/>
          </a:p>
        </p:txBody>
      </p:sp>
      <p:sp>
        <p:nvSpPr>
          <p:cNvPr id="7" name="Text 5"/>
          <p:cNvSpPr/>
          <p:nvPr/>
        </p:nvSpPr>
        <p:spPr>
          <a:xfrm>
            <a:off x="566928" y="1783080"/>
            <a:ext cx="5349240" cy="566928"/>
          </a:xfrm>
          <a:prstGeom prst="rect">
            <a:avLst/>
          </a:prstGeom>
          <a:noFill/>
          <a:ln/>
        </p:spPr>
        <p:txBody>
          <a:bodyPr wrap="square" rtlCol="0" anchor="t"/>
          <a:lstStyle/>
          <a:p>
            <a:pPr marL="0" indent="0">
              <a:buNone/>
            </a:pPr>
            <a:r>
              <a:rPr lang="en-US" sz="1000" dirty="0">
                <a:solidFill>
                  <a:srgbClr val="12233A"/>
                </a:solidFill>
                <a:latin typeface="Calibri" pitchFamily="34" charset="0"/>
                <a:ea typeface="Calibri" pitchFamily="34" charset="-122"/>
                <a:cs typeface="Calibri" pitchFamily="34" charset="-120"/>
              </a:rPr>
              <a:t>The largest strongly-connected network is kept for EVERY separate landbody, not just the single largest one in the study area.</a:t>
            </a:r>
            <a:endParaRPr lang="en-US" sz="1000" dirty="0"/>
          </a:p>
        </p:txBody>
      </p:sp>
      <p:sp>
        <p:nvSpPr>
          <p:cNvPr id="8" name="Text 6"/>
          <p:cNvSpPr/>
          <p:nvPr/>
        </p:nvSpPr>
        <p:spPr>
          <a:xfrm>
            <a:off x="585216" y="2377440"/>
            <a:ext cx="5303520" cy="2286000"/>
          </a:xfrm>
          <a:prstGeom prst="rect">
            <a:avLst/>
          </a:prstGeom>
          <a:noFill/>
          <a:ln/>
        </p:spPr>
        <p:txBody>
          <a:bodyPr wrap="square" rtlCol="0" anchor="t"/>
          <a:lstStyle/>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Before, one component survived per study area, so island networks — and the ferry links inside them — were discarded entirely.</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Sicilia and Sardegna are two separate landbodies, so at most one of them could ever be kept.</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No source data changed: the links were always in the TomTom extract, they were being pruned.</a:t>
            </a:r>
            <a:endParaRPr lang="en-US" sz="950" dirty="0"/>
          </a:p>
        </p:txBody>
      </p:sp>
      <p:sp>
        <p:nvSpPr>
          <p:cNvPr id="9" name="Text 7"/>
          <p:cNvSpPr/>
          <p:nvPr/>
        </p:nvSpPr>
        <p:spPr>
          <a:xfrm>
            <a:off x="585216" y="4828032"/>
            <a:ext cx="5303520" cy="502920"/>
          </a:xfrm>
          <a:prstGeom prst="rect">
            <a:avLst/>
          </a:prstGeom>
          <a:noFill/>
          <a:ln/>
        </p:spPr>
        <p:txBody>
          <a:bodyPr wrap="square" rtlCol="0" anchor="t"/>
          <a:lstStyle/>
          <a:p>
            <a:pPr marL="0" indent="0">
              <a:buNone/>
            </a:pPr>
            <a:r>
              <a:rPr lang="en-US" sz="950" b="1" dirty="0">
                <a:solidFill>
                  <a:srgbClr val="1E7A52"/>
                </a:solidFill>
                <a:latin typeface="Calibri" pitchFamily="34" charset="0"/>
                <a:ea typeface="Calibri" pitchFamily="34" charset="-122"/>
                <a:cs typeface="Calibri" pitchFamily="34" charset="-120"/>
              </a:rPr>
              <a:t>ITG: mean travel 22.3 → 4.9 min · unreachable residents 983,169 → 591</a:t>
            </a:r>
            <a:endParaRPr lang="en-US" sz="950" dirty="0"/>
          </a:p>
        </p:txBody>
      </p:sp>
      <p:sp>
        <p:nvSpPr>
          <p:cNvPr id="10" name="Shape 8"/>
          <p:cNvSpPr/>
          <p:nvPr/>
        </p:nvSpPr>
        <p:spPr>
          <a:xfrm>
            <a:off x="6309360" y="1417320"/>
            <a:ext cx="5715000" cy="3977640"/>
          </a:xfrm>
          <a:prstGeom prst="roundRect">
            <a:avLst>
              <a:gd name="adj" fmla="val 1149"/>
            </a:avLst>
          </a:prstGeom>
          <a:solidFill>
            <a:srgbClr val="FBF5EA"/>
          </a:solidFill>
          <a:ln w="12700">
            <a:solidFill>
              <a:srgbClr val="B9791C"/>
            </a:solidFill>
            <a:prstDash val="solid"/>
          </a:ln>
        </p:spPr>
        <p:txBody>
          <a:bodyPr/>
          <a:lstStyle/>
          <a:p>
            <a:endParaRPr lang="en-GB"/>
          </a:p>
        </p:txBody>
      </p:sp>
      <p:sp>
        <p:nvSpPr>
          <p:cNvPr id="11" name="Text 9"/>
          <p:cNvSpPr/>
          <p:nvPr/>
        </p:nvSpPr>
        <p:spPr>
          <a:xfrm>
            <a:off x="6510528" y="1499616"/>
            <a:ext cx="5349240" cy="274320"/>
          </a:xfrm>
          <a:prstGeom prst="rect">
            <a:avLst/>
          </a:prstGeom>
          <a:noFill/>
          <a:ln/>
        </p:spPr>
        <p:txBody>
          <a:bodyPr wrap="square" rtlCol="0" anchor="ctr"/>
          <a:lstStyle/>
          <a:p>
            <a:pPr marL="0" indent="0">
              <a:buNone/>
            </a:pPr>
            <a:r>
              <a:rPr lang="en-US" sz="1350" b="1" dirty="0">
                <a:solidFill>
                  <a:srgbClr val="B9791C"/>
                </a:solidFill>
                <a:latin typeface="Calibri" pitchFamily="34" charset="0"/>
                <a:ea typeface="Calibri" pitchFamily="34" charset="-122"/>
                <a:cs typeface="Calibri" pitchFamily="34" charset="-120"/>
              </a:rPr>
              <a:t>2 · Regions the model cannot serve at all</a:t>
            </a:r>
            <a:endParaRPr lang="en-US" sz="1350" dirty="0"/>
          </a:p>
        </p:txBody>
      </p:sp>
      <p:sp>
        <p:nvSpPr>
          <p:cNvPr id="12" name="Text 10"/>
          <p:cNvSpPr/>
          <p:nvPr/>
        </p:nvSpPr>
        <p:spPr>
          <a:xfrm>
            <a:off x="6510528" y="1783080"/>
            <a:ext cx="5349240" cy="566928"/>
          </a:xfrm>
          <a:prstGeom prst="rect">
            <a:avLst/>
          </a:prstGeom>
          <a:noFill/>
          <a:ln/>
        </p:spPr>
        <p:txBody>
          <a:bodyPr wrap="square" rtlCol="0" anchor="t"/>
          <a:lstStyle/>
          <a:p>
            <a:pPr marL="0" indent="0">
              <a:buNone/>
            </a:pPr>
            <a:r>
              <a:rPr lang="en-US" sz="1000" dirty="0">
                <a:solidFill>
                  <a:srgbClr val="12233A"/>
                </a:solidFill>
                <a:latin typeface="Calibri" pitchFamily="34" charset="0"/>
                <a:ea typeface="Calibri" pitchFamily="34" charset="-122"/>
                <a:cs typeface="Calibri" pitchFamily="34" charset="-120"/>
              </a:rPr>
              <a:t>If more than 50% of a NUTS region's inhabitant locations are absent from the OD matrix, the WHOLE region is excluded — its population AND its candidate locations.</a:t>
            </a:r>
            <a:endParaRPr lang="en-US" sz="1000" dirty="0"/>
          </a:p>
        </p:txBody>
      </p:sp>
      <p:sp>
        <p:nvSpPr>
          <p:cNvPr id="13" name="Text 11"/>
          <p:cNvSpPr/>
          <p:nvPr/>
        </p:nvSpPr>
        <p:spPr>
          <a:xfrm>
            <a:off x="6528816" y="2377440"/>
            <a:ext cx="5303520" cy="2286000"/>
          </a:xfrm>
          <a:prstGeom prst="rect">
            <a:avLst/>
          </a:prstGeom>
          <a:noFill/>
          <a:ln/>
        </p:spPr>
        <p:txBody>
          <a:bodyPr wrap="square" rtlCol="0" anchor="t"/>
          <a:lstStyle/>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Level: NUTS3 where populated, otherwise NUTS2, otherwise NUTS1.</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Judged on the EXISTING network, so the baseline and the λ-sweep always agree on who is in scope.</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Excluded today: PT200 Azores (919 cells, 212,855 residents) and PT300 Madeira (419 cells, 244,867 residents) — both 100% absent. They hold population but no pharmacy anywhere in the source data, so no network fix could reach them.</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No other area comes near the threshold: it is 100% or far below.</a:t>
            </a:r>
            <a:endParaRPr lang="en-US" sz="950" dirty="0"/>
          </a:p>
        </p:txBody>
      </p:sp>
      <p:sp>
        <p:nvSpPr>
          <p:cNvPr id="14" name="Text 12"/>
          <p:cNvSpPr/>
          <p:nvPr/>
        </p:nvSpPr>
        <p:spPr>
          <a:xfrm>
            <a:off x="6528816" y="4828032"/>
            <a:ext cx="5303520" cy="502920"/>
          </a:xfrm>
          <a:prstGeom prst="rect">
            <a:avLst/>
          </a:prstGeom>
          <a:noFill/>
          <a:ln/>
        </p:spPr>
        <p:txBody>
          <a:bodyPr wrap="square" rtlCol="0" anchor="t"/>
          <a:lstStyle/>
          <a:p>
            <a:pPr marL="0" indent="0">
              <a:buNone/>
            </a:pPr>
            <a:r>
              <a:rPr lang="en-US" sz="950" b="1" dirty="0">
                <a:solidFill>
                  <a:srgbClr val="B9791C"/>
                </a:solidFill>
                <a:latin typeface="Calibri" pitchFamily="34" charset="0"/>
                <a:ea typeface="Calibri" pitchFamily="34" charset="-122"/>
                <a:cs typeface="Calibri" pitchFamily="34" charset="-120"/>
              </a:rPr>
              <a:t>Portugal: baseline travel −62% · mean 8.64 → 3.47 min · figures now cover the MAINLAND ONLY</a:t>
            </a:r>
            <a:endParaRPr lang="en-US" sz="950" dirty="0"/>
          </a:p>
        </p:txBody>
      </p:sp>
      <p:sp>
        <p:nvSpPr>
          <p:cNvPr id="15" name="Shape 13"/>
          <p:cNvSpPr/>
          <p:nvPr/>
        </p:nvSpPr>
        <p:spPr>
          <a:xfrm>
            <a:off x="365760" y="5532120"/>
            <a:ext cx="11658600" cy="566928"/>
          </a:xfrm>
          <a:prstGeom prst="roundRect">
            <a:avLst>
              <a:gd name="adj" fmla="val 8065"/>
            </a:avLst>
          </a:prstGeom>
          <a:solidFill>
            <a:srgbClr val="F2F5F8"/>
          </a:solidFill>
          <a:ln w="12700">
            <a:solidFill>
              <a:srgbClr val="5B6B7B"/>
            </a:solidFill>
            <a:prstDash val="solid"/>
          </a:ln>
        </p:spPr>
        <p:txBody>
          <a:bodyPr/>
          <a:lstStyle/>
          <a:p>
            <a:endParaRPr lang="en-GB"/>
          </a:p>
        </p:txBody>
      </p:sp>
      <p:sp>
        <p:nvSpPr>
          <p:cNvPr id="16" name="Text 14"/>
          <p:cNvSpPr/>
          <p:nvPr/>
        </p:nvSpPr>
        <p:spPr>
          <a:xfrm>
            <a:off x="548640" y="5605272"/>
            <a:ext cx="11338560" cy="457200"/>
          </a:xfrm>
          <a:prstGeom prst="rect">
            <a:avLst/>
          </a:prstGeom>
          <a:noFill/>
          <a:ln/>
        </p:spPr>
        <p:txBody>
          <a:bodyPr wrap="square" rtlCol="0" anchor="t"/>
          <a:lstStyle/>
          <a:p>
            <a:pPr marL="0" indent="0">
              <a:buNone/>
            </a:pPr>
            <a:r>
              <a:rPr lang="en-US" sz="930" b="1" dirty="0">
                <a:solidFill>
                  <a:srgbClr val="B9791C"/>
                </a:solidFill>
                <a:latin typeface="Calibri" pitchFamily="34" charset="0"/>
                <a:ea typeface="Calibri" pitchFamily="34" charset="-122"/>
                <a:cs typeface="Calibri" pitchFamily="34" charset="-120"/>
              </a:rPr>
              <a:t>⚠ Not comparable with the previous deck.  </a:t>
            </a:r>
            <a:r>
              <a:rPr lang="en-US" sz="930" dirty="0">
                <a:solidFill>
                  <a:srgbClr val="12233A"/>
                </a:solidFill>
                <a:latin typeface="Calibri" pitchFamily="34" charset="0"/>
                <a:ea typeface="Calibri" pitchFamily="34" charset="-122"/>
                <a:cs typeface="Calibri" pitchFamily="34" charset="-120"/>
              </a:rPr>
              <a:t>Both rules change which residents are counted, so baselines, frontiers and the ranked improvement lists all shift. Absence of a pharmacy record is not evidence of absence of a pharmacy — excluding those regions states what we do not know, rather than asserting the strong version of it.</a:t>
            </a:r>
            <a:endParaRPr lang="en-US" sz="930" dirty="0"/>
          </a:p>
        </p:txBody>
      </p:sp>
    </p:spTree>
    <p:extLst>
      <p:ext uri="{BB962C8B-B14F-4D97-AF65-F5344CB8AC3E}">
        <p14:creationId xmlns:p14="http://schemas.microsoft.com/office/powerpoint/2010/main" val="32244406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CHOICE SET</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choice set  </a:t>
            </a:r>
            <a:r>
              <a:rPr lang="en-US" sz="2200" dirty="0">
                <a:solidFill>
                  <a:srgbClr val="1C3D5A"/>
                </a:solidFill>
                <a:latin typeface="Georgia" pitchFamily="34" charset="0"/>
                <a:ea typeface="Georgia" pitchFamily="34" charset="-122"/>
                <a:cs typeface="Georgia" pitchFamily="34" charset="-120"/>
              </a:rPr>
              <a:t>— where the 5-nearest rule binds, and why widening it comes before RSSV</a:t>
            </a:r>
            <a:endParaRPr lang="en-US" sz="2200" dirty="0"/>
          </a:p>
        </p:txBody>
      </p:sp>
      <p:sp>
        <p:nvSpPr>
          <p:cNvPr id="4" name="Text 2"/>
          <p:cNvSpPr/>
          <p:nvPr/>
        </p:nvSpPr>
        <p:spPr>
          <a:xfrm>
            <a:off x="411480" y="914400"/>
            <a:ext cx="11430000" cy="411480"/>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Each client is connected to every candidate cell within the road distance to its 5th-nearest EXISTING pharmacy (or 120 min). That radius holds ~70–90 candidates on average — so it is not “5 choices”, it is a radius fixed by today’s five. When the optimiser removes facilities, the radius does not grow.</a:t>
            </a:r>
            <a:endParaRPr lang="en-US" sz="1000" dirty="0"/>
          </a:p>
        </p:txBody>
      </p:sp>
      <p:sp>
        <p:nvSpPr>
          <p:cNvPr id="5" name="Shape 3"/>
          <p:cNvSpPr/>
          <p:nvPr/>
        </p:nvSpPr>
        <p:spPr>
          <a:xfrm>
            <a:off x="365760" y="1444752"/>
            <a:ext cx="3749040" cy="3931920"/>
          </a:xfrm>
          <a:prstGeom prst="roundRect">
            <a:avLst>
              <a:gd name="adj" fmla="val 1220"/>
            </a:avLst>
          </a:prstGeom>
          <a:solidFill>
            <a:srgbClr val="FBF5EA"/>
          </a:solidFill>
          <a:ln w="12700">
            <a:solidFill>
              <a:srgbClr val="B9791C"/>
            </a:solidFill>
            <a:prstDash val="solid"/>
          </a:ln>
        </p:spPr>
        <p:txBody>
          <a:bodyPr/>
          <a:lstStyle/>
          <a:p>
            <a:endParaRPr lang="en-GB"/>
          </a:p>
        </p:txBody>
      </p:sp>
      <p:sp>
        <p:nvSpPr>
          <p:cNvPr id="6" name="Text 4"/>
          <p:cNvSpPr/>
          <p:nvPr/>
        </p:nvSpPr>
        <p:spPr>
          <a:xfrm>
            <a:off x="548640" y="1517904"/>
            <a:ext cx="3383280" cy="274320"/>
          </a:xfrm>
          <a:prstGeom prst="rect">
            <a:avLst/>
          </a:prstGeom>
          <a:noFill/>
          <a:ln/>
        </p:spPr>
        <p:txBody>
          <a:bodyPr wrap="square" rtlCol="0" anchor="ctr"/>
          <a:lstStyle/>
          <a:p>
            <a:pPr marL="0" indent="0">
              <a:buNone/>
            </a:pPr>
            <a:r>
              <a:rPr lang="en-US" sz="1300" b="1" dirty="0">
                <a:solidFill>
                  <a:srgbClr val="B9791C"/>
                </a:solidFill>
                <a:latin typeface="Calibri" pitchFamily="34" charset="0"/>
                <a:ea typeface="Calibri" pitchFamily="34" charset="-122"/>
                <a:cs typeface="Calibri" pitchFamily="34" charset="-120"/>
              </a:rPr>
              <a:t>Where it binds — measured at S2</a:t>
            </a:r>
            <a:endParaRPr lang="en-US" sz="1300" dirty="0"/>
          </a:p>
        </p:txBody>
      </p:sp>
      <p:sp>
        <p:nvSpPr>
          <p:cNvPr id="7" name="Text 5"/>
          <p:cNvSpPr/>
          <p:nvPr/>
        </p:nvSpPr>
        <p:spPr>
          <a:xfrm>
            <a:off x="566928"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SE2 at S2 (309 of 452 open): 1,730 cells / 449,261 residents — 10.2% of the population — have exactly ONE open facility left inside their radius. Closing it would strand them at BIG, so the optimiser must keep it open even where a 6th-nearest pharmacy would serve them.</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ITF at S2 (519 of 1,253 open): 9.0% of residents are already stranded and a further 23.9% are one closure away — a third of the population pins the solution.</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Even at S1 — same count as today, only relocated — ITF strands 1.84%: relocation moved facilities out of clients’ fixed radii.</a:t>
            </a:r>
            <a:endParaRPr lang="en-US" sz="940" dirty="0"/>
          </a:p>
        </p:txBody>
      </p:sp>
      <p:sp>
        <p:nvSpPr>
          <p:cNvPr id="8" name="Text 6"/>
          <p:cNvSpPr/>
          <p:nvPr/>
        </p:nvSpPr>
        <p:spPr>
          <a:xfrm>
            <a:off x="566928" y="4773168"/>
            <a:ext cx="3346704" cy="548640"/>
          </a:xfrm>
          <a:prstGeom prst="rect">
            <a:avLst/>
          </a:prstGeom>
          <a:noFill/>
          <a:ln/>
        </p:spPr>
        <p:txBody>
          <a:bodyPr wrap="square" rtlCol="0" anchor="t"/>
          <a:lstStyle/>
          <a:p>
            <a:pPr marL="0" indent="0">
              <a:buNone/>
            </a:pPr>
            <a:r>
              <a:rPr lang="en-US" sz="920" b="1" dirty="0">
                <a:solidFill>
                  <a:srgbClr val="B9791C"/>
                </a:solidFill>
                <a:latin typeface="Calibri" pitchFamily="34" charset="0"/>
                <a:ea typeface="Calibri" pitchFamily="34" charset="-122"/>
                <a:cs typeface="Calibri" pitchFamily="34" charset="-120"/>
              </a:rPr>
              <a:t>The frontier is under-estimated wherever the radius, not the geography, decides who can be served.</a:t>
            </a:r>
            <a:endParaRPr lang="en-US" sz="920" dirty="0"/>
          </a:p>
        </p:txBody>
      </p:sp>
      <p:sp>
        <p:nvSpPr>
          <p:cNvPr id="9" name="Shape 7"/>
          <p:cNvSpPr/>
          <p:nvPr/>
        </p:nvSpPr>
        <p:spPr>
          <a:xfrm>
            <a:off x="4315968" y="1444752"/>
            <a:ext cx="3749040" cy="3931920"/>
          </a:xfrm>
          <a:prstGeom prst="roundRect">
            <a:avLst>
              <a:gd name="adj" fmla="val 1220"/>
            </a:avLst>
          </a:prstGeom>
          <a:solidFill>
            <a:srgbClr val="F0F6F2"/>
          </a:solidFill>
          <a:ln w="12700">
            <a:solidFill>
              <a:srgbClr val="1E7A52"/>
            </a:solidFill>
            <a:prstDash val="solid"/>
          </a:ln>
        </p:spPr>
        <p:txBody>
          <a:bodyPr/>
          <a:lstStyle/>
          <a:p>
            <a:endParaRPr lang="en-GB"/>
          </a:p>
        </p:txBody>
      </p:sp>
      <p:sp>
        <p:nvSpPr>
          <p:cNvPr id="10" name="Text 8"/>
          <p:cNvSpPr/>
          <p:nvPr/>
        </p:nvSpPr>
        <p:spPr>
          <a:xfrm>
            <a:off x="4498848" y="1517904"/>
            <a:ext cx="33832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widening helps</a:t>
            </a:r>
            <a:endParaRPr lang="en-US" sz="1300" dirty="0"/>
          </a:p>
        </p:txBody>
      </p:sp>
      <p:sp>
        <p:nvSpPr>
          <p:cNvPr id="11" name="Text 9"/>
          <p:cNvSpPr/>
          <p:nvPr/>
        </p:nvSpPr>
        <p:spPr>
          <a:xfrm>
            <a:off x="4517136"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More existing and potential locations per client → a wider radius → the optimiser can consolidate further without stranding anyone → S2 reaches the baseline travel cost with fewer facilities.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The gain is concentrated exactly where the lists rank improvement potential: the areas with the most one-option clients.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Keep the EXISTING-side radius at 5 for the baseline, so ★ stays comparable with earlier decks; widen the CANDIDATE side only.</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Cost: a wider radius enlarges the full OD (build time, memory) and the exact solve on small areas.</a:t>
            </a:r>
            <a:endParaRPr lang="en-US" sz="940" dirty="0"/>
          </a:p>
        </p:txBody>
      </p:sp>
      <p:sp>
        <p:nvSpPr>
          <p:cNvPr id="12" name="Text 10"/>
          <p:cNvSpPr/>
          <p:nvPr/>
        </p:nvSpPr>
        <p:spPr>
          <a:xfrm>
            <a:off x="4517136" y="4773168"/>
            <a:ext cx="3346704" cy="548640"/>
          </a:xfrm>
          <a:prstGeom prst="rect">
            <a:avLst/>
          </a:prstGeom>
          <a:noFill/>
          <a:ln/>
        </p:spPr>
        <p:txBody>
          <a:bodyPr wrap="square" rtlCol="0" anchor="t"/>
          <a:lstStyle/>
          <a:p>
            <a:pPr marL="0" indent="0">
              <a:buNone/>
            </a:pPr>
            <a:r>
              <a:rPr lang="en-US" sz="920" b="1" dirty="0">
                <a:solidFill>
                  <a:srgbClr val="1E7A52"/>
                </a:solidFill>
                <a:latin typeface="Calibri" pitchFamily="34" charset="0"/>
                <a:ea typeface="Calibri" pitchFamily="34" charset="-122"/>
                <a:cs typeface="Calibri" pitchFamily="34" charset="-120"/>
              </a:rPr>
              <a:t>A cheap experiment: one area, radius 5 → 10, compare S2 facility count and stranding.</a:t>
            </a:r>
            <a:endParaRPr lang="en-US" sz="920" dirty="0"/>
          </a:p>
        </p:txBody>
      </p:sp>
      <p:sp>
        <p:nvSpPr>
          <p:cNvPr id="13" name="Shape 11"/>
          <p:cNvSpPr/>
          <p:nvPr/>
        </p:nvSpPr>
        <p:spPr>
          <a:xfrm>
            <a:off x="8266176" y="1444752"/>
            <a:ext cx="3749040" cy="3931920"/>
          </a:xfrm>
          <a:prstGeom prst="roundRect">
            <a:avLst>
              <a:gd name="adj" fmla="val 1220"/>
            </a:avLst>
          </a:prstGeom>
          <a:solidFill>
            <a:srgbClr val="EEF5FA"/>
          </a:solidFill>
          <a:ln w="12700">
            <a:solidFill>
              <a:srgbClr val="0B6E99"/>
            </a:solidFill>
            <a:prstDash val="solid"/>
          </a:ln>
        </p:spPr>
        <p:txBody>
          <a:bodyPr/>
          <a:lstStyle/>
          <a:p>
            <a:endParaRPr lang="en-GB"/>
          </a:p>
        </p:txBody>
      </p:sp>
      <p:sp>
        <p:nvSpPr>
          <p:cNvPr id="14" name="Text 12"/>
          <p:cNvSpPr/>
          <p:nvPr/>
        </p:nvSpPr>
        <p:spPr>
          <a:xfrm>
            <a:off x="8449056" y="1517904"/>
            <a:ext cx="338328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Why RSSV requires it</a:t>
            </a:r>
            <a:endParaRPr lang="en-US" sz="1300" dirty="0"/>
          </a:p>
        </p:txBody>
      </p:sp>
      <p:sp>
        <p:nvSpPr>
          <p:cNvPr id="15" name="Text 13"/>
          <p:cNvSpPr/>
          <p:nvPr/>
        </p:nvSpPr>
        <p:spPr>
          <a:xfrm>
            <a:off x="8467344"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RSSV solves many sub-problems on random CANDIDATE subsets Jᵤ with the FULL client set. Every client must still reach some sampled candidate — otherwise it is stranded at BIG for that sub-problem alone, and those spurious penalties corrupt the spatial votes.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The chance that a random Jᵤ leaves a client with no reachable candidate falls as the radius widens. A thin radius makes voting noisy; a wide one makes it robust.</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So the two size-control knobs trade against each other: under RSSV, size control moves from pruning per client to sample → vote → filter → exact solve. Widening the radius is the precondition, not a nicety.</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Stratified (not uniform) sampling lets a narrower radius suffice — a lever to trade against OD size.</a:t>
            </a:r>
            <a:endParaRPr lang="en-US" sz="940" dirty="0"/>
          </a:p>
        </p:txBody>
      </p:sp>
      <p:sp>
        <p:nvSpPr>
          <p:cNvPr id="16" name="Text 14"/>
          <p:cNvSpPr/>
          <p:nvPr/>
        </p:nvSpPr>
        <p:spPr>
          <a:xfrm>
            <a:off x="8467344" y="4773168"/>
            <a:ext cx="3346704" cy="548640"/>
          </a:xfrm>
          <a:prstGeom prst="rect">
            <a:avLst/>
          </a:prstGeom>
          <a:noFill/>
          <a:ln/>
        </p:spPr>
        <p:txBody>
          <a:bodyPr wrap="square" rtlCol="0" anchor="t"/>
          <a:lstStyle/>
          <a:p>
            <a:pPr marL="0" indent="0">
              <a:buNone/>
            </a:pPr>
            <a:r>
              <a:rPr lang="en-US" sz="920" b="1" dirty="0">
                <a:solidFill>
                  <a:srgbClr val="0B6E99"/>
                </a:solidFill>
                <a:latin typeface="Calibri" pitchFamily="34" charset="0"/>
                <a:ea typeface="Calibri" pitchFamily="34" charset="-122"/>
                <a:cs typeface="Calibri" pitchFamily="34" charset="-120"/>
              </a:rPr>
              <a:t>Sequence: widen the candidate radius → RSSV → exact MIP on the reduced set.</a:t>
            </a:r>
            <a:endParaRPr lang="en-US" sz="920" dirty="0"/>
          </a:p>
        </p:txBody>
      </p:sp>
      <p:sp>
        <p:nvSpPr>
          <p:cNvPr id="17" name="Shape 15"/>
          <p:cNvSpPr/>
          <p:nvPr/>
        </p:nvSpPr>
        <p:spPr>
          <a:xfrm>
            <a:off x="365760" y="5532120"/>
            <a:ext cx="11658600" cy="566928"/>
          </a:xfrm>
          <a:prstGeom prst="roundRect">
            <a:avLst>
              <a:gd name="adj" fmla="val 8065"/>
            </a:avLst>
          </a:prstGeom>
          <a:solidFill>
            <a:srgbClr val="F2F5F8"/>
          </a:solidFill>
          <a:ln w="12700">
            <a:solidFill>
              <a:srgbClr val="5B6B7B"/>
            </a:solidFill>
            <a:prstDash val="solid"/>
          </a:ln>
        </p:spPr>
        <p:txBody>
          <a:bodyPr/>
          <a:lstStyle/>
          <a:p>
            <a:endParaRPr lang="en-GB"/>
          </a:p>
        </p:txBody>
      </p:sp>
      <p:sp>
        <p:nvSpPr>
          <p:cNvPr id="18" name="Text 16"/>
          <p:cNvSpPr/>
          <p:nvPr/>
        </p:nvSpPr>
        <p:spPr>
          <a:xfrm>
            <a:off x="548640" y="5596128"/>
            <a:ext cx="11338560" cy="475488"/>
          </a:xfrm>
          <a:prstGeom prst="rect">
            <a:avLst/>
          </a:prstGeom>
          <a:noFill/>
          <a:ln/>
        </p:spPr>
        <p:txBody>
          <a:bodyPr wrap="square" rtlCol="0" anchor="t"/>
          <a:lstStyle/>
          <a:p>
            <a:pPr marL="0" indent="0">
              <a:buNone/>
            </a:pPr>
            <a:r>
              <a:rPr lang="en-US" sz="880" b="1" dirty="0">
                <a:solidFill>
                  <a:srgbClr val="B9791C"/>
                </a:solidFill>
                <a:latin typeface="Calibri" pitchFamily="34" charset="0"/>
                <a:ea typeface="Calibri" pitchFamily="34" charset="-122"/>
                <a:cs typeface="Calibri" pitchFamily="34" charset="-120"/>
              </a:rPr>
              <a:t>Also found: </a:t>
            </a:r>
            <a:r>
              <a:rPr lang="en-US" sz="880" dirty="0">
                <a:solidFill>
                  <a:srgbClr val="12233A"/>
                </a:solidFill>
                <a:latin typeface="Calibri" pitchFamily="34" charset="0"/>
                <a:ea typeface="Calibri" pitchFamily="34" charset="-122"/>
                <a:cs typeface="Calibri" pitchFamily="34" charset="-120"/>
              </a:rPr>
              <a:t>S1 and S2 are read off the nearest swept λ grid point. In 5 of 42 areas (FRC, FRH, FRJ, FRK, SE2) both scenarios snap to the SAME point — SE2’s S1 bracket (0.2, 0.5) and S2 bracket (0.5, 1.0) both resolve to w = 0.5, so its delivered S1 has 309 open, not the baseline 452. The interpolated tables on p60–61 are unaffected; the exported S1/S2 location files and the exact-MIP step are where this needs a refinement step rather than a snap.</a:t>
            </a:r>
            <a:endParaRPr lang="en-US" sz="880" dirty="0"/>
          </a:p>
        </p:txBody>
      </p:sp>
    </p:spTree>
    <p:extLst>
      <p:ext uri="{BB962C8B-B14F-4D97-AF65-F5344CB8AC3E}">
        <p14:creationId xmlns:p14="http://schemas.microsoft.com/office/powerpoint/2010/main" val="5975001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METHOD</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How one λ picks one point  </a:t>
            </a:r>
            <a:r>
              <a:rPr lang="en-US" sz="2200" dirty="0">
                <a:solidFill>
                  <a:srgbClr val="1C3D5A"/>
                </a:solidFill>
                <a:latin typeface="Georgia" pitchFamily="34" charset="0"/>
                <a:ea typeface="Georgia" pitchFamily="34" charset="-122"/>
                <a:cs typeface="Georgia" pitchFamily="34" charset="-120"/>
              </a:rPr>
              <a:t>— and how a sweep over λ traces the frontier</a:t>
            </a:r>
            <a:endParaRPr lang="en-US" sz="2200" dirty="0"/>
          </a:p>
        </p:txBody>
      </p:sp>
      <p:sp>
        <p:nvSpPr>
          <p:cNvPr id="4" name="Text 2"/>
          <p:cNvSpPr/>
          <p:nvPr/>
        </p:nvSpPr>
        <p:spPr>
          <a:xfrm>
            <a:off x="411480" y="914400"/>
            <a:ext cx="11430000" cy="384048"/>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The sweep never fixes a value of λ. Each λ is one slope; the solver returns the point of the feasible set where a line of that slope touches. Netherlands, LINEAR c(t) = t, multistart-rounded solutions; the ★ is today’s network.</a:t>
            </a:r>
            <a:endParaRPr lang="en-US" sz="1000" dirty="0"/>
          </a:p>
        </p:txBody>
      </p:sp>
      <p:pic>
        <p:nvPicPr>
          <p:cNvPr id="5" name="Image 0" descr="E:\prj\JRC\NetworkModel_EU\doc\charts\lambda_tangent.png"/>
          <p:cNvPicPr>
            <a:picLocks noChangeAspect="1"/>
          </p:cNvPicPr>
          <p:nvPr/>
        </p:nvPicPr>
        <p:blipFill>
          <a:blip r:embed="rId3"/>
          <a:stretch>
            <a:fillRect/>
          </a:stretch>
        </p:blipFill>
        <p:spPr>
          <a:xfrm>
            <a:off x="320040" y="1371600"/>
            <a:ext cx="7406640" cy="4507992"/>
          </a:xfrm>
          <a:prstGeom prst="rect">
            <a:avLst/>
          </a:prstGeom>
        </p:spPr>
      </p:pic>
      <p:sp>
        <p:nvSpPr>
          <p:cNvPr id="6" name="Shape 3"/>
          <p:cNvSpPr/>
          <p:nvPr/>
        </p:nvSpPr>
        <p:spPr>
          <a:xfrm>
            <a:off x="7909560" y="1371600"/>
            <a:ext cx="4069080" cy="1097280"/>
          </a:xfrm>
          <a:prstGeom prst="roundRect">
            <a:avLst>
              <a:gd name="adj" fmla="val 4167"/>
            </a:avLst>
          </a:prstGeom>
          <a:solidFill>
            <a:srgbClr val="F2F5F8"/>
          </a:solidFill>
          <a:ln w="12700">
            <a:solidFill>
              <a:srgbClr val="5B6B7B"/>
            </a:solidFill>
            <a:prstDash val="solid"/>
          </a:ln>
        </p:spPr>
        <p:txBody>
          <a:bodyPr/>
          <a:lstStyle/>
          <a:p>
            <a:endParaRPr lang="en-GB"/>
          </a:p>
        </p:txBody>
      </p:sp>
      <p:sp>
        <p:nvSpPr>
          <p:cNvPr id="7" name="Text 4"/>
          <p:cNvSpPr/>
          <p:nvPr/>
        </p:nvSpPr>
        <p:spPr>
          <a:xfrm>
            <a:off x="8074152" y="1435608"/>
            <a:ext cx="3749040" cy="256032"/>
          </a:xfrm>
          <a:prstGeom prst="rect">
            <a:avLst/>
          </a:prstGeom>
          <a:noFill/>
          <a:ln/>
        </p:spPr>
        <p:txBody>
          <a:bodyPr wrap="square" rtlCol="0" anchor="ctr"/>
          <a:lstStyle/>
          <a:p>
            <a:pPr marL="0" indent="0">
              <a:buNone/>
            </a:pPr>
            <a:r>
              <a:rPr lang="en-US" sz="1200" b="1" dirty="0">
                <a:solidFill>
                  <a:srgbClr val="5B6B7B"/>
                </a:solidFill>
                <a:latin typeface="Calibri" pitchFamily="34" charset="0"/>
                <a:ea typeface="Calibri" pitchFamily="34" charset="-122"/>
                <a:cs typeface="Calibri" pitchFamily="34" charset="-120"/>
              </a:rPr>
              <a:t>1 · The objective is a line</a:t>
            </a:r>
            <a:endParaRPr lang="en-US" sz="1200" dirty="0"/>
          </a:p>
        </p:txBody>
      </p:sp>
      <p:sp>
        <p:nvSpPr>
          <p:cNvPr id="8" name="Text 5"/>
          <p:cNvSpPr/>
          <p:nvPr/>
        </p:nvSpPr>
        <p:spPr>
          <a:xfrm>
            <a:off x="8074152" y="1700784"/>
            <a:ext cx="3767328" cy="7132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We minimise  travel + λ · #open.  Every solution with the same objective value C lies on the line  travel = C − λ · #open:  slope −λ, and the lower the line, the cheaper the solution.</a:t>
            </a:r>
            <a:endParaRPr lang="en-US" sz="930" dirty="0"/>
          </a:p>
        </p:txBody>
      </p:sp>
      <p:sp>
        <p:nvSpPr>
          <p:cNvPr id="9" name="Shape 6"/>
          <p:cNvSpPr/>
          <p:nvPr/>
        </p:nvSpPr>
        <p:spPr>
          <a:xfrm>
            <a:off x="7909560" y="2560320"/>
            <a:ext cx="4069080" cy="1325880"/>
          </a:xfrm>
          <a:prstGeom prst="roundRect">
            <a:avLst>
              <a:gd name="adj" fmla="val 3448"/>
            </a:avLst>
          </a:prstGeom>
          <a:solidFill>
            <a:srgbClr val="EEF5FA"/>
          </a:solidFill>
          <a:ln w="12700">
            <a:solidFill>
              <a:srgbClr val="0B6E99"/>
            </a:solidFill>
            <a:prstDash val="solid"/>
          </a:ln>
        </p:spPr>
        <p:txBody>
          <a:bodyPr/>
          <a:lstStyle/>
          <a:p>
            <a:endParaRPr lang="en-GB"/>
          </a:p>
        </p:txBody>
      </p:sp>
      <p:sp>
        <p:nvSpPr>
          <p:cNvPr id="10" name="Text 7"/>
          <p:cNvSpPr/>
          <p:nvPr/>
        </p:nvSpPr>
        <p:spPr>
          <a:xfrm>
            <a:off x="8074152" y="2624328"/>
            <a:ext cx="3749040" cy="256032"/>
          </a:xfrm>
          <a:prstGeom prst="rect">
            <a:avLst/>
          </a:prstGeom>
          <a:noFill/>
          <a:ln/>
        </p:spPr>
        <p:txBody>
          <a:bodyPr wrap="square" rtlCol="0" anchor="ctr"/>
          <a:lstStyle/>
          <a:p>
            <a:pPr marL="0" indent="0">
              <a:buNone/>
            </a:pPr>
            <a:r>
              <a:rPr lang="en-US" sz="1200" b="1" dirty="0">
                <a:solidFill>
                  <a:srgbClr val="0B6E99"/>
                </a:solidFill>
                <a:latin typeface="Calibri" pitchFamily="34" charset="0"/>
                <a:ea typeface="Calibri" pitchFamily="34" charset="-122"/>
                <a:cs typeface="Calibri" pitchFamily="34" charset="-120"/>
              </a:rPr>
              <a:t>2 · The optimum is a tangency</a:t>
            </a:r>
            <a:endParaRPr lang="en-US" sz="1200" dirty="0"/>
          </a:p>
        </p:txBody>
      </p:sp>
      <p:sp>
        <p:nvSpPr>
          <p:cNvPr id="11" name="Text 8"/>
          <p:cNvSpPr/>
          <p:nvPr/>
        </p:nvSpPr>
        <p:spPr>
          <a:xfrm>
            <a:off x="8074152" y="2889504"/>
            <a:ext cx="3767328" cy="9418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Slide the line down until it last touches the feasible set. That touching point is the λ-optimum. λ₁ = €10,000 per facility touches at 3,220 open (22.6 M person-minutes); λ₂ = €50,000 touches at 831 open (74.7 M). A steeper slope buys fewer, busier pharmacies.</a:t>
            </a:r>
            <a:endParaRPr lang="en-US" sz="930" dirty="0"/>
          </a:p>
        </p:txBody>
      </p:sp>
      <p:sp>
        <p:nvSpPr>
          <p:cNvPr id="12" name="Shape 9"/>
          <p:cNvSpPr/>
          <p:nvPr/>
        </p:nvSpPr>
        <p:spPr>
          <a:xfrm>
            <a:off x="7909560" y="3977640"/>
            <a:ext cx="4069080" cy="1097280"/>
          </a:xfrm>
          <a:prstGeom prst="roundRect">
            <a:avLst>
              <a:gd name="adj" fmla="val 4167"/>
            </a:avLst>
          </a:prstGeom>
          <a:solidFill>
            <a:srgbClr val="F0F6F2"/>
          </a:solidFill>
          <a:ln w="12700">
            <a:solidFill>
              <a:srgbClr val="1E7A52"/>
            </a:solidFill>
            <a:prstDash val="solid"/>
          </a:ln>
        </p:spPr>
        <p:txBody>
          <a:bodyPr/>
          <a:lstStyle/>
          <a:p>
            <a:endParaRPr lang="en-GB"/>
          </a:p>
        </p:txBody>
      </p:sp>
      <p:sp>
        <p:nvSpPr>
          <p:cNvPr id="13" name="Text 10"/>
          <p:cNvSpPr/>
          <p:nvPr/>
        </p:nvSpPr>
        <p:spPr>
          <a:xfrm>
            <a:off x="8074152" y="4041648"/>
            <a:ext cx="3749040" cy="256032"/>
          </a:xfrm>
          <a:prstGeom prst="rect">
            <a:avLst/>
          </a:prstGeom>
          <a:noFill/>
          <a:ln/>
        </p:spPr>
        <p:txBody>
          <a:bodyPr wrap="square" rtlCol="0" anchor="ctr"/>
          <a:lstStyle/>
          <a:p>
            <a:pPr marL="0" indent="0">
              <a:buNone/>
            </a:pPr>
            <a:r>
              <a:rPr lang="en-US" sz="1200" b="1" dirty="0">
                <a:solidFill>
                  <a:srgbClr val="1E7A52"/>
                </a:solidFill>
                <a:latin typeface="Calibri" pitchFamily="34" charset="0"/>
                <a:ea typeface="Calibri" pitchFamily="34" charset="-122"/>
                <a:cs typeface="Calibri" pitchFamily="34" charset="-120"/>
              </a:rPr>
              <a:t>3 · Many λ → the frontier</a:t>
            </a:r>
            <a:endParaRPr lang="en-US" sz="1200" dirty="0"/>
          </a:p>
        </p:txBody>
      </p:sp>
      <p:sp>
        <p:nvSpPr>
          <p:cNvPr id="14" name="Text 11"/>
          <p:cNvSpPr/>
          <p:nvPr/>
        </p:nvSpPr>
        <p:spPr>
          <a:xfrm>
            <a:off x="8074152" y="4306824"/>
            <a:ext cx="3767328" cy="7132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Two λ give two tangencies; the 1-2-5 grid gives ~30. Their lower-left envelope is the Pareto frontier of the next slides. The frontier itself needs no λ — λ only says which point on it a decision-maker would pick.</a:t>
            </a:r>
            <a:endParaRPr lang="en-US" sz="930" dirty="0"/>
          </a:p>
        </p:txBody>
      </p:sp>
      <p:sp>
        <p:nvSpPr>
          <p:cNvPr id="15" name="Shape 12"/>
          <p:cNvSpPr/>
          <p:nvPr/>
        </p:nvSpPr>
        <p:spPr>
          <a:xfrm>
            <a:off x="7909560" y="5166360"/>
            <a:ext cx="4069080" cy="868680"/>
          </a:xfrm>
          <a:prstGeom prst="roundRect">
            <a:avLst>
              <a:gd name="adj" fmla="val 5263"/>
            </a:avLst>
          </a:prstGeom>
          <a:solidFill>
            <a:srgbClr val="FBF5EA"/>
          </a:solidFill>
          <a:ln w="12700">
            <a:solidFill>
              <a:srgbClr val="B9791C"/>
            </a:solidFill>
            <a:prstDash val="solid"/>
          </a:ln>
        </p:spPr>
        <p:txBody>
          <a:bodyPr/>
          <a:lstStyle/>
          <a:p>
            <a:endParaRPr lang="en-GB"/>
          </a:p>
        </p:txBody>
      </p:sp>
      <p:sp>
        <p:nvSpPr>
          <p:cNvPr id="16" name="Text 13"/>
          <p:cNvSpPr/>
          <p:nvPr/>
        </p:nvSpPr>
        <p:spPr>
          <a:xfrm>
            <a:off x="8074152" y="5230368"/>
            <a:ext cx="3749040" cy="256032"/>
          </a:xfrm>
          <a:prstGeom prst="rect">
            <a:avLst/>
          </a:prstGeom>
          <a:noFill/>
          <a:ln/>
        </p:spPr>
        <p:txBody>
          <a:bodyPr wrap="square" rtlCol="0" anchor="ctr"/>
          <a:lstStyle/>
          <a:p>
            <a:pPr marL="0" indent="0">
              <a:buNone/>
            </a:pPr>
            <a:r>
              <a:rPr lang="en-US" sz="1200" b="1" dirty="0">
                <a:solidFill>
                  <a:srgbClr val="B9791C"/>
                </a:solidFill>
                <a:latin typeface="Calibri" pitchFamily="34" charset="0"/>
                <a:ea typeface="Calibri" pitchFamily="34" charset="-122"/>
                <a:cs typeface="Calibri" pitchFamily="34" charset="-120"/>
              </a:rPr>
              <a:t>What a tangency cannot reach</a:t>
            </a:r>
            <a:endParaRPr lang="en-US" sz="1200" dirty="0"/>
          </a:p>
        </p:txBody>
      </p:sp>
      <p:sp>
        <p:nvSpPr>
          <p:cNvPr id="17" name="Text 14"/>
          <p:cNvSpPr/>
          <p:nvPr/>
        </p:nvSpPr>
        <p:spPr>
          <a:xfrm>
            <a:off x="8074152" y="5495544"/>
            <a:ext cx="3767328" cy="4846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A point in a concave dent of the frontier is never a tangency, whatever λ. Such points — and an exact count such as “today’s 1,615” — need a fixed-#open solve, which is the refinement step S1/S2 still lack (p9).</a:t>
            </a:r>
            <a:endParaRPr lang="en-US" sz="930" dirty="0"/>
          </a:p>
        </p:txBody>
      </p:sp>
    </p:spTree>
    <p:extLst>
      <p:ext uri="{BB962C8B-B14F-4D97-AF65-F5344CB8AC3E}">
        <p14:creationId xmlns:p14="http://schemas.microsoft.com/office/powerpoint/2010/main" val="39657379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LAMBDA_SWEEP.JL</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Scenarios and what the sweep computes</a:t>
            </a:r>
            <a:endParaRPr lang="en-US" sz="3200" dirty="0"/>
          </a:p>
        </p:txBody>
      </p:sp>
      <p:sp>
        <p:nvSpPr>
          <p:cNvPr id="4" name="Shape 2"/>
          <p:cNvSpPr/>
          <p:nvPr/>
        </p:nvSpPr>
        <p:spPr>
          <a:xfrm>
            <a:off x="54864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a:off x="548640" y="1554480"/>
            <a:ext cx="91440" cy="2286000"/>
          </a:xfrm>
          <a:prstGeom prst="rect">
            <a:avLst/>
          </a:prstGeom>
          <a:solidFill>
            <a:srgbClr val="1C7293"/>
          </a:solidFill>
          <a:ln/>
        </p:spPr>
        <p:txBody>
          <a:bodyPr/>
          <a:lstStyle/>
          <a:p>
            <a:endParaRPr lang="en-GB"/>
          </a:p>
        </p:txBody>
      </p:sp>
      <p:sp>
        <p:nvSpPr>
          <p:cNvPr id="6" name="Shape 4"/>
          <p:cNvSpPr/>
          <p:nvPr/>
        </p:nvSpPr>
        <p:spPr>
          <a:xfrm>
            <a:off x="4572000" y="1737360"/>
            <a:ext cx="1188720" cy="274320"/>
          </a:xfrm>
          <a:prstGeom prst="rect">
            <a:avLst/>
          </a:prstGeom>
          <a:solidFill>
            <a:srgbClr val="1C7293"/>
          </a:solidFill>
          <a:ln/>
        </p:spPr>
        <p:txBody>
          <a:bodyPr/>
          <a:lstStyle/>
          <a:p>
            <a:endParaRPr lang="en-GB"/>
          </a:p>
        </p:txBody>
      </p:sp>
      <p:sp>
        <p:nvSpPr>
          <p:cNvPr id="7" name="Text 5"/>
          <p:cNvSpPr/>
          <p:nvPr/>
        </p:nvSpPr>
        <p:spPr>
          <a:xfrm>
            <a:off x="457200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Inputs</a:t>
            </a:r>
            <a:endParaRPr lang="en-US" sz="1000" dirty="0"/>
          </a:p>
        </p:txBody>
      </p:sp>
      <p:sp>
        <p:nvSpPr>
          <p:cNvPr id="8" name="Text 6"/>
          <p:cNvSpPr/>
          <p:nvPr/>
        </p:nvSpPr>
        <p:spPr>
          <a:xfrm>
            <a:off x="82296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Baseline</a:t>
            </a:r>
            <a:endParaRPr lang="en-US" sz="2000" dirty="0"/>
          </a:p>
        </p:txBody>
      </p:sp>
      <p:sp>
        <p:nvSpPr>
          <p:cNvPr id="9" name="Text 7"/>
          <p:cNvSpPr/>
          <p:nvPr/>
        </p:nvSpPr>
        <p:spPr>
          <a:xfrm>
            <a:off x="82296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Current pharmacy network</a:t>
            </a:r>
            <a:endParaRPr lang="en-US" sz="1300" dirty="0"/>
          </a:p>
        </p:txBody>
      </p:sp>
      <p:sp>
        <p:nvSpPr>
          <p:cNvPr id="10" name="Text 8"/>
          <p:cNvSpPr/>
          <p:nvPr/>
        </p:nvSpPr>
        <p:spPr>
          <a:xfrm>
            <a:off x="82296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Each client → nearest existing pharmacy.</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Reports total travel cost, mean travel time, and the count of grid cells with at least one pharmacy (target_cells).</a:t>
            </a:r>
            <a:endParaRPr lang="en-US" sz="1200" dirty="0"/>
          </a:p>
        </p:txBody>
      </p:sp>
      <p:sp>
        <p:nvSpPr>
          <p:cNvPr id="11" name="Shape 9"/>
          <p:cNvSpPr/>
          <p:nvPr/>
        </p:nvSpPr>
        <p:spPr>
          <a:xfrm>
            <a:off x="621792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12" name="Shape 10"/>
          <p:cNvSpPr/>
          <p:nvPr/>
        </p:nvSpPr>
        <p:spPr>
          <a:xfrm>
            <a:off x="6217920" y="1554480"/>
            <a:ext cx="91440" cy="2286000"/>
          </a:xfrm>
          <a:prstGeom prst="rect">
            <a:avLst/>
          </a:prstGeom>
          <a:solidFill>
            <a:srgbClr val="065A82"/>
          </a:solidFill>
          <a:ln/>
        </p:spPr>
        <p:txBody>
          <a:bodyPr/>
          <a:lstStyle/>
          <a:p>
            <a:endParaRPr lang="en-GB"/>
          </a:p>
        </p:txBody>
      </p:sp>
      <p:sp>
        <p:nvSpPr>
          <p:cNvPr id="13" name="Shape 11"/>
          <p:cNvSpPr/>
          <p:nvPr/>
        </p:nvSpPr>
        <p:spPr>
          <a:xfrm>
            <a:off x="10241280" y="1737360"/>
            <a:ext cx="1188720" cy="274320"/>
          </a:xfrm>
          <a:prstGeom prst="rect">
            <a:avLst/>
          </a:prstGeom>
          <a:solidFill>
            <a:srgbClr val="065A82"/>
          </a:solidFill>
          <a:ln/>
        </p:spPr>
        <p:txBody>
          <a:bodyPr/>
          <a:lstStyle/>
          <a:p>
            <a:endParaRPr lang="en-GB"/>
          </a:p>
        </p:txBody>
      </p:sp>
      <p:sp>
        <p:nvSpPr>
          <p:cNvPr id="14" name="Text 12"/>
          <p:cNvSpPr/>
          <p:nvPr/>
        </p:nvSpPr>
        <p:spPr>
          <a:xfrm>
            <a:off x="1024128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cost</a:t>
            </a:r>
            <a:endParaRPr lang="en-US" sz="1000" dirty="0"/>
          </a:p>
        </p:txBody>
      </p:sp>
      <p:sp>
        <p:nvSpPr>
          <p:cNvPr id="15" name="Text 13"/>
          <p:cNvSpPr/>
          <p:nvPr/>
        </p:nvSpPr>
        <p:spPr>
          <a:xfrm>
            <a:off x="649224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S1 — fix #facilities</a:t>
            </a:r>
            <a:endParaRPr lang="en-US" sz="2000" dirty="0"/>
          </a:p>
        </p:txBody>
      </p:sp>
      <p:sp>
        <p:nvSpPr>
          <p:cNvPr id="16" name="Text 14"/>
          <p:cNvSpPr/>
          <p:nvPr/>
        </p:nvSpPr>
        <p:spPr>
          <a:xfrm>
            <a:off x="649224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travel time at sum_x ≈ target_cells</a:t>
            </a:r>
            <a:endParaRPr lang="en-US" sz="1300" dirty="0"/>
          </a:p>
        </p:txBody>
      </p:sp>
      <p:sp>
        <p:nvSpPr>
          <p:cNvPr id="17" name="Text 15"/>
          <p:cNvSpPr/>
          <p:nvPr/>
        </p:nvSpPr>
        <p:spPr>
          <a:xfrm>
            <a:off x="649224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min Σ wᵢ·c(tᵢⱼ)·yₖ + λ·Σⱼxⱼ</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Sweep λ to land sum_x at the baseline cell count.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LP-relaxation of UFLP, strong linking yₖ ≤ x_{j(k)}.</a:t>
            </a:r>
            <a:endParaRPr lang="en-US" sz="1200" dirty="0"/>
          </a:p>
        </p:txBody>
      </p:sp>
      <p:sp>
        <p:nvSpPr>
          <p:cNvPr id="18" name="Shape 16"/>
          <p:cNvSpPr/>
          <p:nvPr/>
        </p:nvSpPr>
        <p:spPr>
          <a:xfrm>
            <a:off x="54864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19" name="Shape 17"/>
          <p:cNvSpPr/>
          <p:nvPr/>
        </p:nvSpPr>
        <p:spPr>
          <a:xfrm>
            <a:off x="548640" y="4114800"/>
            <a:ext cx="91440" cy="2286000"/>
          </a:xfrm>
          <a:prstGeom prst="rect">
            <a:avLst/>
          </a:prstGeom>
          <a:solidFill>
            <a:srgbClr val="065A82"/>
          </a:solidFill>
          <a:ln/>
        </p:spPr>
        <p:txBody>
          <a:bodyPr/>
          <a:lstStyle/>
          <a:p>
            <a:endParaRPr lang="en-GB"/>
          </a:p>
        </p:txBody>
      </p:sp>
      <p:sp>
        <p:nvSpPr>
          <p:cNvPr id="20" name="Shape 18"/>
          <p:cNvSpPr/>
          <p:nvPr/>
        </p:nvSpPr>
        <p:spPr>
          <a:xfrm>
            <a:off x="4572000" y="4297680"/>
            <a:ext cx="1188720" cy="274320"/>
          </a:xfrm>
          <a:prstGeom prst="rect">
            <a:avLst/>
          </a:prstGeom>
          <a:solidFill>
            <a:srgbClr val="065A82"/>
          </a:solidFill>
          <a:ln/>
        </p:spPr>
        <p:txBody>
          <a:bodyPr/>
          <a:lstStyle/>
          <a:p>
            <a:endParaRPr lang="en-GB"/>
          </a:p>
        </p:txBody>
      </p:sp>
      <p:sp>
        <p:nvSpPr>
          <p:cNvPr id="21" name="Text 19"/>
          <p:cNvSpPr/>
          <p:nvPr/>
        </p:nvSpPr>
        <p:spPr>
          <a:xfrm>
            <a:off x="457200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access</a:t>
            </a:r>
            <a:endParaRPr lang="en-US" sz="1000" dirty="0"/>
          </a:p>
        </p:txBody>
      </p:sp>
      <p:sp>
        <p:nvSpPr>
          <p:cNvPr id="22" name="Text 20"/>
          <p:cNvSpPr/>
          <p:nvPr/>
        </p:nvSpPr>
        <p:spPr>
          <a:xfrm>
            <a:off x="82296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S2 — fix travel cost</a:t>
            </a:r>
            <a:endParaRPr lang="en-US" sz="2000" dirty="0"/>
          </a:p>
        </p:txBody>
      </p:sp>
      <p:sp>
        <p:nvSpPr>
          <p:cNvPr id="23" name="Text 21"/>
          <p:cNvSpPr/>
          <p:nvPr/>
        </p:nvSpPr>
        <p:spPr>
          <a:xfrm>
            <a:off x="82296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#facilities at C ≈ baseline cost</a:t>
            </a:r>
            <a:endParaRPr lang="en-US" sz="1300" dirty="0"/>
          </a:p>
        </p:txBody>
      </p:sp>
      <p:sp>
        <p:nvSpPr>
          <p:cNvPr id="24" name="Text 22"/>
          <p:cNvSpPr/>
          <p:nvPr/>
        </p:nvSpPr>
        <p:spPr>
          <a:xfrm>
            <a:off x="82296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Same objective, different λ target.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Closest point on sweep to the baseline travel cost; trade fewer pharmacies for the same access.</a:t>
            </a:r>
            <a:endParaRPr lang="en-US" sz="1200" dirty="0"/>
          </a:p>
        </p:txBody>
      </p:sp>
      <p:sp>
        <p:nvSpPr>
          <p:cNvPr id="25" name="Shape 23"/>
          <p:cNvSpPr/>
          <p:nvPr/>
        </p:nvSpPr>
        <p:spPr>
          <a:xfrm>
            <a:off x="621792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26" name="Shape 24"/>
          <p:cNvSpPr/>
          <p:nvPr/>
        </p:nvSpPr>
        <p:spPr>
          <a:xfrm>
            <a:off x="6217920" y="4114800"/>
            <a:ext cx="91440" cy="2286000"/>
          </a:xfrm>
          <a:prstGeom prst="rect">
            <a:avLst/>
          </a:prstGeom>
          <a:solidFill>
            <a:srgbClr val="F2B632"/>
          </a:solidFill>
          <a:ln/>
        </p:spPr>
        <p:txBody>
          <a:bodyPr/>
          <a:lstStyle/>
          <a:p>
            <a:endParaRPr lang="en-GB"/>
          </a:p>
        </p:txBody>
      </p:sp>
      <p:sp>
        <p:nvSpPr>
          <p:cNvPr id="27" name="Shape 25"/>
          <p:cNvSpPr/>
          <p:nvPr/>
        </p:nvSpPr>
        <p:spPr>
          <a:xfrm>
            <a:off x="10241280" y="4297680"/>
            <a:ext cx="1188720" cy="274320"/>
          </a:xfrm>
          <a:prstGeom prst="rect">
            <a:avLst/>
          </a:prstGeom>
          <a:solidFill>
            <a:srgbClr val="F2B632"/>
          </a:solidFill>
          <a:ln/>
        </p:spPr>
        <p:txBody>
          <a:bodyPr/>
          <a:lstStyle/>
          <a:p>
            <a:endParaRPr lang="en-GB"/>
          </a:p>
        </p:txBody>
      </p:sp>
      <p:sp>
        <p:nvSpPr>
          <p:cNvPr id="28" name="Text 26"/>
          <p:cNvSpPr/>
          <p:nvPr/>
        </p:nvSpPr>
        <p:spPr>
          <a:xfrm>
            <a:off x="1024128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Pareto sweep</a:t>
            </a:r>
            <a:endParaRPr lang="en-US" sz="1000" dirty="0"/>
          </a:p>
        </p:txBody>
      </p:sp>
      <p:sp>
        <p:nvSpPr>
          <p:cNvPr id="29" name="Text 27"/>
          <p:cNvSpPr/>
          <p:nvPr/>
        </p:nvSpPr>
        <p:spPr>
          <a:xfrm>
            <a:off x="649224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S3 — reduce both</a:t>
            </a:r>
            <a:endParaRPr lang="en-US" sz="2000" dirty="0"/>
          </a:p>
        </p:txBody>
      </p:sp>
      <p:sp>
        <p:nvSpPr>
          <p:cNvPr id="30" name="Text 28"/>
          <p:cNvSpPr/>
          <p:nvPr/>
        </p:nvSpPr>
        <p:spPr>
          <a:xfrm>
            <a:off x="649224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Trace the full Pareto frontier</a:t>
            </a:r>
            <a:endParaRPr lang="en-US" sz="1300" dirty="0"/>
          </a:p>
        </p:txBody>
      </p:sp>
      <p:sp>
        <p:nvSpPr>
          <p:cNvPr id="31" name="Text 29"/>
          <p:cNvSpPr/>
          <p:nvPr/>
        </p:nvSpPr>
        <p:spPr>
          <a:xfrm>
            <a:off x="649224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Coarse sweep w ∈ {1e-5 … 1e3}, then fine sweep bracketing the S1 and S2 targets.</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 sum_x and travel cost at each λ.</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FROM FRACTIONS TO PHARMACIES</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How multistart rounds the LP relaxation  </a:t>
            </a:r>
            <a:r>
              <a:rPr lang="en-US" sz="2200" dirty="0">
                <a:solidFill>
                  <a:srgbClr val="1C3D5A"/>
                </a:solidFill>
                <a:latin typeface="Georgia" pitchFamily="34" charset="0"/>
                <a:ea typeface="Georgia" pitchFamily="34" charset="-122"/>
                <a:cs typeface="Georgia" pitchFamily="34" charset="-120"/>
              </a:rPr>
              <a:t>— and why it is an upper bound</a:t>
            </a:r>
            <a:endParaRPr lang="en-US" sz="2200" dirty="0"/>
          </a:p>
        </p:txBody>
      </p:sp>
      <p:sp>
        <p:nvSpPr>
          <p:cNvPr id="4" name="Shape 2"/>
          <p:cNvSpPr/>
          <p:nvPr/>
        </p:nvSpPr>
        <p:spPr>
          <a:xfrm>
            <a:off x="457200" y="129844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29844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280160"/>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Fix the count</a:t>
            </a:r>
            <a:endParaRPr lang="en-US" sz="1400" dirty="0"/>
          </a:p>
        </p:txBody>
      </p:sp>
      <p:sp>
        <p:nvSpPr>
          <p:cNvPr id="7" name="Text 5"/>
          <p:cNvSpPr/>
          <p:nvPr/>
        </p:nvSpPr>
        <p:spPr>
          <a:xfrm>
            <a:off x="1024128" y="1545336"/>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p = round(Σ yⱼ*) — the integer pharmacy count nearest the LP's fractional total, so every rounded point stays on the same axis as the relaxation.</a:t>
            </a:r>
            <a:endParaRPr lang="en-US" sz="1050" dirty="0"/>
          </a:p>
        </p:txBody>
      </p:sp>
      <p:sp>
        <p:nvSpPr>
          <p:cNvPr id="8" name="Shape 6"/>
          <p:cNvSpPr/>
          <p:nvPr/>
        </p:nvSpPr>
        <p:spPr>
          <a:xfrm>
            <a:off x="457200" y="21945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1945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176272"/>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Seed 10 candidate sets</a:t>
            </a:r>
            <a:endParaRPr lang="en-US" sz="1400" dirty="0"/>
          </a:p>
        </p:txBody>
      </p:sp>
      <p:sp>
        <p:nvSpPr>
          <p:cNvPr id="11" name="Text 9"/>
          <p:cNvSpPr/>
          <p:nvPr/>
        </p:nvSpPr>
        <p:spPr>
          <a:xfrm>
            <a:off x="1024128" y="2441448"/>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top-p by x* and the lazy-greedy set (CELF, Leskovec et al. 2007 — marginal travel gains are submodular), so the result can never be worse than either; plus 8 x*-weighted random draws (Efraimidis–Spirakis 2006 A-Res); must-open pharmacies (x*≈1) are always kept.</a:t>
            </a:r>
            <a:endParaRPr lang="en-US" sz="1050" dirty="0"/>
          </a:p>
        </p:txBody>
      </p:sp>
      <p:sp>
        <p:nvSpPr>
          <p:cNvPr id="12" name="Shape 10"/>
          <p:cNvSpPr/>
          <p:nvPr/>
        </p:nvSpPr>
        <p:spPr>
          <a:xfrm>
            <a:off x="457200" y="309067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9067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72384"/>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Polish by swaps</a:t>
            </a:r>
            <a:endParaRPr lang="en-US" sz="1400" dirty="0"/>
          </a:p>
        </p:txBody>
      </p:sp>
      <p:sp>
        <p:nvSpPr>
          <p:cNvPr id="15" name="Text 13"/>
          <p:cNvSpPr/>
          <p:nvPr/>
        </p:nvSpPr>
        <p:spPr>
          <a:xfrm>
            <a:off x="1024128" y="3337560"/>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best-improving open↔closed swaps over the fractional pool — the classic p-median vertex-substitution search, in its fast-interchange form (Resende &amp; Werneck 2007). Each swap is accepted only if the exact travel delta improves — cost strictly decreases, ≤ 12 rounds per seed.</a:t>
            </a:r>
            <a:endParaRPr lang="en-US" sz="1050" dirty="0"/>
          </a:p>
        </p:txBody>
      </p:sp>
      <p:sp>
        <p:nvSpPr>
          <p:cNvPr id="16" name="Shape 14"/>
          <p:cNvSpPr/>
          <p:nvPr/>
        </p:nvSpPr>
        <p:spPr>
          <a:xfrm>
            <a:off x="457200" y="398678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98678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968496"/>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Score coverage-honestly, keep the best</a:t>
            </a:r>
            <a:endParaRPr lang="en-US" sz="1400" dirty="0"/>
          </a:p>
        </p:txBody>
      </p:sp>
      <p:sp>
        <p:nvSpPr>
          <p:cNvPr id="19" name="Text 17"/>
          <p:cNvSpPr/>
          <p:nvPr/>
        </p:nvSpPr>
        <p:spPr>
          <a:xfrm>
            <a:off x="1024128" y="4233672"/>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every client priced at its nearest open pharmacy, c(t); a client left with no open pharmacy in the OD (stranded) is priced at BIG — 120 min (linear) / 1.0 (logistic), the same price as in the LP and the baseline, so abandoning remote clusters is never free. Lowest total wins.</a:t>
            </a:r>
            <a:endParaRPr lang="en-US" sz="1050" dirty="0"/>
          </a:p>
        </p:txBody>
      </p:sp>
      <p:sp>
        <p:nvSpPr>
          <p:cNvPr id="20" name="Shape 18"/>
          <p:cNvSpPr/>
          <p:nvPr/>
        </p:nvSpPr>
        <p:spPr>
          <a:xfrm>
            <a:off x="7315200" y="1298448"/>
            <a:ext cx="4416552" cy="3566160"/>
          </a:xfrm>
          <a:prstGeom prst="roundRect">
            <a:avLst>
              <a:gd name="adj" fmla="val 1538"/>
            </a:avLst>
          </a:prstGeom>
          <a:solidFill>
            <a:srgbClr val="F0F6F2"/>
          </a:solidFill>
          <a:ln w="12700">
            <a:solidFill>
              <a:srgbClr val="1E7A52"/>
            </a:solidFill>
            <a:prstDash val="solid"/>
          </a:ln>
        </p:spPr>
        <p:txBody>
          <a:bodyPr/>
          <a:lstStyle/>
          <a:p>
            <a:endParaRPr lang="en-GB"/>
          </a:p>
        </p:txBody>
      </p:sp>
      <p:sp>
        <p:nvSpPr>
          <p:cNvPr id="21" name="Text 19"/>
          <p:cNvSpPr/>
          <p:nvPr/>
        </p:nvSpPr>
        <p:spPr>
          <a:xfrm>
            <a:off x="7498080" y="1408176"/>
            <a:ext cx="40690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this is an upper bound ✓</a:t>
            </a:r>
            <a:endParaRPr lang="en-US" sz="1300" dirty="0"/>
          </a:p>
        </p:txBody>
      </p:sp>
      <p:sp>
        <p:nvSpPr>
          <p:cNvPr id="22" name="Text 20"/>
          <p:cNvSpPr/>
          <p:nvPr/>
        </p:nvSpPr>
        <p:spPr>
          <a:xfrm>
            <a:off x="7498080" y="1719072"/>
            <a:ext cx="4069080" cy="3090672"/>
          </a:xfrm>
          <a:prstGeom prst="rect">
            <a:avLst/>
          </a:prstGeom>
          <a:noFill/>
          <a:ln/>
        </p:spPr>
        <p:txBody>
          <a:bodyPr wrap="square" rtlCol="0" anchor="t"/>
          <a:lstStyle/>
          <a:p>
            <a:pPr marL="0" indent="0">
              <a:lnSpc>
                <a:spcPct val="100000"/>
              </a:lnSpc>
              <a:buNone/>
            </a:pPr>
            <a:r>
              <a:rPr lang="en-US" sz="960" dirty="0">
                <a:solidFill>
                  <a:srgbClr val="12233A"/>
                </a:solidFill>
                <a:latin typeface="Calibri" pitchFamily="34" charset="0"/>
                <a:ea typeface="Calibri" pitchFamily="34" charset="-122"/>
                <a:cs typeface="Calibri" pitchFamily="34" charset="-120"/>
              </a:rPr>
              <a:t>The rounded set is a feasible point of the same (soft-coverage) problem: exactly p pharmacies actually open (x integer), and every client is either assigned to its nearest open pharmacy or explicitly left unserved at BIG. Feasible ⟹ its objective can only be ≥ the integer optimum, which is ≥ the LP optimum:</a:t>
            </a:r>
            <a:endParaRPr lang="en-US" sz="960" dirty="0"/>
          </a:p>
          <a:p>
            <a:pPr marL="0" indent="0">
              <a:lnSpc>
                <a:spcPct val="100000"/>
              </a:lnSpc>
              <a:buNone/>
            </a:pPr>
            <a:endParaRPr lang="en-US" sz="960" dirty="0"/>
          </a:p>
          <a:p>
            <a:pPr marL="0" indent="0" algn="ctr">
              <a:lnSpc>
                <a:spcPct val="100000"/>
              </a:lnSpc>
              <a:buNone/>
            </a:pPr>
            <a:r>
              <a:rPr lang="en-US" sz="960" b="1" dirty="0">
                <a:solidFill>
                  <a:srgbClr val="1E7A52"/>
                </a:solidFill>
                <a:latin typeface="Calibri" pitchFamily="34" charset="0"/>
                <a:ea typeface="Calibri" pitchFamily="34" charset="-122"/>
                <a:cs typeface="Calibri" pitchFamily="34" charset="-120"/>
              </a:rPr>
              <a:t>LP relax  ≤  integer optimum  ≤  multistart</a:t>
            </a:r>
            <a:endParaRPr lang="en-US" sz="960" dirty="0"/>
          </a:p>
          <a:p>
            <a:pPr marL="0" indent="0">
              <a:lnSpc>
                <a:spcPct val="100000"/>
              </a:lnSpc>
              <a:buNone/>
            </a:pPr>
            <a:endParaRPr lang="en-US" sz="960" dirty="0"/>
          </a:p>
          <a:p>
            <a:pPr marL="0" indent="0">
              <a:lnSpc>
                <a:spcPct val="100000"/>
              </a:lnSpc>
              <a:buNone/>
            </a:pPr>
            <a:r>
              <a:rPr lang="en-US" sz="960" dirty="0">
                <a:solidFill>
                  <a:srgbClr val="5B6B7B"/>
                </a:solidFill>
                <a:latin typeface="Calibri" pitchFamily="34" charset="0"/>
                <a:ea typeface="Calibri" pitchFamily="34" charset="-122"/>
                <a:cs typeface="Calibri" pitchFamily="34" charset="-120"/>
              </a:rPr>
              <a:t>Rigorous throughout — no caveat needed. Under soft coverage leaving a client unserved is part of the feasible space, and it is priced at the same BIG in the LP bound, in the rounding and in the baseline. The unserved count is reported next to every figure.</a:t>
            </a:r>
            <a:endParaRPr lang="en-US" sz="960" dirty="0"/>
          </a:p>
          <a:p>
            <a:pPr marL="0" indent="0">
              <a:lnSpc>
                <a:spcPct val="100000"/>
              </a:lnSpc>
              <a:buNone/>
            </a:pPr>
            <a:endParaRPr lang="en-US" sz="960" dirty="0"/>
          </a:p>
          <a:p>
            <a:pPr marL="0" indent="0">
              <a:lnSpc>
                <a:spcPct val="100000"/>
              </a:lnSpc>
              <a:buNone/>
            </a:pPr>
            <a:r>
              <a:rPr lang="en-US" sz="960" i="1" dirty="0">
                <a:solidFill>
                  <a:srgbClr val="12233A"/>
                </a:solidFill>
                <a:latin typeface="Calibri" pitchFamily="34" charset="0"/>
                <a:ea typeface="Calibri" pitchFamily="34" charset="-122"/>
                <a:cs typeface="Calibri" pitchFamily="34" charset="-120"/>
              </a:rPr>
              <a:t>The multi-vs-relax column in the end tables is therefore a certified optimality gap on TOTAL cost: the integer optimum lies inside it. </a:t>
            </a:r>
            <a:r>
              <a:rPr lang="en-US" sz="960" i="1" dirty="0">
                <a:solidFill>
                  <a:srgbClr val="5B6B7B"/>
                </a:solidFill>
                <a:latin typeface="Calibri" pitchFamily="34" charset="0"/>
                <a:ea typeface="Calibri" pitchFamily="34" charset="-122"/>
                <a:cs typeface="Calibri" pitchFamily="34" charset="-120"/>
              </a:rPr>
              <a:t>It does NOT bound travel and facility cost separately — the discrete solution may sit with higher travel and lower facility cost than the relaxation, or the reverse. For the logistic variant the bound is on the transformed cost c(t), not on minutes; mean_t is reported alongside and carries no bound. In practice the two bounds are now nearly a line for most areas.</a:t>
            </a:r>
            <a:endParaRPr lang="en-US" sz="960" dirty="0"/>
          </a:p>
        </p:txBody>
      </p:sp>
      <p:sp>
        <p:nvSpPr>
          <p:cNvPr id="23" name="Shape 21"/>
          <p:cNvSpPr/>
          <p:nvPr/>
        </p:nvSpPr>
        <p:spPr>
          <a:xfrm>
            <a:off x="457200" y="5029200"/>
            <a:ext cx="11274552" cy="1143000"/>
          </a:xfrm>
          <a:prstGeom prst="roundRect">
            <a:avLst>
              <a:gd name="adj" fmla="val 4800"/>
            </a:avLst>
          </a:prstGeom>
          <a:solidFill>
            <a:srgbClr val="F2F5F8"/>
          </a:solidFill>
          <a:ln w="12700">
            <a:solidFill>
              <a:srgbClr val="D9E0E7"/>
            </a:solidFill>
            <a:prstDash val="solid"/>
          </a:ln>
        </p:spPr>
        <p:txBody>
          <a:bodyPr/>
          <a:lstStyle/>
          <a:p>
            <a:endParaRPr lang="en-GB"/>
          </a:p>
        </p:txBody>
      </p:sp>
      <p:sp>
        <p:nvSpPr>
          <p:cNvPr id="24" name="Text 22"/>
          <p:cNvSpPr/>
          <p:nvPr/>
        </p:nvSpPr>
        <p:spPr>
          <a:xfrm>
            <a:off x="685800" y="5166360"/>
            <a:ext cx="10835640" cy="914400"/>
          </a:xfrm>
          <a:prstGeom prst="rect">
            <a:avLst/>
          </a:prstGeom>
          <a:noFill/>
          <a:ln/>
        </p:spPr>
        <p:txBody>
          <a:bodyPr wrap="square" rtlCol="0" anchor="t"/>
          <a:lstStyle/>
          <a:p>
            <a:pPr marL="0" indent="0">
              <a:buNone/>
            </a:pPr>
            <a:r>
              <a:rPr lang="en-US" sz="1100" b="1" dirty="0">
                <a:solidFill>
                  <a:srgbClr val="12233A"/>
                </a:solidFill>
                <a:latin typeface="Calibri" pitchFamily="34" charset="0"/>
                <a:ea typeface="Calibri" pitchFamily="34" charset="-122"/>
                <a:cs typeface="Calibri" pitchFamily="34" charset="-120"/>
              </a:rPr>
              <a:t>Checked against the implementation (lp_run.jl).  </a:t>
            </a:r>
            <a:r>
              <a:rPr lang="en-US" sz="1100" dirty="0">
                <a:solidFill>
                  <a:srgbClr val="5B6B7B"/>
                </a:solidFill>
                <a:latin typeface="Calibri" pitchFamily="34" charset="0"/>
                <a:ea typeface="Calibri" pitchFamily="34" charset="-122"/>
                <a:cs typeface="Calibri" pitchFamily="34" charset="-120"/>
              </a:rPr>
              <a:t>An LP-guided matheuristic. The swap profit is the exact per-swap travel change (gain − loss + interaction term — verified case-by-case), so polish is monotone and multistart ≤ min(top-p, greedy) by construction; the final choice re-evaluates every polished set from scratch (travel_of). Deterministic: fixed RNG seed, so decks reproduce. Cost: seconds per point — the LP solve dominates.</a:t>
            </a:r>
            <a:endParaRPr lang="en-US" sz="1100" dirty="0"/>
          </a:p>
        </p:txBody>
      </p:sp>
      <p:sp>
        <p:nvSpPr>
          <p:cNvPr id="25" name="Text 23"/>
          <p:cNvSpPr/>
          <p:nvPr/>
        </p:nvSpPr>
        <p:spPr>
          <a:xfrm>
            <a:off x="457200" y="635508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lp_run.jl: multistart_round (seeds), swap_round! (fast interchange), travel_of (coverage-honest metric), assign_nearest (final assignment) · MS_RESTARTS=10, MS_ROUNDS=12, MS_SEED fixed.</a:t>
            </a:r>
            <a:endParaRPr lang="en-US" sz="850" dirty="0"/>
          </a:p>
        </p:txBody>
      </p:sp>
    </p:spTree>
    <p:extLst>
      <p:ext uri="{BB962C8B-B14F-4D97-AF65-F5344CB8AC3E}">
        <p14:creationId xmlns:p14="http://schemas.microsoft.com/office/powerpoint/2010/main" val="32807974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WHAT THE SWEEP TRACES</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The Pareto frontier</a:t>
            </a:r>
            <a:endParaRPr lang="en-US" sz="3200" dirty="0"/>
          </a:p>
        </p:txBody>
      </p:sp>
      <p:sp>
        <p:nvSpPr>
          <p:cNvPr id="4" name="Text 2"/>
          <p:cNvSpPr/>
          <p:nvPr/>
        </p:nvSpPr>
        <p:spPr>
          <a:xfrm>
            <a:off x="548640" y="1554480"/>
            <a:ext cx="5303520" cy="45720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Two competing objectives</a:t>
            </a:r>
            <a:endParaRPr lang="en-US" sz="2000" dirty="0"/>
          </a:p>
        </p:txBody>
      </p:sp>
      <p:sp>
        <p:nvSpPr>
          <p:cNvPr id="5" name="Text 3"/>
          <p:cNvSpPr/>
          <p:nvPr/>
        </p:nvSpPr>
        <p:spPr>
          <a:xfrm>
            <a:off x="548640" y="2011680"/>
            <a:ext cx="5303520" cy="1097280"/>
          </a:xfrm>
          <a:prstGeom prst="rect">
            <a:avLst/>
          </a:prstGeom>
          <a:noFill/>
          <a:ln/>
        </p:spPr>
        <p:txBody>
          <a:bodyPr wrap="square" lIns="0" tIns="0" rIns="0" bIns="0" rtlCol="0" anchor="ctr"/>
          <a:lstStyle/>
          <a:p>
            <a:pPr marL="0" indent="0">
              <a:buNone/>
            </a:pPr>
            <a:r>
              <a:rPr lang="en-US" sz="1400" b="1" dirty="0">
                <a:solidFill>
                  <a:srgbClr val="065A82"/>
                </a:solidFill>
                <a:latin typeface="Calibri" pitchFamily="34" charset="0"/>
                <a:ea typeface="Calibri" pitchFamily="34" charset="-122"/>
                <a:cs typeface="Calibri" pitchFamily="34" charset="-120"/>
              </a:rPr>
              <a:t>Travel cost</a:t>
            </a:r>
            <a:r>
              <a:rPr lang="en-US" sz="1400" dirty="0">
                <a:solidFill>
                  <a:srgbClr val="1F2937"/>
                </a:solidFill>
                <a:latin typeface="Calibri" pitchFamily="34" charset="0"/>
                <a:ea typeface="Calibri" pitchFamily="34" charset="-122"/>
                <a:cs typeface="Calibri" pitchFamily="34" charset="-120"/>
              </a:rPr>
              <a:t> — total person-c(t), weighted by population.</a:t>
            </a:r>
            <a:endParaRPr lang="en-US" sz="1400" dirty="0"/>
          </a:p>
          <a:p>
            <a:pPr marL="0" indent="0">
              <a:buNone/>
            </a:pPr>
            <a:r>
              <a:rPr lang="en-US" sz="1400" b="1" dirty="0">
                <a:solidFill>
                  <a:srgbClr val="065A82"/>
                </a:solidFill>
                <a:latin typeface="Calibri" pitchFamily="34" charset="0"/>
                <a:ea typeface="Calibri" pitchFamily="34" charset="-122"/>
                <a:cs typeface="Calibri" pitchFamily="34" charset="-120"/>
              </a:rPr>
              <a:t>Facility count</a:t>
            </a:r>
            <a:r>
              <a:rPr lang="en-US" sz="1400" dirty="0">
                <a:solidFill>
                  <a:srgbClr val="1F2937"/>
                </a:solidFill>
                <a:latin typeface="Calibri" pitchFamily="34" charset="0"/>
                <a:ea typeface="Calibri" pitchFamily="34" charset="-122"/>
                <a:cs typeface="Calibri" pitchFamily="34" charset="-120"/>
              </a:rPr>
              <a:t> — sum_x, the LP-relaxed number of opened pharmacies.</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 </a:t>
            </a:r>
            <a:endParaRPr lang="en-US" sz="1400" dirty="0"/>
          </a:p>
        </p:txBody>
      </p:sp>
      <p:sp>
        <p:nvSpPr>
          <p:cNvPr id="6" name="Text 4"/>
          <p:cNvSpPr/>
          <p:nvPr/>
        </p:nvSpPr>
        <p:spPr>
          <a:xfrm>
            <a:off x="548640" y="3108960"/>
            <a:ext cx="5303520" cy="41148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How the sweep works</a:t>
            </a:r>
            <a:endParaRPr lang="en-US" sz="1800" dirty="0"/>
          </a:p>
        </p:txBody>
      </p:sp>
      <p:sp>
        <p:nvSpPr>
          <p:cNvPr id="7" name="Text 5"/>
          <p:cNvSpPr/>
          <p:nvPr/>
        </p:nvSpPr>
        <p:spPr>
          <a:xfrm>
            <a:off x="548640" y="3520440"/>
            <a:ext cx="5303520" cy="2286000"/>
          </a:xfrm>
          <a:prstGeom prst="rect">
            <a:avLst/>
          </a:prstGeom>
          <a:noFill/>
          <a:ln/>
        </p:spPr>
        <p:txBody>
          <a:bodyPr wrap="square" lIns="0" tIns="0" rIns="0" bIns="0" rtlCol="0" anchor="ctr"/>
          <a:lstStyle/>
          <a:p>
            <a:pPr marL="0" indent="0">
              <a:buNone/>
            </a:pPr>
            <a:r>
              <a:rPr lang="en-US" sz="1400" dirty="0">
                <a:solidFill>
                  <a:srgbClr val="1F2937"/>
                </a:solidFill>
                <a:latin typeface="Calibri" pitchFamily="34" charset="0"/>
                <a:ea typeface="Calibri" pitchFamily="34" charset="-122"/>
                <a:cs typeface="Calibri" pitchFamily="34" charset="-120"/>
              </a:rPr>
              <a:t>Each λ gives one Pareto point (sum_x, travel_c).</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Low λ → many cheap facilities, low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High λ → few expensive facilities, high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S1 and S2 are two specific points on the same curve.</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The full sweep traces the curve between and beyond them.</a:t>
            </a:r>
            <a:endParaRPr lang="en-US" sz="1400" dirty="0"/>
          </a:p>
        </p:txBody>
      </p:sp>
      <p:sp>
        <p:nvSpPr>
          <p:cNvPr id="8" name="Shape 6"/>
          <p:cNvSpPr/>
          <p:nvPr/>
        </p:nvSpPr>
        <p:spPr>
          <a:xfrm>
            <a:off x="6400800" y="1691640"/>
            <a:ext cx="5120640" cy="4206240"/>
          </a:xfrm>
          <a:prstGeom prst="rect">
            <a:avLst/>
          </a:prstGeom>
          <a:solidFill>
            <a:srgbClr val="FFFFFF"/>
          </a:solidFill>
          <a:ln w="6350">
            <a:solidFill>
              <a:srgbClr val="DCE3EA"/>
            </a:solidFill>
            <a:prstDash val="solid"/>
          </a:ln>
        </p:spPr>
        <p:txBody>
          <a:bodyPr/>
          <a:lstStyle/>
          <a:p>
            <a:endParaRPr lang="en-GB"/>
          </a:p>
        </p:txBody>
      </p:sp>
      <p:sp>
        <p:nvSpPr>
          <p:cNvPr id="9" name="Text 7"/>
          <p:cNvSpPr/>
          <p:nvPr/>
        </p:nvSpPr>
        <p:spPr>
          <a:xfrm>
            <a:off x="6400800" y="1371600"/>
            <a:ext cx="5120640" cy="274320"/>
          </a:xfrm>
          <a:prstGeom prst="rect">
            <a:avLst/>
          </a:prstGeom>
          <a:noFill/>
          <a:ln/>
        </p:spPr>
        <p:txBody>
          <a:bodyPr wrap="square" lIns="0" tIns="0" rIns="0" bIns="0" rtlCol="0" anchor="ctr"/>
          <a:lstStyle/>
          <a:p>
            <a:pPr marL="0" indent="0" algn="ctr">
              <a:buNone/>
            </a:pPr>
            <a:r>
              <a:rPr lang="en-US" sz="1200" i="1" dirty="0">
                <a:solidFill>
                  <a:srgbClr val="64748B"/>
                </a:solidFill>
                <a:latin typeface="Calibri" pitchFamily="34" charset="0"/>
                <a:ea typeface="Calibri" pitchFamily="34" charset="-122"/>
                <a:cs typeface="Calibri" pitchFamily="34" charset="-120"/>
              </a:rPr>
              <a:t>Pareto frontier (schematic)</a:t>
            </a:r>
            <a:endParaRPr lang="en-US" sz="1200" dirty="0"/>
          </a:p>
        </p:txBody>
      </p:sp>
      <p:sp>
        <p:nvSpPr>
          <p:cNvPr id="10" name="Shape 8"/>
          <p:cNvSpPr/>
          <p:nvPr/>
        </p:nvSpPr>
        <p:spPr>
          <a:xfrm>
            <a:off x="6949440" y="2811780"/>
            <a:ext cx="4389120" cy="0"/>
          </a:xfrm>
          <a:prstGeom prst="line">
            <a:avLst/>
          </a:prstGeom>
          <a:noFill/>
          <a:ln w="6350">
            <a:solidFill>
              <a:srgbClr val="DCE3EA"/>
            </a:solidFill>
            <a:prstDash val="solid"/>
          </a:ln>
        </p:spPr>
        <p:txBody>
          <a:bodyPr/>
          <a:lstStyle/>
          <a:p>
            <a:endParaRPr lang="en-GB"/>
          </a:p>
        </p:txBody>
      </p:sp>
      <p:sp>
        <p:nvSpPr>
          <p:cNvPr id="11" name="Shape 9"/>
          <p:cNvSpPr/>
          <p:nvPr/>
        </p:nvSpPr>
        <p:spPr>
          <a:xfrm>
            <a:off x="6949440" y="3657600"/>
            <a:ext cx="4389120" cy="0"/>
          </a:xfrm>
          <a:prstGeom prst="line">
            <a:avLst/>
          </a:prstGeom>
          <a:noFill/>
          <a:ln w="6350">
            <a:solidFill>
              <a:srgbClr val="DCE3EA"/>
            </a:solidFill>
            <a:prstDash val="solid"/>
          </a:ln>
        </p:spPr>
        <p:txBody>
          <a:bodyPr/>
          <a:lstStyle/>
          <a:p>
            <a:endParaRPr lang="en-GB"/>
          </a:p>
        </p:txBody>
      </p:sp>
      <p:sp>
        <p:nvSpPr>
          <p:cNvPr id="12" name="Shape 10"/>
          <p:cNvSpPr/>
          <p:nvPr/>
        </p:nvSpPr>
        <p:spPr>
          <a:xfrm>
            <a:off x="6949440" y="4503420"/>
            <a:ext cx="4389120" cy="0"/>
          </a:xfrm>
          <a:prstGeom prst="line">
            <a:avLst/>
          </a:prstGeom>
          <a:noFill/>
          <a:ln w="6350">
            <a:solidFill>
              <a:srgbClr val="DCE3EA"/>
            </a:solidFill>
            <a:prstDash val="solid"/>
          </a:ln>
        </p:spPr>
        <p:txBody>
          <a:bodyPr/>
          <a:lstStyle/>
          <a:p>
            <a:endParaRPr lang="en-GB"/>
          </a:p>
        </p:txBody>
      </p:sp>
      <p:sp>
        <p:nvSpPr>
          <p:cNvPr id="13" name="Shape 11"/>
          <p:cNvSpPr/>
          <p:nvPr/>
        </p:nvSpPr>
        <p:spPr>
          <a:xfrm>
            <a:off x="6949440" y="5349240"/>
            <a:ext cx="4389120" cy="0"/>
          </a:xfrm>
          <a:prstGeom prst="line">
            <a:avLst/>
          </a:prstGeom>
          <a:noFill/>
          <a:ln w="9525">
            <a:solidFill>
              <a:srgbClr val="64748B"/>
            </a:solidFill>
            <a:prstDash val="solid"/>
          </a:ln>
        </p:spPr>
        <p:txBody>
          <a:bodyPr/>
          <a:lstStyle/>
          <a:p>
            <a:endParaRPr lang="en-GB"/>
          </a:p>
        </p:txBody>
      </p:sp>
      <p:sp>
        <p:nvSpPr>
          <p:cNvPr id="14" name="Shape 12"/>
          <p:cNvSpPr/>
          <p:nvPr/>
        </p:nvSpPr>
        <p:spPr>
          <a:xfrm>
            <a:off x="6949440" y="1965960"/>
            <a:ext cx="0" cy="3383280"/>
          </a:xfrm>
          <a:prstGeom prst="line">
            <a:avLst/>
          </a:prstGeom>
          <a:noFill/>
          <a:ln w="9525">
            <a:solidFill>
              <a:srgbClr val="64748B"/>
            </a:solidFill>
            <a:prstDash val="solid"/>
          </a:ln>
        </p:spPr>
        <p:txBody>
          <a:bodyPr/>
          <a:lstStyle/>
          <a:p>
            <a:endParaRPr lang="en-GB"/>
          </a:p>
        </p:txBody>
      </p:sp>
      <p:sp>
        <p:nvSpPr>
          <p:cNvPr id="15" name="Shape 13"/>
          <p:cNvSpPr/>
          <p:nvPr/>
        </p:nvSpPr>
        <p:spPr>
          <a:xfrm>
            <a:off x="6949440" y="1965960"/>
            <a:ext cx="109728" cy="410450"/>
          </a:xfrm>
          <a:prstGeom prst="line">
            <a:avLst/>
          </a:prstGeom>
          <a:noFill/>
          <a:ln w="25400">
            <a:solidFill>
              <a:srgbClr val="065A82"/>
            </a:solidFill>
            <a:prstDash val="solid"/>
          </a:ln>
        </p:spPr>
        <p:txBody>
          <a:bodyPr/>
          <a:lstStyle/>
          <a:p>
            <a:endParaRPr lang="en-GB"/>
          </a:p>
        </p:txBody>
      </p:sp>
      <p:sp>
        <p:nvSpPr>
          <p:cNvPr id="16" name="Shape 14"/>
          <p:cNvSpPr/>
          <p:nvPr/>
        </p:nvSpPr>
        <p:spPr>
          <a:xfrm>
            <a:off x="7059168" y="2376410"/>
            <a:ext cx="109728" cy="336647"/>
          </a:xfrm>
          <a:prstGeom prst="line">
            <a:avLst/>
          </a:prstGeom>
          <a:noFill/>
          <a:ln w="25400">
            <a:solidFill>
              <a:srgbClr val="065A82"/>
            </a:solidFill>
            <a:prstDash val="solid"/>
          </a:ln>
        </p:spPr>
        <p:txBody>
          <a:bodyPr/>
          <a:lstStyle/>
          <a:p>
            <a:endParaRPr lang="en-GB"/>
          </a:p>
        </p:txBody>
      </p:sp>
      <p:sp>
        <p:nvSpPr>
          <p:cNvPr id="17" name="Shape 15"/>
          <p:cNvSpPr/>
          <p:nvPr/>
        </p:nvSpPr>
        <p:spPr>
          <a:xfrm>
            <a:off x="7168896" y="2713057"/>
            <a:ext cx="109728" cy="281107"/>
          </a:xfrm>
          <a:prstGeom prst="line">
            <a:avLst/>
          </a:prstGeom>
          <a:noFill/>
          <a:ln w="25400">
            <a:solidFill>
              <a:srgbClr val="065A82"/>
            </a:solidFill>
            <a:prstDash val="solid"/>
          </a:ln>
        </p:spPr>
        <p:txBody>
          <a:bodyPr/>
          <a:lstStyle/>
          <a:p>
            <a:endParaRPr lang="en-GB"/>
          </a:p>
        </p:txBody>
      </p:sp>
      <p:sp>
        <p:nvSpPr>
          <p:cNvPr id="18" name="Shape 16"/>
          <p:cNvSpPr/>
          <p:nvPr/>
        </p:nvSpPr>
        <p:spPr>
          <a:xfrm>
            <a:off x="7278624" y="2994164"/>
            <a:ext cx="109728" cy="238265"/>
          </a:xfrm>
          <a:prstGeom prst="line">
            <a:avLst/>
          </a:prstGeom>
          <a:noFill/>
          <a:ln w="25400">
            <a:solidFill>
              <a:srgbClr val="065A82"/>
            </a:solidFill>
            <a:prstDash val="solid"/>
          </a:ln>
        </p:spPr>
        <p:txBody>
          <a:bodyPr/>
          <a:lstStyle/>
          <a:p>
            <a:endParaRPr lang="en-GB"/>
          </a:p>
        </p:txBody>
      </p:sp>
      <p:sp>
        <p:nvSpPr>
          <p:cNvPr id="19" name="Shape 17"/>
          <p:cNvSpPr/>
          <p:nvPr/>
        </p:nvSpPr>
        <p:spPr>
          <a:xfrm>
            <a:off x="7388352" y="3232428"/>
            <a:ext cx="109728" cy="204523"/>
          </a:xfrm>
          <a:prstGeom prst="line">
            <a:avLst/>
          </a:prstGeom>
          <a:noFill/>
          <a:ln w="25400">
            <a:solidFill>
              <a:srgbClr val="065A82"/>
            </a:solidFill>
            <a:prstDash val="solid"/>
          </a:ln>
        </p:spPr>
        <p:txBody>
          <a:bodyPr/>
          <a:lstStyle/>
          <a:p>
            <a:endParaRPr lang="en-GB"/>
          </a:p>
        </p:txBody>
      </p:sp>
      <p:sp>
        <p:nvSpPr>
          <p:cNvPr id="20" name="Shape 18"/>
          <p:cNvSpPr/>
          <p:nvPr/>
        </p:nvSpPr>
        <p:spPr>
          <a:xfrm>
            <a:off x="7498080" y="3436951"/>
            <a:ext cx="109728" cy="177475"/>
          </a:xfrm>
          <a:prstGeom prst="line">
            <a:avLst/>
          </a:prstGeom>
          <a:noFill/>
          <a:ln w="25400">
            <a:solidFill>
              <a:srgbClr val="065A82"/>
            </a:solidFill>
            <a:prstDash val="solid"/>
          </a:ln>
        </p:spPr>
        <p:txBody>
          <a:bodyPr/>
          <a:lstStyle/>
          <a:p>
            <a:endParaRPr lang="en-GB"/>
          </a:p>
        </p:txBody>
      </p:sp>
      <p:sp>
        <p:nvSpPr>
          <p:cNvPr id="21" name="Shape 19"/>
          <p:cNvSpPr/>
          <p:nvPr/>
        </p:nvSpPr>
        <p:spPr>
          <a:xfrm>
            <a:off x="7607808" y="3614426"/>
            <a:ext cx="109728" cy="155459"/>
          </a:xfrm>
          <a:prstGeom prst="line">
            <a:avLst/>
          </a:prstGeom>
          <a:noFill/>
          <a:ln w="25400">
            <a:solidFill>
              <a:srgbClr val="065A82"/>
            </a:solidFill>
            <a:prstDash val="solid"/>
          </a:ln>
        </p:spPr>
        <p:txBody>
          <a:bodyPr/>
          <a:lstStyle/>
          <a:p>
            <a:endParaRPr lang="en-GB"/>
          </a:p>
        </p:txBody>
      </p:sp>
      <p:sp>
        <p:nvSpPr>
          <p:cNvPr id="22" name="Shape 20"/>
          <p:cNvSpPr/>
          <p:nvPr/>
        </p:nvSpPr>
        <p:spPr>
          <a:xfrm>
            <a:off x="7717536" y="3769885"/>
            <a:ext cx="109728" cy="137301"/>
          </a:xfrm>
          <a:prstGeom prst="line">
            <a:avLst/>
          </a:prstGeom>
          <a:noFill/>
          <a:ln w="25400">
            <a:solidFill>
              <a:srgbClr val="065A82"/>
            </a:solidFill>
            <a:prstDash val="solid"/>
          </a:ln>
        </p:spPr>
        <p:txBody>
          <a:bodyPr/>
          <a:lstStyle/>
          <a:p>
            <a:endParaRPr lang="en-GB"/>
          </a:p>
        </p:txBody>
      </p:sp>
      <p:sp>
        <p:nvSpPr>
          <p:cNvPr id="23" name="Shape 21"/>
          <p:cNvSpPr/>
          <p:nvPr/>
        </p:nvSpPr>
        <p:spPr>
          <a:xfrm>
            <a:off x="7827264" y="3907186"/>
            <a:ext cx="109728" cy="122149"/>
          </a:xfrm>
          <a:prstGeom prst="line">
            <a:avLst/>
          </a:prstGeom>
          <a:noFill/>
          <a:ln w="25400">
            <a:solidFill>
              <a:srgbClr val="065A82"/>
            </a:solidFill>
            <a:prstDash val="solid"/>
          </a:ln>
        </p:spPr>
        <p:txBody>
          <a:bodyPr/>
          <a:lstStyle/>
          <a:p>
            <a:endParaRPr lang="en-GB"/>
          </a:p>
        </p:txBody>
      </p:sp>
      <p:sp>
        <p:nvSpPr>
          <p:cNvPr id="24" name="Shape 22"/>
          <p:cNvSpPr/>
          <p:nvPr/>
        </p:nvSpPr>
        <p:spPr>
          <a:xfrm>
            <a:off x="7936992" y="4029335"/>
            <a:ext cx="109728" cy="109374"/>
          </a:xfrm>
          <a:prstGeom prst="line">
            <a:avLst/>
          </a:prstGeom>
          <a:noFill/>
          <a:ln w="25400">
            <a:solidFill>
              <a:srgbClr val="065A82"/>
            </a:solidFill>
            <a:prstDash val="solid"/>
          </a:ln>
        </p:spPr>
        <p:txBody>
          <a:bodyPr/>
          <a:lstStyle/>
          <a:p>
            <a:endParaRPr lang="en-GB"/>
          </a:p>
        </p:txBody>
      </p:sp>
      <p:sp>
        <p:nvSpPr>
          <p:cNvPr id="25" name="Shape 23"/>
          <p:cNvSpPr/>
          <p:nvPr/>
        </p:nvSpPr>
        <p:spPr>
          <a:xfrm>
            <a:off x="8046720" y="4138709"/>
            <a:ext cx="109728" cy="98503"/>
          </a:xfrm>
          <a:prstGeom prst="line">
            <a:avLst/>
          </a:prstGeom>
          <a:noFill/>
          <a:ln w="25400">
            <a:solidFill>
              <a:srgbClr val="065A82"/>
            </a:solidFill>
            <a:prstDash val="solid"/>
          </a:ln>
        </p:spPr>
        <p:txBody>
          <a:bodyPr/>
          <a:lstStyle/>
          <a:p>
            <a:endParaRPr lang="en-GB"/>
          </a:p>
        </p:txBody>
      </p:sp>
      <p:sp>
        <p:nvSpPr>
          <p:cNvPr id="26" name="Shape 24"/>
          <p:cNvSpPr/>
          <p:nvPr/>
        </p:nvSpPr>
        <p:spPr>
          <a:xfrm>
            <a:off x="8156448" y="4237212"/>
            <a:ext cx="109728" cy="89176"/>
          </a:xfrm>
          <a:prstGeom prst="line">
            <a:avLst/>
          </a:prstGeom>
          <a:noFill/>
          <a:ln w="25400">
            <a:solidFill>
              <a:srgbClr val="065A82"/>
            </a:solidFill>
            <a:prstDash val="solid"/>
          </a:ln>
        </p:spPr>
        <p:txBody>
          <a:bodyPr/>
          <a:lstStyle/>
          <a:p>
            <a:endParaRPr lang="en-GB"/>
          </a:p>
        </p:txBody>
      </p:sp>
      <p:sp>
        <p:nvSpPr>
          <p:cNvPr id="27" name="Shape 25"/>
          <p:cNvSpPr/>
          <p:nvPr/>
        </p:nvSpPr>
        <p:spPr>
          <a:xfrm>
            <a:off x="8266176" y="4326388"/>
            <a:ext cx="109728" cy="81114"/>
          </a:xfrm>
          <a:prstGeom prst="line">
            <a:avLst/>
          </a:prstGeom>
          <a:noFill/>
          <a:ln w="25400">
            <a:solidFill>
              <a:srgbClr val="065A82"/>
            </a:solidFill>
            <a:prstDash val="solid"/>
          </a:ln>
        </p:spPr>
        <p:txBody>
          <a:bodyPr/>
          <a:lstStyle/>
          <a:p>
            <a:endParaRPr lang="en-GB"/>
          </a:p>
        </p:txBody>
      </p:sp>
      <p:sp>
        <p:nvSpPr>
          <p:cNvPr id="28" name="Shape 26"/>
          <p:cNvSpPr/>
          <p:nvPr/>
        </p:nvSpPr>
        <p:spPr>
          <a:xfrm>
            <a:off x="8375904" y="4407502"/>
            <a:ext cx="109728" cy="74098"/>
          </a:xfrm>
          <a:prstGeom prst="line">
            <a:avLst/>
          </a:prstGeom>
          <a:noFill/>
          <a:ln w="25400">
            <a:solidFill>
              <a:srgbClr val="065A82"/>
            </a:solidFill>
            <a:prstDash val="solid"/>
          </a:ln>
        </p:spPr>
        <p:txBody>
          <a:bodyPr/>
          <a:lstStyle/>
          <a:p>
            <a:endParaRPr lang="en-GB"/>
          </a:p>
        </p:txBody>
      </p:sp>
      <p:sp>
        <p:nvSpPr>
          <p:cNvPr id="29" name="Shape 27"/>
          <p:cNvSpPr/>
          <p:nvPr/>
        </p:nvSpPr>
        <p:spPr>
          <a:xfrm>
            <a:off x="8485632" y="4481601"/>
            <a:ext cx="109728" cy="67955"/>
          </a:xfrm>
          <a:prstGeom prst="line">
            <a:avLst/>
          </a:prstGeom>
          <a:noFill/>
          <a:ln w="25400">
            <a:solidFill>
              <a:srgbClr val="065A82"/>
            </a:solidFill>
            <a:prstDash val="solid"/>
          </a:ln>
        </p:spPr>
        <p:txBody>
          <a:bodyPr/>
          <a:lstStyle/>
          <a:p>
            <a:endParaRPr lang="en-GB"/>
          </a:p>
        </p:txBody>
      </p:sp>
      <p:sp>
        <p:nvSpPr>
          <p:cNvPr id="30" name="Shape 28"/>
          <p:cNvSpPr/>
          <p:nvPr/>
        </p:nvSpPr>
        <p:spPr>
          <a:xfrm>
            <a:off x="8595360" y="4549556"/>
            <a:ext cx="109728" cy="62545"/>
          </a:xfrm>
          <a:prstGeom prst="line">
            <a:avLst/>
          </a:prstGeom>
          <a:noFill/>
          <a:ln w="25400">
            <a:solidFill>
              <a:srgbClr val="065A82"/>
            </a:solidFill>
            <a:prstDash val="solid"/>
          </a:ln>
        </p:spPr>
        <p:txBody>
          <a:bodyPr/>
          <a:lstStyle/>
          <a:p>
            <a:endParaRPr lang="en-GB"/>
          </a:p>
        </p:txBody>
      </p:sp>
      <p:sp>
        <p:nvSpPr>
          <p:cNvPr id="31" name="Shape 29"/>
          <p:cNvSpPr/>
          <p:nvPr/>
        </p:nvSpPr>
        <p:spPr>
          <a:xfrm>
            <a:off x="8705088" y="4612101"/>
            <a:ext cx="109728" cy="57757"/>
          </a:xfrm>
          <a:prstGeom prst="line">
            <a:avLst/>
          </a:prstGeom>
          <a:noFill/>
          <a:ln w="25400">
            <a:solidFill>
              <a:srgbClr val="065A82"/>
            </a:solidFill>
            <a:prstDash val="solid"/>
          </a:ln>
        </p:spPr>
        <p:txBody>
          <a:bodyPr/>
          <a:lstStyle/>
          <a:p>
            <a:endParaRPr lang="en-GB"/>
          </a:p>
        </p:txBody>
      </p:sp>
      <p:sp>
        <p:nvSpPr>
          <p:cNvPr id="32" name="Shape 30"/>
          <p:cNvSpPr/>
          <p:nvPr/>
        </p:nvSpPr>
        <p:spPr>
          <a:xfrm>
            <a:off x="8814816" y="4669857"/>
            <a:ext cx="109728" cy="53498"/>
          </a:xfrm>
          <a:prstGeom prst="line">
            <a:avLst/>
          </a:prstGeom>
          <a:noFill/>
          <a:ln w="25400">
            <a:solidFill>
              <a:srgbClr val="065A82"/>
            </a:solidFill>
            <a:prstDash val="solid"/>
          </a:ln>
        </p:spPr>
        <p:txBody>
          <a:bodyPr/>
          <a:lstStyle/>
          <a:p>
            <a:endParaRPr lang="en-GB"/>
          </a:p>
        </p:txBody>
      </p:sp>
      <p:sp>
        <p:nvSpPr>
          <p:cNvPr id="33" name="Shape 31"/>
          <p:cNvSpPr/>
          <p:nvPr/>
        </p:nvSpPr>
        <p:spPr>
          <a:xfrm>
            <a:off x="8924544" y="4723355"/>
            <a:ext cx="109728" cy="49693"/>
          </a:xfrm>
          <a:prstGeom prst="line">
            <a:avLst/>
          </a:prstGeom>
          <a:noFill/>
          <a:ln w="25400">
            <a:solidFill>
              <a:srgbClr val="065A82"/>
            </a:solidFill>
            <a:prstDash val="solid"/>
          </a:ln>
        </p:spPr>
        <p:txBody>
          <a:bodyPr/>
          <a:lstStyle/>
          <a:p>
            <a:endParaRPr lang="en-GB"/>
          </a:p>
        </p:txBody>
      </p:sp>
      <p:sp>
        <p:nvSpPr>
          <p:cNvPr id="34" name="Shape 32"/>
          <p:cNvSpPr/>
          <p:nvPr/>
        </p:nvSpPr>
        <p:spPr>
          <a:xfrm>
            <a:off x="9034272" y="4773048"/>
            <a:ext cx="109728" cy="46280"/>
          </a:xfrm>
          <a:prstGeom prst="line">
            <a:avLst/>
          </a:prstGeom>
          <a:noFill/>
          <a:ln w="25400">
            <a:solidFill>
              <a:srgbClr val="065A82"/>
            </a:solidFill>
            <a:prstDash val="solid"/>
          </a:ln>
        </p:spPr>
        <p:txBody>
          <a:bodyPr/>
          <a:lstStyle/>
          <a:p>
            <a:endParaRPr lang="en-GB"/>
          </a:p>
        </p:txBody>
      </p:sp>
      <p:sp>
        <p:nvSpPr>
          <p:cNvPr id="35" name="Shape 33"/>
          <p:cNvSpPr/>
          <p:nvPr/>
        </p:nvSpPr>
        <p:spPr>
          <a:xfrm>
            <a:off x="9144000" y="4819329"/>
            <a:ext cx="109728" cy="43208"/>
          </a:xfrm>
          <a:prstGeom prst="line">
            <a:avLst/>
          </a:prstGeom>
          <a:noFill/>
          <a:ln w="25400">
            <a:solidFill>
              <a:srgbClr val="065A82"/>
            </a:solidFill>
            <a:prstDash val="solid"/>
          </a:ln>
        </p:spPr>
        <p:txBody>
          <a:bodyPr/>
          <a:lstStyle/>
          <a:p>
            <a:endParaRPr lang="en-GB"/>
          </a:p>
        </p:txBody>
      </p:sp>
      <p:sp>
        <p:nvSpPr>
          <p:cNvPr id="36" name="Shape 34"/>
          <p:cNvSpPr/>
          <p:nvPr/>
        </p:nvSpPr>
        <p:spPr>
          <a:xfrm>
            <a:off x="9253728" y="4862536"/>
            <a:ext cx="109728" cy="40431"/>
          </a:xfrm>
          <a:prstGeom prst="line">
            <a:avLst/>
          </a:prstGeom>
          <a:noFill/>
          <a:ln w="25400">
            <a:solidFill>
              <a:srgbClr val="065A82"/>
            </a:solidFill>
            <a:prstDash val="solid"/>
          </a:ln>
        </p:spPr>
        <p:txBody>
          <a:bodyPr/>
          <a:lstStyle/>
          <a:p>
            <a:endParaRPr lang="en-GB"/>
          </a:p>
        </p:txBody>
      </p:sp>
      <p:sp>
        <p:nvSpPr>
          <p:cNvPr id="37" name="Shape 35"/>
          <p:cNvSpPr/>
          <p:nvPr/>
        </p:nvSpPr>
        <p:spPr>
          <a:xfrm>
            <a:off x="9363456" y="4902967"/>
            <a:ext cx="109728" cy="37914"/>
          </a:xfrm>
          <a:prstGeom prst="line">
            <a:avLst/>
          </a:prstGeom>
          <a:noFill/>
          <a:ln w="25400">
            <a:solidFill>
              <a:srgbClr val="065A82"/>
            </a:solidFill>
            <a:prstDash val="solid"/>
          </a:ln>
        </p:spPr>
        <p:txBody>
          <a:bodyPr/>
          <a:lstStyle/>
          <a:p>
            <a:endParaRPr lang="en-GB"/>
          </a:p>
        </p:txBody>
      </p:sp>
      <p:sp>
        <p:nvSpPr>
          <p:cNvPr id="38" name="Shape 36"/>
          <p:cNvSpPr/>
          <p:nvPr/>
        </p:nvSpPr>
        <p:spPr>
          <a:xfrm>
            <a:off x="9473184" y="4940881"/>
            <a:ext cx="109728" cy="35625"/>
          </a:xfrm>
          <a:prstGeom prst="line">
            <a:avLst/>
          </a:prstGeom>
          <a:noFill/>
          <a:ln w="25400">
            <a:solidFill>
              <a:srgbClr val="065A82"/>
            </a:solidFill>
            <a:prstDash val="solid"/>
          </a:ln>
        </p:spPr>
        <p:txBody>
          <a:bodyPr/>
          <a:lstStyle/>
          <a:p>
            <a:endParaRPr lang="en-GB"/>
          </a:p>
        </p:txBody>
      </p:sp>
      <p:sp>
        <p:nvSpPr>
          <p:cNvPr id="39" name="Shape 37"/>
          <p:cNvSpPr/>
          <p:nvPr/>
        </p:nvSpPr>
        <p:spPr>
          <a:xfrm>
            <a:off x="9582912" y="4976506"/>
            <a:ext cx="109728" cy="33536"/>
          </a:xfrm>
          <a:prstGeom prst="line">
            <a:avLst/>
          </a:prstGeom>
          <a:noFill/>
          <a:ln w="25400">
            <a:solidFill>
              <a:srgbClr val="065A82"/>
            </a:solidFill>
            <a:prstDash val="solid"/>
          </a:ln>
        </p:spPr>
        <p:txBody>
          <a:bodyPr/>
          <a:lstStyle/>
          <a:p>
            <a:endParaRPr lang="en-GB"/>
          </a:p>
        </p:txBody>
      </p:sp>
      <p:sp>
        <p:nvSpPr>
          <p:cNvPr id="40" name="Shape 38"/>
          <p:cNvSpPr/>
          <p:nvPr/>
        </p:nvSpPr>
        <p:spPr>
          <a:xfrm>
            <a:off x="9692640" y="5010042"/>
            <a:ext cx="109728" cy="31627"/>
          </a:xfrm>
          <a:prstGeom prst="line">
            <a:avLst/>
          </a:prstGeom>
          <a:noFill/>
          <a:ln w="25400">
            <a:solidFill>
              <a:srgbClr val="065A82"/>
            </a:solidFill>
            <a:prstDash val="solid"/>
          </a:ln>
        </p:spPr>
        <p:txBody>
          <a:bodyPr/>
          <a:lstStyle/>
          <a:p>
            <a:endParaRPr lang="en-GB"/>
          </a:p>
        </p:txBody>
      </p:sp>
      <p:sp>
        <p:nvSpPr>
          <p:cNvPr id="41" name="Shape 39"/>
          <p:cNvSpPr/>
          <p:nvPr/>
        </p:nvSpPr>
        <p:spPr>
          <a:xfrm>
            <a:off x="9802368" y="5041669"/>
            <a:ext cx="109728" cy="29876"/>
          </a:xfrm>
          <a:prstGeom prst="line">
            <a:avLst/>
          </a:prstGeom>
          <a:noFill/>
          <a:ln w="25400">
            <a:solidFill>
              <a:srgbClr val="065A82"/>
            </a:solidFill>
            <a:prstDash val="solid"/>
          </a:ln>
        </p:spPr>
        <p:txBody>
          <a:bodyPr/>
          <a:lstStyle/>
          <a:p>
            <a:endParaRPr lang="en-GB"/>
          </a:p>
        </p:txBody>
      </p:sp>
      <p:sp>
        <p:nvSpPr>
          <p:cNvPr id="42" name="Shape 40"/>
          <p:cNvSpPr/>
          <p:nvPr/>
        </p:nvSpPr>
        <p:spPr>
          <a:xfrm>
            <a:off x="9912096" y="5071545"/>
            <a:ext cx="109728" cy="28266"/>
          </a:xfrm>
          <a:prstGeom prst="line">
            <a:avLst/>
          </a:prstGeom>
          <a:noFill/>
          <a:ln w="25400">
            <a:solidFill>
              <a:srgbClr val="065A82"/>
            </a:solidFill>
            <a:prstDash val="solid"/>
          </a:ln>
        </p:spPr>
        <p:txBody>
          <a:bodyPr/>
          <a:lstStyle/>
          <a:p>
            <a:endParaRPr lang="en-GB"/>
          </a:p>
        </p:txBody>
      </p:sp>
      <p:sp>
        <p:nvSpPr>
          <p:cNvPr id="43" name="Shape 41"/>
          <p:cNvSpPr/>
          <p:nvPr/>
        </p:nvSpPr>
        <p:spPr>
          <a:xfrm>
            <a:off x="10021824" y="5099811"/>
            <a:ext cx="109728" cy="26783"/>
          </a:xfrm>
          <a:prstGeom prst="line">
            <a:avLst/>
          </a:prstGeom>
          <a:noFill/>
          <a:ln w="25400">
            <a:solidFill>
              <a:srgbClr val="065A82"/>
            </a:solidFill>
            <a:prstDash val="solid"/>
          </a:ln>
        </p:spPr>
        <p:txBody>
          <a:bodyPr/>
          <a:lstStyle/>
          <a:p>
            <a:endParaRPr lang="en-GB"/>
          </a:p>
        </p:txBody>
      </p:sp>
      <p:sp>
        <p:nvSpPr>
          <p:cNvPr id="44" name="Shape 42"/>
          <p:cNvSpPr/>
          <p:nvPr/>
        </p:nvSpPr>
        <p:spPr>
          <a:xfrm>
            <a:off x="10131552" y="5126594"/>
            <a:ext cx="109728" cy="25414"/>
          </a:xfrm>
          <a:prstGeom prst="line">
            <a:avLst/>
          </a:prstGeom>
          <a:noFill/>
          <a:ln w="25400">
            <a:solidFill>
              <a:srgbClr val="065A82"/>
            </a:solidFill>
            <a:prstDash val="solid"/>
          </a:ln>
        </p:spPr>
        <p:txBody>
          <a:bodyPr/>
          <a:lstStyle/>
          <a:p>
            <a:endParaRPr lang="en-GB"/>
          </a:p>
        </p:txBody>
      </p:sp>
      <p:sp>
        <p:nvSpPr>
          <p:cNvPr id="45" name="Shape 43"/>
          <p:cNvSpPr/>
          <p:nvPr/>
        </p:nvSpPr>
        <p:spPr>
          <a:xfrm>
            <a:off x="10241280" y="5152008"/>
            <a:ext cx="109728" cy="24147"/>
          </a:xfrm>
          <a:prstGeom prst="line">
            <a:avLst/>
          </a:prstGeom>
          <a:noFill/>
          <a:ln w="25400">
            <a:solidFill>
              <a:srgbClr val="065A82"/>
            </a:solidFill>
            <a:prstDash val="solid"/>
          </a:ln>
        </p:spPr>
        <p:txBody>
          <a:bodyPr/>
          <a:lstStyle/>
          <a:p>
            <a:endParaRPr lang="en-GB"/>
          </a:p>
        </p:txBody>
      </p:sp>
      <p:sp>
        <p:nvSpPr>
          <p:cNvPr id="46" name="Shape 44"/>
          <p:cNvSpPr/>
          <p:nvPr/>
        </p:nvSpPr>
        <p:spPr>
          <a:xfrm>
            <a:off x="10351008" y="5176156"/>
            <a:ext cx="109728" cy="22973"/>
          </a:xfrm>
          <a:prstGeom prst="line">
            <a:avLst/>
          </a:prstGeom>
          <a:noFill/>
          <a:ln w="25400">
            <a:solidFill>
              <a:srgbClr val="065A82"/>
            </a:solidFill>
            <a:prstDash val="solid"/>
          </a:ln>
        </p:spPr>
        <p:txBody>
          <a:bodyPr/>
          <a:lstStyle/>
          <a:p>
            <a:endParaRPr lang="en-GB"/>
          </a:p>
        </p:txBody>
      </p:sp>
      <p:sp>
        <p:nvSpPr>
          <p:cNvPr id="47" name="Shape 45"/>
          <p:cNvSpPr/>
          <p:nvPr/>
        </p:nvSpPr>
        <p:spPr>
          <a:xfrm>
            <a:off x="10460736" y="5199129"/>
            <a:ext cx="109728" cy="21882"/>
          </a:xfrm>
          <a:prstGeom prst="line">
            <a:avLst/>
          </a:prstGeom>
          <a:noFill/>
          <a:ln w="25400">
            <a:solidFill>
              <a:srgbClr val="065A82"/>
            </a:solidFill>
            <a:prstDash val="solid"/>
          </a:ln>
        </p:spPr>
        <p:txBody>
          <a:bodyPr/>
          <a:lstStyle/>
          <a:p>
            <a:endParaRPr lang="en-GB"/>
          </a:p>
        </p:txBody>
      </p:sp>
      <p:sp>
        <p:nvSpPr>
          <p:cNvPr id="48" name="Shape 46"/>
          <p:cNvSpPr/>
          <p:nvPr/>
        </p:nvSpPr>
        <p:spPr>
          <a:xfrm>
            <a:off x="10570464" y="5221011"/>
            <a:ext cx="109728" cy="20867"/>
          </a:xfrm>
          <a:prstGeom prst="line">
            <a:avLst/>
          </a:prstGeom>
          <a:noFill/>
          <a:ln w="25400">
            <a:solidFill>
              <a:srgbClr val="065A82"/>
            </a:solidFill>
            <a:prstDash val="solid"/>
          </a:ln>
        </p:spPr>
        <p:txBody>
          <a:bodyPr/>
          <a:lstStyle/>
          <a:p>
            <a:endParaRPr lang="en-GB"/>
          </a:p>
        </p:txBody>
      </p:sp>
      <p:sp>
        <p:nvSpPr>
          <p:cNvPr id="49" name="Shape 47"/>
          <p:cNvSpPr/>
          <p:nvPr/>
        </p:nvSpPr>
        <p:spPr>
          <a:xfrm>
            <a:off x="10680192" y="5241878"/>
            <a:ext cx="109728" cy="19921"/>
          </a:xfrm>
          <a:prstGeom prst="line">
            <a:avLst/>
          </a:prstGeom>
          <a:noFill/>
          <a:ln w="25400">
            <a:solidFill>
              <a:srgbClr val="065A82"/>
            </a:solidFill>
            <a:prstDash val="solid"/>
          </a:ln>
        </p:spPr>
        <p:txBody>
          <a:bodyPr/>
          <a:lstStyle/>
          <a:p>
            <a:endParaRPr lang="en-GB"/>
          </a:p>
        </p:txBody>
      </p:sp>
      <p:sp>
        <p:nvSpPr>
          <p:cNvPr id="50" name="Shape 48"/>
          <p:cNvSpPr/>
          <p:nvPr/>
        </p:nvSpPr>
        <p:spPr>
          <a:xfrm>
            <a:off x="10789920" y="5261799"/>
            <a:ext cx="109728" cy="19038"/>
          </a:xfrm>
          <a:prstGeom prst="line">
            <a:avLst/>
          </a:prstGeom>
          <a:noFill/>
          <a:ln w="25400">
            <a:solidFill>
              <a:srgbClr val="065A82"/>
            </a:solidFill>
            <a:prstDash val="solid"/>
          </a:ln>
        </p:spPr>
        <p:txBody>
          <a:bodyPr/>
          <a:lstStyle/>
          <a:p>
            <a:endParaRPr lang="en-GB"/>
          </a:p>
        </p:txBody>
      </p:sp>
      <p:sp>
        <p:nvSpPr>
          <p:cNvPr id="51" name="Shape 49"/>
          <p:cNvSpPr/>
          <p:nvPr/>
        </p:nvSpPr>
        <p:spPr>
          <a:xfrm>
            <a:off x="10899648" y="5280838"/>
            <a:ext cx="109728" cy="18213"/>
          </a:xfrm>
          <a:prstGeom prst="line">
            <a:avLst/>
          </a:prstGeom>
          <a:noFill/>
          <a:ln w="25400">
            <a:solidFill>
              <a:srgbClr val="065A82"/>
            </a:solidFill>
            <a:prstDash val="solid"/>
          </a:ln>
        </p:spPr>
        <p:txBody>
          <a:bodyPr/>
          <a:lstStyle/>
          <a:p>
            <a:endParaRPr lang="en-GB"/>
          </a:p>
        </p:txBody>
      </p:sp>
      <p:sp>
        <p:nvSpPr>
          <p:cNvPr id="52" name="Shape 50"/>
          <p:cNvSpPr/>
          <p:nvPr/>
        </p:nvSpPr>
        <p:spPr>
          <a:xfrm>
            <a:off x="11009376" y="5299051"/>
            <a:ext cx="109728" cy="17440"/>
          </a:xfrm>
          <a:prstGeom prst="line">
            <a:avLst/>
          </a:prstGeom>
          <a:noFill/>
          <a:ln w="25400">
            <a:solidFill>
              <a:srgbClr val="065A82"/>
            </a:solidFill>
            <a:prstDash val="solid"/>
          </a:ln>
        </p:spPr>
        <p:txBody>
          <a:bodyPr/>
          <a:lstStyle/>
          <a:p>
            <a:endParaRPr lang="en-GB"/>
          </a:p>
        </p:txBody>
      </p:sp>
      <p:sp>
        <p:nvSpPr>
          <p:cNvPr id="53" name="Shape 51"/>
          <p:cNvSpPr/>
          <p:nvPr/>
        </p:nvSpPr>
        <p:spPr>
          <a:xfrm>
            <a:off x="11119104" y="5316490"/>
            <a:ext cx="109728" cy="16715"/>
          </a:xfrm>
          <a:prstGeom prst="line">
            <a:avLst/>
          </a:prstGeom>
          <a:noFill/>
          <a:ln w="25400">
            <a:solidFill>
              <a:srgbClr val="065A82"/>
            </a:solidFill>
            <a:prstDash val="solid"/>
          </a:ln>
        </p:spPr>
        <p:txBody>
          <a:bodyPr/>
          <a:lstStyle/>
          <a:p>
            <a:endParaRPr lang="en-GB"/>
          </a:p>
        </p:txBody>
      </p:sp>
      <p:sp>
        <p:nvSpPr>
          <p:cNvPr id="54" name="Shape 52"/>
          <p:cNvSpPr/>
          <p:nvPr/>
        </p:nvSpPr>
        <p:spPr>
          <a:xfrm>
            <a:off x="11228832" y="5333205"/>
            <a:ext cx="109728" cy="16035"/>
          </a:xfrm>
          <a:prstGeom prst="line">
            <a:avLst/>
          </a:prstGeom>
          <a:noFill/>
          <a:ln w="25400">
            <a:solidFill>
              <a:srgbClr val="065A82"/>
            </a:solidFill>
            <a:prstDash val="solid"/>
          </a:ln>
        </p:spPr>
        <p:txBody>
          <a:bodyPr/>
          <a:lstStyle/>
          <a:p>
            <a:endParaRPr lang="en-GB"/>
          </a:p>
        </p:txBody>
      </p:sp>
      <p:sp>
        <p:nvSpPr>
          <p:cNvPr id="55" name="Shape 53"/>
          <p:cNvSpPr/>
          <p:nvPr/>
        </p:nvSpPr>
        <p:spPr>
          <a:xfrm>
            <a:off x="10645541" y="3665694"/>
            <a:ext cx="0" cy="1569700"/>
          </a:xfrm>
          <a:prstGeom prst="line">
            <a:avLst/>
          </a:prstGeom>
          <a:noFill/>
          <a:ln w="9525">
            <a:solidFill>
              <a:srgbClr val="64748B"/>
            </a:solidFill>
            <a:prstDash val="dash"/>
          </a:ln>
        </p:spPr>
        <p:txBody>
          <a:bodyPr/>
          <a:lstStyle/>
          <a:p>
            <a:endParaRPr lang="en-GB"/>
          </a:p>
        </p:txBody>
      </p:sp>
      <p:sp>
        <p:nvSpPr>
          <p:cNvPr id="56" name="Shape 54"/>
          <p:cNvSpPr/>
          <p:nvPr/>
        </p:nvSpPr>
        <p:spPr>
          <a:xfrm>
            <a:off x="7642459" y="3665694"/>
            <a:ext cx="3003082" cy="0"/>
          </a:xfrm>
          <a:prstGeom prst="line">
            <a:avLst/>
          </a:prstGeom>
          <a:noFill/>
          <a:ln w="9525">
            <a:solidFill>
              <a:srgbClr val="64748B"/>
            </a:solidFill>
            <a:prstDash val="dash"/>
          </a:ln>
        </p:spPr>
        <p:txBody>
          <a:bodyPr/>
          <a:lstStyle/>
          <a:p>
            <a:endParaRPr lang="en-GB"/>
          </a:p>
        </p:txBody>
      </p:sp>
      <p:sp>
        <p:nvSpPr>
          <p:cNvPr id="57" name="Shape 55"/>
          <p:cNvSpPr/>
          <p:nvPr/>
        </p:nvSpPr>
        <p:spPr>
          <a:xfrm>
            <a:off x="7532731" y="3555966"/>
            <a:ext cx="219456" cy="219456"/>
          </a:xfrm>
          <a:prstGeom prst="ellipse">
            <a:avLst/>
          </a:prstGeom>
          <a:solidFill>
            <a:srgbClr val="065A82"/>
          </a:solidFill>
          <a:ln w="9525">
            <a:solidFill>
              <a:srgbClr val="21295C"/>
            </a:solidFill>
            <a:prstDash val="solid"/>
          </a:ln>
        </p:spPr>
        <p:txBody>
          <a:bodyPr/>
          <a:lstStyle/>
          <a:p>
            <a:endParaRPr lang="en-GB"/>
          </a:p>
        </p:txBody>
      </p:sp>
      <p:sp>
        <p:nvSpPr>
          <p:cNvPr id="58" name="Text 56"/>
          <p:cNvSpPr/>
          <p:nvPr/>
        </p:nvSpPr>
        <p:spPr>
          <a:xfrm>
            <a:off x="7185259"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S2</a:t>
            </a:r>
            <a:endParaRPr lang="en-US" sz="1100" dirty="0"/>
          </a:p>
        </p:txBody>
      </p:sp>
      <p:sp>
        <p:nvSpPr>
          <p:cNvPr id="59" name="Shape 57"/>
          <p:cNvSpPr/>
          <p:nvPr/>
        </p:nvSpPr>
        <p:spPr>
          <a:xfrm>
            <a:off x="10535813" y="5125666"/>
            <a:ext cx="219456" cy="219456"/>
          </a:xfrm>
          <a:prstGeom prst="ellipse">
            <a:avLst/>
          </a:prstGeom>
          <a:solidFill>
            <a:srgbClr val="065A82"/>
          </a:solidFill>
          <a:ln w="9525">
            <a:solidFill>
              <a:srgbClr val="21295C"/>
            </a:solidFill>
            <a:prstDash val="solid"/>
          </a:ln>
        </p:spPr>
        <p:txBody>
          <a:bodyPr/>
          <a:lstStyle/>
          <a:p>
            <a:endParaRPr lang="en-GB"/>
          </a:p>
        </p:txBody>
      </p:sp>
      <p:sp>
        <p:nvSpPr>
          <p:cNvPr id="60" name="Text 58"/>
          <p:cNvSpPr/>
          <p:nvPr/>
        </p:nvSpPr>
        <p:spPr>
          <a:xfrm>
            <a:off x="10188341" y="47781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S1</a:t>
            </a:r>
            <a:endParaRPr lang="en-US" sz="1100" dirty="0"/>
          </a:p>
        </p:txBody>
      </p:sp>
      <p:sp>
        <p:nvSpPr>
          <p:cNvPr id="61" name="Shape 59"/>
          <p:cNvSpPr/>
          <p:nvPr/>
        </p:nvSpPr>
        <p:spPr>
          <a:xfrm>
            <a:off x="10535813" y="3555966"/>
            <a:ext cx="219456" cy="219456"/>
          </a:xfrm>
          <a:prstGeom prst="ellipse">
            <a:avLst/>
          </a:prstGeom>
          <a:solidFill>
            <a:srgbClr val="F2B632"/>
          </a:solidFill>
          <a:ln w="9525">
            <a:solidFill>
              <a:srgbClr val="21295C"/>
            </a:solidFill>
            <a:prstDash val="solid"/>
          </a:ln>
        </p:spPr>
        <p:txBody>
          <a:bodyPr/>
          <a:lstStyle/>
          <a:p>
            <a:endParaRPr lang="en-GB"/>
          </a:p>
        </p:txBody>
      </p:sp>
      <p:sp>
        <p:nvSpPr>
          <p:cNvPr id="62" name="Text 60"/>
          <p:cNvSpPr/>
          <p:nvPr/>
        </p:nvSpPr>
        <p:spPr>
          <a:xfrm>
            <a:off x="10188341"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baseline</a:t>
            </a:r>
            <a:endParaRPr lang="en-US" sz="1100" dirty="0"/>
          </a:p>
        </p:txBody>
      </p:sp>
      <p:sp>
        <p:nvSpPr>
          <p:cNvPr id="63" name="Text 61"/>
          <p:cNvSpPr/>
          <p:nvPr/>
        </p:nvSpPr>
        <p:spPr>
          <a:xfrm>
            <a:off x="6949440" y="5486400"/>
            <a:ext cx="438912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 fewer facilities     sum_x     more facilities →</a:t>
            </a:r>
            <a:endParaRPr lang="en-US" sz="1000" dirty="0"/>
          </a:p>
        </p:txBody>
      </p:sp>
      <p:sp>
        <p:nvSpPr>
          <p:cNvPr id="64" name="Text 62"/>
          <p:cNvSpPr/>
          <p:nvPr/>
        </p:nvSpPr>
        <p:spPr>
          <a:xfrm rot="16200000">
            <a:off x="6446520" y="3520440"/>
            <a:ext cx="45720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travel cost</a:t>
            </a:r>
            <a:endParaRPr lang="en-US" sz="1000" dirty="0"/>
          </a:p>
        </p:txBody>
      </p:sp>
      <p:sp>
        <p:nvSpPr>
          <p:cNvPr id="65" name="Text 63"/>
          <p:cNvSpPr/>
          <p:nvPr/>
        </p:nvSpPr>
        <p:spPr>
          <a:xfrm>
            <a:off x="6217920" y="6263640"/>
            <a:ext cx="5486400" cy="32004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With the strong-linking LP, sum_x is a continuous lower bound on integer facility count.</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WHY FRACTIONAL SUM_X IS INFORMATIVE, NOT NOISE</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Integrality gap: LP can strictly beat IP</a:t>
            </a:r>
            <a:endParaRPr lang="en-US" sz="3200" dirty="0"/>
          </a:p>
        </p:txBody>
      </p:sp>
      <p:sp>
        <p:nvSpPr>
          <p:cNvPr id="4" name="Shape 2"/>
          <p:cNvSpPr/>
          <p:nvPr/>
        </p:nvSpPr>
        <p:spPr>
          <a:xfrm>
            <a:off x="548640" y="1554480"/>
            <a:ext cx="5029200" cy="475488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flipH="1">
            <a:off x="171706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6" name="Shape 4"/>
          <p:cNvSpPr/>
          <p:nvPr/>
        </p:nvSpPr>
        <p:spPr>
          <a:xfrm>
            <a:off x="1717060" y="4892040"/>
            <a:ext cx="2692359" cy="0"/>
          </a:xfrm>
          <a:prstGeom prst="line">
            <a:avLst/>
          </a:prstGeom>
          <a:noFill/>
          <a:ln w="19050">
            <a:solidFill>
              <a:srgbClr val="64748B"/>
            </a:solidFill>
            <a:prstDash val="solid"/>
            <a:headEnd type="none"/>
            <a:tailEnd type="none"/>
          </a:ln>
        </p:spPr>
        <p:txBody>
          <a:bodyPr/>
          <a:lstStyle/>
          <a:p>
            <a:endParaRPr lang="en-GB"/>
          </a:p>
        </p:txBody>
      </p:sp>
      <p:sp>
        <p:nvSpPr>
          <p:cNvPr id="7" name="Shape 5"/>
          <p:cNvSpPr/>
          <p:nvPr/>
        </p:nvSpPr>
        <p:spPr>
          <a:xfrm flipH="1" flipV="1">
            <a:off x="306324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8" name="Shape 6"/>
          <p:cNvSpPr/>
          <p:nvPr/>
        </p:nvSpPr>
        <p:spPr>
          <a:xfrm>
            <a:off x="2880360" y="2377440"/>
            <a:ext cx="365760" cy="365760"/>
          </a:xfrm>
          <a:prstGeom prst="ellipse">
            <a:avLst/>
          </a:prstGeom>
          <a:solidFill>
            <a:srgbClr val="065A82"/>
          </a:solidFill>
          <a:ln w="6350">
            <a:solidFill>
              <a:srgbClr val="21295C"/>
            </a:solidFill>
            <a:prstDash val="solid"/>
          </a:ln>
        </p:spPr>
        <p:txBody>
          <a:bodyPr/>
          <a:lstStyle/>
          <a:p>
            <a:endParaRPr lang="en-GB"/>
          </a:p>
        </p:txBody>
      </p:sp>
      <p:sp>
        <p:nvSpPr>
          <p:cNvPr id="9" name="Text 7"/>
          <p:cNvSpPr/>
          <p:nvPr/>
        </p:nvSpPr>
        <p:spPr>
          <a:xfrm>
            <a:off x="2880360" y="2377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i₃</a:t>
            </a:r>
            <a:endParaRPr lang="en-US" sz="1300" dirty="0"/>
          </a:p>
        </p:txBody>
      </p:sp>
      <p:sp>
        <p:nvSpPr>
          <p:cNvPr id="10" name="Shape 8"/>
          <p:cNvSpPr/>
          <p:nvPr/>
        </p:nvSpPr>
        <p:spPr>
          <a:xfrm>
            <a:off x="153418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1" name="Text 9"/>
          <p:cNvSpPr/>
          <p:nvPr/>
        </p:nvSpPr>
        <p:spPr>
          <a:xfrm>
            <a:off x="153418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i₁</a:t>
            </a:r>
            <a:endParaRPr lang="en-US" sz="1300" dirty="0"/>
          </a:p>
        </p:txBody>
      </p:sp>
      <p:sp>
        <p:nvSpPr>
          <p:cNvPr id="12" name="Shape 10"/>
          <p:cNvSpPr/>
          <p:nvPr/>
        </p:nvSpPr>
        <p:spPr>
          <a:xfrm>
            <a:off x="422654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3" name="Text 11"/>
          <p:cNvSpPr/>
          <p:nvPr/>
        </p:nvSpPr>
        <p:spPr>
          <a:xfrm>
            <a:off x="422654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i₂</a:t>
            </a:r>
            <a:endParaRPr lang="en-US" sz="1300" dirty="0"/>
          </a:p>
        </p:txBody>
      </p:sp>
      <p:sp>
        <p:nvSpPr>
          <p:cNvPr id="14" name="Shape 12"/>
          <p:cNvSpPr/>
          <p:nvPr/>
        </p:nvSpPr>
        <p:spPr>
          <a:xfrm>
            <a:off x="220727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5" name="Text 13"/>
          <p:cNvSpPr/>
          <p:nvPr/>
        </p:nvSpPr>
        <p:spPr>
          <a:xfrm>
            <a:off x="220727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j₂</a:t>
            </a:r>
            <a:endParaRPr lang="en-US" sz="1200" dirty="0"/>
          </a:p>
        </p:txBody>
      </p:sp>
      <p:sp>
        <p:nvSpPr>
          <p:cNvPr id="16" name="Shape 14"/>
          <p:cNvSpPr/>
          <p:nvPr/>
        </p:nvSpPr>
        <p:spPr>
          <a:xfrm>
            <a:off x="355345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7" name="Text 15"/>
          <p:cNvSpPr/>
          <p:nvPr/>
        </p:nvSpPr>
        <p:spPr>
          <a:xfrm>
            <a:off x="355345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j₃</a:t>
            </a:r>
            <a:endParaRPr lang="en-US" sz="1200" dirty="0"/>
          </a:p>
        </p:txBody>
      </p:sp>
      <p:sp>
        <p:nvSpPr>
          <p:cNvPr id="18" name="Shape 16"/>
          <p:cNvSpPr/>
          <p:nvPr/>
        </p:nvSpPr>
        <p:spPr>
          <a:xfrm>
            <a:off x="2880360" y="4709160"/>
            <a:ext cx="365760" cy="365760"/>
          </a:xfrm>
          <a:prstGeom prst="rect">
            <a:avLst/>
          </a:prstGeom>
          <a:solidFill>
            <a:srgbClr val="F2B632"/>
          </a:solidFill>
          <a:ln w="6350">
            <a:solidFill>
              <a:srgbClr val="8A6510"/>
            </a:solidFill>
            <a:prstDash val="solid"/>
          </a:ln>
        </p:spPr>
        <p:txBody>
          <a:bodyPr/>
          <a:lstStyle/>
          <a:p>
            <a:endParaRPr lang="en-GB"/>
          </a:p>
        </p:txBody>
      </p:sp>
      <p:sp>
        <p:nvSpPr>
          <p:cNvPr id="19" name="Text 17"/>
          <p:cNvSpPr/>
          <p:nvPr/>
        </p:nvSpPr>
        <p:spPr>
          <a:xfrm>
            <a:off x="2880360" y="470916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j₁</a:t>
            </a:r>
            <a:endParaRPr lang="en-US" sz="1200" dirty="0"/>
          </a:p>
        </p:txBody>
      </p:sp>
      <p:sp>
        <p:nvSpPr>
          <p:cNvPr id="20" name="Text 18"/>
          <p:cNvSpPr/>
          <p:nvPr/>
        </p:nvSpPr>
        <p:spPr>
          <a:xfrm>
            <a:off x="228042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1" name="Text 19"/>
          <p:cNvSpPr/>
          <p:nvPr/>
        </p:nvSpPr>
        <p:spPr>
          <a:xfrm>
            <a:off x="362660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2" name="Text 20"/>
          <p:cNvSpPr/>
          <p:nvPr/>
        </p:nvSpPr>
        <p:spPr>
          <a:xfrm>
            <a:off x="168784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3" name="Text 21"/>
          <p:cNvSpPr/>
          <p:nvPr/>
        </p:nvSpPr>
        <p:spPr>
          <a:xfrm>
            <a:off x="236093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4" name="Text 22"/>
          <p:cNvSpPr/>
          <p:nvPr/>
        </p:nvSpPr>
        <p:spPr>
          <a:xfrm>
            <a:off x="421003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5" name="Text 23"/>
          <p:cNvSpPr/>
          <p:nvPr/>
        </p:nvSpPr>
        <p:spPr>
          <a:xfrm>
            <a:off x="353694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6" name="Text 24"/>
          <p:cNvSpPr/>
          <p:nvPr/>
        </p:nvSpPr>
        <p:spPr>
          <a:xfrm>
            <a:off x="640080" y="5943600"/>
            <a:ext cx="4846320" cy="32004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3 clients · 3 candidate pharmacies · weight = 1 each · λ = 2</a:t>
            </a:r>
            <a:endParaRPr lang="en-US" sz="1100" dirty="0"/>
          </a:p>
        </p:txBody>
      </p:sp>
      <p:sp>
        <p:nvSpPr>
          <p:cNvPr id="27" name="Text 25"/>
          <p:cNvSpPr/>
          <p:nvPr/>
        </p:nvSpPr>
        <p:spPr>
          <a:xfrm>
            <a:off x="5852160" y="155448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Best integer</a:t>
            </a:r>
            <a:endParaRPr lang="en-US" sz="1800" dirty="0"/>
          </a:p>
        </p:txBody>
      </p:sp>
      <p:sp>
        <p:nvSpPr>
          <p:cNvPr id="28" name="Text 26"/>
          <p:cNvSpPr/>
          <p:nvPr/>
        </p:nvSpPr>
        <p:spPr>
          <a:xfrm>
            <a:off x="5852160" y="1965960"/>
            <a:ext cx="5760720" cy="114300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Open any one pharmacy:  </a:t>
            </a:r>
            <a:r>
              <a:rPr lang="en-US" sz="1400" b="1" dirty="0">
                <a:solidFill>
                  <a:srgbClr val="21295C"/>
                </a:solidFill>
                <a:latin typeface="Calibri" pitchFamily="34" charset="0"/>
                <a:ea typeface="Calibri" pitchFamily="34" charset="-122"/>
                <a:cs typeface="Calibri" pitchFamily="34" charset="-120"/>
              </a:rPr>
              <a:t>1 + 1 + 3 + λ = 7</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Open any two:  </a:t>
            </a:r>
            <a:r>
              <a:rPr lang="en-US" sz="1400" b="1" dirty="0">
                <a:solidFill>
                  <a:srgbClr val="21295C"/>
                </a:solidFill>
                <a:latin typeface="Calibri" pitchFamily="34" charset="0"/>
                <a:ea typeface="Calibri" pitchFamily="34" charset="-122"/>
                <a:cs typeface="Calibri" pitchFamily="34" charset="-120"/>
              </a:rPr>
              <a:t>1 + 1 + 1 + 2λ = 7</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IP optimum = 7   (1 or 2 facilities)</a:t>
            </a:r>
            <a:endParaRPr lang="en-US" sz="1400" dirty="0"/>
          </a:p>
        </p:txBody>
      </p:sp>
      <p:sp>
        <p:nvSpPr>
          <p:cNvPr id="29" name="Text 27"/>
          <p:cNvSpPr/>
          <p:nvPr/>
        </p:nvSpPr>
        <p:spPr>
          <a:xfrm>
            <a:off x="5852160" y="324612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LP fractional</a:t>
            </a:r>
            <a:endParaRPr lang="en-US" sz="1800" dirty="0"/>
          </a:p>
        </p:txBody>
      </p:sp>
      <p:sp>
        <p:nvSpPr>
          <p:cNvPr id="30" name="Text 28"/>
          <p:cNvSpPr/>
          <p:nvPr/>
        </p:nvSpPr>
        <p:spPr>
          <a:xfrm>
            <a:off x="5852160" y="3657600"/>
            <a:ext cx="5760720" cy="146304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Set </a:t>
            </a:r>
            <a:r>
              <a:rPr lang="en-US" sz="1400" b="1" dirty="0">
                <a:solidFill>
                  <a:srgbClr val="F2B632"/>
                </a:solidFill>
                <a:latin typeface="Calibri" pitchFamily="34" charset="0"/>
                <a:ea typeface="Calibri" pitchFamily="34" charset="-122"/>
                <a:cs typeface="Calibri" pitchFamily="34" charset="-120"/>
              </a:rPr>
              <a:t>x = (½, ½, ½)</a:t>
            </a:r>
            <a:r>
              <a:rPr lang="en-US" sz="1400" dirty="0">
                <a:solidFill>
                  <a:srgbClr val="1F2937"/>
                </a:solidFill>
                <a:latin typeface="Calibri" pitchFamily="34" charset="0"/>
                <a:ea typeface="Calibri" pitchFamily="34" charset="-122"/>
                <a:cs typeface="Calibri" pitchFamily="34" charset="-120"/>
              </a:rPr>
              <a:t>; each client routes ½ + ½ to its two near pharmacies (cost 1 each).</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Travel = 3, facility = 3 · ½ · 2 = 3</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LP optimum = </a:t>
            </a:r>
            <a:r>
              <a:rPr lang="en-US" sz="1800" b="1" i="1" dirty="0">
                <a:solidFill>
                  <a:srgbClr val="F2B632"/>
                </a:solidFill>
                <a:latin typeface="Calibri" pitchFamily="34" charset="0"/>
                <a:ea typeface="Calibri" pitchFamily="34" charset="-122"/>
                <a:cs typeface="Calibri" pitchFamily="34" charset="-120"/>
              </a:rPr>
              <a:t>6</a:t>
            </a:r>
            <a:r>
              <a:rPr lang="en-US" sz="1400" i="1" dirty="0">
                <a:solidFill>
                  <a:srgbClr val="1C7293"/>
                </a:solidFill>
                <a:latin typeface="Calibri" pitchFamily="34" charset="0"/>
                <a:ea typeface="Calibri" pitchFamily="34" charset="-122"/>
                <a:cs typeface="Calibri" pitchFamily="34" charset="-120"/>
              </a:rPr>
              <a:t>  (sum_x = 1.5, strictly &lt; IP = 7)</a:t>
            </a:r>
            <a:endParaRPr lang="en-US" sz="1400" dirty="0"/>
          </a:p>
        </p:txBody>
      </p:sp>
      <p:sp>
        <p:nvSpPr>
          <p:cNvPr id="31" name="Shape 29"/>
          <p:cNvSpPr/>
          <p:nvPr/>
        </p:nvSpPr>
        <p:spPr>
          <a:xfrm>
            <a:off x="5852160" y="5212080"/>
            <a:ext cx="5760720" cy="1051560"/>
          </a:xfrm>
          <a:prstGeom prst="rect">
            <a:avLst/>
          </a:prstGeom>
          <a:solidFill>
            <a:srgbClr val="21295C"/>
          </a:solidFill>
          <a:ln/>
        </p:spPr>
        <p:txBody>
          <a:bodyPr/>
          <a:lstStyle/>
          <a:p>
            <a:endParaRPr lang="en-GB"/>
          </a:p>
        </p:txBody>
      </p:sp>
      <p:sp>
        <p:nvSpPr>
          <p:cNvPr id="32" name="Text 30"/>
          <p:cNvSpPr/>
          <p:nvPr/>
        </p:nvSpPr>
        <p:spPr>
          <a:xfrm>
            <a:off x="6035040" y="5303520"/>
            <a:ext cx="5486400" cy="914400"/>
          </a:xfrm>
          <a:prstGeom prst="rect">
            <a:avLst/>
          </a:prstGeom>
          <a:noFill/>
          <a:ln/>
        </p:spPr>
        <p:txBody>
          <a:bodyPr wrap="square" lIns="0" tIns="0" rIns="0" bIns="0" rtlCol="0" anchor="t"/>
          <a:lstStyle/>
          <a:p>
            <a:pPr marL="0" indent="0">
              <a:buNone/>
            </a:pPr>
            <a:r>
              <a:rPr lang="en-US" sz="1300" b="1" dirty="0">
                <a:solidFill>
                  <a:srgbClr val="F2B632"/>
                </a:solidFill>
                <a:latin typeface="Calibri" pitchFamily="34" charset="0"/>
                <a:ea typeface="Calibri" pitchFamily="34" charset="-122"/>
                <a:cs typeface="Calibri" pitchFamily="34" charset="-120"/>
              </a:rPr>
              <a:t>Takeaway</a:t>
            </a:r>
            <a:endParaRPr lang="en-US" sz="1300" dirty="0"/>
          </a:p>
          <a:p>
            <a:pPr marL="0" indent="0">
              <a:buNone/>
            </a:pPr>
            <a:r>
              <a:rPr lang="en-US" sz="1200" dirty="0">
                <a:solidFill>
                  <a:srgbClr val="FFFFFF"/>
                </a:solidFill>
                <a:latin typeface="Calibri" pitchFamily="34" charset="0"/>
                <a:ea typeface="Calibri" pitchFamily="34" charset="-122"/>
                <a:cs typeface="Calibri" pitchFamily="34" charset="-120"/>
              </a:rPr>
              <a:t>Fractional sum_x is not a solver artefact. The LP frontier is a true lower bound; geographies that resist clean integer covering show the gap.</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972800" cy="274320"/>
          </a:xfrm>
          <a:prstGeom prst="rect">
            <a:avLst/>
          </a:prstGeom>
          <a:noFill/>
          <a:ln/>
        </p:spPr>
        <p:txBody>
          <a:bodyPr wrap="square" rtlCol="0" anchor="ctr"/>
          <a:lstStyle/>
          <a:p>
            <a:pPr marL="0" indent="0">
              <a:buNone/>
            </a:pPr>
            <a:r>
              <a:rPr lang="en-US" sz="1200" b="1" kern="0" spc="200" dirty="0">
                <a:solidFill>
                  <a:srgbClr val="E8A33D"/>
                </a:solidFill>
              </a:rPr>
              <a:t>PRELIMINARY · CATCHMENT-CAP LADDER (NO COST FUNCTION)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1900" b="1" dirty="0">
                <a:solidFill>
                  <a:srgbClr val="12233A"/>
                </a:solidFill>
                <a:latin typeface="Georgia" pitchFamily="34" charset="0"/>
                <a:ea typeface="Georgia" pitchFamily="34" charset="-122"/>
                <a:cs typeface="Georgia" pitchFamily="34" charset="-120"/>
              </a:rPr>
              <a:t>Netherlands — five rungs, capping catchments instead of a cost function  </a:t>
            </a:r>
            <a:r>
              <a:rPr lang="en-US" sz="1900" dirty="0">
                <a:solidFill>
                  <a:srgbClr val="1C3D5A"/>
                </a:solidFill>
                <a:latin typeface="Georgia" pitchFamily="34" charset="0"/>
                <a:ea typeface="Georgia" pitchFamily="34" charset="-122"/>
                <a:cs typeface="Georgia" pitchFamily="34" charset="-120"/>
              </a:rPr>
              <a:t>— S1 fix #, ↓travel · S2 ↓#, hold travel</a:t>
            </a:r>
            <a:endParaRPr lang="en-US" sz="1900" dirty="0"/>
          </a:p>
        </p:txBody>
      </p:sp>
      <p:sp>
        <p:nvSpPr>
          <p:cNvPr id="4" name="Shape 2"/>
          <p:cNvSpPr/>
          <p:nvPr/>
        </p:nvSpPr>
        <p:spPr>
          <a:xfrm>
            <a:off x="457200" y="1325880"/>
            <a:ext cx="3721608" cy="2286000"/>
          </a:xfrm>
          <a:prstGeom prst="roundRect">
            <a:avLst>
              <a:gd name="adj" fmla="val 2400"/>
            </a:avLst>
          </a:prstGeom>
          <a:solidFill>
            <a:srgbClr val="F2F5F8"/>
          </a:solidFill>
          <a:ln w="12700">
            <a:solidFill>
              <a:srgbClr val="0B6E99"/>
            </a:solidFill>
            <a:prstDash val="solid"/>
          </a:ln>
        </p:spPr>
        <p:txBody>
          <a:bodyPr/>
          <a:lstStyle/>
          <a:p>
            <a:endParaRPr lang="en-GB"/>
          </a:p>
        </p:txBody>
      </p:sp>
      <p:sp>
        <p:nvSpPr>
          <p:cNvPr id="5" name="Text 3"/>
          <p:cNvSpPr/>
          <p:nvPr/>
        </p:nvSpPr>
        <p:spPr>
          <a:xfrm>
            <a:off x="621792"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A</a:t>
            </a:r>
            <a:endParaRPr lang="en-US" sz="1500" dirty="0"/>
          </a:p>
        </p:txBody>
      </p:sp>
      <p:sp>
        <p:nvSpPr>
          <p:cNvPr id="6" name="Text 4"/>
          <p:cNvSpPr/>
          <p:nvPr/>
        </p:nvSpPr>
        <p:spPr>
          <a:xfrm>
            <a:off x="621792"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multiple per cell</a:t>
            </a:r>
            <a:endParaRPr lang="en-US" sz="950" dirty="0"/>
          </a:p>
        </p:txBody>
      </p:sp>
      <p:sp>
        <p:nvSpPr>
          <p:cNvPr id="7" name="Text 5"/>
          <p:cNvSpPr/>
          <p:nvPr/>
        </p:nvSpPr>
        <p:spPr>
          <a:xfrm>
            <a:off x="621792" y="2103120"/>
            <a:ext cx="3447288" cy="457200"/>
          </a:xfrm>
          <a:prstGeom prst="rect">
            <a:avLst/>
          </a:prstGeom>
          <a:noFill/>
          <a:ln/>
        </p:spPr>
        <p:txBody>
          <a:bodyPr wrap="square" rtlCol="0" anchor="ctr"/>
          <a:lstStyle/>
          <a:p>
            <a:pPr marL="0" indent="0">
              <a:buNone/>
            </a:pPr>
            <a:r>
              <a:rPr lang="en-US" sz="2500" b="1" dirty="0">
                <a:solidFill>
                  <a:srgbClr val="B23A2E"/>
                </a:solidFill>
                <a:latin typeface="Georgia" pitchFamily="34" charset="0"/>
                <a:ea typeface="Georgia" pitchFamily="34" charset="-122"/>
                <a:cs typeface="Georgia" pitchFamily="34" charset="-120"/>
              </a:rPr>
              <a:t>+13.3%</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8" name="Text 6"/>
          <p:cNvSpPr/>
          <p:nvPr/>
        </p:nvSpPr>
        <p:spPr>
          <a:xfrm>
            <a:off x="621792"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1,593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1.9% stranded · cap 35,000</a:t>
            </a:r>
            <a:endParaRPr lang="en-US" sz="1000" dirty="0"/>
          </a:p>
        </p:txBody>
      </p:sp>
      <p:sp>
        <p:nvSpPr>
          <p:cNvPr id="9" name="Shape 7"/>
          <p:cNvSpPr/>
          <p:nvPr/>
        </p:nvSpPr>
        <p:spPr>
          <a:xfrm>
            <a:off x="4361688" y="1325880"/>
            <a:ext cx="3721608" cy="2286000"/>
          </a:xfrm>
          <a:prstGeom prst="roundRect">
            <a:avLst>
              <a:gd name="adj" fmla="val 2400"/>
            </a:avLst>
          </a:prstGeom>
          <a:solidFill>
            <a:srgbClr val="F2F5F8"/>
          </a:solidFill>
          <a:ln w="12700">
            <a:solidFill>
              <a:srgbClr val="0B6E99"/>
            </a:solidFill>
            <a:prstDash val="solid"/>
          </a:ln>
        </p:spPr>
        <p:txBody>
          <a:bodyPr/>
          <a:lstStyle/>
          <a:p>
            <a:endParaRPr lang="en-GB"/>
          </a:p>
        </p:txBody>
      </p:sp>
      <p:sp>
        <p:nvSpPr>
          <p:cNvPr id="10" name="Text 8"/>
          <p:cNvSpPr/>
          <p:nvPr/>
        </p:nvSpPr>
        <p:spPr>
          <a:xfrm>
            <a:off x="4526280"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B</a:t>
            </a:r>
            <a:endParaRPr lang="en-US" sz="1500" dirty="0"/>
          </a:p>
        </p:txBody>
      </p:sp>
      <p:sp>
        <p:nvSpPr>
          <p:cNvPr id="11" name="Text 9"/>
          <p:cNvSpPr/>
          <p:nvPr/>
        </p:nvSpPr>
        <p:spPr>
          <a:xfrm>
            <a:off x="4526280"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one per cell</a:t>
            </a:r>
            <a:endParaRPr lang="en-US" sz="950" dirty="0"/>
          </a:p>
        </p:txBody>
      </p:sp>
      <p:sp>
        <p:nvSpPr>
          <p:cNvPr id="12" name="Text 10"/>
          <p:cNvSpPr/>
          <p:nvPr/>
        </p:nvSpPr>
        <p:spPr>
          <a:xfrm>
            <a:off x="4526280" y="2103120"/>
            <a:ext cx="3447288" cy="457200"/>
          </a:xfrm>
          <a:prstGeom prst="rect">
            <a:avLst/>
          </a:prstGeom>
          <a:noFill/>
          <a:ln/>
        </p:spPr>
        <p:txBody>
          <a:bodyPr wrap="square" rtlCol="0" anchor="ctr"/>
          <a:lstStyle/>
          <a:p>
            <a:pPr marL="0" indent="0">
              <a:buNone/>
            </a:pPr>
            <a:r>
              <a:rPr lang="en-US" sz="2500" b="1" dirty="0">
                <a:solidFill>
                  <a:srgbClr val="1E7A52"/>
                </a:solidFill>
                <a:latin typeface="Georgia" pitchFamily="34" charset="0"/>
                <a:ea typeface="Georgia" pitchFamily="34" charset="-122"/>
                <a:cs typeface="Georgia" pitchFamily="34" charset="-120"/>
              </a:rPr>
              <a:t>-6.5%</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13" name="Text 11"/>
          <p:cNvSpPr/>
          <p:nvPr/>
        </p:nvSpPr>
        <p:spPr>
          <a:xfrm>
            <a:off x="4526280"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1,613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0.8% stranded · cap 35,000</a:t>
            </a:r>
            <a:endParaRPr lang="en-US" sz="1000" dirty="0"/>
          </a:p>
        </p:txBody>
      </p:sp>
      <p:sp>
        <p:nvSpPr>
          <p:cNvPr id="14" name="Shape 12"/>
          <p:cNvSpPr/>
          <p:nvPr/>
        </p:nvSpPr>
        <p:spPr>
          <a:xfrm>
            <a:off x="8266176" y="132588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15" name="Text 13"/>
          <p:cNvSpPr/>
          <p:nvPr/>
        </p:nvSpPr>
        <p:spPr>
          <a:xfrm>
            <a:off x="8430768" y="142646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S1 · C</a:t>
            </a:r>
            <a:endParaRPr lang="en-US" sz="1500" dirty="0"/>
          </a:p>
        </p:txBody>
      </p:sp>
      <p:sp>
        <p:nvSpPr>
          <p:cNvPr id="16" name="Text 14"/>
          <p:cNvSpPr/>
          <p:nvPr/>
        </p:nvSpPr>
        <p:spPr>
          <a:xfrm>
            <a:off x="8430768"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urban fixed · model the rest</a:t>
            </a:r>
            <a:endParaRPr lang="en-US" sz="950" dirty="0"/>
          </a:p>
        </p:txBody>
      </p:sp>
      <p:sp>
        <p:nvSpPr>
          <p:cNvPr id="17" name="Text 15"/>
          <p:cNvSpPr/>
          <p:nvPr/>
        </p:nvSpPr>
        <p:spPr>
          <a:xfrm>
            <a:off x="8430768" y="219456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18" name="Shape 16"/>
          <p:cNvSpPr/>
          <p:nvPr/>
        </p:nvSpPr>
        <p:spPr>
          <a:xfrm>
            <a:off x="457200" y="379476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19" name="Text 17"/>
          <p:cNvSpPr/>
          <p:nvPr/>
        </p:nvSpPr>
        <p:spPr>
          <a:xfrm>
            <a:off x="621792"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A</a:t>
            </a:r>
            <a:endParaRPr lang="en-US" sz="1500" dirty="0"/>
          </a:p>
        </p:txBody>
      </p:sp>
      <p:sp>
        <p:nvSpPr>
          <p:cNvPr id="20" name="Text 18"/>
          <p:cNvSpPr/>
          <p:nvPr/>
        </p:nvSpPr>
        <p:spPr>
          <a:xfrm>
            <a:off x="621792"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all facilities</a:t>
            </a:r>
            <a:endParaRPr lang="en-US" sz="950" dirty="0"/>
          </a:p>
        </p:txBody>
      </p:sp>
      <p:sp>
        <p:nvSpPr>
          <p:cNvPr id="21" name="Text 19"/>
          <p:cNvSpPr/>
          <p:nvPr/>
        </p:nvSpPr>
        <p:spPr>
          <a:xfrm>
            <a:off x="621792"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2" name="Shape 20"/>
          <p:cNvSpPr/>
          <p:nvPr/>
        </p:nvSpPr>
        <p:spPr>
          <a:xfrm>
            <a:off x="4361688" y="379476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23" name="Text 21"/>
          <p:cNvSpPr/>
          <p:nvPr/>
        </p:nvSpPr>
        <p:spPr>
          <a:xfrm>
            <a:off x="4526280"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B</a:t>
            </a:r>
            <a:endParaRPr lang="en-US" sz="1500" dirty="0"/>
          </a:p>
        </p:txBody>
      </p:sp>
      <p:sp>
        <p:nvSpPr>
          <p:cNvPr id="24" name="Text 22"/>
          <p:cNvSpPr/>
          <p:nvPr/>
        </p:nvSpPr>
        <p:spPr>
          <a:xfrm>
            <a:off x="4526280"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outside urban</a:t>
            </a:r>
            <a:endParaRPr lang="en-US" sz="950" dirty="0"/>
          </a:p>
        </p:txBody>
      </p:sp>
      <p:sp>
        <p:nvSpPr>
          <p:cNvPr id="25" name="Text 23"/>
          <p:cNvSpPr/>
          <p:nvPr/>
        </p:nvSpPr>
        <p:spPr>
          <a:xfrm>
            <a:off x="4526280"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6" name="Text 24"/>
          <p:cNvSpPr/>
          <p:nvPr/>
        </p:nvSpPr>
        <p:spPr>
          <a:xfrm>
            <a:off x="8019288" y="3794760"/>
            <a:ext cx="3703320" cy="2286000"/>
          </a:xfrm>
          <a:prstGeom prst="rect">
            <a:avLst/>
          </a:prstGeom>
          <a:noFill/>
          <a:ln/>
        </p:spPr>
        <p:txBody>
          <a:bodyPr wrap="square" rtlCol="0" anchor="t"/>
          <a:lstStyle/>
          <a:p>
            <a:pPr marL="0" indent="0">
              <a:buNone/>
            </a:pPr>
            <a:r>
              <a:rPr lang="en-US" sz="1100" b="1" dirty="0">
                <a:solidFill>
                  <a:srgbClr val="0B6E99"/>
                </a:solidFill>
                <a:latin typeface="Calibri" pitchFamily="34" charset="0"/>
                <a:ea typeface="Calibri" pitchFamily="34" charset="-122"/>
                <a:cs typeface="Calibri" pitchFamily="34" charset="-120"/>
              </a:rPr>
              <a:t>S1 </a:t>
            </a:r>
            <a:r>
              <a:rPr lang="en-US" sz="1100" dirty="0">
                <a:solidFill>
                  <a:srgbClr val="12233A"/>
                </a:solidFill>
                <a:latin typeface="Calibri" pitchFamily="34" charset="0"/>
                <a:ea typeface="Calibri" pitchFamily="34" charset="-122"/>
                <a:cs typeface="Calibri" pitchFamily="34" charset="-120"/>
              </a:rPr>
              <a:t>keeps today's count, minimises travel under a max catchment cap.  </a:t>
            </a:r>
            <a:r>
              <a:rPr lang="en-US" sz="1100" b="1" dirty="0">
                <a:solidFill>
                  <a:srgbClr val="0B6E99"/>
                </a:solidFill>
                <a:latin typeface="Calibri" pitchFamily="34" charset="0"/>
                <a:ea typeface="Calibri" pitchFamily="34" charset="-122"/>
                <a:cs typeface="Calibri" pitchFamily="34" charset="-120"/>
              </a:rPr>
              <a:t>S2 </a:t>
            </a:r>
            <a:r>
              <a:rPr lang="en-US" sz="1100" dirty="0">
                <a:solidFill>
                  <a:srgbClr val="12233A"/>
                </a:solidFill>
                <a:latin typeface="Calibri" pitchFamily="34" charset="0"/>
                <a:ea typeface="Calibri" pitchFamily="34" charset="-122"/>
                <a:cs typeface="Calibri" pitchFamily="34" charset="-120"/>
              </a:rPr>
              <a:t>minimises the count under a min (viability) + max catchment, holding travel ≈ today.  Cost-function rung (S1-D / S2-C) = the λ-sweep that follows.</a:t>
            </a:r>
            <a:endParaRPr lang="en-US" sz="1100" dirty="0"/>
          </a:p>
        </p:txBody>
      </p:sp>
      <p:sp>
        <p:nvSpPr>
          <p:cNvPr id="27" name="Text 25"/>
          <p:cNvSpPr/>
          <p:nvPr/>
        </p:nvSpPr>
        <p:spPr>
          <a:xfrm>
            <a:off x="411480" y="6144768"/>
            <a:ext cx="11430000" cy="502920"/>
          </a:xfrm>
          <a:prstGeom prst="rect">
            <a:avLst/>
          </a:prstGeom>
          <a:noFill/>
          <a:ln/>
        </p:spPr>
        <p:txBody>
          <a:bodyPr wrap="square" rtlCol="0" anchor="t"/>
          <a:lstStyle/>
          <a:p>
            <a:pPr marL="0" indent="0">
              <a:buNone/>
            </a:pPr>
            <a:r>
              <a:rPr lang="en-US" sz="850" b="1" i="1" dirty="0">
                <a:solidFill>
                  <a:srgbClr val="B23A2E"/>
                </a:solidFill>
                <a:latin typeface="Calibri" pitchFamily="34" charset="0"/>
                <a:ea typeface="Calibri" pitchFamily="34" charset="-122"/>
                <a:cs typeface="Calibri" pitchFamily="34" charset="-120"/>
              </a:rPr>
              <a:t>PRELIMINARY — INDICATIVE ONLY. </a:t>
            </a:r>
            <a:r>
              <a:rPr lang="en-US" sz="850" i="1" dirty="0">
                <a:solidFill>
                  <a:srgbClr val="5B6B7B"/>
                </a:solidFill>
                <a:latin typeface="Calibri" pitchFamily="34" charset="0"/>
                <a:ea typeface="Calibri" pitchFamily="34" charset="-122"/>
                <a:cs typeface="Calibri" pitchFamily="34" charset="-120"/>
              </a:rPr>
              <a:t>Full-scale ladder run incomplete; S1 (fixed-count) figures are sensitive to LP-relaxation rounding and can shift on re-run (robust multistart rounding still to be ported) — read the direction, not the exact %. LINEAR travel cost; max cap = NL observed cell-catchment max (~35k). 'stranded' = demand the cap can't serve within reach, priced at that run's c(t_max) (the λ-sweep now prices stranding at BIG).</a:t>
            </a:r>
            <a:endParaRPr lang="en-US" sz="850" dirty="0"/>
          </a:p>
        </p:txBody>
      </p:sp>
    </p:spTree>
    <p:extLst>
      <p:ext uri="{BB962C8B-B14F-4D97-AF65-F5344CB8AC3E}">
        <p14:creationId xmlns:p14="http://schemas.microsoft.com/office/powerpoint/2010/main" val="22415819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NETHERLANDS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Netherlands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1,615 cells · 3.48 min mean · </a:t>
            </a:r>
            <a:r>
              <a:rPr lang="en-US" sz="1000" dirty="0">
                <a:solidFill>
                  <a:srgbClr val="5B6B7B"/>
                </a:solidFill>
                <a:latin typeface="Calibri" pitchFamily="34" charset="0"/>
                <a:ea typeface="Calibri" pitchFamily="34" charset="-122"/>
                <a:cs typeface="Calibri" pitchFamily="34" charset="-120"/>
              </a:rPr>
              <a:t>travel (stranded at BIG)  LIN 60.7M · LOG 1.9M</a:t>
            </a:r>
            <a:endParaRPr lang="en-US" sz="1000" dirty="0"/>
          </a:p>
        </p:txBody>
      </p:sp>
      <p:pic>
        <p:nvPicPr>
          <p:cNvPr id="5" name="Image 0" descr="E:\prj\JRC\NetworkModel_EU\doc\charts\Netherlands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etherlands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1804054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666617" y="-2666188"/>
            <a:ext cx="6858000" cy="12191233"/>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311" y="0"/>
            <a:ext cx="9070846" cy="6857572"/>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3649491" y="-1685840"/>
            <a:ext cx="4894564" cy="12193546"/>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87825B26-4E0C-84C7-DBD5-CEE4003AEBB7}"/>
              </a:ext>
            </a:extLst>
          </p:cNvPr>
          <p:cNvPicPr>
            <a:picLocks noChangeAspect="1"/>
          </p:cNvPicPr>
          <p:nvPr/>
        </p:nvPicPr>
        <p:blipFill>
          <a:blip r:embed="rId2"/>
          <a:stretch>
            <a:fillRect/>
          </a:stretch>
        </p:blipFill>
        <p:spPr>
          <a:xfrm>
            <a:off x="457200" y="976123"/>
            <a:ext cx="11277600" cy="4905754"/>
          </a:xfrm>
          <a:prstGeom prst="rect">
            <a:avLst/>
          </a:prstGeom>
        </p:spPr>
      </p:pic>
    </p:spTree>
    <p:extLst>
      <p:ext uri="{BB962C8B-B14F-4D97-AF65-F5344CB8AC3E}">
        <p14:creationId xmlns:p14="http://schemas.microsoft.com/office/powerpoint/2010/main" val="4691809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LUXEMBOURG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Luxembourg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 cells · 3.79 min mean · </a:t>
            </a:r>
            <a:r>
              <a:rPr lang="en-US" sz="1000" dirty="0">
                <a:solidFill>
                  <a:srgbClr val="5B6B7B"/>
                </a:solidFill>
                <a:latin typeface="Calibri" pitchFamily="34" charset="0"/>
                <a:ea typeface="Calibri" pitchFamily="34" charset="-122"/>
                <a:cs typeface="Calibri" pitchFamily="34" charset="-120"/>
              </a:rPr>
              <a:t>travel (stranded at BIG)  LIN 2.4M · LOG 71k</a:t>
            </a:r>
            <a:endParaRPr lang="en-US" sz="1000" dirty="0"/>
          </a:p>
        </p:txBody>
      </p:sp>
      <p:pic>
        <p:nvPicPr>
          <p:cNvPr id="5" name="Image 0" descr="E:\prj\JRC\NetworkModel_EU\doc\charts\Luxembou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uxembou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6745926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ESTONIA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Estonia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292 cells · 4.51 min mean · </a:t>
            </a:r>
            <a:r>
              <a:rPr lang="en-US" sz="1000" dirty="0">
                <a:solidFill>
                  <a:srgbClr val="5B6B7B"/>
                </a:solidFill>
                <a:latin typeface="Calibri" pitchFamily="34" charset="0"/>
                <a:ea typeface="Calibri" pitchFamily="34" charset="-122"/>
                <a:cs typeface="Calibri" pitchFamily="34" charset="-120"/>
              </a:rPr>
              <a:t>travel (stranded at BIG)  LIN 5.9M · LOG 174k</a:t>
            </a:r>
            <a:endParaRPr lang="en-US" sz="1000" dirty="0"/>
          </a:p>
        </p:txBody>
      </p:sp>
      <p:pic>
        <p:nvPicPr>
          <p:cNvPr id="5" name="Image 0" descr="E:\prj\JRC\NetworkModel_EU\doc\charts\Esto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Esto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2403615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LATVIA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Latvia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496 cells · 3.96 min mean · </a:t>
            </a:r>
            <a:r>
              <a:rPr lang="en-US" sz="1000" dirty="0">
                <a:solidFill>
                  <a:srgbClr val="5B6B7B"/>
                </a:solidFill>
                <a:latin typeface="Calibri" pitchFamily="34" charset="0"/>
                <a:ea typeface="Calibri" pitchFamily="34" charset="-122"/>
                <a:cs typeface="Calibri" pitchFamily="34" charset="-120"/>
              </a:rPr>
              <a:t>travel (stranded at BIG)  LIN 7.5M · LOG 230k</a:t>
            </a:r>
            <a:endParaRPr lang="en-US" sz="1000" dirty="0"/>
          </a:p>
        </p:txBody>
      </p:sp>
      <p:pic>
        <p:nvPicPr>
          <p:cNvPr id="5" name="Image 0" descr="E:\prj\JRC\NetworkModel_EU\doc\charts\Latv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atv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31109391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SLOVENIA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Slovenia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306 cells · 5.58 min mean · </a:t>
            </a:r>
            <a:r>
              <a:rPr lang="en-US" sz="1000" dirty="0">
                <a:solidFill>
                  <a:srgbClr val="5B6B7B"/>
                </a:solidFill>
                <a:latin typeface="Calibri" pitchFamily="34" charset="0"/>
                <a:ea typeface="Calibri" pitchFamily="34" charset="-122"/>
                <a:cs typeface="Calibri" pitchFamily="34" charset="-120"/>
              </a:rPr>
              <a:t>travel (stranded at BIG)  LIN 11.7M · LOG 284k</a:t>
            </a:r>
            <a:endParaRPr lang="en-US" sz="1000" dirty="0"/>
          </a:p>
        </p:txBody>
      </p:sp>
      <p:pic>
        <p:nvPicPr>
          <p:cNvPr id="5" name="Image 0" descr="E:\prj\JRC\NetworkModel_EU\doc\charts\Slove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love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4584767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LITHUANIA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Lithuania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582 cells · 4.39 min mean · </a:t>
            </a:r>
            <a:r>
              <a:rPr lang="en-US" sz="1000" dirty="0">
                <a:solidFill>
                  <a:srgbClr val="5B6B7B"/>
                </a:solidFill>
                <a:latin typeface="Calibri" pitchFamily="34" charset="0"/>
                <a:ea typeface="Calibri" pitchFamily="34" charset="-122"/>
                <a:cs typeface="Calibri" pitchFamily="34" charset="-120"/>
              </a:rPr>
              <a:t>travel (stranded at BIG)  LIN 12.3M · LOG 361k</a:t>
            </a:r>
            <a:endParaRPr lang="en-US" sz="1000" dirty="0"/>
          </a:p>
        </p:txBody>
      </p:sp>
      <p:pic>
        <p:nvPicPr>
          <p:cNvPr id="5" name="Image 0" descr="E:\prj\JRC\NetworkModel_EU\doc\charts\Lithua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ithua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2377715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IRELAND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Ireland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862 cells · 4.71 min mean · </a:t>
            </a:r>
            <a:r>
              <a:rPr lang="en-US" sz="1000" dirty="0">
                <a:solidFill>
                  <a:srgbClr val="5B6B7B"/>
                </a:solidFill>
                <a:latin typeface="Calibri" pitchFamily="34" charset="0"/>
                <a:ea typeface="Calibri" pitchFamily="34" charset="-122"/>
                <a:cs typeface="Calibri" pitchFamily="34" charset="-120"/>
              </a:rPr>
              <a:t>travel (stranded at BIG)  LIN 23.6M · LOG 630k</a:t>
            </a:r>
            <a:endParaRPr lang="en-US" sz="1000" dirty="0"/>
          </a:p>
        </p:txBody>
      </p:sp>
      <p:pic>
        <p:nvPicPr>
          <p:cNvPr id="5" name="Image 0" descr="E:\prj\JRC\NetworkModel_EU\doc\charts\Ire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re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04070441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NORWAY</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Norway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755 cells · 7.99 min mean · </a:t>
            </a:r>
            <a:r>
              <a:rPr lang="en-US" sz="1000" dirty="0">
                <a:solidFill>
                  <a:srgbClr val="5B6B7B"/>
                </a:solidFill>
                <a:latin typeface="Calibri" pitchFamily="34" charset="0"/>
                <a:ea typeface="Calibri" pitchFamily="34" charset="-122"/>
                <a:cs typeface="Calibri" pitchFamily="34" charset="-120"/>
              </a:rPr>
              <a:t>travel (stranded at BIG)  LIN 40.8M · LOG 896k</a:t>
            </a:r>
            <a:endParaRPr lang="en-US" sz="1000" dirty="0"/>
          </a:p>
        </p:txBody>
      </p:sp>
      <p:pic>
        <p:nvPicPr>
          <p:cNvPr id="5" name="Image 0" descr="E:\prj\JRC\NetworkModel_EU\doc\charts\Norway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orway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79096131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DENMARK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Denmark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466 cells · 6.52 min mean · </a:t>
            </a:r>
            <a:r>
              <a:rPr lang="en-US" sz="1000" dirty="0">
                <a:solidFill>
                  <a:srgbClr val="5B6B7B"/>
                </a:solidFill>
                <a:latin typeface="Calibri" pitchFamily="34" charset="0"/>
                <a:ea typeface="Calibri" pitchFamily="34" charset="-122"/>
                <a:cs typeface="Calibri" pitchFamily="34" charset="-120"/>
              </a:rPr>
              <a:t>travel (stranded at BIG)  LIN 37.5M · LOG 860k</a:t>
            </a:r>
            <a:endParaRPr lang="en-US" sz="1000" dirty="0"/>
          </a:p>
        </p:txBody>
      </p:sp>
      <p:pic>
        <p:nvPicPr>
          <p:cNvPr id="5" name="Image 0" descr="E:\prj\JRC\NetworkModel_EU\doc\charts\Denma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Denma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4654074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AUSTRIA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Austria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1,129 cells · 4.82 min mean · </a:t>
            </a:r>
            <a:r>
              <a:rPr lang="en-US" sz="1000" dirty="0">
                <a:solidFill>
                  <a:srgbClr val="5B6B7B"/>
                </a:solidFill>
                <a:latin typeface="Calibri" pitchFamily="34" charset="0"/>
                <a:ea typeface="Calibri" pitchFamily="34" charset="-122"/>
                <a:cs typeface="Calibri" pitchFamily="34" charset="-120"/>
              </a:rPr>
              <a:t>travel (stranded at BIG)  LIN 43.1M · LOG 1.2M</a:t>
            </a:r>
            <a:endParaRPr lang="en-US" sz="1000" dirty="0"/>
          </a:p>
        </p:txBody>
      </p:sp>
      <p:pic>
        <p:nvPicPr>
          <p:cNvPr id="5" name="Image 0" descr="E:\prj\JRC\NetworkModel_EU\doc\charts\Austr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Austr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92517333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PORTUGAL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Portugal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1,882 cells · 3.47 min mean · </a:t>
            </a:r>
            <a:r>
              <a:rPr lang="en-US" sz="1000" dirty="0">
                <a:solidFill>
                  <a:srgbClr val="5B6B7B"/>
                </a:solidFill>
                <a:latin typeface="Calibri" pitchFamily="34" charset="0"/>
                <a:ea typeface="Calibri" pitchFamily="34" charset="-122"/>
                <a:cs typeface="Calibri" pitchFamily="34" charset="-120"/>
              </a:rPr>
              <a:t>travel (stranded at BIG)  LIN 34.2M · LOG 1.1M</a:t>
            </a:r>
            <a:endParaRPr lang="en-US" sz="1000" dirty="0"/>
          </a:p>
        </p:txBody>
      </p:sp>
      <p:pic>
        <p:nvPicPr>
          <p:cNvPr id="5" name="Image 0" descr="E:\prj\JRC\NetworkModel_EU\doc\charts\Portuga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rtuga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56680181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CZECHIA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Czechia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1,624 cells · 4.23 min mean · </a:t>
            </a:r>
            <a:r>
              <a:rPr lang="en-US" sz="1000" dirty="0">
                <a:solidFill>
                  <a:srgbClr val="5B6B7B"/>
                </a:solidFill>
                <a:latin typeface="Calibri" pitchFamily="34" charset="0"/>
                <a:ea typeface="Calibri" pitchFamily="34" charset="-122"/>
                <a:cs typeface="Calibri" pitchFamily="34" charset="-120"/>
              </a:rPr>
              <a:t>travel (stranded at BIG)  LIN 44.4M · LOG 1.3M</a:t>
            </a:r>
            <a:endParaRPr lang="en-US" sz="1000" dirty="0"/>
          </a:p>
        </p:txBody>
      </p:sp>
      <p:pic>
        <p:nvPicPr>
          <p:cNvPr id="5" name="Image 0" descr="E:\prj\JRC\NetworkModel_EU\doc\charts\Czech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Czech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63417079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BELGIUM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Belgium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2,958 cells · 1.87 min mean · </a:t>
            </a:r>
            <a:r>
              <a:rPr lang="en-US" sz="1000" dirty="0">
                <a:solidFill>
                  <a:srgbClr val="5B6B7B"/>
                </a:solidFill>
                <a:latin typeface="Calibri" pitchFamily="34" charset="0"/>
                <a:ea typeface="Calibri" pitchFamily="34" charset="-122"/>
                <a:cs typeface="Calibri" pitchFamily="34" charset="-120"/>
              </a:rPr>
              <a:t>travel (stranded at BIG)  LIN 21.5M · LOG 1.1M</a:t>
            </a:r>
            <a:endParaRPr lang="en-US" sz="1000" dirty="0"/>
          </a:p>
        </p:txBody>
      </p:sp>
      <p:pic>
        <p:nvPicPr>
          <p:cNvPr id="5" name="Image 0" descr="E:\prj\JRC\NetworkModel_EU\doc\charts\Belgiu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Belgiu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9050838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7,027 cells · 3.59 min mean · </a:t>
            </a:r>
            <a:r>
              <a:rPr lang="en-US" sz="1000" dirty="0">
                <a:solidFill>
                  <a:srgbClr val="5B6B7B"/>
                </a:solidFill>
                <a:latin typeface="Calibri" pitchFamily="34" charset="0"/>
                <a:ea typeface="Calibri" pitchFamily="34" charset="-122"/>
                <a:cs typeface="Calibri" pitchFamily="34" charset="-120"/>
              </a:rPr>
              <a:t>travel (stranded at BIG)  LIN 133M · LOG 4.1M</a:t>
            </a:r>
            <a:endParaRPr lang="en-US" sz="1000" dirty="0"/>
          </a:p>
        </p:txBody>
      </p:sp>
      <p:pic>
        <p:nvPicPr>
          <p:cNvPr id="5" name="Image 0" descr="E:\prj\JRC\NetworkModel_EU\doc\charts\Po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7006070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Île-de-France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1,449 cells · 1.03 min mean · </a:t>
            </a:r>
            <a:r>
              <a:rPr lang="en-US" sz="1000" dirty="0">
                <a:solidFill>
                  <a:srgbClr val="5B6B7B"/>
                </a:solidFill>
                <a:latin typeface="Calibri" pitchFamily="34" charset="0"/>
                <a:ea typeface="Calibri" pitchFamily="34" charset="-122"/>
                <a:cs typeface="Calibri" pitchFamily="34" charset="-120"/>
              </a:rPr>
              <a:t>travel (stranded at BIG)  LIN 12.7M · LOG 1.0M</a:t>
            </a:r>
            <a:endParaRPr lang="en-US" sz="1000" dirty="0"/>
          </a:p>
        </p:txBody>
      </p:sp>
      <p:pic>
        <p:nvPicPr>
          <p:cNvPr id="5" name="Image 0" descr="E:\prj\JRC\NetworkModel_EU\doc\charts\FR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79578913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FRB</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Centre-Val de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613 cells · 4.36 min mean · </a:t>
            </a:r>
            <a:r>
              <a:rPr lang="en-US" sz="1000" dirty="0">
                <a:solidFill>
                  <a:srgbClr val="5B6B7B"/>
                </a:solidFill>
                <a:latin typeface="Calibri" pitchFamily="34" charset="0"/>
                <a:ea typeface="Calibri" pitchFamily="34" charset="-122"/>
                <a:cs typeface="Calibri" pitchFamily="34" charset="-120"/>
              </a:rPr>
              <a:t>travel (stranded at BIG)  LIN 11.2M · LOG 309k</a:t>
            </a:r>
            <a:endParaRPr lang="en-US" sz="1000" dirty="0"/>
          </a:p>
        </p:txBody>
      </p:sp>
      <p:pic>
        <p:nvPicPr>
          <p:cNvPr id="5" name="Image 0" descr="E:\prj\JRC\NetworkModel_EU\doc\charts\FRB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B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70311423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Bourgogne-Franche-Comté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723 cells · 4.78 min mean · </a:t>
            </a:r>
            <a:r>
              <a:rPr lang="en-US" sz="1000" dirty="0">
                <a:solidFill>
                  <a:srgbClr val="5B6B7B"/>
                </a:solidFill>
                <a:latin typeface="Calibri" pitchFamily="34" charset="0"/>
                <a:ea typeface="Calibri" pitchFamily="34" charset="-122"/>
                <a:cs typeface="Calibri" pitchFamily="34" charset="-120"/>
              </a:rPr>
              <a:t>travel (stranded at BIG)  LIN 13.4M · LOG 351k</a:t>
            </a:r>
            <a:endParaRPr lang="en-US" sz="1000" dirty="0"/>
          </a:p>
        </p:txBody>
      </p:sp>
      <p:pic>
        <p:nvPicPr>
          <p:cNvPr id="5" name="Image 0" descr="E:\prj\JRC\NetworkModel_EU\doc\charts\FR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7135039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Normandie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679 cells · 4.31 min mean · </a:t>
            </a:r>
            <a:r>
              <a:rPr lang="en-US" sz="1000" dirty="0">
                <a:solidFill>
                  <a:srgbClr val="5B6B7B"/>
                </a:solidFill>
                <a:latin typeface="Calibri" pitchFamily="34" charset="0"/>
                <a:ea typeface="Calibri" pitchFamily="34" charset="-122"/>
                <a:cs typeface="Calibri" pitchFamily="34" charset="-120"/>
              </a:rPr>
              <a:t>travel (stranded at BIG)  LIN 14.2M · LOG 391k</a:t>
            </a:r>
            <a:endParaRPr lang="en-US" sz="1000" dirty="0"/>
          </a:p>
        </p:txBody>
      </p:sp>
      <p:pic>
        <p:nvPicPr>
          <p:cNvPr id="5" name="Image 0" descr="E:\prj\JRC\NetworkModel_EU\doc\charts\FR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5564264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FRE</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Hauts-de-France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1,333 cells · 2.92 min mean · </a:t>
            </a:r>
            <a:r>
              <a:rPr lang="en-US" sz="1000" dirty="0">
                <a:solidFill>
                  <a:srgbClr val="5B6B7B"/>
                </a:solidFill>
                <a:latin typeface="Calibri" pitchFamily="34" charset="0"/>
                <a:ea typeface="Calibri" pitchFamily="34" charset="-122"/>
                <a:cs typeface="Calibri" pitchFamily="34" charset="-120"/>
              </a:rPr>
              <a:t>travel (stranded at BIG)  LIN 17.5M · LOG 619k</a:t>
            </a:r>
            <a:endParaRPr lang="en-US" sz="1000" dirty="0"/>
          </a:p>
        </p:txBody>
      </p:sp>
      <p:pic>
        <p:nvPicPr>
          <p:cNvPr id="5" name="Image 0" descr="E:\prj\JRC\NetworkModel_EU\doc\charts\FRE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E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78812113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Grand 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1,167 cells · 3.85 min mean · </a:t>
            </a:r>
            <a:r>
              <a:rPr lang="en-US" sz="1000" dirty="0">
                <a:solidFill>
                  <a:srgbClr val="5B6B7B"/>
                </a:solidFill>
                <a:latin typeface="Calibri" pitchFamily="34" charset="0"/>
                <a:ea typeface="Calibri" pitchFamily="34" charset="-122"/>
                <a:cs typeface="Calibri" pitchFamily="34" charset="-120"/>
              </a:rPr>
              <a:t>travel (stranded at BIG)  LIN 21.4M · LOG 636k</a:t>
            </a:r>
            <a:endParaRPr lang="en-US" sz="1000" dirty="0"/>
          </a:p>
        </p:txBody>
      </p:sp>
      <p:pic>
        <p:nvPicPr>
          <p:cNvPr id="5" name="Image 0" descr="E:\prj\JRC\NetworkModel_EU\doc\charts\FR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68062233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Pays de la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848 cells · 4.06 min mean · </a:t>
            </a:r>
            <a:r>
              <a:rPr lang="en-US" sz="1000" dirty="0">
                <a:solidFill>
                  <a:srgbClr val="5B6B7B"/>
                </a:solidFill>
                <a:latin typeface="Calibri" pitchFamily="34" charset="0"/>
                <a:ea typeface="Calibri" pitchFamily="34" charset="-122"/>
                <a:cs typeface="Calibri" pitchFamily="34" charset="-120"/>
              </a:rPr>
              <a:t>travel (stranded at BIG)  LIN 15.6M · LOG 446k</a:t>
            </a:r>
            <a:endParaRPr lang="en-US" sz="1000" dirty="0"/>
          </a:p>
        </p:txBody>
      </p:sp>
      <p:pic>
        <p:nvPicPr>
          <p:cNvPr id="5" name="Image 0" descr="E:\prj\JRC\NetworkModel_EU\doc\charts\F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21483170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Bretagne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793 cells · 4.34 min mean · </a:t>
            </a:r>
            <a:r>
              <a:rPr lang="en-US" sz="1000" dirty="0">
                <a:solidFill>
                  <a:srgbClr val="5B6B7B"/>
                </a:solidFill>
                <a:latin typeface="Calibri" pitchFamily="34" charset="0"/>
                <a:ea typeface="Calibri" pitchFamily="34" charset="-122"/>
                <a:cs typeface="Calibri" pitchFamily="34" charset="-120"/>
              </a:rPr>
              <a:t>travel (stranded at BIG)  LIN 14.5M · LOG 397k</a:t>
            </a:r>
            <a:endParaRPr lang="en-US" sz="1000" dirty="0"/>
          </a:p>
        </p:txBody>
      </p:sp>
      <p:pic>
        <p:nvPicPr>
          <p:cNvPr id="5" name="Image 0" descr="E:\prj\JRC\NetworkModel_EU\doc\charts\FR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5967661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Nouvelle-Aquitaine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1,584 cells · 4.54 min mean · </a:t>
            </a:r>
            <a:r>
              <a:rPr lang="en-US" sz="1000" dirty="0">
                <a:solidFill>
                  <a:srgbClr val="5B6B7B"/>
                </a:solidFill>
                <a:latin typeface="Calibri" pitchFamily="34" charset="0"/>
                <a:ea typeface="Calibri" pitchFamily="34" charset="-122"/>
                <a:cs typeface="Calibri" pitchFamily="34" charset="-120"/>
              </a:rPr>
              <a:t>travel (stranded at BIG)  LIN 27.5M · LOG 741k</a:t>
            </a:r>
            <a:endParaRPr lang="en-US" sz="1000" dirty="0"/>
          </a:p>
        </p:txBody>
      </p:sp>
      <p:pic>
        <p:nvPicPr>
          <p:cNvPr id="5" name="Image 0" descr="E:\prj\JRC\NetworkModel_EU\doc\charts\FR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26332493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FRJ</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Occitanie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1,424 cells · 3.91 min mean · </a:t>
            </a:r>
            <a:r>
              <a:rPr lang="en-US" sz="1000" dirty="0">
                <a:solidFill>
                  <a:srgbClr val="5B6B7B"/>
                </a:solidFill>
                <a:latin typeface="Calibri" pitchFamily="34" charset="0"/>
                <a:ea typeface="Calibri" pitchFamily="34" charset="-122"/>
                <a:cs typeface="Calibri" pitchFamily="34" charset="-120"/>
              </a:rPr>
              <a:t>travel (stranded at BIG)  LIN 23.5M · LOG 695k</a:t>
            </a:r>
            <a:endParaRPr lang="en-US" sz="1000" dirty="0"/>
          </a:p>
        </p:txBody>
      </p:sp>
      <p:pic>
        <p:nvPicPr>
          <p:cNvPr id="5" name="Image 0" descr="E:\prj\JRC\NetworkModel_EU\doc\charts\FRJ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J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82510329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Auvergne-Rhône-Alpes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1,685 cells · 3.62 min mean · </a:t>
            </a:r>
            <a:r>
              <a:rPr lang="en-US" sz="1000" dirty="0">
                <a:solidFill>
                  <a:srgbClr val="5B6B7B"/>
                </a:solidFill>
                <a:latin typeface="Calibri" pitchFamily="34" charset="0"/>
                <a:ea typeface="Calibri" pitchFamily="34" charset="-122"/>
                <a:cs typeface="Calibri" pitchFamily="34" charset="-120"/>
              </a:rPr>
              <a:t>travel (stranded at BIG)  LIN 29.4M · LOG 912k</a:t>
            </a:r>
            <a:endParaRPr lang="en-US" sz="1000" dirty="0"/>
          </a:p>
        </p:txBody>
      </p:sp>
      <p:pic>
        <p:nvPicPr>
          <p:cNvPr id="5" name="Image 0" descr="E:\prj\JRC\NetworkModel_EU\doc\charts\F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62933409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Provence-Alpes-Côte d'Azur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1,026 cells · 2.60 min mean · </a:t>
            </a:r>
            <a:r>
              <a:rPr lang="en-US" sz="1000" dirty="0">
                <a:solidFill>
                  <a:srgbClr val="5B6B7B"/>
                </a:solidFill>
                <a:latin typeface="Calibri" pitchFamily="34" charset="0"/>
                <a:ea typeface="Calibri" pitchFamily="34" charset="-122"/>
                <a:cs typeface="Calibri" pitchFamily="34" charset="-120"/>
              </a:rPr>
              <a:t>travel (stranded at BIG)  LIN 13.1M · LOG 515k</a:t>
            </a:r>
            <a:endParaRPr lang="en-US" sz="1000" dirty="0"/>
          </a:p>
        </p:txBody>
      </p:sp>
      <p:pic>
        <p:nvPicPr>
          <p:cNvPr id="5" name="Image 0" descr="E:\prj\JRC\NetworkModel_EU\doc\charts\FR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2508462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Corse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87 cells · 5.11 min mean · </a:t>
            </a:r>
            <a:r>
              <a:rPr lang="en-US" sz="1000" dirty="0">
                <a:solidFill>
                  <a:srgbClr val="5B6B7B"/>
                </a:solidFill>
                <a:latin typeface="Calibri" pitchFamily="34" charset="0"/>
                <a:ea typeface="Calibri" pitchFamily="34" charset="-122"/>
                <a:cs typeface="Calibri" pitchFamily="34" charset="-120"/>
              </a:rPr>
              <a:t>travel (stranded at BIG)  LIN 1.7M · LOG 45k</a:t>
            </a:r>
            <a:endParaRPr lang="en-US" sz="1000" dirty="0"/>
          </a:p>
        </p:txBody>
      </p:sp>
      <p:pic>
        <p:nvPicPr>
          <p:cNvPr id="5" name="Image 0" descr="E:\prj\JRC\NetworkModel_EU\doc\charts\FR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86267454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Nord-Ovest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2,890 cells · 2.93 min mean · </a:t>
            </a:r>
            <a:r>
              <a:rPr lang="en-US" sz="1000" dirty="0">
                <a:solidFill>
                  <a:srgbClr val="5B6B7B"/>
                </a:solidFill>
                <a:latin typeface="Calibri" pitchFamily="34" charset="0"/>
                <a:ea typeface="Calibri" pitchFamily="34" charset="-122"/>
                <a:cs typeface="Calibri" pitchFamily="34" charset="-120"/>
              </a:rPr>
              <a:t>travel (stranded at BIG)  LIN 46.4M · LOG 1.7M</a:t>
            </a:r>
            <a:endParaRPr lang="en-US" sz="1000" dirty="0"/>
          </a:p>
        </p:txBody>
      </p:sp>
      <p:pic>
        <p:nvPicPr>
          <p:cNvPr id="5" name="Image 0" descr="E:\prj\JRC\NetworkModel_EU\doc\charts\IT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50077161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Sud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1,253 cells · 6.67 min mean · </a:t>
            </a:r>
            <a:r>
              <a:rPr lang="en-US" sz="1000" dirty="0">
                <a:solidFill>
                  <a:srgbClr val="5B6B7B"/>
                </a:solidFill>
                <a:latin typeface="Calibri" pitchFamily="34" charset="0"/>
                <a:ea typeface="Calibri" pitchFamily="34" charset="-122"/>
                <a:cs typeface="Calibri" pitchFamily="34" charset="-120"/>
              </a:rPr>
              <a:t>travel (stranded at BIG)  LIN 88.9M · LOG 2.1M</a:t>
            </a:r>
            <a:endParaRPr lang="en-US" sz="1000" dirty="0"/>
          </a:p>
        </p:txBody>
      </p:sp>
      <p:pic>
        <p:nvPicPr>
          <p:cNvPr id="5" name="Image 0" descr="E:\prj\JRC\NetworkModel_EU\doc\charts\IT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2666264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Isole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891 cells · 4.88 min mean · </a:t>
            </a:r>
            <a:r>
              <a:rPr lang="en-US" sz="1000" dirty="0">
                <a:solidFill>
                  <a:srgbClr val="5B6B7B"/>
                </a:solidFill>
                <a:latin typeface="Calibri" pitchFamily="34" charset="0"/>
                <a:ea typeface="Calibri" pitchFamily="34" charset="-122"/>
                <a:cs typeface="Calibri" pitchFamily="34" charset="-120"/>
              </a:rPr>
              <a:t>travel (stranded at BIG)  LIN 30.6M · LOG 845k</a:t>
            </a:r>
            <a:endParaRPr lang="en-US" sz="1000" dirty="0"/>
          </a:p>
        </p:txBody>
      </p:sp>
      <p:pic>
        <p:nvPicPr>
          <p:cNvPr id="5" name="Image 0" descr="E:\prj\JRC\NetworkModel_EU\doc\charts\IT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70961666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2,079 cells · 4.20 min mean · </a:t>
            </a:r>
            <a:r>
              <a:rPr lang="en-US" sz="1000" dirty="0">
                <a:solidFill>
                  <a:srgbClr val="5B6B7B"/>
                </a:solidFill>
                <a:latin typeface="Calibri" pitchFamily="34" charset="0"/>
                <a:ea typeface="Calibri" pitchFamily="34" charset="-122"/>
                <a:cs typeface="Calibri" pitchFamily="34" charset="-120"/>
              </a:rPr>
              <a:t>travel (stranded at BIG)  LIN 48.4M · LOG 1.4M</a:t>
            </a:r>
            <a:endParaRPr lang="en-US" sz="1000" dirty="0"/>
          </a:p>
        </p:txBody>
      </p:sp>
      <p:pic>
        <p:nvPicPr>
          <p:cNvPr id="5" name="Image 0" descr="E:\prj\JRC\NetworkModel_EU\doc\charts\IT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6297889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Centro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1,631 cells · 4.19 min mean · </a:t>
            </a:r>
            <a:r>
              <a:rPr lang="en-US" sz="1000" dirty="0">
                <a:solidFill>
                  <a:srgbClr val="5B6B7B"/>
                </a:solidFill>
                <a:latin typeface="Calibri" pitchFamily="34" charset="0"/>
                <a:ea typeface="Calibri" pitchFamily="34" charset="-122"/>
                <a:cs typeface="Calibri" pitchFamily="34" charset="-120"/>
              </a:rPr>
              <a:t>travel (stranded at BIG)  LIN 49.0M · LOG 1.4M</a:t>
            </a:r>
            <a:endParaRPr lang="en-US" sz="1000" dirty="0"/>
          </a:p>
        </p:txBody>
      </p:sp>
      <p:pic>
        <p:nvPicPr>
          <p:cNvPr id="5" name="Image 0" descr="E:\prj\JRC\NetworkModel_EU\doc\charts\IT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9221850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Östra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388 cells · 5.41 min mean · </a:t>
            </a:r>
            <a:r>
              <a:rPr lang="en-US" sz="1000" dirty="0">
                <a:solidFill>
                  <a:srgbClr val="5B6B7B"/>
                </a:solidFill>
                <a:latin typeface="Calibri" pitchFamily="34" charset="0"/>
                <a:ea typeface="Calibri" pitchFamily="34" charset="-122"/>
                <a:cs typeface="Calibri" pitchFamily="34" charset="-120"/>
              </a:rPr>
              <a:t>travel (stranded at BIG)  LIN 22.1M · LOG 573k</a:t>
            </a:r>
            <a:endParaRPr lang="en-US" sz="1000" dirty="0"/>
          </a:p>
        </p:txBody>
      </p:sp>
      <p:pic>
        <p:nvPicPr>
          <p:cNvPr id="5" name="Image 0" descr="E:\prj\JRC\NetworkModel_EU\doc\charts\SE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0.440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0.00700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63904817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Södra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452 cells · 7.36 min mean · </a:t>
            </a:r>
            <a:r>
              <a:rPr lang="en-US" sz="1000" dirty="0">
                <a:solidFill>
                  <a:srgbClr val="5B6B7B"/>
                </a:solidFill>
                <a:latin typeface="Calibri" pitchFamily="34" charset="0"/>
                <a:ea typeface="Calibri" pitchFamily="34" charset="-122"/>
                <a:cs typeface="Calibri" pitchFamily="34" charset="-120"/>
              </a:rPr>
              <a:t>travel (stranded at BIG)  LIN 32.4M · LOG 716k</a:t>
            </a:r>
            <a:endParaRPr lang="en-US" sz="1000" dirty="0"/>
          </a:p>
        </p:txBody>
      </p:sp>
      <p:pic>
        <p:nvPicPr>
          <p:cNvPr id="5" name="Image 0" descr="E:\prj\JRC\NetworkModel_EU\doc\charts\SE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93737337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SE3</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246 cells · 9.48 min mean · </a:t>
            </a:r>
            <a:r>
              <a:rPr lang="en-US" sz="1000" dirty="0">
                <a:solidFill>
                  <a:srgbClr val="5B6B7B"/>
                </a:solidFill>
                <a:latin typeface="Calibri" pitchFamily="34" charset="0"/>
                <a:ea typeface="Calibri" pitchFamily="34" charset="-122"/>
                <a:cs typeface="Calibri" pitchFamily="34" charset="-120"/>
              </a:rPr>
              <a:t>travel (stranded at BIG)  LIN 16.4M · LOG 349k</a:t>
            </a:r>
            <a:endParaRPr lang="en-US" sz="1000" dirty="0"/>
          </a:p>
        </p:txBody>
      </p:sp>
      <p:pic>
        <p:nvPicPr>
          <p:cNvPr id="5" name="Image 0" descr="E:\prj\JRC\NetworkModel_EU\doc\charts\SE3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3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00822042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1,442 cells · 3.21 min mean · </a:t>
            </a:r>
            <a:r>
              <a:rPr lang="en-US" sz="1000" dirty="0">
                <a:solidFill>
                  <a:srgbClr val="5B6B7B"/>
                </a:solidFill>
                <a:latin typeface="Calibri" pitchFamily="34" charset="0"/>
                <a:ea typeface="Calibri" pitchFamily="34" charset="-122"/>
                <a:cs typeface="Calibri" pitchFamily="34" charset="-120"/>
              </a:rPr>
              <a:t>travel (stranded at BIG)  LIN 24.5M · LOG 811k</a:t>
            </a:r>
            <a:endParaRPr lang="en-US" sz="1000" dirty="0"/>
          </a:p>
        </p:txBody>
      </p:sp>
      <p:pic>
        <p:nvPicPr>
          <p:cNvPr id="5" name="Image 0" descr="E:\prj\JRC\NetworkModel_EU\doc\charts\PL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38673058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PL4</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1,200 cells · 3.66 min mean · </a:t>
            </a:r>
            <a:r>
              <a:rPr lang="en-US" sz="1000" dirty="0">
                <a:solidFill>
                  <a:srgbClr val="5B6B7B"/>
                </a:solidFill>
                <a:latin typeface="Calibri" pitchFamily="34" charset="0"/>
                <a:ea typeface="Calibri" pitchFamily="34" charset="-122"/>
                <a:cs typeface="Calibri" pitchFamily="34" charset="-120"/>
              </a:rPr>
              <a:t>travel (stranded at BIG)  LIN 22.1M · LOG 685k</a:t>
            </a:r>
            <a:endParaRPr lang="en-US" sz="1000" dirty="0"/>
          </a:p>
        </p:txBody>
      </p:sp>
      <p:pic>
        <p:nvPicPr>
          <p:cNvPr id="5" name="Image 0" descr="E:\prj\JRC\NetworkModel_EU\doc\charts\PL4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4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3986418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PL5</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688 cells · 3.41 min mean · </a:t>
            </a:r>
            <a:r>
              <a:rPr lang="en-US" sz="1000" dirty="0">
                <a:solidFill>
                  <a:srgbClr val="5B6B7B"/>
                </a:solidFill>
                <a:latin typeface="Calibri" pitchFamily="34" charset="0"/>
                <a:ea typeface="Calibri" pitchFamily="34" charset="-122"/>
                <a:cs typeface="Calibri" pitchFamily="34" charset="-120"/>
              </a:rPr>
              <a:t>travel (stranded at BIG)  LIN 12.8M · LOG 411k</a:t>
            </a:r>
            <a:endParaRPr lang="en-US" sz="1000" dirty="0"/>
          </a:p>
        </p:txBody>
      </p:sp>
      <p:pic>
        <p:nvPicPr>
          <p:cNvPr id="5" name="Image 0" descr="E:\prj\JRC\NetworkModel_EU\doc\charts\PL5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5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44243219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PL6</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1,023 cells · 3.78 min mean · </a:t>
            </a:r>
            <a:r>
              <a:rPr lang="en-US" sz="1000" dirty="0">
                <a:solidFill>
                  <a:srgbClr val="5B6B7B"/>
                </a:solidFill>
                <a:latin typeface="Calibri" pitchFamily="34" charset="0"/>
                <a:ea typeface="Calibri" pitchFamily="34" charset="-122"/>
                <a:cs typeface="Calibri" pitchFamily="34" charset="-120"/>
              </a:rPr>
              <a:t>travel (stranded at BIG)  LIN 21.1M · LOG 642k</a:t>
            </a:r>
            <a:endParaRPr lang="en-US" sz="1000" dirty="0"/>
          </a:p>
        </p:txBody>
      </p:sp>
      <p:pic>
        <p:nvPicPr>
          <p:cNvPr id="5" name="Image 0" descr="E:\prj\JRC\NetworkModel_EU\doc\charts\PL6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6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5878500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PL7</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Centralny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675 cells · 3.84 min mean · </a:t>
            </a:r>
            <a:r>
              <a:rPr lang="en-US" sz="1000" dirty="0">
                <a:solidFill>
                  <a:srgbClr val="5B6B7B"/>
                </a:solidFill>
                <a:latin typeface="Calibri" pitchFamily="34" charset="0"/>
                <a:ea typeface="Calibri" pitchFamily="34" charset="-122"/>
                <a:cs typeface="Calibri" pitchFamily="34" charset="-120"/>
              </a:rPr>
              <a:t>travel (stranded at BIG)  LIN 13.6M · LOG 405k</a:t>
            </a:r>
            <a:endParaRPr lang="en-US" sz="1000" dirty="0"/>
          </a:p>
        </p:txBody>
      </p:sp>
      <p:pic>
        <p:nvPicPr>
          <p:cNvPr id="5" name="Image 0" descr="E:\prj\JRC\NetworkModel_EU\doc\charts\PL7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7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78943503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PL8</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Wschodni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1,065 cells · 4.53 min mean · </a:t>
            </a:r>
            <a:r>
              <a:rPr lang="en-US" sz="1000" dirty="0">
                <a:solidFill>
                  <a:srgbClr val="5B6B7B"/>
                </a:solidFill>
                <a:latin typeface="Calibri" pitchFamily="34" charset="0"/>
                <a:ea typeface="Calibri" pitchFamily="34" charset="-122"/>
                <a:cs typeface="Calibri" pitchFamily="34" charset="-120"/>
              </a:rPr>
              <a:t>travel (stranded at BIG)  LIN 22.9M · LOG 619k</a:t>
            </a:r>
            <a:endParaRPr lang="en-US" sz="1000" dirty="0"/>
          </a:p>
        </p:txBody>
      </p:sp>
      <p:pic>
        <p:nvPicPr>
          <p:cNvPr id="5" name="Image 0" descr="E:\prj\JRC\NetworkModel_EU\doc\charts\PL8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8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41944122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PL9</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Mazowiecki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933 cells · 3.20 min mean · </a:t>
            </a:r>
            <a:r>
              <a:rPr lang="en-US" sz="1000" dirty="0">
                <a:solidFill>
                  <a:srgbClr val="5B6B7B"/>
                </a:solidFill>
                <a:latin typeface="Calibri" pitchFamily="34" charset="0"/>
                <a:ea typeface="Calibri" pitchFamily="34" charset="-122"/>
                <a:cs typeface="Calibri" pitchFamily="34" charset="-120"/>
              </a:rPr>
              <a:t>travel (stranded at BIG)  LIN 17.5M · LOG 591k</a:t>
            </a:r>
            <a:endParaRPr lang="en-US" sz="1000" dirty="0"/>
          </a:p>
        </p:txBody>
      </p:sp>
      <p:pic>
        <p:nvPicPr>
          <p:cNvPr id="5" name="Image 0" descr="E:\prj\JRC\NetworkModel_EU\doc\charts\PL9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9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07156881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ALL AREAS COMBINED · 41 DISJOINT AREAS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aggregated frontier  </a:t>
            </a:r>
            <a:r>
              <a:rPr lang="en-US" sz="2200" dirty="0">
                <a:solidFill>
                  <a:srgbClr val="1C3D5A"/>
                </a:solidFill>
                <a:latin typeface="Georgia" pitchFamily="34" charset="0"/>
                <a:ea typeface="Georgia" pitchFamily="34" charset="-122"/>
                <a:cs typeface="Georgia" pitchFamily="34" charset="-120"/>
              </a:rPr>
              <a:t>— facilities and travel cost summed per λ</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aggregate baseline (current)  </a:t>
            </a:r>
            <a:r>
              <a:rPr lang="en-US" sz="1000" dirty="0">
                <a:solidFill>
                  <a:srgbClr val="12233A"/>
                </a:solidFill>
                <a:latin typeface="Calibri" pitchFamily="34" charset="0"/>
                <a:ea typeface="Calibri" pitchFamily="34" charset="-122"/>
                <a:cs typeface="Calibri" pitchFamily="34" charset="-120"/>
              </a:rPr>
              <a:t>43,320 pharmacy cells · </a:t>
            </a:r>
            <a:r>
              <a:rPr lang="en-US" sz="1000" dirty="0">
                <a:solidFill>
                  <a:srgbClr val="5B6B7B"/>
                </a:solidFill>
                <a:latin typeface="Calibri" pitchFamily="34" charset="0"/>
                <a:ea typeface="Calibri" pitchFamily="34" charset="-122"/>
                <a:cs typeface="Calibri" pitchFamily="34" charset="-120"/>
              </a:rPr>
              <a:t>travel  LIN 1030M · LOG 30.3M</a:t>
            </a:r>
            <a:endParaRPr lang="en-US" sz="1000" dirty="0"/>
          </a:p>
        </p:txBody>
      </p:sp>
      <p:pic>
        <p:nvPicPr>
          <p:cNvPr id="5" name="Image 0" descr="E:\prj\JRC\NetworkModel_EU\doc\charts\AGGREGATE_LINEAR.png"/>
          <p:cNvPicPr>
            <a:picLocks noChangeAspect="1"/>
          </p:cNvPicPr>
          <p:nvPr/>
        </p:nvPicPr>
        <p:blipFill>
          <a:blip r:embed="rId3"/>
          <a:stretch>
            <a:fillRect/>
          </a:stretch>
        </p:blipFill>
        <p:spPr>
          <a:xfrm>
            <a:off x="566928" y="1371600"/>
            <a:ext cx="4745736" cy="2788920"/>
          </a:xfrm>
          <a:prstGeom prst="rect">
            <a:avLst/>
          </a:prstGeom>
        </p:spPr>
      </p:pic>
      <p:pic>
        <p:nvPicPr>
          <p:cNvPr id="6" name="Image 1" descr="E:\prj\JRC\NetworkModel_EU\doc\charts\AGGREGATE_LOGISTIC.png"/>
          <p:cNvPicPr>
            <a:picLocks noChangeAspect="1"/>
          </p:cNvPicPr>
          <p:nvPr/>
        </p:nvPicPr>
        <p:blipFill>
          <a:blip r:embed="rId4"/>
          <a:stretch>
            <a:fillRect/>
          </a:stretch>
        </p:blipFill>
        <p:spPr>
          <a:xfrm>
            <a:off x="6309360" y="1371600"/>
            <a:ext cx="4745736" cy="2788920"/>
          </a:xfrm>
          <a:prstGeom prst="rect">
            <a:avLst/>
          </a:prstGeom>
        </p:spPr>
      </p:pic>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11274552" cy="914400"/>
        </p:xfrm>
        <a:graphic>
          <a:graphicData uri="http://schemas.openxmlformats.org/drawingml/2006/table">
            <a:tbl>
              <a:tblPr/>
              <a:tblGrid>
                <a:gridCol w="109728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gridCol w="1947672">
                  <a:extLst>
                    <a:ext uri="{9D8B030D-6E8A-4147-A177-3AD203B41FA5}">
                      <a16:colId xmlns:a16="http://schemas.microsoft.com/office/drawing/2014/main" val="20006"/>
                    </a:ext>
                  </a:extLst>
                </a:gridCol>
              </a:tblGrid>
              <a:tr h="214884">
                <a:tc>
                  <a:txBody>
                    <a:bodyPr/>
                    <a:lstStyle/>
                    <a:p>
                      <a:pPr marL="0" indent="0" algn="l">
                        <a:buNone/>
                      </a:pP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point</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w</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n_open</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Δ facilities</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multi vs relax</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Δ travel (multi)</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14884">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LINEAR</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S1 (same count)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0.130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43,357</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-26%</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S2 (same travel)</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0.227</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28,609</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-34%</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fewest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0.500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15,808</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-64%</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+55%</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most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0.000100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433,828</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+901%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14884">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LOGISTIC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S1 (same count)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0.00130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44,416</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S2 (same travel)</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0.00282</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26,673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-38%</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fewest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0.0200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10,933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-75%</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+65%</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most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0.000100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191,428</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+342%</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8" name="Text 3"/>
          <p:cNvSpPr/>
          <p:nvPr/>
        </p:nvSpPr>
        <p:spPr>
          <a:xfrm>
            <a:off x="457200" y="6309360"/>
            <a:ext cx="11274552" cy="502920"/>
          </a:xfrm>
          <a:prstGeom prst="rect">
            <a:avLst/>
          </a:prstGeom>
          <a:noFill/>
          <a:ln/>
        </p:spPr>
        <p:txBody>
          <a:bodyPr wrap="square" rtlCol="0" anchor="ctr"/>
          <a:lstStyle/>
          <a:p>
            <a:pPr marL="0" indent="0">
              <a:buNone/>
            </a:pPr>
            <a:r>
              <a:rPr lang="en-US" sz="830" i="1" dirty="0">
                <a:solidFill>
                  <a:srgbClr val="5B6B7B"/>
                </a:solidFill>
                <a:latin typeface="Calibri" pitchFamily="34" charset="0"/>
                <a:ea typeface="Calibri" pitchFamily="34" charset="-122"/>
                <a:cs typeface="Calibri" pitchFamily="34" charset="-120"/>
              </a:rPr>
              <a:t>Exact-by-separability aggregation over 41 disjoint areas (13 countries + FR/IT/SE/PL NUTS-1; country-level Poland excluded in favour of its 7 NUTS-1): at a common λ the sum of the regional optima IS the combined optimum. Summed at the union of swept w-values inside the range every area covers (68 points; an area without that exact λ is log-interpolated between its adjacent sweep points — the λ-table rule). The Δ columns state the aggregate S1/S2 gain in native units and need no λ; λ only prices them (placeholder €100,000 per location).</a:t>
            </a:r>
            <a:endParaRPr lang="en-US" sz="830" dirty="0"/>
          </a:p>
        </p:txBody>
      </p:sp>
    </p:spTree>
    <p:extLst>
      <p:ext uri="{BB962C8B-B14F-4D97-AF65-F5344CB8AC3E}">
        <p14:creationId xmlns:p14="http://schemas.microsoft.com/office/powerpoint/2010/main" val="231048980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SCENARIOS · PER COUNTRY</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By how much: S1 and S2  </a:t>
            </a:r>
            <a:r>
              <a:rPr lang="en-US" sz="2200" dirty="0">
                <a:solidFill>
                  <a:srgbClr val="1C3D5A"/>
                </a:solidFill>
                <a:latin typeface="Georgia" pitchFamily="34" charset="0"/>
                <a:ea typeface="Georgia" pitchFamily="34" charset="-122"/>
                <a:cs typeface="Georgia" pitchFamily="34" charset="-120"/>
              </a:rPr>
              <a:t>— per country, by travel-cost function</a:t>
            </a:r>
            <a:endParaRPr lang="en-US" sz="2200" dirty="0"/>
          </a:p>
        </p:txBody>
      </p:sp>
      <p:sp>
        <p:nvSpPr>
          <p:cNvPr id="4" name="Text 2"/>
          <p:cNvSpPr/>
          <p:nvPr/>
        </p:nvSpPr>
        <p:spPr>
          <a:xfrm>
            <a:off x="411480" y="914400"/>
            <a:ext cx="11430000" cy="274320"/>
          </a:xfrm>
          <a:prstGeom prst="rect">
            <a:avLst/>
          </a:prstGeom>
          <a:noFill/>
          <a:ln/>
        </p:spPr>
        <p:txBody>
          <a:bodyPr wrap="square" rtlCol="0" anchor="ctr"/>
          <a:lstStyle/>
          <a:p>
            <a:pPr marL="0" indent="0">
              <a:buNone/>
            </a:pPr>
            <a:r>
              <a:rPr lang="en-US" sz="1000" dirty="0">
                <a:solidFill>
                  <a:srgbClr val="5B6B7B"/>
                </a:solidFill>
                <a:latin typeface="Calibri" pitchFamily="34" charset="0"/>
                <a:ea typeface="Calibri" pitchFamily="34" charset="-122"/>
                <a:cs typeface="Calibri" pitchFamily="34" charset="-120"/>
              </a:rPr>
              <a:t>Gains in native units first — person-minutes and locations, read off the frontier and independent of any λ — then the λ at which the sweep reaches each point.</a:t>
            </a:r>
            <a:endParaRPr lang="en-US" sz="10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207008">
                  <a:extLst>
                    <a:ext uri="{9D8B030D-6E8A-4147-A177-3AD203B41FA5}">
                      <a16:colId xmlns:a16="http://schemas.microsoft.com/office/drawing/2014/main" val="20002"/>
                    </a:ext>
                  </a:extLst>
                </a:gridCol>
                <a:gridCol w="1207008">
                  <a:extLst>
                    <a:ext uri="{9D8B030D-6E8A-4147-A177-3AD203B41FA5}">
                      <a16:colId xmlns:a16="http://schemas.microsoft.com/office/drawing/2014/main" val="20003"/>
                    </a:ext>
                  </a:extLst>
                </a:gridCol>
                <a:gridCol w="1207008">
                  <a:extLst>
                    <a:ext uri="{9D8B030D-6E8A-4147-A177-3AD203B41FA5}">
                      <a16:colId xmlns:a16="http://schemas.microsoft.com/office/drawing/2014/main" val="20004"/>
                    </a:ext>
                  </a:extLst>
                </a:gridCol>
                <a:gridCol w="1207008">
                  <a:extLst>
                    <a:ext uri="{9D8B030D-6E8A-4147-A177-3AD203B41FA5}">
                      <a16:colId xmlns:a16="http://schemas.microsoft.com/office/drawing/2014/main" val="20005"/>
                    </a:ext>
                  </a:extLst>
                </a:gridCol>
                <a:gridCol w="827532">
                  <a:extLst>
                    <a:ext uri="{9D8B030D-6E8A-4147-A177-3AD203B41FA5}">
                      <a16:colId xmlns:a16="http://schemas.microsoft.com/office/drawing/2014/main" val="20006"/>
                    </a:ext>
                  </a:extLst>
                </a:gridCol>
                <a:gridCol w="827532">
                  <a:extLst>
                    <a:ext uri="{9D8B030D-6E8A-4147-A177-3AD203B41FA5}">
                      <a16:colId xmlns:a16="http://schemas.microsoft.com/office/drawing/2014/main" val="20007"/>
                    </a:ext>
                  </a:extLst>
                </a:gridCol>
                <a:gridCol w="827532">
                  <a:extLst>
                    <a:ext uri="{9D8B030D-6E8A-4147-A177-3AD203B41FA5}">
                      <a16:colId xmlns:a16="http://schemas.microsoft.com/office/drawing/2014/main" val="20008"/>
                    </a:ext>
                  </a:extLst>
                </a:gridCol>
                <a:gridCol w="827532">
                  <a:extLst>
                    <a:ext uri="{9D8B030D-6E8A-4147-A177-3AD203B41FA5}">
                      <a16:colId xmlns:a16="http://schemas.microsoft.com/office/drawing/2014/main" val="20009"/>
                    </a:ext>
                  </a:extLst>
                </a:gridCol>
              </a:tblGrid>
              <a:tr h="304800">
                <a:tc>
                  <a:txBody>
                    <a:bodyPr/>
                    <a:lstStyle/>
                    <a:p>
                      <a:pPr marL="0" indent="0" algn="l">
                        <a:buNone/>
                      </a:pPr>
                      <a:r>
                        <a:rPr lang="en-US" sz="950" b="1" dirty="0">
                          <a:solidFill>
                            <a:srgbClr val="FFFFFF"/>
                          </a:solidFill>
                          <a:latin typeface="Calibri" pitchFamily="34" charset="0"/>
                          <a:ea typeface="Calibri" pitchFamily="34" charset="-122"/>
                          <a:cs typeface="Calibri" pitchFamily="34" charset="-120"/>
                        </a:rPr>
                        <a:t>country</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today #</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S1 · Δ travel (lin)</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S2 · Δ # (lin)</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S1 · Δ cost · Δ mean t (log)</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S2 · Δ # (log)</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λ S1 lin</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λ S2 lin</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λ S1 log</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λ S2 log</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extLst>
                  <a:ext uri="{0D108BD9-81ED-4DB2-BD59-A6C34878D82A}">
                    <a16:rowId xmlns:a16="http://schemas.microsoft.com/office/drawing/2014/main" val="10000"/>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Netherlands</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1,615</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−12.1 M min · −19.9%</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−443 · −27.4%</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 · −0.7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−551 · −34.1%</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24,532</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34,329</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229</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373</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Luxembourg</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−427 k min · −17.8%</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−26 · −29.9%</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−7.6% · −0.7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 · −35.1%</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15,945</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25,641</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146</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262</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Estonia</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292</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 M min · −22.6%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−94 · −32.3%</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−13.4% · −0.9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−121 · −41.4%</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11,388</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19,421</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145</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302</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Latvia</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 M min · −19.9%</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−144 · −29.1%</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−11.3% · −0.8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−183 · −36.8%</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8,822</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14,262</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103</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205</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Slovenia</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 M min · −13.1%</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−82 · −26.7%</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−9.0% · −0.8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 · −32.4%</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17,680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25,450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195</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357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Lithuania</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582</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 M min · −23.5%</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−204 · −35.1%</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−14.4% · −1.0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−268 · −46.0%</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10,987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19,834</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128</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309</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Ireland</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862</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 M min · −16.9%</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−235 · −27.2%</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 · −0.7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−297 · −34.5%</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14,269</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21,020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158</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270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Norway</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755</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 M min · −25.3%</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−326 · −43.2%</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−18.0% · −1.8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−359 · −47.6%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23,174</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49,999</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324</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841</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Denmark</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 M min · −14.8%</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 · −28.6%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 · −0.9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−166 · −35.6%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37,082</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55,960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448</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867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Austria</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1,129</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 M min · −20.4%</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−373 · −33.0%</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 · −1.0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−497 · −44.0%</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18,361</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31,027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204</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496</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Portugal</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1,882</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−7.4 M min · −21.6%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−527 · −28.0%</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 · −0.7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−623 · −33.1%</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10,473</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17,033</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107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196</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Czechia</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1,624</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 M min · −19.8%</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−487 · −30.0%</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 · −0.7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−587 · −36.1%</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14,550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22,885</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157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278</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Belgium</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2,958</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 M min · −14.9%</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−520 · −17.6%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 · −0.3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−552 · −18.7%</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5,666</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7,340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50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67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Poland</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7,027</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−23.7 M min · −17.8%</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−1,883 · −26.8%</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 · −0.6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−2,207 · −31.4%</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10,254</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15,809</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107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188</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bl>
          </a:graphicData>
        </a:graphic>
      </p:graphicFrame>
      <p:sp>
        <p:nvSpPr>
          <p:cNvPr id="6" name="Text 3"/>
          <p:cNvSpPr/>
          <p:nvPr/>
        </p:nvSpPr>
        <p:spPr>
          <a:xfrm>
            <a:off x="640080" y="6144768"/>
            <a:ext cx="10881360" cy="603504"/>
          </a:xfrm>
          <a:prstGeom prst="rect">
            <a:avLst/>
          </a:prstGeom>
          <a:noFill/>
          <a:ln/>
        </p:spPr>
        <p:txBody>
          <a:bodyPr wrap="square" rtlCol="0" anchor="t"/>
          <a:lstStyle/>
          <a:p>
            <a:pPr marL="0" indent="0">
              <a:buNone/>
            </a:pPr>
            <a:r>
              <a:rPr lang="en-US" sz="860" b="1" i="1" dirty="0">
                <a:solidFill>
                  <a:srgbClr val="1C3D5A"/>
                </a:solidFill>
                <a:latin typeface="Calibri" pitchFamily="34" charset="0"/>
                <a:ea typeface="Calibri" pitchFamily="34" charset="-122"/>
                <a:cs typeface="Calibri" pitchFamily="34" charset="-120"/>
              </a:rPr>
              <a:t>S1 = today's number of locations, travel minimised; S2 = today's travel, fewer locations. </a:t>
            </a:r>
            <a:r>
              <a:rPr lang="en-US" sz="860" i="1" dirty="0">
                <a:solidFill>
                  <a:srgbClr val="5B6B7B"/>
                </a:solidFill>
                <a:latin typeface="Calibri" pitchFamily="34" charset="0"/>
                <a:ea typeface="Calibri" pitchFamily="34" charset="-122"/>
                <a:cs typeface="Calibri" pitchFamily="34" charset="-120"/>
              </a:rPr>
              <a:t>Δ columns are read off the multistart frontier by interpolation between adjacent sweep points — person-minutes (linear), dimensionless logistic cost with the mean minutes beside it, and locations — and need no λ. λ = w · €100,000 is the price per location at which the sweep reaches that point; the €100,000 is a placeholder, not an estimate — the frontier, the Δs and the ranking of areas do not depend on it, only these € figures do. “—” = the target lies outside the swept λ range.</a:t>
            </a:r>
            <a:endParaRPr lang="en-US" sz="860" dirty="0"/>
          </a:p>
        </p:txBody>
      </p:sp>
    </p:spTree>
    <p:extLst>
      <p:ext uri="{BB962C8B-B14F-4D97-AF65-F5344CB8AC3E}">
        <p14:creationId xmlns:p14="http://schemas.microsoft.com/office/powerpoint/2010/main" val="170209035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SCENARIOS · NUTS-1</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By how much: S1 and S2  </a:t>
            </a:r>
            <a:r>
              <a:rPr lang="en-US" sz="2200" dirty="0">
                <a:solidFill>
                  <a:srgbClr val="1C3D5A"/>
                </a:solidFill>
                <a:latin typeface="Georgia" pitchFamily="34" charset="0"/>
                <a:ea typeface="Georgia" pitchFamily="34" charset="-122"/>
                <a:cs typeface="Georgia" pitchFamily="34" charset="-120"/>
              </a:rPr>
              <a:t>— FR / IT / SE / PL NUTS-1 regions</a:t>
            </a:r>
            <a:endParaRPr lang="en-US" sz="2200" dirty="0"/>
          </a:p>
        </p:txBody>
      </p:sp>
      <p:sp>
        <p:nvSpPr>
          <p:cNvPr id="4" name="Text 2"/>
          <p:cNvSpPr/>
          <p:nvPr/>
        </p:nvSpPr>
        <p:spPr>
          <a:xfrm>
            <a:off x="411480" y="914400"/>
            <a:ext cx="11430000" cy="274320"/>
          </a:xfrm>
          <a:prstGeom prst="rect">
            <a:avLst/>
          </a:prstGeom>
          <a:noFill/>
          <a:ln/>
        </p:spPr>
        <p:txBody>
          <a:bodyPr wrap="square" rtlCol="0" anchor="ctr"/>
          <a:lstStyle/>
          <a:p>
            <a:pPr marL="0" indent="0">
              <a:buNone/>
            </a:pPr>
            <a:r>
              <a:rPr lang="en-US" sz="1000" dirty="0">
                <a:solidFill>
                  <a:srgbClr val="5B6B7B"/>
                </a:solidFill>
                <a:latin typeface="Calibri" pitchFamily="34" charset="0"/>
                <a:ea typeface="Calibri" pitchFamily="34" charset="-122"/>
                <a:cs typeface="Calibri" pitchFamily="34" charset="-120"/>
              </a:rPr>
              <a:t>Gains in native units first — person-minutes and locations, read off the frontier and independent of any λ — then the λ at which the sweep reaches each point.</a:t>
            </a:r>
            <a:endParaRPr lang="en-US" sz="10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265176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207008">
                  <a:extLst>
                    <a:ext uri="{9D8B030D-6E8A-4147-A177-3AD203B41FA5}">
                      <a16:colId xmlns:a16="http://schemas.microsoft.com/office/drawing/2014/main" val="20002"/>
                    </a:ext>
                  </a:extLst>
                </a:gridCol>
                <a:gridCol w="1207008">
                  <a:extLst>
                    <a:ext uri="{9D8B030D-6E8A-4147-A177-3AD203B41FA5}">
                      <a16:colId xmlns:a16="http://schemas.microsoft.com/office/drawing/2014/main" val="20003"/>
                    </a:ext>
                  </a:extLst>
                </a:gridCol>
                <a:gridCol w="1207008">
                  <a:extLst>
                    <a:ext uri="{9D8B030D-6E8A-4147-A177-3AD203B41FA5}">
                      <a16:colId xmlns:a16="http://schemas.microsoft.com/office/drawing/2014/main" val="20004"/>
                    </a:ext>
                  </a:extLst>
                </a:gridCol>
                <a:gridCol w="1207008">
                  <a:extLst>
                    <a:ext uri="{9D8B030D-6E8A-4147-A177-3AD203B41FA5}">
                      <a16:colId xmlns:a16="http://schemas.microsoft.com/office/drawing/2014/main" val="20005"/>
                    </a:ext>
                  </a:extLst>
                </a:gridCol>
                <a:gridCol w="667512">
                  <a:extLst>
                    <a:ext uri="{9D8B030D-6E8A-4147-A177-3AD203B41FA5}">
                      <a16:colId xmlns:a16="http://schemas.microsoft.com/office/drawing/2014/main" val="20006"/>
                    </a:ext>
                  </a:extLst>
                </a:gridCol>
                <a:gridCol w="667512">
                  <a:extLst>
                    <a:ext uri="{9D8B030D-6E8A-4147-A177-3AD203B41FA5}">
                      <a16:colId xmlns:a16="http://schemas.microsoft.com/office/drawing/2014/main" val="20007"/>
                    </a:ext>
                  </a:extLst>
                </a:gridCol>
                <a:gridCol w="667512">
                  <a:extLst>
                    <a:ext uri="{9D8B030D-6E8A-4147-A177-3AD203B41FA5}">
                      <a16:colId xmlns:a16="http://schemas.microsoft.com/office/drawing/2014/main" val="20008"/>
                    </a:ext>
                  </a:extLst>
                </a:gridCol>
                <a:gridCol w="667512">
                  <a:extLst>
                    <a:ext uri="{9D8B030D-6E8A-4147-A177-3AD203B41FA5}">
                      <a16:colId xmlns:a16="http://schemas.microsoft.com/office/drawing/2014/main" val="20009"/>
                    </a:ext>
                  </a:extLst>
                </a:gridCol>
              </a:tblGrid>
              <a:tr h="157655">
                <a:tc>
                  <a:txBody>
                    <a:bodyPr/>
                    <a:lstStyle/>
                    <a:p>
                      <a:pPr marL="0" indent="0" algn="l">
                        <a:buNone/>
                      </a:pPr>
                      <a:r>
                        <a:rPr lang="en-US" sz="760" b="1" dirty="0">
                          <a:solidFill>
                            <a:srgbClr val="FFFFFF"/>
                          </a:solidFill>
                          <a:latin typeface="Calibri" pitchFamily="34" charset="0"/>
                          <a:ea typeface="Calibri" pitchFamily="34" charset="-122"/>
                          <a:cs typeface="Calibri" pitchFamily="34" charset="-120"/>
                        </a:rPr>
                        <a:t>NUTS-1 region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today #</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S1 · Δ travel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S2 · Δ #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S1 · Δ cost · Δ mean t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S2 · Δ #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S1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S2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S1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S2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extLst>
                  <a:ext uri="{0D108BD9-81ED-4DB2-BD59-A6C34878D82A}">
                    <a16:rowId xmlns:a16="http://schemas.microsoft.com/office/drawing/2014/main" val="10000"/>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FR1 · Île-de-France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1,449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 M min · −23.0%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−218 · −15.1%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 · −0.2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−237 · −16.4%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11,918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16,444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FRB · Centre-Val de Loire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613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 M min · −13.6%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−130 · −21.2%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−6.8%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−159 · −26.0%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10,000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13,670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FRC · Bourgogne-Franche-Comté</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723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−1.7 M min · −12.8%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−130 · −18.0%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−7.4%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−197 · −27.2%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9,783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13,075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FRD · Normandie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−1.7 M min · −11.9%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−119 · −17.6%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−6.3%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−175 · −25.7%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11,278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14,679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FRE · Hauts-de-France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1,333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−2.3 M min · −13.4%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−254 · −19.1%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−4.7% · −0.4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−308 · −23.1%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9,048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11,670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FRF · Grand Est</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1,167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 M min · −13.5%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−204 · −17.4%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−6.6%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−309 · −26.5%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10,901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14,257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FRG · Pays de la Loire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848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−2.0 M min · −13.0%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−144 · −17.0%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−219 · −25.9%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11,153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14,447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FRH · Bretagne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793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−2.2 M min · −15.1%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−162 · −20.4%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−7.0%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−212 · −26.7%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9,858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13,828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FRI · Nouvelle-Aquitaine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1,584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 M min · −8.7%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−296 · −18.7%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−7.5%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−447 · −28.2%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8,368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10,901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FRJ · Occitanie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1,424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−3.5 M min · −14.7%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−265 · −18.6%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−6.8%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−377 · −26.5%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9,698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13,202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FRK · Auvergne-Rhône-Alpes</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1,685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−4.2 M min · −14.3%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−300 · −17.8%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−6.3%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−440 · −26.1%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10,207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13,737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FRL · Provence-Alpes-Côte d'Azur</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1,026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 M min · −21.2%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−240 · −23.4%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−286 · −27.9%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9,741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14,155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FRM · Corse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−313 k min · −18.4%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−25 · −29.1%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−10.9% · −0.8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 · −34.5%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10,336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16,993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259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ITC · Nord-Ovest</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2,890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−15.6 M min · −33.7%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−1,101 · −38.1%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−10.6% · −1.0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−1,196 · −41.4%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10,511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20,047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218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ITF · Sud</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1,253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−40.7 M min · −45.8%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−732 · −58.5%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−28.3% · −2.8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−783 · −62.5%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30,189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101,789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350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1,655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ITG · Isole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−15.0 M min · −49.1%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−474 · −53.2%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−26.1% · −2.4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−545 · −61.2%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18,626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56,207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187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917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ITH · Nord-Est</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2,079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−13.6 M min · −28.0%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−825 · −39.7%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−12.3% · −1.1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−945 · −45.4%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12,529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23,350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287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ITI · Centro</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1,631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−15.3 M min · −31.3%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−675 · −41.4%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−13.8% · −1.2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−774 · −47.4%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16,279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33,187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421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SE1 · Östra Sverige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388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−4.8 M min · −21.9%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−143 · −36.9%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−14.8% · −1.1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−186 · −48.0%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27,492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44,267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299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711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SE2 · Södra Sverige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452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−6.0 M min · −18.5%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−167 · −36.9%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−14.3% · −1.5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−192 · −42.4%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33,567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57,265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406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939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SE3 · Norra Sverige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−2.5 M min · −15.0%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−78 · −31.8%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−14.3% · −1.6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−87 · −35.4%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30,810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52,783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439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910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PL2 · Południowy</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1,442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−5.0 M min · −20.3%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−419 · −29.1%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−7.0%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−462 · −32.1%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9,666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15,455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2"/>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PL4 · Północno-Zachodni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1,200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−4.0 M min · −18.1%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−288 · −24.0%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−8.3%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−404 · −33.7%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9,925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15,169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193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PL5 · Południowo-Zachodni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688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−2.3 M min · −17.9%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−180 · −26.2%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−7.5%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−218 · −31.7%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10,586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15,617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189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PL6 · Północny</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1,023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−3.5 M min · −16.6%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−247 · −24.2%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−7.7%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−324 · −31.6%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11,568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17,393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220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PL7 · Centralny</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 M min · −15.5%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−148 · −21.9%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−7.1%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−205 · −30.4%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10,013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14,885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188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6"/>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PL8 · Wschodni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1,065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−4.0 M min · −17.3%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−282 · −26.5%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−8.6% · −0.7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−363 · −34.1%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10,273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16,347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211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7"/>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PL9 · Mazowiecki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933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 M min · −17.4%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−217 · −23.2%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−7.0%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−284 · −30.5%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11,084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16,582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198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8"/>
                  </a:ext>
                </a:extLst>
              </a:tr>
            </a:tbl>
          </a:graphicData>
        </a:graphic>
      </p:graphicFrame>
      <p:sp>
        <p:nvSpPr>
          <p:cNvPr id="6" name="Text 3"/>
          <p:cNvSpPr/>
          <p:nvPr/>
        </p:nvSpPr>
        <p:spPr>
          <a:xfrm>
            <a:off x="640080" y="6144768"/>
            <a:ext cx="10881360" cy="603504"/>
          </a:xfrm>
          <a:prstGeom prst="rect">
            <a:avLst/>
          </a:prstGeom>
          <a:noFill/>
          <a:ln/>
        </p:spPr>
        <p:txBody>
          <a:bodyPr wrap="square" rtlCol="0" anchor="t"/>
          <a:lstStyle/>
          <a:p>
            <a:pPr marL="0" indent="0">
              <a:buNone/>
            </a:pPr>
            <a:r>
              <a:rPr lang="en-US" sz="860" b="1" i="1" dirty="0">
                <a:solidFill>
                  <a:srgbClr val="1C3D5A"/>
                </a:solidFill>
                <a:latin typeface="Calibri" pitchFamily="34" charset="0"/>
                <a:ea typeface="Calibri" pitchFamily="34" charset="-122"/>
                <a:cs typeface="Calibri" pitchFamily="34" charset="-120"/>
              </a:rPr>
              <a:t>S1 = today's number of locations, travel minimised; S2 = today's travel, fewer locations. </a:t>
            </a:r>
            <a:r>
              <a:rPr lang="en-US" sz="860" i="1" dirty="0">
                <a:solidFill>
                  <a:srgbClr val="5B6B7B"/>
                </a:solidFill>
                <a:latin typeface="Calibri" pitchFamily="34" charset="0"/>
                <a:ea typeface="Calibri" pitchFamily="34" charset="-122"/>
                <a:cs typeface="Calibri" pitchFamily="34" charset="-120"/>
              </a:rPr>
              <a:t>Δ columns are read off the multistart frontier by interpolation between adjacent sweep points — person-minutes (linear), dimensionless logistic cost with the mean minutes beside it, and locations — and need no λ. λ = w · €100,000 is the price per location at which the sweep reaches that point; the €100,000 is a placeholder, not an estimate — the frontier, the Δs and the ranking of areas do not depend on it, only these € figures do. “—” = the target lies outside the swept λ range.</a:t>
            </a:r>
            <a:endParaRPr lang="en-US" sz="860" dirty="0"/>
          </a:p>
        </p:txBody>
      </p:sp>
    </p:spTree>
    <p:extLst>
      <p:ext uri="{BB962C8B-B14F-4D97-AF65-F5344CB8AC3E}">
        <p14:creationId xmlns:p14="http://schemas.microsoft.com/office/powerpoint/2010/main" val="196139496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rtlCol="0" anchor="ctr"/>
          <a:lstStyle/>
          <a:p>
            <a:pPr marL="0" indent="0">
              <a:buNone/>
            </a:pPr>
            <a:r>
              <a:rPr lang="en-US" sz="1200" b="1" kern="0" spc="200" dirty="0">
                <a:solidFill>
                  <a:srgbClr val="E8A33D"/>
                </a:solidFill>
              </a:rPr>
              <a:t>LINEAR vs LOGISTIC</a:t>
            </a:r>
            <a:endParaRPr lang="en-US" sz="1200" dirty="0"/>
          </a:p>
        </p:txBody>
      </p:sp>
      <p:sp>
        <p:nvSpPr>
          <p:cNvPr id="3" name="Text 1"/>
          <p:cNvSpPr/>
          <p:nvPr/>
        </p:nvSpPr>
        <p:spPr>
          <a:xfrm>
            <a:off x="457200" y="548640"/>
            <a:ext cx="11247120" cy="640080"/>
          </a:xfrm>
          <a:prstGeom prst="rect">
            <a:avLst/>
          </a:prstGeom>
          <a:noFill/>
          <a:ln/>
        </p:spPr>
        <p:txBody>
          <a:bodyPr wrap="square" rtlCol="0" anchor="ctr"/>
          <a:lstStyle/>
          <a:p>
            <a:pPr marL="0" indent="0">
              <a:buNone/>
            </a:pPr>
            <a:r>
              <a:rPr lang="en-US" sz="2400" dirty="0">
                <a:solidFill>
                  <a:srgbClr val="FFFFFF"/>
                </a:solidFill>
                <a:latin typeface="Georgia" pitchFamily="34" charset="0"/>
                <a:ea typeface="Georgia" pitchFamily="34" charset="-122"/>
                <a:cs typeface="Georgia" pitchFamily="34" charset="-120"/>
              </a:rPr>
              <a:t>multistart tracks the LP-relax lower bound — the gap is tightest under LOGISTIC</a:t>
            </a:r>
            <a:endParaRPr lang="en-US" sz="2400" dirty="0"/>
          </a:p>
        </p:txBody>
      </p:sp>
      <p:sp>
        <p:nvSpPr>
          <p:cNvPr id="4" name="Shape 2"/>
          <p:cNvSpPr/>
          <p:nvPr/>
        </p:nvSpPr>
        <p:spPr>
          <a:xfrm>
            <a:off x="457200" y="1371600"/>
            <a:ext cx="5486400" cy="1234440"/>
          </a:xfrm>
          <a:prstGeom prst="roundRect">
            <a:avLst>
              <a:gd name="adj" fmla="val 4444"/>
            </a:avLst>
          </a:prstGeom>
          <a:solidFill>
            <a:srgbClr val="1B3350"/>
          </a:solidFill>
          <a:ln w="12700">
            <a:solidFill>
              <a:srgbClr val="E8A33D"/>
            </a:solidFill>
            <a:prstDash val="solid"/>
          </a:ln>
        </p:spPr>
      </p:sp>
      <p:sp>
        <p:nvSpPr>
          <p:cNvPr id="5" name="Text 3"/>
          <p:cNvSpPr/>
          <p:nvPr/>
        </p:nvSpPr>
        <p:spPr>
          <a:xfrm>
            <a:off x="685800" y="1481328"/>
            <a:ext cx="5029200" cy="274320"/>
          </a:xfrm>
          <a:prstGeom prst="rect">
            <a:avLst/>
          </a:prstGeom>
          <a:noFill/>
          <a:ln/>
        </p:spPr>
        <p:txBody>
          <a:bodyPr wrap="square" rtlCol="0" anchor="ctr"/>
          <a:lstStyle/>
          <a:p>
            <a:pPr marL="0" indent="0">
              <a:buNone/>
            </a:pPr>
            <a:r>
              <a:rPr lang="en-US" sz="1300" b="1" dirty="0">
                <a:solidFill>
                  <a:srgbClr val="E8A33D"/>
                </a:solidFill>
                <a:latin typeface="Calibri" pitchFamily="34" charset="0"/>
                <a:ea typeface="Calibri" pitchFamily="34" charset="-122"/>
                <a:cs typeface="Calibri" pitchFamily="34" charset="-120"/>
              </a:rPr>
              <a:t>LINEAR  c(t) — unbounded, stranding expensive</a:t>
            </a:r>
            <a:endParaRPr lang="en-US" sz="1300" dirty="0"/>
          </a:p>
        </p:txBody>
      </p:sp>
      <p:sp>
        <p:nvSpPr>
          <p:cNvPr id="6" name="Text 4"/>
          <p:cNvSpPr/>
          <p:nvPr/>
        </p:nvSpPr>
        <p:spPr>
          <a:xfrm>
            <a:off x="685800"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+0–18% over the LP bound</a:t>
            </a:r>
            <a:endParaRPr lang="en-US" sz="1900" dirty="0"/>
          </a:p>
        </p:txBody>
      </p:sp>
      <p:sp>
        <p:nvSpPr>
          <p:cNvPr id="7" name="Text 5"/>
          <p:cNvSpPr/>
          <p:nvPr/>
        </p:nvSpPr>
        <p:spPr>
          <a:xfrm>
            <a:off x="685800"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integer rounding costs more where stranding is dear</a:t>
            </a:r>
            <a:endParaRPr lang="en-US" sz="1050" dirty="0"/>
          </a:p>
        </p:txBody>
      </p:sp>
      <p:sp>
        <p:nvSpPr>
          <p:cNvPr id="8" name="Shape 6"/>
          <p:cNvSpPr/>
          <p:nvPr/>
        </p:nvSpPr>
        <p:spPr>
          <a:xfrm>
            <a:off x="6245352" y="1371600"/>
            <a:ext cx="5486400" cy="1234440"/>
          </a:xfrm>
          <a:prstGeom prst="roundRect">
            <a:avLst>
              <a:gd name="adj" fmla="val 4444"/>
            </a:avLst>
          </a:prstGeom>
          <a:solidFill>
            <a:srgbClr val="1B3350"/>
          </a:solidFill>
          <a:ln w="12700">
            <a:solidFill>
              <a:srgbClr val="0B6E99"/>
            </a:solidFill>
            <a:prstDash val="solid"/>
          </a:ln>
        </p:spPr>
      </p:sp>
      <p:sp>
        <p:nvSpPr>
          <p:cNvPr id="9" name="Text 7"/>
          <p:cNvSpPr/>
          <p:nvPr/>
        </p:nvSpPr>
        <p:spPr>
          <a:xfrm>
            <a:off x="6473952" y="1481328"/>
            <a:ext cx="502920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LOGISTIC  c(t) — saturates ≈1, stranding cheap</a:t>
            </a:r>
            <a:endParaRPr lang="en-US" sz="1300" dirty="0"/>
          </a:p>
        </p:txBody>
      </p:sp>
      <p:sp>
        <p:nvSpPr>
          <p:cNvPr id="10" name="Text 8"/>
          <p:cNvSpPr/>
          <p:nvPr/>
        </p:nvSpPr>
        <p:spPr>
          <a:xfrm>
            <a:off x="6473952"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+0–4.7% over the LP bound</a:t>
            </a:r>
            <a:endParaRPr lang="en-US" sz="1900" dirty="0"/>
          </a:p>
        </p:txBody>
      </p:sp>
      <p:sp>
        <p:nvSpPr>
          <p:cNvPr id="11" name="Text 9"/>
          <p:cNvSpPr/>
          <p:nvPr/>
        </p:nvSpPr>
        <p:spPr>
          <a:xfrm>
            <a:off x="6473952"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rounding is nearly free; the frontier is almost integral</a:t>
            </a:r>
            <a:endParaRPr lang="en-US" sz="105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720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Netherlands</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Luxembourg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Estonia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Latvia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Slovenia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Lithuania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Ireland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Norway</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Denmark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Austria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Portugal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Czechia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Belgium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FRB</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FRE</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bl>
          </a:graphicData>
        </a:graphic>
      </p:graphicFrame>
      <p:graphicFrame>
        <p:nvGraphicFramePr>
          <p:cNvPr id="117" name="Table 1"/>
          <p:cNvGraphicFramePr>
            <a:graphicFrameLocks noGrp="1"/>
          </p:cNvGraphicFramePr>
          <p:nvPr>
            <p:extLst>
              <p:ext uri="{D42A27DB-BD31-4B8C-83A1-F6EECF244321}">
                <p14:modId xmlns:p14="http://schemas.microsoft.com/office/powerpoint/2010/main" val="1579011935"/>
              </p:ext>
            </p:extLst>
          </p:nvPr>
        </p:nvGraphicFramePr>
        <p:xfrm>
          <a:off x="621792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FRJ</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+3% (208)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+3% (730)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(88)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(130)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(148)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bl>
          </a:graphicData>
        </a:graphic>
      </p:graphicFrame>
      <p:sp>
        <p:nvSpPr>
          <p:cNvPr id="14" name="Text 10"/>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9FB0C2"/>
                </a:solidFill>
                <a:latin typeface="Calibri" pitchFamily="34" charset="0"/>
                <a:ea typeface="Calibri" pitchFamily="34" charset="-122"/>
                <a:cs typeface="Calibri" pitchFamily="34" charset="-120"/>
              </a:rPr>
              <a:t>cell = multistart travel above the LP-relax bound  (multistart clients stranded by rounding, priced at BIG).  Sparse Swedish regions keep the largest bound-gaps.</a:t>
            </a:r>
            <a:endParaRPr lang="en-US" sz="850" dirty="0"/>
          </a:p>
        </p:txBody>
      </p:sp>
    </p:spTree>
    <p:extLst>
      <p:ext uri="{BB962C8B-B14F-4D97-AF65-F5344CB8AC3E}">
        <p14:creationId xmlns:p14="http://schemas.microsoft.com/office/powerpoint/2010/main" val="69034893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ROADMAP</a:t>
            </a:r>
            <a:endParaRPr lang="en-US" sz="1200" dirty="0"/>
          </a:p>
        </p:txBody>
      </p:sp>
      <p:sp>
        <p:nvSpPr>
          <p:cNvPr id="3" name="Text 1"/>
          <p:cNvSpPr/>
          <p:nvPr/>
        </p:nvSpPr>
        <p:spPr>
          <a:xfrm>
            <a:off x="411480" y="493776"/>
            <a:ext cx="11430000" cy="384048"/>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Status against Lewis's &amp; Bernhard's framing  </a:t>
            </a:r>
            <a:r>
              <a:rPr lang="en-US" sz="2100" dirty="0">
                <a:solidFill>
                  <a:srgbClr val="1C3D5A"/>
                </a:solidFill>
                <a:latin typeface="Georgia" pitchFamily="34" charset="0"/>
                <a:ea typeface="Georgia" pitchFamily="34" charset="-122"/>
                <a:cs typeface="Georgia" pitchFamily="34" charset="-120"/>
              </a:rPr>
              <a:t>— implemented · remaining · not pursued</a:t>
            </a:r>
            <a:endParaRPr lang="en-US" sz="2100" dirty="0"/>
          </a:p>
        </p:txBody>
      </p:sp>
      <p:sp>
        <p:nvSpPr>
          <p:cNvPr id="4" name="Text 2"/>
          <p:cNvSpPr/>
          <p:nvPr/>
        </p:nvSpPr>
        <p:spPr>
          <a:xfrm>
            <a:off x="411480" y="886968"/>
            <a:ext cx="11430000" cy="365760"/>
          </a:xfrm>
          <a:prstGeom prst="rect">
            <a:avLst/>
          </a:prstGeom>
          <a:noFill/>
          <a:ln/>
        </p:spPr>
        <p:txBody>
          <a:bodyPr wrap="square" rtlCol="0" anchor="t"/>
          <a:lstStyle/>
          <a:p>
            <a:pPr marL="0" indent="0">
              <a:buNone/>
            </a:pPr>
            <a:r>
              <a:rPr lang="en-US" sz="950" b="1" dirty="0">
                <a:solidFill>
                  <a:srgbClr val="12233A"/>
                </a:solidFill>
                <a:latin typeface="Calibri" pitchFamily="34" charset="0"/>
                <a:ea typeface="Calibri" pitchFamily="34" charset="-122"/>
                <a:cs typeface="Calibri" pitchFamily="34" charset="-120"/>
              </a:rPr>
              <a:t>The λ-sweep is the working general method. </a:t>
            </a:r>
            <a:r>
              <a:rPr lang="en-US" sz="950" dirty="0">
                <a:solidFill>
                  <a:srgbClr val="5B6B7B"/>
                </a:solidFill>
                <a:latin typeface="Calibri" pitchFamily="34" charset="0"/>
                <a:ea typeface="Calibri" pitchFamily="34" charset="-122"/>
                <a:cs typeface="Calibri" pitchFamily="34" charset="-120"/>
              </a:rPr>
              <a:t>Two method changes since the previous deck — landbody-complete networks and NUTS region exclusion — make these figures NOT comparable with earlier ones. The REGIO review (Moreno Monroy, Brons, Nöbauer) is worked in where it asked for answers and listed below where it asked for work. Status confirmed 4 Sep 2026: nothing is mid-flight, so the list is what is done and what remains, in priority order.</a:t>
            </a:r>
            <a:endParaRPr lang="en-US" sz="950" dirty="0"/>
          </a:p>
        </p:txBody>
      </p:sp>
      <p:sp>
        <p:nvSpPr>
          <p:cNvPr id="5" name="Shape 3"/>
          <p:cNvSpPr/>
          <p:nvPr/>
        </p:nvSpPr>
        <p:spPr>
          <a:xfrm>
            <a:off x="365760" y="1298448"/>
            <a:ext cx="5669280" cy="4297680"/>
          </a:xfrm>
          <a:prstGeom prst="roundRect">
            <a:avLst>
              <a:gd name="adj" fmla="val 1064"/>
            </a:avLst>
          </a:prstGeom>
          <a:solidFill>
            <a:srgbClr val="F0F6F2"/>
          </a:solidFill>
          <a:ln w="12700">
            <a:solidFill>
              <a:srgbClr val="1E7A52"/>
            </a:solidFill>
            <a:prstDash val="solid"/>
          </a:ln>
        </p:spPr>
      </p:sp>
      <p:sp>
        <p:nvSpPr>
          <p:cNvPr id="6" name="Text 4"/>
          <p:cNvSpPr/>
          <p:nvPr/>
        </p:nvSpPr>
        <p:spPr>
          <a:xfrm>
            <a:off x="530352" y="1371600"/>
            <a:ext cx="5340096"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Implemented ✓</a:t>
            </a:r>
            <a:endParaRPr lang="en-US" sz="1300" dirty="0"/>
          </a:p>
        </p:txBody>
      </p:sp>
      <p:sp>
        <p:nvSpPr>
          <p:cNvPr id="7" name="Text 5"/>
          <p:cNvSpPr/>
          <p:nvPr/>
        </p:nvSpPr>
        <p:spPr>
          <a:xfrm>
            <a:off x="548640" y="1700784"/>
            <a:ext cx="5303520" cy="38404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NETWORK per landbody + REGION EXCLUSION (&gt;50% of inhabitant locations unreachable → NUTS region dropped, population AND candidates): ITG mean travel 22.3 → 4.9 min; Azores/Madeira out, Portugal baseline travel −62%. A DATA gap no longer ranks as headroom (p8)</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Tabula-rasa LP allocation + λ-sweep → Pareto curve of #locations vs travel (Option D); p-median notation (x = assignment, y = facility)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S1 (same #, ↓travel) · S2 (same travel, ↓#) · S3 full frontier — S1/S2 interpolated onto the frontier, stated in NATIVE units first, € second (p60–61)</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Lewis's 6 descriptive indicators per country and key NUTS1, catchments by ROAD travel time — ahead of the model (p3–6)</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Candidates = ≥50-pop cells ∪ pharmacy cells · clients = FULL population · adapted logit (25/10) — all 42 areas swept incl. Poland + 7 NUTS-1</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Soft coverage (Σx ≤ 1, unserved priced at BIG on BOTH sides): every region brackets S1 &amp; S2; baseline coverage-consistent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Aggregated frontier over 41 disjoint areas (exact by separability), bracketing S1 and S2 for both functions (p59)</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Improvement rectangle (raw + relative), diagonal crossing + λ, point-cloud with projections; ranked lists by policy typology, free of coverage artefacts (ITF #1 on an UNCHANGED value)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REGIO review worked in: choice set (p9), λ-tangency (p10), logistic parametrised (p64), bounds on TOTAL cost only (p12), €100,000 a placeholder everywhere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Large-region subsampling keeps EVERY baseline location, so the frontier still dominates the baseline</a:t>
            </a:r>
            <a:endParaRPr lang="en-US" sz="900" dirty="0"/>
          </a:p>
        </p:txBody>
      </p:sp>
      <p:sp>
        <p:nvSpPr>
          <p:cNvPr id="8" name="Shape 6"/>
          <p:cNvSpPr/>
          <p:nvPr/>
        </p:nvSpPr>
        <p:spPr>
          <a:xfrm>
            <a:off x="6172200" y="1298448"/>
            <a:ext cx="5669280" cy="4297680"/>
          </a:xfrm>
          <a:prstGeom prst="roundRect">
            <a:avLst>
              <a:gd name="adj" fmla="val 1064"/>
            </a:avLst>
          </a:prstGeom>
          <a:solidFill>
            <a:srgbClr val="F2F5F8"/>
          </a:solidFill>
          <a:ln w="12700">
            <a:solidFill>
              <a:srgbClr val="5B6B7B"/>
            </a:solidFill>
            <a:prstDash val="solid"/>
          </a:ln>
        </p:spPr>
      </p:sp>
      <p:sp>
        <p:nvSpPr>
          <p:cNvPr id="9" name="Text 7"/>
          <p:cNvSpPr/>
          <p:nvPr/>
        </p:nvSpPr>
        <p:spPr>
          <a:xfrm>
            <a:off x="6336792" y="1371600"/>
            <a:ext cx="5340096" cy="274320"/>
          </a:xfrm>
          <a:prstGeom prst="rect">
            <a:avLst/>
          </a:prstGeom>
          <a:noFill/>
          <a:ln/>
        </p:spPr>
        <p:txBody>
          <a:bodyPr wrap="square" rtlCol="0" anchor="ctr"/>
          <a:lstStyle/>
          <a:p>
            <a:pPr marL="0" indent="0">
              <a:buNone/>
            </a:pPr>
            <a:r>
              <a:rPr lang="en-US" sz="1300" b="1" dirty="0">
                <a:solidFill>
                  <a:srgbClr val="5B6B7B"/>
                </a:solidFill>
                <a:latin typeface="Calibri" pitchFamily="34" charset="0"/>
                <a:ea typeface="Calibri" pitchFamily="34" charset="-122"/>
                <a:cs typeface="Calibri" pitchFamily="34" charset="-120"/>
              </a:rPr>
              <a:t>Remaining ○ — in priority order  (◐ = in progress)</a:t>
            </a:r>
            <a:endParaRPr lang="en-US" sz="1300" dirty="0"/>
          </a:p>
        </p:txBody>
      </p:sp>
      <p:sp>
        <p:nvSpPr>
          <p:cNvPr id="10" name="Text 8"/>
          <p:cNvSpPr/>
          <p:nvPr/>
        </p:nvSpPr>
        <p:spPr>
          <a:xfrm>
            <a:off x="6355080" y="1700784"/>
            <a:ext cx="5303520" cy="38404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 Communicate λ intuitively (person-minutes per location): the tangency slide (p10) and the native-unit S1/S2 tables (p60–61) are the first steps; the € labels stay placeholders until a is calibrated</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Widen the CANDIDATE radius per client (5 → 10 nearest EXISTING), one area first — measured to bind at S2 (SE2: 10.2% of residents one closure from stranding, p9)</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RSSV spatial-voting candidate reduction (Avignon CpLP paper, Figueiredo &amp; Genre-Grandpierre) — a principled replacement for the stride subsample on the largest regions; needs the wider radius first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Exact soft-coverage p-median MIP to pin S1/S2 at p = baseline — also replaces the nearest-grid-point snap that makes S1 = S2 in 5 areas (FRC/FRH/FRJ/FRK/SE2, p9)</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Territorial coverage constraints (≥1 pharmacy per NUTS unit; multi-scale) as a STRUCTURED equity lever alongside the soft-coverage BIG penalty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DECIDE: rescale the logistic so c(0) and c(60) match the linear (BN, 23 July) — less degeneracy, but it changes the equity weighting the logistic was chosen for (p64)</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Calibrate the real pharmacy fixed cost a (schools: 99 699 + 3 277.5x) — only the € labels move, nothing else in the deck</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Capacity / max-catchment cap constraint (CpMP; the Avignon strengthened ILP shows how to solve it)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Counterfactuals: −10% pop · replace a known X% · choose which X to close (hard)</a:t>
            </a:r>
            <a:endParaRPr lang="en-US" sz="900" dirty="0"/>
          </a:p>
        </p:txBody>
      </p:sp>
      <p:sp>
        <p:nvSpPr>
          <p:cNvPr id="11" name="Text 9"/>
          <p:cNvSpPr/>
          <p:nvPr/>
        </p:nvSpPr>
        <p:spPr>
          <a:xfrm>
            <a:off x="411480" y="5669280"/>
            <a:ext cx="11430000" cy="411480"/>
          </a:xfrm>
          <a:prstGeom prst="rect">
            <a:avLst/>
          </a:prstGeom>
          <a:noFill/>
          <a:ln/>
        </p:spPr>
        <p:txBody>
          <a:bodyPr wrap="square" rtlCol="0" anchor="t"/>
          <a:lstStyle/>
          <a:p>
            <a:pPr marL="0" indent="0">
              <a:buNone/>
            </a:pPr>
            <a:r>
              <a:rPr lang="en-US" sz="900" b="1" dirty="0">
                <a:solidFill>
                  <a:srgbClr val="B9791C"/>
                </a:solidFill>
                <a:latin typeface="Calibri" pitchFamily="34" charset="0"/>
                <a:ea typeface="Calibri" pitchFamily="34" charset="-122"/>
                <a:cs typeface="Calibri" pitchFamily="34" charset="-120"/>
              </a:rPr>
              <a:t>Not pursued (decided 4 Sep 2026):  </a:t>
            </a:r>
            <a:r>
              <a:rPr lang="en-US" sz="900" dirty="0">
                <a:solidFill>
                  <a:srgbClr val="5B6B7B"/>
                </a:solidFill>
                <a:latin typeface="Calibri" pitchFamily="34" charset="0"/>
                <a:ea typeface="Calibri" pitchFamily="34" charset="-122"/>
                <a:cs typeface="Calibri" pitchFamily="34" charset="-120"/>
              </a:rPr>
              <a:t>the catchment-cap / min-threshold ladder (explored on the Netherlands; p15 kept as the record) · age-weighted demand · candidate cells plus their neighbours · urban/non-urban split and a settlement candidate set · flat-then-linear cost and logit-parameter sensitivity · pharmacist-based and pooled caps, catchment–travel correlation, border cases.</a:t>
            </a:r>
            <a:endParaRPr lang="en-US" sz="900" dirty="0"/>
          </a:p>
        </p:txBody>
      </p:sp>
      <p:sp>
        <p:nvSpPr>
          <p:cNvPr id="12" name="Text 10"/>
          <p:cNvSpPr/>
          <p:nvPr/>
        </p:nvSpPr>
        <p:spPr>
          <a:xfrm>
            <a:off x="411480" y="6108192"/>
            <a:ext cx="11430000" cy="45720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Open questions for the group:  </a:t>
            </a:r>
            <a:r>
              <a:rPr lang="en-US" sz="1000" i="1" dirty="0">
                <a:solidFill>
                  <a:srgbClr val="5B6B7B"/>
                </a:solidFill>
                <a:latin typeface="Calibri" pitchFamily="34" charset="0"/>
                <a:ea typeface="Calibri" pitchFamily="34" charset="-122"/>
                <a:cs typeface="Calibri" pitchFamily="34" charset="-120"/>
              </a:rPr>
              <a:t>widen the choice set before RSSV (p9)?  ·  logistic vs linear, and BN's rescaling (p64)?  ·  territorial coverage constraints for equity, or keep soft coverage?</a:t>
            </a:r>
            <a:endParaRPr lang="en-US" sz="1000" dirty="0"/>
          </a:p>
        </p:txBody>
      </p:sp>
    </p:spTree>
    <p:extLst>
      <p:ext uri="{BB962C8B-B14F-4D97-AF65-F5344CB8AC3E}">
        <p14:creationId xmlns:p14="http://schemas.microsoft.com/office/powerpoint/2010/main" val="207315157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TRAVEL-COST FUNCTION</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Logistic c(t)  </a:t>
            </a:r>
            <a:r>
              <a:rPr lang="en-US" sz="2200" dirty="0">
                <a:solidFill>
                  <a:srgbClr val="1C3D5A"/>
                </a:solidFill>
                <a:latin typeface="Georgia" pitchFamily="34" charset="0"/>
                <a:ea typeface="Georgia" pitchFamily="34" charset="-122"/>
                <a:cs typeface="Georgia" pitchFamily="34" charset="-120"/>
              </a:rPr>
              <a:t>— the adopted Lewis-tuned curve vs the previous one</a:t>
            </a:r>
            <a:endParaRPr lang="en-US" sz="2200" dirty="0"/>
          </a:p>
        </p:txBody>
      </p:sp>
      <p:pic>
        <p:nvPicPr>
          <p:cNvPr id="4" name="Image 0" descr="E:\prj\JRC\NetworkModel_EU\doc\charts\logistic_compare.png"/>
          <p:cNvPicPr>
            <a:picLocks noChangeAspect="1"/>
          </p:cNvPicPr>
          <p:nvPr/>
        </p:nvPicPr>
        <p:blipFill>
          <a:blip r:embed="rId3"/>
          <a:stretch>
            <a:fillRect/>
          </a:stretch>
        </p:blipFill>
        <p:spPr>
          <a:xfrm>
            <a:off x="320040" y="1417320"/>
            <a:ext cx="7132320" cy="3849624"/>
          </a:xfrm>
          <a:prstGeom prst="rect">
            <a:avLst/>
          </a:prstGeom>
        </p:spPr>
      </p:pic>
      <p:sp>
        <p:nvSpPr>
          <p:cNvPr id="5" name="Text 2"/>
          <p:cNvSpPr/>
          <p:nvPr/>
        </p:nvSpPr>
        <p:spPr>
          <a:xfrm>
            <a:off x="7680960" y="1463040"/>
            <a:ext cx="4206240" cy="256032"/>
          </a:xfrm>
          <a:prstGeom prst="rect">
            <a:avLst/>
          </a:prstGeom>
          <a:noFill/>
          <a:ln/>
        </p:spPr>
        <p:txBody>
          <a:bodyPr wrap="square" rtlCol="0" anchor="ctr"/>
          <a:lstStyle/>
          <a:p>
            <a:pPr marL="0" indent="0">
              <a:buNone/>
            </a:pPr>
            <a:r>
              <a:rPr lang="en-US" sz="1200" b="1" dirty="0">
                <a:solidFill>
                  <a:srgbClr val="185FA5"/>
                </a:solidFill>
                <a:latin typeface="Calibri" pitchFamily="34" charset="0"/>
                <a:ea typeface="Calibri" pitchFamily="34" charset="-122"/>
                <a:cs typeface="Calibri" pitchFamily="34" charset="-120"/>
              </a:rPr>
              <a:t>previous</a:t>
            </a:r>
            <a:r>
              <a:rPr lang="en-US" sz="1200" dirty="0">
                <a:solidFill>
                  <a:srgbClr val="5B6B7B"/>
                </a:solidFill>
                <a:latin typeface="Calibri" pitchFamily="34" charset="0"/>
                <a:ea typeface="Calibri" pitchFamily="34" charset="-122"/>
                <a:cs typeface="Calibri" pitchFamily="34" charset="-120"/>
              </a:rPr>
              <a:t>   midpoint 30 · scale 15</a:t>
            </a:r>
            <a:endParaRPr lang="en-US" sz="1200" dirty="0"/>
          </a:p>
        </p:txBody>
      </p:sp>
      <p:sp>
        <p:nvSpPr>
          <p:cNvPr id="6" name="Text 3"/>
          <p:cNvSpPr/>
          <p:nvPr/>
        </p:nvSpPr>
        <p:spPr>
          <a:xfrm>
            <a:off x="7680960" y="1755648"/>
            <a:ext cx="4206240" cy="256032"/>
          </a:xfrm>
          <a:prstGeom prst="rect">
            <a:avLst/>
          </a:prstGeom>
          <a:noFill/>
          <a:ln/>
        </p:spPr>
        <p:txBody>
          <a:bodyPr wrap="square" rtlCol="0" anchor="ctr"/>
          <a:lstStyle/>
          <a:p>
            <a:pPr marL="0" indent="0">
              <a:buNone/>
            </a:pPr>
            <a:r>
              <a:rPr lang="en-US" sz="1200" b="1" dirty="0">
                <a:solidFill>
                  <a:srgbClr val="1D9E75"/>
                </a:solidFill>
                <a:latin typeface="Calibri" pitchFamily="34" charset="0"/>
                <a:ea typeface="Calibri" pitchFamily="34" charset="-122"/>
                <a:cs typeface="Calibri" pitchFamily="34" charset="-120"/>
              </a:rPr>
              <a:t>adopted</a:t>
            </a:r>
            <a:r>
              <a:rPr lang="en-US" sz="1200" dirty="0">
                <a:solidFill>
                  <a:srgbClr val="5B6B7B"/>
                </a:solidFill>
                <a:latin typeface="Calibri" pitchFamily="34" charset="0"/>
                <a:ea typeface="Calibri" pitchFamily="34" charset="-122"/>
                <a:cs typeface="Calibri" pitchFamily="34" charset="-120"/>
              </a:rPr>
              <a:t>   midpoint 25 · scale 10</a:t>
            </a:r>
            <a:endParaRPr lang="en-US" sz="12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7680960" y="2212848"/>
          <a:ext cx="4160520" cy="914400"/>
        </p:xfrm>
        <a:graphic>
          <a:graphicData uri="http://schemas.openxmlformats.org/drawingml/2006/table">
            <a:tbl>
              <a:tblPr/>
              <a:tblGrid>
                <a:gridCol w="13258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tblGrid>
              <a:tr h="274320">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t (min)</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previous</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adopted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0.08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0.16</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0.42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0.62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0.73</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0.97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bl>
          </a:graphicData>
        </a:graphic>
      </p:graphicFrame>
      <p:sp>
        <p:nvSpPr>
          <p:cNvPr id="8" name="Text 4"/>
          <p:cNvSpPr/>
          <p:nvPr/>
        </p:nvSpPr>
        <p:spPr>
          <a:xfrm>
            <a:off x="7680960" y="4297680"/>
            <a:ext cx="4206240" cy="960120"/>
          </a:xfrm>
          <a:prstGeom prst="rect">
            <a:avLst/>
          </a:prstGeom>
          <a:noFill/>
          <a:ln/>
        </p:spPr>
        <p:txBody>
          <a:bodyPr wrap="square" rtlCol="0" anchor="t"/>
          <a:lstStyle/>
          <a:p>
            <a:pPr marL="0" indent="0">
              <a:buNone/>
            </a:pPr>
            <a:r>
              <a:rPr lang="en-US" sz="1000" i="1" dirty="0">
                <a:solidFill>
                  <a:srgbClr val="12233A"/>
                </a:solidFill>
                <a:latin typeface="Calibri" pitchFamily="34" charset="0"/>
                <a:ea typeface="Calibri" pitchFamily="34" charset="-122"/>
                <a:cs typeface="Calibri" pitchFamily="34" charset="-120"/>
              </a:rPr>
              <a:t>Both cross at ≈15 min (0.27). </a:t>
            </a:r>
            <a:r>
              <a:rPr lang="en-US" sz="1000" i="1" dirty="0">
                <a:solidFill>
                  <a:srgbClr val="5B6B7B"/>
                </a:solidFill>
                <a:latin typeface="Calibri" pitchFamily="34" charset="0"/>
                <a:ea typeface="Calibri" pitchFamily="34" charset="-122"/>
                <a:cs typeface="Calibri" pitchFamily="34" charset="-120"/>
              </a:rPr>
              <a:t>The adopted curve is lower below ~10 min (ignores minor relocations) and saturates by ~45 min (caps remote weight) — Lewis's 22-May ask. Applied in the recalculation (settings.jl defaults; previous variant via LOGISTIC_MIDPOINT=30 LOGISTIC_SCALE=15).</a:t>
            </a:r>
            <a:endParaRPr lang="en-US" sz="1000" dirty="0"/>
          </a:p>
        </p:txBody>
      </p:sp>
      <p:sp>
        <p:nvSpPr>
          <p:cNvPr id="9" name="Shape 5"/>
          <p:cNvSpPr/>
          <p:nvPr/>
        </p:nvSpPr>
        <p:spPr>
          <a:xfrm>
            <a:off x="365760" y="5413248"/>
            <a:ext cx="11475720" cy="960120"/>
          </a:xfrm>
          <a:prstGeom prst="roundRect">
            <a:avLst>
              <a:gd name="adj" fmla="val 4762"/>
            </a:avLst>
          </a:prstGeom>
          <a:solidFill>
            <a:srgbClr val="F0F6F2"/>
          </a:solidFill>
          <a:ln w="12700">
            <a:solidFill>
              <a:srgbClr val="1E7A52"/>
            </a:solidFill>
            <a:prstDash val="solid"/>
          </a:ln>
        </p:spPr>
      </p:sp>
      <p:sp>
        <p:nvSpPr>
          <p:cNvPr id="10" name="Text 6"/>
          <p:cNvSpPr/>
          <p:nvPr/>
        </p:nvSpPr>
        <p:spPr>
          <a:xfrm>
            <a:off x="548640" y="5468112"/>
            <a:ext cx="11155680" cy="868680"/>
          </a:xfrm>
          <a:prstGeom prst="rect">
            <a:avLst/>
          </a:prstGeom>
          <a:noFill/>
          <a:ln/>
        </p:spPr>
        <p:txBody>
          <a:bodyPr wrap="square" rtlCol="0" anchor="t"/>
          <a:lstStyle/>
          <a:p>
            <a:pPr marL="0" indent="0">
              <a:lnSpc>
                <a:spcPct val="98000"/>
              </a:lnSpc>
              <a:buNone/>
            </a:pPr>
            <a:r>
              <a:rPr lang="en-US" sz="860" b="1" dirty="0">
                <a:solidFill>
                  <a:srgbClr val="1E7A52"/>
                </a:solidFill>
                <a:latin typeface="Calibri" pitchFamily="34" charset="0"/>
                <a:ea typeface="Calibri" pitchFamily="34" charset="-122"/>
                <a:cs typeface="Calibri" pitchFamily="34" charset="-120"/>
              </a:rPr>
              <a:t>Answers to the review.  </a:t>
            </a:r>
            <a:r>
              <a:rPr lang="en-US" sz="860" dirty="0">
                <a:solidFill>
                  <a:srgbClr val="12233A"/>
                </a:solidFill>
                <a:latin typeface="Calibri" pitchFamily="34" charset="0"/>
                <a:ea typeface="Calibri" pitchFamily="34" charset="-122"/>
                <a:cs typeface="Calibri" pitchFamily="34" charset="-120"/>
              </a:rPr>
              <a:t>It is a plain logistic, not a log-logistic:  c(t) = 1 / (1 + e</a:t>
            </a:r>
            <a:r>
              <a:rPr lang="en-US" sz="750" baseline="30000" dirty="0">
                <a:solidFill>
                  <a:srgbClr val="12233A"/>
                </a:solidFill>
                <a:latin typeface="Calibri" pitchFamily="34" charset="0"/>
                <a:ea typeface="Calibri" pitchFamily="34" charset="-122"/>
                <a:cs typeface="Calibri" pitchFamily="34" charset="-120"/>
              </a:rPr>
              <a:t>−(t−25)/10</a:t>
            </a:r>
            <a:r>
              <a:rPr lang="en-US" sz="860" dirty="0">
                <a:solidFill>
                  <a:srgbClr val="12233A"/>
                </a:solidFill>
                <a:latin typeface="Calibri" pitchFamily="34" charset="0"/>
                <a:ea typeface="Calibri" pitchFamily="34" charset="-122"/>
                <a:cs typeface="Calibri" pitchFamily="34" charset="-120"/>
              </a:rPr>
              <a:t>).  It does not start at zero — c(0) = 0.076 — so a relocation within a few minutes is nearly free but not free; c(60) = 0.971, c(120) ≈ 1.  </a:t>
            </a:r>
            <a:r>
              <a:rPr lang="en-US" sz="860" b="1" dirty="0">
                <a:solidFill>
                  <a:srgbClr val="12233A"/>
                </a:solidFill>
                <a:latin typeface="Calibri" pitchFamily="34" charset="0"/>
                <a:ea typeface="Calibri" pitchFamily="34" charset="-122"/>
                <a:cs typeface="Calibri" pitchFamily="34" charset="-120"/>
              </a:rPr>
              <a:t>The degeneracy: </a:t>
            </a:r>
            <a:r>
              <a:rPr lang="en-US" sz="860" dirty="0">
                <a:solidFill>
                  <a:srgbClr val="5B6B7B"/>
                </a:solidFill>
                <a:latin typeface="Calibri" pitchFamily="34" charset="0"/>
                <a:ea typeface="Calibri" pitchFamily="34" charset="-122"/>
                <a:cs typeface="Calibri" pitchFamily="34" charset="-120"/>
              </a:rPr>
              <a:t>both variants sweep the same 1-2-5/decade λ-grid (1e-4 … 5), but c(t) here spans only 0.08–1 where the linear one spans 0–120, so the travel term is ~100× smaller relative to λ·#open. The aggregate’s useful λ-range is 1e-4 … 0.02 for logistic against 1e-4 … 0.5 for linear — that compression is the degeneracy: many λ values map to one solution.  </a:t>
            </a:r>
            <a:r>
              <a:rPr lang="en-US" sz="860" b="1" dirty="0">
                <a:solidFill>
                  <a:srgbClr val="B9791C"/>
                </a:solidFill>
                <a:latin typeface="Calibri" pitchFamily="34" charset="0"/>
                <a:ea typeface="Calibri" pitchFamily="34" charset="-122"/>
                <a:cs typeface="Calibri" pitchFamily="34" charset="-120"/>
              </a:rPr>
              <a:t>Open (BN, 23 Jul): </a:t>
            </a:r>
            <a:r>
              <a:rPr lang="en-US" sz="860" dirty="0">
                <a:solidFill>
                  <a:srgbClr val="5B6B7B"/>
                </a:solidFill>
                <a:latin typeface="Calibri" pitchFamily="34" charset="0"/>
                <a:ea typeface="Calibri" pitchFamily="34" charset="-122"/>
                <a:cs typeface="Calibri" pitchFamily="34" charset="-120"/>
              </a:rPr>
              <a:t>rescale c(t) so c(0) and c(60) match the linear curve. It would spread the λ-range and reduce degeneracy, but it also changes the equity weighting the group chose the logistic for — a group decision, not a tuning.</a:t>
            </a:r>
            <a:endParaRPr lang="en-US" sz="860" dirty="0"/>
          </a:p>
        </p:txBody>
      </p:sp>
      <p:sp>
        <p:nvSpPr>
          <p:cNvPr id="11" name="Text 7"/>
          <p:cNvSpPr/>
          <p:nvPr/>
        </p:nvSpPr>
        <p:spPr>
          <a:xfrm>
            <a:off x="411480" y="6446520"/>
            <a:ext cx="11430000"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c(t) is applied to travel time in minutes (raw OD seconds ÷ 60); LINEAR uses c(t)=t. settings.jl c(): logistic_midpoint=25, logistic_scale=10.</a:t>
            </a:r>
            <a:endParaRPr lang="en-US" sz="850" dirty="0"/>
          </a:p>
        </p:txBody>
      </p:sp>
    </p:spTree>
    <p:extLst>
      <p:ext uri="{BB962C8B-B14F-4D97-AF65-F5344CB8AC3E}">
        <p14:creationId xmlns:p14="http://schemas.microsoft.com/office/powerpoint/2010/main" val="354609709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D66D783-3C89-4C08-3D5B-8E2D9EAF8ECF}"/>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The sweep read along lambda  -  all 41 areas: travel-cost bounds (left) and facility count (right)</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30365452-11D1-8EDC-0B38-4A594DCBBB8A}"/>
              </a:ext>
            </a:extLst>
          </p:cNvPr>
          <p:cNvPicPr>
            <a:picLocks/>
          </p:cNvPicPr>
          <p:nvPr/>
        </p:nvPicPr>
        <p:blipFill>
          <a:blip r:embed="rId2"/>
          <a:stretch>
            <a:fillRect/>
          </a:stretch>
        </p:blipFill>
        <p:spPr>
          <a:xfrm>
            <a:off x="254000" y="1684593"/>
            <a:ext cx="11684000" cy="4123813"/>
          </a:xfrm>
          <a:prstGeom prst="rect">
            <a:avLst/>
          </a:prstGeom>
        </p:spPr>
      </p:pic>
      <p:sp>
        <p:nvSpPr>
          <p:cNvPr id="5" name="TextBox 4">
            <a:extLst>
              <a:ext uri="{FF2B5EF4-FFF2-40B4-BE49-F238E27FC236}">
                <a16:creationId xmlns:a16="http://schemas.microsoft.com/office/drawing/2014/main" id="{034BA78F-AA8F-8119-32A8-1A95C65246B6}"/>
              </a:ext>
            </a:extLst>
          </p:cNvPr>
          <p:cNvSpPr txBox="1"/>
          <p:nvPr/>
        </p:nvSpPr>
        <p:spPr>
          <a:xfrm>
            <a:off x="381000" y="5884607"/>
            <a:ext cx="11430000" cy="369332"/>
          </a:xfrm>
          <a:prstGeom prst="rect">
            <a:avLst/>
          </a:prstGeom>
          <a:noFill/>
        </p:spPr>
        <p:txBody>
          <a:bodyPr vert="horz" rtlCol="0">
            <a:spAutoFit/>
          </a:bodyPr>
          <a:lstStyle/>
          <a:p>
            <a:r>
              <a:rPr lang="en-US" sz="900" i="1">
                <a:solidFill>
                  <a:srgbClr val="5B6B7B"/>
                </a:solidFill>
                <a:latin typeface="Calibri" panose="020F0502020204030204" pitchFamily="34" charset="0"/>
              </a:rPr>
              <a:t>x = lambda, the price per location (log scale). Left axis: LP relaxation (lower bound) and multistart integer solution (upper bound) on travel cost. Right axis: the LP-relaxed count sum_y and the integer count n_open = round(sum_y); they coincide by construction - the certified gap is on TOTAL cost only (p12). Dotted = baseline: S2 is where travel crosses its baseline, S1 where the count does.</a:t>
            </a:r>
            <a:endParaRPr lang="en-GB" sz="900" i="1">
              <a:solidFill>
                <a:srgbClr val="5B6B7B"/>
              </a:solidFill>
              <a:latin typeface="Calibri" panose="020F0502020204030204" pitchFamily="34" charset="0"/>
            </a:endParaRPr>
          </a:p>
        </p:txBody>
      </p:sp>
    </p:spTree>
    <p:extLst>
      <p:ext uri="{BB962C8B-B14F-4D97-AF65-F5344CB8AC3E}">
        <p14:creationId xmlns:p14="http://schemas.microsoft.com/office/powerpoint/2010/main" val="351570157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291AEB5-61A6-0D4E-0218-C29D51EEEA25}"/>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The sweep read along lambda  -  Netherlands: travel-cost bounds (left) and facility count (right)</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51FDD4E7-FF2E-9337-0C30-D035DAC84956}"/>
              </a:ext>
            </a:extLst>
          </p:cNvPr>
          <p:cNvPicPr>
            <a:picLocks/>
          </p:cNvPicPr>
          <p:nvPr/>
        </p:nvPicPr>
        <p:blipFill>
          <a:blip r:embed="rId2"/>
          <a:stretch>
            <a:fillRect/>
          </a:stretch>
        </p:blipFill>
        <p:spPr>
          <a:xfrm>
            <a:off x="254000" y="1684593"/>
            <a:ext cx="11684000" cy="4123813"/>
          </a:xfrm>
          <a:prstGeom prst="rect">
            <a:avLst/>
          </a:prstGeom>
        </p:spPr>
      </p:pic>
      <p:sp>
        <p:nvSpPr>
          <p:cNvPr id="5" name="TextBox 4">
            <a:extLst>
              <a:ext uri="{FF2B5EF4-FFF2-40B4-BE49-F238E27FC236}">
                <a16:creationId xmlns:a16="http://schemas.microsoft.com/office/drawing/2014/main" id="{2BC2AFB2-CBE3-1982-0E5C-91FA5FCF153E}"/>
              </a:ext>
            </a:extLst>
          </p:cNvPr>
          <p:cNvSpPr txBox="1"/>
          <p:nvPr/>
        </p:nvSpPr>
        <p:spPr>
          <a:xfrm>
            <a:off x="381000" y="5884607"/>
            <a:ext cx="11430000" cy="369332"/>
          </a:xfrm>
          <a:prstGeom prst="rect">
            <a:avLst/>
          </a:prstGeom>
          <a:noFill/>
        </p:spPr>
        <p:txBody>
          <a:bodyPr vert="horz" rtlCol="0">
            <a:spAutoFit/>
          </a:bodyPr>
          <a:lstStyle/>
          <a:p>
            <a:r>
              <a:rPr lang="en-US" sz="900" i="1">
                <a:solidFill>
                  <a:srgbClr val="5B6B7B"/>
                </a:solidFill>
                <a:latin typeface="Calibri" panose="020F0502020204030204" pitchFamily="34" charset="0"/>
              </a:rPr>
              <a:t>Same reading as the aggregate. The count falls over two decades of lambda before the travel bounds separate; under LINEAR they open only above ~EUR 50,000 per location, beyond S2, so the S1/S2 figures sit where lower and upper bound agree.</a:t>
            </a:r>
            <a:endParaRPr lang="en-GB" sz="900" i="1">
              <a:solidFill>
                <a:srgbClr val="5B6B7B"/>
              </a:solidFill>
              <a:latin typeface="Calibri" panose="020F0502020204030204" pitchFamily="34" charset="0"/>
            </a:endParaRPr>
          </a:p>
        </p:txBody>
      </p:sp>
    </p:spTree>
    <p:extLst>
      <p:ext uri="{BB962C8B-B14F-4D97-AF65-F5344CB8AC3E}">
        <p14:creationId xmlns:p14="http://schemas.microsoft.com/office/powerpoint/2010/main" val="215370280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FA3506A-9396-698E-2BB2-76BD63001847}"/>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C985DE4E-8356-F420-E457-1959DD1D7D26}"/>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208818200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759017F-7B4E-FE00-F07C-E0EAC76C19DD}"/>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1883195D-49CE-5A2F-31A8-5DB732CF44B1}"/>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55221902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3F1FE20-1FEE-4037-D27E-B0AF49455910}"/>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Lambda at the balanced-improvement crossing,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6CAE43F7-04B3-147D-55F0-FDA6EB60465C}"/>
              </a:ext>
            </a:extLst>
          </p:cNvPr>
          <p:cNvPicPr>
            <a:picLocks/>
          </p:cNvPicPr>
          <p:nvPr/>
        </p:nvPicPr>
        <p:blipFill>
          <a:blip r:embed="rId2"/>
          <a:stretch>
            <a:fillRect/>
          </a:stretch>
        </p:blipFill>
        <p:spPr>
          <a:xfrm>
            <a:off x="3487103" y="889000"/>
            <a:ext cx="5217795" cy="5715000"/>
          </a:xfrm>
          <a:prstGeom prst="rect">
            <a:avLst/>
          </a:prstGeom>
        </p:spPr>
      </p:pic>
      <p:sp>
        <p:nvSpPr>
          <p:cNvPr id="5" name="TextBox 4">
            <a:extLst>
              <a:ext uri="{FF2B5EF4-FFF2-40B4-BE49-F238E27FC236}">
                <a16:creationId xmlns:a16="http://schemas.microsoft.com/office/drawing/2014/main" id="{9887DE46-355A-C334-EEDA-185503DDE496}"/>
              </a:ext>
            </a:extLst>
          </p:cNvPr>
          <p:cNvSpPr txBox="1"/>
          <p:nvPr/>
        </p:nvSpPr>
        <p:spPr>
          <a:xfrm>
            <a:off x="381000" y="6578600"/>
            <a:ext cx="11430000" cy="230832"/>
          </a:xfrm>
          <a:prstGeom prst="rect">
            <a:avLst/>
          </a:prstGeom>
          <a:noFill/>
        </p:spPr>
        <p:txBody>
          <a:bodyPr vert="horz" rtlCol="0">
            <a:spAutoFit/>
          </a:bodyPr>
          <a:lstStyle/>
          <a:p>
            <a:r>
              <a:rPr lang="en-US" sz="900" i="1">
                <a:solidFill>
                  <a:srgbClr val="5B6B7B"/>
                </a:solidFill>
                <a:latin typeface="Calibri" panose="020F0502020204030204" pitchFamily="34" charset="0"/>
              </a:rPr>
              <a:t>Lambda is in EUR only through the placeholder EUR 100,000 per location (REGIO review, Brons/BN): the crossing point and this ranking do not depend on it; only the EUR axis rescales with the true fixed cost.</a:t>
            </a:r>
            <a:endParaRPr lang="en-GB" sz="900" i="1">
              <a:solidFill>
                <a:srgbClr val="5B6B7B"/>
              </a:solidFill>
              <a:latin typeface="Calibri" panose="020F0502020204030204" pitchFamily="34" charset="0"/>
            </a:endParaRPr>
          </a:p>
        </p:txBody>
      </p:sp>
    </p:spTree>
    <p:extLst>
      <p:ext uri="{BB962C8B-B14F-4D97-AF65-F5344CB8AC3E}">
        <p14:creationId xmlns:p14="http://schemas.microsoft.com/office/powerpoint/2010/main" val="149160111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CCC9E3D-95C4-EA4A-D508-87380A1A5C27}"/>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Lambda at the balanced-improvement crossing,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0738C66D-A606-ED2B-93DE-74FD1C31F2F4}"/>
              </a:ext>
            </a:extLst>
          </p:cNvPr>
          <p:cNvPicPr>
            <a:picLocks/>
          </p:cNvPicPr>
          <p:nvPr/>
        </p:nvPicPr>
        <p:blipFill>
          <a:blip r:embed="rId2"/>
          <a:stretch>
            <a:fillRect/>
          </a:stretch>
        </p:blipFill>
        <p:spPr>
          <a:xfrm>
            <a:off x="3487103" y="889000"/>
            <a:ext cx="5217795" cy="5715000"/>
          </a:xfrm>
          <a:prstGeom prst="rect">
            <a:avLst/>
          </a:prstGeom>
        </p:spPr>
      </p:pic>
      <p:sp>
        <p:nvSpPr>
          <p:cNvPr id="5" name="TextBox 4">
            <a:extLst>
              <a:ext uri="{FF2B5EF4-FFF2-40B4-BE49-F238E27FC236}">
                <a16:creationId xmlns:a16="http://schemas.microsoft.com/office/drawing/2014/main" id="{0800CC0D-3821-9D3E-78D2-09D544A83AB0}"/>
              </a:ext>
            </a:extLst>
          </p:cNvPr>
          <p:cNvSpPr txBox="1"/>
          <p:nvPr/>
        </p:nvSpPr>
        <p:spPr>
          <a:xfrm>
            <a:off x="381000" y="6578600"/>
            <a:ext cx="11430000" cy="230832"/>
          </a:xfrm>
          <a:prstGeom prst="rect">
            <a:avLst/>
          </a:prstGeom>
          <a:noFill/>
        </p:spPr>
        <p:txBody>
          <a:bodyPr vert="horz" rtlCol="0">
            <a:spAutoFit/>
          </a:bodyPr>
          <a:lstStyle/>
          <a:p>
            <a:r>
              <a:rPr lang="en-US" sz="900" i="1">
                <a:solidFill>
                  <a:srgbClr val="5B6B7B"/>
                </a:solidFill>
                <a:latin typeface="Calibri" panose="020F0502020204030204" pitchFamily="34" charset="0"/>
              </a:rPr>
              <a:t>Lambda is in EUR only through the placeholder EUR 100,000 per location (REGIO review, Brons/BN): the crossing point and this ranking do not depend on it; only the EUR axis rescales with the true fixed cost.</a:t>
            </a:r>
            <a:endParaRPr lang="en-GB" sz="900" i="1">
              <a:solidFill>
                <a:srgbClr val="5B6B7B"/>
              </a:solidFill>
              <a:latin typeface="Calibri" panose="020F0502020204030204" pitchFamily="34" charset="0"/>
            </a:endParaRPr>
          </a:p>
        </p:txBody>
      </p:sp>
    </p:spTree>
    <p:extLst>
      <p:ext uri="{BB962C8B-B14F-4D97-AF65-F5344CB8AC3E}">
        <p14:creationId xmlns:p14="http://schemas.microsoft.com/office/powerpoint/2010/main" val="316540517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58EF3A3-745E-8AD5-25CF-DDBDC40FF80D}"/>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5FDC67EC-49CE-FFA0-9568-2204A783AFD8}"/>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272033691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1CEC8BF-A232-B88F-45E0-121699A17370}"/>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A532E2F9-AB4D-1A8D-FBB6-9C234E0706FC}"/>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308533949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FAA33AB-8E57-60B7-CC55-331C6361E98A}"/>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2EC5EF77-0277-0C96-7325-E81E28C8BEFC}"/>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326302748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5F0986F-7298-215E-1157-2CCCCD9E6F21}"/>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2DE2326E-C838-41C4-6A0C-FD358FF6AE36}"/>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10240725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17099</Words>
  <Application>Microsoft Office PowerPoint</Application>
  <PresentationFormat>Widescreen</PresentationFormat>
  <Paragraphs>3662</Paragraphs>
  <Slides>74</Slides>
  <Notes>63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74</vt:i4>
      </vt:variant>
    </vt:vector>
  </HeadingPairs>
  <TitlesOfParts>
    <vt:vector size="79" baseType="lpstr">
      <vt:lpstr>Arial</vt:lpstr>
      <vt:lpstr>Calibri</vt:lpstr>
      <vt:lpstr>Cambria Math</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lambda_sweep.jl — UFLP-LP for pharmacy locations</dc:title>
  <dc:subject>PptxGenJS Presentation</dc:subject>
  <dc:creator>Servaas Storm / Object Vision</dc:creator>
  <cp:lastModifiedBy>Maarten Hilferink</cp:lastModifiedBy>
  <cp:revision>5</cp:revision>
  <dcterms:created xsi:type="dcterms:W3CDTF">2026-06-01T08:24:25Z</dcterms:created>
  <dcterms:modified xsi:type="dcterms:W3CDTF">2026-09-10T11:53:18Z</dcterms:modified>
</cp:coreProperties>
</file>