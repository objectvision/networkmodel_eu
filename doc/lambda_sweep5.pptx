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4"/>
  </p:notesMasterIdLst>
  <p:sldIdLst>
    <p:sldId id="256" r:id="rId2"/>
    <p:sldId id="260" r:id="rId3"/>
    <p:sldId id="266" r:id="rId4"/>
    <p:sldId id="267" r:id="rId5"/>
    <p:sldId id="268" r:id="rId6"/>
    <p:sldId id="269" r:id="rId7"/>
    <p:sldId id="261" r:id="rId8"/>
    <p:sldId id="262" r:id="rId9"/>
    <p:sldId id="263" r:id="rId10"/>
    <p:sldId id="264" r:id="rId11"/>
    <p:sldId id="257" r:id="rId12"/>
    <p:sldId id="265" r:id="rId13"/>
    <p:sldId id="258" r:id="rId14"/>
    <p:sldId id="259" r:id="rId15"/>
    <p:sldId id="270" r:id="rId16"/>
    <p:sldId id="271" r:id="rId17"/>
    <p:sldId id="319"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8" r:id="rId65"/>
    <p:sldId id="320" r:id="rId66"/>
    <p:sldId id="321" r:id="rId67"/>
    <p:sldId id="322" r:id="rId68"/>
    <p:sldId id="323" r:id="rId69"/>
    <p:sldId id="324" r:id="rId70"/>
    <p:sldId id="325" r:id="rId71"/>
    <p:sldId id="326" r:id="rId72"/>
    <p:sldId id="327" r:id="rId7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1776224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7551035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7391579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8456246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0257779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0241960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1972309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173271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865692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4155378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6494392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2858424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084443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0040219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5195807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2030253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0903567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5357799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7274448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40276153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7956009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26467058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41166921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61565290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27095345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2065309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1239141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66839769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21113974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1612194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67314518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62966552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59031503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1846785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19274693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57535308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8133901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49446968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44050953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347718902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2139926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5286814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78956864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87969809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48587312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90464775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28545637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372221072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58963747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93141218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32541792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68332478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5354108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361194169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261140562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621446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204931682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90418822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857187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34749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9776241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14553443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463524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19151905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0756981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only 0.012% of residents: 34 of 41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41904962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improvement lists all shift. Absence of a pharmacy record is not evidence of absence of a pharmacy — excluding those regions states what we do not know, rather than asserting the strong version of it.</a:t>
            </a:r>
            <a:endParaRPr lang="en-US" sz="930" dirty="0"/>
          </a:p>
        </p:txBody>
      </p:sp>
    </p:spTree>
    <p:extLst>
      <p:ext uri="{BB962C8B-B14F-4D97-AF65-F5344CB8AC3E}">
        <p14:creationId xmlns:p14="http://schemas.microsoft.com/office/powerpoint/2010/main" val="35665847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choice set  </a:t>
            </a:r>
            <a:r>
              <a:rPr lang="en-US" sz="2200" dirty="0">
                <a:solidFill>
                  <a:srgbClr val="1C3D5A"/>
                </a:solidFill>
                <a:latin typeface="Georgia" pitchFamily="34" charset="0"/>
                <a:ea typeface="Georgia" pitchFamily="34" charset="-122"/>
                <a:cs typeface="Georgia" pitchFamily="34" charset="-120"/>
              </a:rPr>
              <a:t>— where the 5-nearest rule binds, and why widening it comes before RSSV</a:t>
            </a:r>
            <a:endParaRPr lang="en-US" sz="22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SE2 at S2 (309 of 452 open): 1,730 cells / 449,261 residents — 10.2%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ITF at S2 (519 of 1,253 open): 9.0% of residents are already stranded and a further 23.9% are one closure away — a third of the population pins the solution.</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Even at S1 — same count as today, only relocated — ITF strands 1.84%: relocation moved facilities out of clients’ fixed radii.</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 exact MIP on the reduced set.</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B9791C"/>
                </a:solidFill>
                <a:latin typeface="Calibri" pitchFamily="34" charset="0"/>
                <a:ea typeface="Calibri" pitchFamily="34" charset="-122"/>
                <a:cs typeface="Calibri" pitchFamily="34" charset="-120"/>
              </a:rPr>
              <a:t>Also found: </a:t>
            </a:r>
            <a:r>
              <a:rPr lang="en-US" sz="880" dirty="0">
                <a:solidFill>
                  <a:srgbClr val="12233A"/>
                </a:solidFill>
                <a:latin typeface="Calibri" pitchFamily="34" charset="0"/>
                <a:ea typeface="Calibri" pitchFamily="34" charset="-122"/>
                <a:cs typeface="Calibri" pitchFamily="34" charset="-120"/>
              </a:rPr>
              <a:t>S1 and S2 are read off the nearest swept λ grid point. In 5 of 42 areas (FRC, FRH, FRJ, FRK, SE2) both scenarios snap to the SAME point — SE2’s S1 bracket (0.2, 0.5) and S2 bracket (0.5, 1.0) both resolve to w = 0.5, so its delivered S1 has 309 open, not the baseline 452. The interpolated tables on p60–61 are unaffected; the exported S1/S2 location files and the exact-MIP step are where this needs a refinement step rather than a snap.</a:t>
            </a:r>
            <a:endParaRPr lang="en-US" sz="880" dirty="0"/>
          </a:p>
        </p:txBody>
      </p:sp>
    </p:spTree>
    <p:extLst>
      <p:ext uri="{BB962C8B-B14F-4D97-AF65-F5344CB8AC3E}">
        <p14:creationId xmlns:p14="http://schemas.microsoft.com/office/powerpoint/2010/main" val="17347549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868680"/>
          </a:xfrm>
          <a:prstGeom prst="roundRect">
            <a:avLst>
              <a:gd name="adj" fmla="val 5263"/>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4846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which is the refinement step S1/S2 still lack (p9).</a:t>
            </a:r>
            <a:endParaRPr lang="en-US" sz="930" dirty="0"/>
          </a:p>
        </p:txBody>
      </p:sp>
    </p:spTree>
    <p:extLst>
      <p:ext uri="{BB962C8B-B14F-4D97-AF65-F5344CB8AC3E}">
        <p14:creationId xmlns:p14="http://schemas.microsoft.com/office/powerpoint/2010/main" val="36659582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41724497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39558865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187021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921458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988010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35698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868358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795426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296487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95643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917679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926194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828414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07509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802354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091786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029712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78391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606371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364828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954043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376873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207464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811312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540573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140647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968092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59467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240790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926743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498449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751823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868614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922891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718547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213240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539135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586757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210995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3270471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225870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0116352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6322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939947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1756200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43,357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0.227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28,609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15,808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433,828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+901%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44,416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0.00282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26,673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10,933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191,428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a:t>
            </a:r>
            <a:endParaRPr lang="en-US" sz="850" dirty="0"/>
          </a:p>
        </p:txBody>
      </p:sp>
    </p:spTree>
    <p:extLst>
      <p:ext uri="{BB962C8B-B14F-4D97-AF65-F5344CB8AC3E}">
        <p14:creationId xmlns:p14="http://schemas.microsoft.com/office/powerpoint/2010/main" val="425804823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24,532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34,329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21,020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23,174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37,082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55,960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18,361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31,027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10,473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17,033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22,885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427481150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8,368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101,789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891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18,626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56,207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23,350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16,279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27,492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44,267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33,567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57,265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30,810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52,783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21828126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31799712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the largest strongly-connected road network is now kept for EVERY separate landbody, not just the single largest one EU-wide — island networks (Sicilia/Sardegna, and their ferry links) were being pruned. ITG baseline mean travel 22.3 → 4.9 min; unreachable residents 983k → 591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REGION EXCLUSION: a NUTS region where &gt;50% of inhabitant locations cannot reach any pharmacy is dropped entirely — population AND candidates. Excludes the Azores (PT200) and Madeira (PT300), which hold population but no pharmacy in the source data; Portugal baseline travel −62%. Prevents a DATA gap from ranking as policy headroom</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 canonical p-median notation (x = assignment, y = facility)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 — S1/S2 now INTERPOLATED onto the frontier (dense-grid + refine, tight to ≤0.1 λ-octave)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 catchments by ROAD-network travel time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 candidates = ≥50-pop cells ∪ pharmacy cells · clients = FULL population · adapted logit (25/10) · Italy from ESPON shapefile — all 42 areas swept incl. Poland + 7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41 disjoint areas (exact by separability) — now brackets S1 AND S2 for LINEAR &amp; LOGISTIC (Belgium/FRI extended to w = 0.5)</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Status-quo↔frontier metric: improvement rectangle (raw + relative to baseline #F × travel), its diagonal crossing + λ, baseline point-cloud with frontier projections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Ordered region lists coloured by pharmacy policy typology (regulation archetype + formalisation, from the collaborators' framing) — now free of coverage artefacts: ITG drops from #1 to #2 and Portugal and PL8 leave the top 8, while ITF takes #1 on an UNCHANGED value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Large-region candidate subsampling keeps EVERY baseline location, so the frontier still dominates the baseline (FRI/PL8 made tractable)</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(the interpolation is already tight; the MIP would make it exact)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 · border-cases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adopt territorial coverage constraints (≥1 per unit) for equity, or keep soft coverage?  ·  logistic vs linear travel cost (the equity-weighting choice)?  ·  best way to communicate λ?</a:t>
            </a:r>
            <a:endParaRPr lang="en-US" sz="1000" dirty="0"/>
          </a:p>
        </p:txBody>
      </p:sp>
    </p:spTree>
    <p:extLst>
      <p:ext uri="{BB962C8B-B14F-4D97-AF65-F5344CB8AC3E}">
        <p14:creationId xmlns:p14="http://schemas.microsoft.com/office/powerpoint/2010/main" val="7859786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Shape 5"/>
          <p:cNvSpPr/>
          <p:nvPr/>
        </p:nvSpPr>
        <p:spPr>
          <a:xfrm>
            <a:off x="365760" y="5413248"/>
            <a:ext cx="11475720" cy="960120"/>
          </a:xfrm>
          <a:prstGeom prst="roundRect">
            <a:avLst>
              <a:gd name="adj" fmla="val 4762"/>
            </a:avLst>
          </a:prstGeom>
          <a:solidFill>
            <a:srgbClr val="F0F6F2"/>
          </a:solidFill>
          <a:ln w="12700">
            <a:solidFill>
              <a:srgbClr val="1E7A52"/>
            </a:solidFill>
            <a:prstDash val="solid"/>
          </a:ln>
        </p:spPr>
      </p:sp>
      <p:sp>
        <p:nvSpPr>
          <p:cNvPr id="10" name="Text 6"/>
          <p:cNvSpPr/>
          <p:nvPr/>
        </p:nvSpPr>
        <p:spPr>
          <a:xfrm>
            <a:off x="548640" y="5468112"/>
            <a:ext cx="11155680" cy="868680"/>
          </a:xfrm>
          <a:prstGeom prst="rect">
            <a:avLst/>
          </a:prstGeom>
          <a:noFill/>
          <a:ln/>
        </p:spPr>
        <p:txBody>
          <a:bodyPr wrap="square" rtlCol="0" anchor="t"/>
          <a:lstStyle/>
          <a:p>
            <a:pPr marL="0" indent="0">
              <a:lnSpc>
                <a:spcPct val="98000"/>
              </a:lnSpc>
              <a:buNone/>
            </a:pPr>
            <a:r>
              <a:rPr lang="en-US" sz="860" b="1" dirty="0">
                <a:solidFill>
                  <a:srgbClr val="1E7A52"/>
                </a:solidFill>
                <a:latin typeface="Calibri" pitchFamily="34" charset="0"/>
                <a:ea typeface="Calibri" pitchFamily="34" charset="-122"/>
                <a:cs typeface="Calibri" pitchFamily="34" charset="-120"/>
              </a:rPr>
              <a:t>Answers to the review.  </a:t>
            </a:r>
            <a:r>
              <a:rPr lang="en-US" sz="86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6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60" b="1" dirty="0">
                <a:solidFill>
                  <a:srgbClr val="12233A"/>
                </a:solidFill>
                <a:latin typeface="Calibri" pitchFamily="34" charset="0"/>
                <a:ea typeface="Calibri" pitchFamily="34" charset="-122"/>
                <a:cs typeface="Calibri" pitchFamily="34" charset="-120"/>
              </a:rPr>
              <a:t>The degeneracy: </a:t>
            </a:r>
            <a:r>
              <a:rPr lang="en-US" sz="86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60" b="1" dirty="0">
                <a:solidFill>
                  <a:srgbClr val="B9791C"/>
                </a:solidFill>
                <a:latin typeface="Calibri" pitchFamily="34" charset="0"/>
                <a:ea typeface="Calibri" pitchFamily="34" charset="-122"/>
                <a:cs typeface="Calibri" pitchFamily="34" charset="-120"/>
              </a:rPr>
              <a:t>Open (BN, 23 Jul): </a:t>
            </a:r>
            <a:r>
              <a:rPr lang="en-US" sz="86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a:t>
            </a:r>
            <a:endParaRPr lang="en-US" sz="86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410546353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56B33F-9101-A1D7-5AEC-2BA7C4DF476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3D60BBB-617A-646A-9663-D68335A23CF9}"/>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346741605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53B5EB3-1D44-6FCA-062A-65F31E82B59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5A78EE5-CF74-EC94-9971-1B70A77E7E68}"/>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63575702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E76E0FB-D666-79B9-471A-88652220C81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3629729-318F-855B-D3F7-91ABF9848233}"/>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88155744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67CCB21-CCED-9566-306D-3099314E253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9C0BD62-5C27-4EEB-BA4A-402C9CBAFF49}"/>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4118671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82104F4-FBAF-9966-57E2-1A24BF85D18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4E0815D9-FF15-BEDF-8D32-975CA9C48405}"/>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7777006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B211E62-8312-97E5-5B75-674879C58FC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D1C4445-C245-5724-5764-D99EDBCFF76F}"/>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55824702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695262-529E-C955-DA83-41783D6DCAB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E1C4383-D5EA-BC19-775D-DD8DCD2C1503}"/>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1902558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425654A-C909-59D5-782F-A4E27BEF938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DBF4D89-D98F-B1FD-8565-4904FF52DC04}"/>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7049229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15318</Words>
  <Application>Microsoft Office PowerPoint</Application>
  <PresentationFormat>Widescreen</PresentationFormat>
  <Paragraphs>3481</Paragraphs>
  <Slides>72</Slides>
  <Notes>63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72</vt:i4>
      </vt:variant>
    </vt:vector>
  </HeadingPairs>
  <TitlesOfParts>
    <vt:vector size="77"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2026-09-04T14:49:59Z</dcterms:modified>
</cp:coreProperties>
</file>